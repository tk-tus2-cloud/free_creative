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147483069" r:id="rId5"/>
    <p:sldId id="2147483634" r:id="rId6"/>
    <p:sldId id="2147483635" r:id="rId7"/>
    <p:sldId id="2147483637" r:id="rId8"/>
    <p:sldId id="2147483636" r:id="rId9"/>
    <p:sldId id="2147483641" r:id="rId10"/>
    <p:sldId id="2147483645" r:id="rId11"/>
    <p:sldId id="2147483646" r:id="rId12"/>
    <p:sldId id="2147483624" r:id="rId13"/>
  </p:sldIdLst>
  <p:sldSz cx="12192000" cy="6858000"/>
  <p:notesSz cx="6858000" cy="9144000"/>
  <p:custDataLst>
    <p:tags r:id="rId1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86B1600-BCFA-4981-9316-50B53C52C6AB}">
          <p14:sldIdLst>
            <p14:sldId id="2147483069"/>
            <p14:sldId id="2147483634"/>
            <p14:sldId id="2147483635"/>
            <p14:sldId id="2147483637"/>
            <p14:sldId id="2147483636"/>
            <p14:sldId id="2147483641"/>
            <p14:sldId id="2147483645"/>
            <p14:sldId id="2147483646"/>
          </p14:sldIdLst>
        </p14:section>
        <p14:section name="APPENDIX" id="{DA376990-BDC2-487F-9144-05F7DA4D4B1F}">
          <p14:sldIdLst>
            <p14:sldId id="214748362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2026/9/14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2026/9/14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A9F7A-38AA-75EE-2574-0326F44FD4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BEB6D1-2F0F-4960-5083-B576970906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B6EF67-41E3-44A4-AC85-10A623A42AE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B213B00-D2CE-E47A-10E6-DF5BC0913CA4}"/>
              </a:ext>
            </a:extLst>
          </p:cNvPr>
          <p:cNvSpPr>
            <a:spLocks noGrp="1"/>
          </p:cNvSpPr>
          <p:nvPr>
            <p:ph type="sldNum" sz="quarter" idx="5"/>
          </p:nvPr>
        </p:nvSpPr>
        <p:spPr/>
        <p:txBody>
          <a:bodyPr/>
          <a:lstStyle/>
          <a:p>
            <a:pPr marL="0" marR="0" lvl="0" indent="0" algn="r" defTabSz="990478" rtl="0" eaLnBrk="1" fontAlgn="auto" latinLnBrk="0" hangingPunct="1">
              <a:lnSpc>
                <a:spcPct val="100000"/>
              </a:lnSpc>
              <a:spcBef>
                <a:spcPts val="0"/>
              </a:spcBef>
              <a:spcAft>
                <a:spcPts val="0"/>
              </a:spcAft>
              <a:buClrTx/>
              <a:buSzTx/>
              <a:buFontTx/>
              <a:buNone/>
              <a:tabLst/>
              <a:defRPr/>
            </a:pPr>
            <a:fld id="{702A0D92-6B77-46DB-8A11-5C7100D44DD0}" type="slidenum">
              <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90478"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1710236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613613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ED837-1ACC-D033-F2AD-1DD3D079E2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17C180-63DA-1283-6780-770C7399AA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4AA8D3-5AD5-1031-32E5-DE32632401E7}"/>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93773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2E2A-A41A-986B-B1D0-F1372EDB84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BC0D18-2B0E-ED6F-B1C4-3B2DBA9645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FC10BBA-C9E5-6508-A29C-E1768E9BFC49}"/>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893761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A548D-CA32-3CB6-4B91-E7927FB460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EB7092-7B79-10D5-7391-1E73BC482C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BE73CB-CFDE-A23E-89BE-1BDC9123CC98}"/>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30203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EFD5E-8720-D4EA-81A4-D69653DC23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32C1C9-FD18-E07A-C393-89E3233AD70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DE15E2-7458-9219-3C26-FFF1727E93AD}"/>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932974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8CE1-1846-3377-EDD3-4FB6340CC3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FF450C-209E-56F8-7151-C5A89ED0D5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96F56CB-C0E1-2292-FBC8-62DEC738276F}"/>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278575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CAE6-FF6D-A7EC-4EB9-D16E6272F4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8B0468-C208-1710-CF5D-0E5F912822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66A3DD7-3C04-F6E9-6356-B7DF66EA7ACA}"/>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988396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4.xml"/><Relationship Id="rId7" Type="http://schemas.openxmlformats.org/officeDocument/2006/relationships/image" Target="../media/image3.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q=https://www.jbs.co.jp/case/ka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www.google.com/search?q=https://www.infomart.co.jp/case/suntory.asp" TargetMode="External"/><Relationship Id="rId5" Type="http://schemas.openxmlformats.org/officeDocument/2006/relationships/hyperlink" Target="https://www.google.com/search?q=https://www.concur.co.jp/casestudies/ajinomoto-financial-solutions" TargetMode="External"/><Relationship Id="rId4" Type="http://schemas.openxmlformats.org/officeDocument/2006/relationships/hyperlink" Target="https://www.google.com/search?q=https://www.global.toshiba/jp/products-solutions/ai-iot/di-pro/case/shiseido.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16.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36BF-0D7E-2DB3-9428-1FE4A9E434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D80711-0E7F-68C2-8524-3C8430FEBB36}"/>
              </a:ext>
            </a:extLst>
          </p:cNvPr>
          <p:cNvSpPr>
            <a:spLocks noGrp="1"/>
          </p:cNvSpPr>
          <p:nvPr>
            <p:ph type="title"/>
          </p:nvPr>
        </p:nvSpPr>
        <p:spPr/>
        <p:txBody>
          <a:bodyPr/>
          <a:lstStyle/>
          <a:p>
            <a:r>
              <a:rPr kumimoji="1" lang="ja-JP" altLang="en-US" dirty="0"/>
              <a:t>本日のゴールと</a:t>
            </a:r>
            <a:r>
              <a:rPr kumimoji="1" lang="en-US" altLang="ja-JP" dirty="0"/>
              <a:t>Agenda</a:t>
            </a:r>
            <a:endParaRPr kumimoji="1" lang="ja-JP" altLang="en-US" dirty="0"/>
          </a:p>
        </p:txBody>
      </p:sp>
      <p:sp>
        <p:nvSpPr>
          <p:cNvPr id="22" name="テキスト プレースホルダー 3">
            <a:extLst>
              <a:ext uri="{FF2B5EF4-FFF2-40B4-BE49-F238E27FC236}">
                <a16:creationId xmlns:a16="http://schemas.microsoft.com/office/drawing/2014/main" id="{71521A54-8E9D-42A6-8EA9-EF99768C015D}"/>
              </a:ext>
            </a:extLst>
          </p:cNvPr>
          <p:cNvSpPr>
            <a:spLocks noGrp="1"/>
          </p:cNvSpPr>
          <p:nvPr>
            <p:ph type="body" sz="quarter" idx="13"/>
          </p:nvPr>
        </p:nvSpPr>
        <p:spPr>
          <a:xfrm>
            <a:off x="334963" y="914400"/>
            <a:ext cx="11522075" cy="427038"/>
          </a:xfrm>
        </p:spPr>
        <p:txBody>
          <a:bodyPr vert="horz" lIns="91440" tIns="45720" rIns="91440" bIns="45720" rtlCol="0" anchor="t">
            <a:noAutofit/>
          </a:bodyPr>
          <a:lstStyle/>
          <a:p>
            <a:r>
              <a:rPr lang="ja-JP" altLang="en-US" dirty="0"/>
              <a:t>本日は、構造転換に向けた「基本方針」「初期実行予算」「推進体制」の</a:t>
            </a:r>
            <a:r>
              <a:rPr lang="en-US" altLang="ja-JP" dirty="0"/>
              <a:t>3</a:t>
            </a:r>
            <a:r>
              <a:rPr lang="ja-JP" altLang="en-US" dirty="0"/>
              <a:t>点についてご承認いただくことを目的としている</a:t>
            </a:r>
          </a:p>
        </p:txBody>
      </p:sp>
      <p:grpSp>
        <p:nvGrpSpPr>
          <p:cNvPr id="3" name="グループ化 2">
            <a:extLst>
              <a:ext uri="{FF2B5EF4-FFF2-40B4-BE49-F238E27FC236}">
                <a16:creationId xmlns:a16="http://schemas.microsoft.com/office/drawing/2014/main" id="{BDFCE6B6-56FC-B2BE-BB55-E92F565CB81D}"/>
              </a:ext>
            </a:extLst>
          </p:cNvPr>
          <p:cNvGrpSpPr/>
          <p:nvPr/>
        </p:nvGrpSpPr>
        <p:grpSpPr>
          <a:xfrm>
            <a:off x="334963" y="1569559"/>
            <a:ext cx="5662714" cy="465138"/>
            <a:chOff x="334962" y="1309743"/>
            <a:chExt cx="4015102" cy="319032"/>
          </a:xfrm>
        </p:grpSpPr>
        <p:sp>
          <p:nvSpPr>
            <p:cNvPr id="4" name="テキスト ボックス 15">
              <a:extLst>
                <a:ext uri="{FF2B5EF4-FFF2-40B4-BE49-F238E27FC236}">
                  <a16:creationId xmlns:a16="http://schemas.microsoft.com/office/drawing/2014/main" id="{5C7AFD21-32AB-8674-03EC-6A463F6452E6}"/>
                </a:ext>
              </a:extLst>
            </p:cNvPr>
            <p:cNvSpPr txBox="1"/>
            <p:nvPr/>
          </p:nvSpPr>
          <p:spPr>
            <a:xfrm>
              <a:off x="334963" y="1309743"/>
              <a:ext cx="3906838" cy="319031"/>
            </a:xfrm>
            <a:prstGeom prst="rect">
              <a:avLst/>
            </a:prstGeom>
            <a:noFill/>
          </p:spPr>
          <p:txBody>
            <a:bodyPr wrap="none" lIns="648000" tIns="36000" rIns="36000" bIns="36000" rtlCol="0" anchor="b">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2000" b="0" i="0" u="none" strike="noStrike" kern="120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場の目的とゴール</a:t>
              </a:r>
              <a:endParaRPr kumimoji="1" lang="en-US" altLang="ja-JP" sz="2000" b="0" i="0" u="none" strike="noStrike" kern="120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cxnSp>
          <p:nvCxnSpPr>
            <p:cNvPr id="6" name="直線コネクタ 16">
              <a:extLst>
                <a:ext uri="{FF2B5EF4-FFF2-40B4-BE49-F238E27FC236}">
                  <a16:creationId xmlns:a16="http://schemas.microsoft.com/office/drawing/2014/main" id="{8A80EC3E-3CAB-8983-B301-C4CD33B9494D}"/>
                </a:ext>
              </a:extLst>
            </p:cNvPr>
            <p:cNvCxnSpPr>
              <a:cxnSpLocks/>
            </p:cNvCxnSpPr>
            <p:nvPr/>
          </p:nvCxnSpPr>
          <p:spPr>
            <a:xfrm>
              <a:off x="334962" y="1628775"/>
              <a:ext cx="4015102"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テキスト ボックス 15">
            <a:extLst>
              <a:ext uri="{FF2B5EF4-FFF2-40B4-BE49-F238E27FC236}">
                <a16:creationId xmlns:a16="http://schemas.microsoft.com/office/drawing/2014/main" id="{AF7BD195-133E-6E8B-E98E-10E0C313E594}"/>
              </a:ext>
            </a:extLst>
          </p:cNvPr>
          <p:cNvSpPr txBox="1"/>
          <p:nvPr/>
        </p:nvSpPr>
        <p:spPr>
          <a:xfrm>
            <a:off x="6583388" y="1651210"/>
            <a:ext cx="5271852" cy="389772"/>
          </a:xfrm>
          <a:prstGeom prst="rect">
            <a:avLst/>
          </a:prstGeom>
          <a:noFill/>
        </p:spPr>
        <p:txBody>
          <a:bodyPr wrap="none" lIns="648000" tIns="36000" rIns="36000" bIns="36000" rtlCol="0" anchor="b">
            <a:noAutofit/>
          </a:bodyPr>
          <a:lstStyle/>
          <a:p>
            <a:pPr marL="0" marR="0" lvl="0" indent="0" algn="l"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2000" b="0" i="0" u="none" strike="noStrike" kern="120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rPr>
              <a:t>Agenda</a:t>
            </a:r>
            <a:endParaRPr kumimoji="1" lang="ja-JP" altLang="en-US" sz="2000" b="0" i="0" u="none" strike="noStrike" kern="1200" cap="none" spc="0" normalizeH="0" baseline="0" noProof="0">
              <a:ln>
                <a:noFill/>
              </a:ln>
              <a:solidFill>
                <a:srgbClr val="008000"/>
              </a:solidFill>
              <a:effectLst/>
              <a:uLnTx/>
              <a:uFillTx/>
              <a:latin typeface="Meiryo UI" panose="020B0604030504040204" pitchFamily="50" charset="-128"/>
              <a:ea typeface="Meiryo UI" panose="020B0604030504040204" pitchFamily="50" charset="-128"/>
              <a:cs typeface="+mn-cs"/>
            </a:endParaRPr>
          </a:p>
        </p:txBody>
      </p:sp>
      <p:cxnSp>
        <p:nvCxnSpPr>
          <p:cNvPr id="10" name="直線コネクタ 16">
            <a:extLst>
              <a:ext uri="{FF2B5EF4-FFF2-40B4-BE49-F238E27FC236}">
                <a16:creationId xmlns:a16="http://schemas.microsoft.com/office/drawing/2014/main" id="{7EE18E7F-A2C4-DCC3-99B6-48BE28B4AA78}"/>
              </a:ext>
            </a:extLst>
          </p:cNvPr>
          <p:cNvCxnSpPr>
            <a:cxnSpLocks/>
          </p:cNvCxnSpPr>
          <p:nvPr/>
        </p:nvCxnSpPr>
        <p:spPr>
          <a:xfrm>
            <a:off x="6583388" y="2024906"/>
            <a:ext cx="527185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76189BB-B2D6-EF82-8469-D6AB42B7E457}"/>
              </a:ext>
            </a:extLst>
          </p:cNvPr>
          <p:cNvSpPr txBox="1"/>
          <p:nvPr/>
        </p:nvSpPr>
        <p:spPr>
          <a:xfrm>
            <a:off x="334962" y="2070094"/>
            <a:ext cx="5837238" cy="2436564"/>
          </a:xfrm>
          <a:prstGeom prst="rect">
            <a:avLst/>
          </a:prstGeom>
          <a:noFill/>
        </p:spPr>
        <p:txBody>
          <a:bodyPr wrap="square" rtlCol="0">
            <a:spAutoFit/>
          </a:bodyPr>
          <a:lstStyle/>
          <a:p>
            <a:pPr marL="285750" lvl="0" indent="-285750">
              <a:spcBef>
                <a:spcPts val="200"/>
              </a:spcBef>
              <a:buClr>
                <a:srgbClr val="008000"/>
              </a:buClr>
              <a:buFont typeface="Wingdings" panose="05000000000000000000" pitchFamily="2" charset="2"/>
              <a:buChar char="n"/>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方針の承認</a:t>
            </a:r>
            <a:endPar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742950" lvl="1" indent="-285750">
              <a:spcBef>
                <a:spcPts val="200"/>
              </a:spcBef>
              <a:buFont typeface="Arial" panose="020B0604020202020204" pitchFamily="34" charset="0"/>
              <a:buChar cha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実行＝外部</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委託 × </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統制＝グループ会社</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LEB</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の基本方針承認</a:t>
            </a:r>
            <a:r>
              <a:rPr lang="ja-JP" altLang="en-US" sz="1600" dirty="0">
                <a:solidFill>
                  <a:prstClr val="black"/>
                </a:solidFill>
                <a:latin typeface="Meiryo UI" panose="020B0604030504040204" pitchFamily="50" charset="-128"/>
                <a:ea typeface="Meiryo UI" panose="020B0604030504040204" pitchFamily="50" charset="-128"/>
              </a:rPr>
              <a:t>（構造転換）</a:t>
            </a:r>
            <a:endParaRPr lang="en-US" altLang="ja-JP" sz="1600" dirty="0">
              <a:solidFill>
                <a:prstClr val="black"/>
              </a:solidFill>
              <a:latin typeface="Meiryo UI" panose="020B0604030504040204" pitchFamily="50" charset="-128"/>
              <a:ea typeface="Meiryo UI" panose="020B0604030504040204" pitchFamily="50" charset="-128"/>
            </a:endParaRPr>
          </a:p>
          <a:p>
            <a:pPr marL="285750" lvl="0" indent="-285750">
              <a:spcBef>
                <a:spcPts val="200"/>
              </a:spcBef>
              <a:buClr>
                <a:srgbClr val="008000"/>
              </a:buClr>
              <a:buFont typeface="Wingdings" panose="05000000000000000000" pitchFamily="2" charset="2"/>
              <a:buChar char="n"/>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予算・行動の承認</a:t>
            </a:r>
            <a:endParaRPr lang="en-US" altLang="ja-JP" sz="1600" dirty="0">
              <a:solidFill>
                <a:prstClr val="black"/>
              </a:solidFill>
              <a:latin typeface="Meiryo UI" panose="020B0604030504040204" pitchFamily="50" charset="-128"/>
              <a:ea typeface="Meiryo UI" panose="020B0604030504040204" pitchFamily="50" charset="-128"/>
            </a:endParaRPr>
          </a:p>
          <a:p>
            <a:pPr marL="742950" lvl="1" indent="-285750">
              <a:spcBef>
                <a:spcPts val="200"/>
              </a:spcBef>
              <a:buFont typeface="Arial" panose="020B0604020202020204" pitchFamily="34" charset="0"/>
              <a:buChar cha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2026</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年</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8</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月</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〜10</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月に事前準備・可視化・アセスメントに着手</a:t>
            </a:r>
            <a:r>
              <a:rPr lang="ja-JP" altLang="en-US" sz="1600" dirty="0">
                <a:solidFill>
                  <a:prstClr val="black"/>
                </a:solidFill>
                <a:latin typeface="Meiryo UI" panose="020B0604030504040204" pitchFamily="50" charset="-128"/>
                <a:ea typeface="Meiryo UI" panose="020B0604030504040204" pitchFamily="50" charset="-128"/>
              </a:rPr>
              <a:t>することに加え、</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予算承認を得ること</a:t>
            </a:r>
          </a:p>
          <a:p>
            <a:pPr marL="285750" lvl="0" indent="-285750">
              <a:spcBef>
                <a:spcPts val="200"/>
              </a:spcBef>
              <a:buClr>
                <a:srgbClr val="008000"/>
              </a:buClr>
              <a:buFont typeface="Wingdings" panose="05000000000000000000" pitchFamily="2" charset="2"/>
              <a:buChar char="n"/>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体制の承認</a:t>
            </a:r>
            <a:endParaRPr lang="en-US" altLang="ja-JP" sz="1600" dirty="0">
              <a:solidFill>
                <a:prstClr val="black"/>
              </a:solidFill>
              <a:latin typeface="Meiryo UI" panose="020B0604030504040204" pitchFamily="50" charset="-128"/>
              <a:ea typeface="Meiryo UI" panose="020B0604030504040204" pitchFamily="50" charset="-128"/>
            </a:endParaRPr>
          </a:p>
          <a:p>
            <a:pPr marL="742950" lvl="1" indent="-285750">
              <a:spcBef>
                <a:spcPts val="200"/>
              </a:spcBef>
              <a:buFont typeface="Arial" panose="020B0604020202020204" pitchFamily="34" charset="0"/>
              <a:buChar cha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移管プロジェクト統括事務局（移管</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PMO</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）の設置および責任者の任命</a:t>
            </a:r>
          </a:p>
        </p:txBody>
      </p:sp>
      <p:sp>
        <p:nvSpPr>
          <p:cNvPr id="13" name="テキスト ボックス 12">
            <a:extLst>
              <a:ext uri="{FF2B5EF4-FFF2-40B4-BE49-F238E27FC236}">
                <a16:creationId xmlns:a16="http://schemas.microsoft.com/office/drawing/2014/main" id="{D3D5FE15-BF4C-7399-B784-80F63527F1BA}"/>
              </a:ext>
            </a:extLst>
          </p:cNvPr>
          <p:cNvSpPr txBox="1"/>
          <p:nvPr/>
        </p:nvSpPr>
        <p:spPr>
          <a:xfrm>
            <a:off x="6583387" y="2070094"/>
            <a:ext cx="5271852" cy="410049"/>
          </a:xfrm>
          <a:prstGeom prst="rect">
            <a:avLst/>
          </a:prstGeom>
          <a:noFill/>
        </p:spPr>
        <p:txBody>
          <a:bodyPr wrap="square" lIns="91440" tIns="45720" rIns="91440" bIns="45720" rtlCol="0" anchor="t">
            <a:spAutoFit/>
          </a:bodyPr>
          <a:lstStyle/>
          <a:p>
            <a:pPr marL="228600" marR="0" lvl="0" indent="-228600" algn="l" defTabSz="914400" rtl="0" eaLnBrk="1" fontAlgn="auto" latinLnBrk="0" hangingPunct="1">
              <a:lnSpc>
                <a:spcPct val="150000"/>
              </a:lnSpc>
              <a:spcBef>
                <a:spcPts val="0"/>
              </a:spcBef>
              <a:spcAft>
                <a:spcPts val="0"/>
              </a:spcAft>
              <a:buClrTx/>
              <a:buSzTx/>
              <a:buFont typeface="+mj-lt"/>
              <a:buAutoNum type="arabicPeriod"/>
              <a:tabLst/>
              <a:defRPr/>
            </a:pPr>
            <a:r>
              <a:rPr lang="ja-JP" altLang="en-US" sz="1600" dirty="0">
                <a:solidFill>
                  <a:prstClr val="black"/>
                </a:solidFill>
                <a:latin typeface="Meiryo UI"/>
                <a:ea typeface="Meiryo UI"/>
              </a:rPr>
              <a:t> 取り組みの背景・目的</a:t>
            </a:r>
            <a:endParaRPr kumimoji="1" lang="en-US" altLang="ja-JP" sz="16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7" name="background">
            <a:extLst>
              <a:ext uri="{FF2B5EF4-FFF2-40B4-BE49-F238E27FC236}">
                <a16:creationId xmlns:a16="http://schemas.microsoft.com/office/drawing/2014/main" id="{3AC21215-215D-B036-5EB0-77B293E975FF}"/>
              </a:ext>
            </a:extLst>
          </p:cNvPr>
          <p:cNvSpPr>
            <a:spLocks noChangeAspect="1"/>
          </p:cNvSpPr>
          <p:nvPr>
            <p:custDataLst>
              <p:tags r:id="rId1"/>
            </p:custDataLst>
          </p:nvPr>
        </p:nvSpPr>
        <p:spPr>
          <a:xfrm>
            <a:off x="6583387" y="2163388"/>
            <a:ext cx="270257" cy="273600"/>
          </a:xfrm>
          <a:prstGeom prst="ellipse">
            <a:avLst/>
          </a:prstGeom>
          <a:solidFill>
            <a:srgbClr val="008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14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n-cs"/>
              </a:rPr>
              <a:t>1</a:t>
            </a:r>
          </a:p>
        </p:txBody>
      </p:sp>
      <p:grpSp>
        <p:nvGrpSpPr>
          <p:cNvPr id="8" name="グループ化 7">
            <a:extLst>
              <a:ext uri="{FF2B5EF4-FFF2-40B4-BE49-F238E27FC236}">
                <a16:creationId xmlns:a16="http://schemas.microsoft.com/office/drawing/2014/main" id="{1F6F78D9-8303-C4BB-4EBE-705A5D821703}"/>
              </a:ext>
            </a:extLst>
          </p:cNvPr>
          <p:cNvGrpSpPr/>
          <p:nvPr/>
        </p:nvGrpSpPr>
        <p:grpSpPr>
          <a:xfrm>
            <a:off x="6583387" y="2734318"/>
            <a:ext cx="5271852" cy="410049"/>
            <a:chOff x="6583387" y="2471097"/>
            <a:chExt cx="5271852" cy="410049"/>
          </a:xfrm>
        </p:grpSpPr>
        <p:sp>
          <p:nvSpPr>
            <p:cNvPr id="5" name="テキスト ボックス 4">
              <a:extLst>
                <a:ext uri="{FF2B5EF4-FFF2-40B4-BE49-F238E27FC236}">
                  <a16:creationId xmlns:a16="http://schemas.microsoft.com/office/drawing/2014/main" id="{4FA92299-AD5E-E2AD-ED1C-B489BFEEEDCA}"/>
                </a:ext>
              </a:extLst>
            </p:cNvPr>
            <p:cNvSpPr txBox="1"/>
            <p:nvPr/>
          </p:nvSpPr>
          <p:spPr>
            <a:xfrm>
              <a:off x="6583387" y="2471097"/>
              <a:ext cx="5271852" cy="41004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ja-JP" altLang="en-US" sz="1600" dirty="0">
                  <a:solidFill>
                    <a:prstClr val="black"/>
                  </a:solidFill>
                  <a:latin typeface="Meiryo UI"/>
                  <a:ea typeface="Meiryo UI"/>
                </a:rPr>
                <a:t>解決の方向性</a:t>
              </a:r>
              <a:endParaRPr kumimoji="1" lang="en-US" altLang="ja-JP" sz="16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8" name="background">
              <a:extLst>
                <a:ext uri="{FF2B5EF4-FFF2-40B4-BE49-F238E27FC236}">
                  <a16:creationId xmlns:a16="http://schemas.microsoft.com/office/drawing/2014/main" id="{EBA6DC6F-A466-C8CE-4DBC-0CC33BF13BDD}"/>
                </a:ext>
              </a:extLst>
            </p:cNvPr>
            <p:cNvSpPr>
              <a:spLocks noChangeAspect="1"/>
            </p:cNvSpPr>
            <p:nvPr>
              <p:custDataLst>
                <p:tags r:id="rId4"/>
              </p:custDataLst>
            </p:nvPr>
          </p:nvSpPr>
          <p:spPr>
            <a:xfrm>
              <a:off x="6586403" y="2569550"/>
              <a:ext cx="270257" cy="273600"/>
            </a:xfrm>
            <a:prstGeom prst="ellipse">
              <a:avLst/>
            </a:prstGeom>
            <a:solidFill>
              <a:srgbClr val="008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14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n-cs"/>
                </a:rPr>
                <a:t>2</a:t>
              </a:r>
            </a:p>
          </p:txBody>
        </p:sp>
      </p:grpSp>
      <p:pic>
        <p:nvPicPr>
          <p:cNvPr id="20" name="グラフィックス 62" descr="ターゲット 枠線">
            <a:extLst>
              <a:ext uri="{FF2B5EF4-FFF2-40B4-BE49-F238E27FC236}">
                <a16:creationId xmlns:a16="http://schemas.microsoft.com/office/drawing/2014/main" id="{F402686B-18A6-16B1-B66D-19BEFE61CEA8}"/>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7"/>
              </a:ext>
            </a:extLst>
          </a:blip>
          <a:stretch>
            <a:fillRect/>
          </a:stretch>
        </p:blipFill>
        <p:spPr>
          <a:xfrm>
            <a:off x="377249" y="1551671"/>
            <a:ext cx="504000" cy="504000"/>
          </a:xfrm>
          <a:prstGeom prst="rect">
            <a:avLst/>
          </a:prstGeom>
        </p:spPr>
      </p:pic>
      <p:pic>
        <p:nvPicPr>
          <p:cNvPr id="21" name="グラフィックス 9" descr="鉛筆 枠線">
            <a:extLst>
              <a:ext uri="{FF2B5EF4-FFF2-40B4-BE49-F238E27FC236}">
                <a16:creationId xmlns:a16="http://schemas.microsoft.com/office/drawing/2014/main" id="{CDC7B6BD-B6F8-B6C6-C020-5FD033E128E9}"/>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8"/>
              </a:ext>
            </a:extLst>
          </a:blip>
          <a:srcRect/>
          <a:stretch/>
        </p:blipFill>
        <p:spPr>
          <a:xfrm>
            <a:off x="6640660" y="1623055"/>
            <a:ext cx="432000" cy="399827"/>
          </a:xfrm>
          <a:prstGeom prst="rect">
            <a:avLst/>
          </a:prstGeom>
        </p:spPr>
      </p:pic>
      <p:grpSp>
        <p:nvGrpSpPr>
          <p:cNvPr id="14" name="グループ化 13">
            <a:extLst>
              <a:ext uri="{FF2B5EF4-FFF2-40B4-BE49-F238E27FC236}">
                <a16:creationId xmlns:a16="http://schemas.microsoft.com/office/drawing/2014/main" id="{B764602D-02EE-8989-42B4-BC5730F6AD17}"/>
              </a:ext>
            </a:extLst>
          </p:cNvPr>
          <p:cNvGrpSpPr/>
          <p:nvPr/>
        </p:nvGrpSpPr>
        <p:grpSpPr>
          <a:xfrm>
            <a:off x="6583387" y="3441697"/>
            <a:ext cx="5271852" cy="410049"/>
            <a:chOff x="6583387" y="2471097"/>
            <a:chExt cx="5271852" cy="410049"/>
          </a:xfrm>
        </p:grpSpPr>
        <p:sp>
          <p:nvSpPr>
            <p:cNvPr id="15" name="テキスト ボックス 14">
              <a:extLst>
                <a:ext uri="{FF2B5EF4-FFF2-40B4-BE49-F238E27FC236}">
                  <a16:creationId xmlns:a16="http://schemas.microsoft.com/office/drawing/2014/main" id="{C75D7991-AAEF-20E8-4E76-1AD7AA6FEB84}"/>
                </a:ext>
              </a:extLst>
            </p:cNvPr>
            <p:cNvSpPr txBox="1"/>
            <p:nvPr/>
          </p:nvSpPr>
          <p:spPr>
            <a:xfrm>
              <a:off x="6583387" y="2471097"/>
              <a:ext cx="5271852" cy="410049"/>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defRPr/>
              </a:pPr>
              <a:r>
                <a:rPr lang="ja-JP" altLang="en-US" sz="1600" dirty="0"/>
                <a:t>今後の進め方</a:t>
              </a:r>
              <a:endParaRPr lang="en-US" altLang="ja-JP" sz="1600" dirty="0">
                <a:solidFill>
                  <a:prstClr val="black"/>
                </a:solidFill>
              </a:endParaRPr>
            </a:p>
          </p:txBody>
        </p:sp>
        <p:sp>
          <p:nvSpPr>
            <p:cNvPr id="16" name="background">
              <a:extLst>
                <a:ext uri="{FF2B5EF4-FFF2-40B4-BE49-F238E27FC236}">
                  <a16:creationId xmlns:a16="http://schemas.microsoft.com/office/drawing/2014/main" id="{3D616259-AEA0-FC9D-0082-0593DAAAA9DB}"/>
                </a:ext>
              </a:extLst>
            </p:cNvPr>
            <p:cNvSpPr>
              <a:spLocks noChangeAspect="1"/>
            </p:cNvSpPr>
            <p:nvPr>
              <p:custDataLst>
                <p:tags r:id="rId3"/>
              </p:custDataLst>
            </p:nvPr>
          </p:nvSpPr>
          <p:spPr>
            <a:xfrm>
              <a:off x="6586403" y="2569550"/>
              <a:ext cx="270257" cy="273600"/>
            </a:xfrm>
            <a:prstGeom prst="ellipse">
              <a:avLst/>
            </a:prstGeom>
            <a:solidFill>
              <a:srgbClr val="008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lang="en-US" altLang="ja-JP" sz="1400" dirty="0">
                  <a:solidFill>
                    <a:prstClr val="white"/>
                  </a:solidFill>
                  <a:latin typeface="Meiryo UI" panose="020B0604030504040204" pitchFamily="34" charset="-128"/>
                  <a:ea typeface="Meiryo UI" panose="020B0604030504040204" pitchFamily="34" charset="-128"/>
                </a:rPr>
                <a:t>3</a:t>
              </a:r>
              <a:endParaRPr kumimoji="1" lang="en-US" altLang="ja-JP" sz="14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n-cs"/>
              </a:endParaRPr>
            </a:p>
          </p:txBody>
        </p:sp>
      </p:grpSp>
      <p:grpSp>
        <p:nvGrpSpPr>
          <p:cNvPr id="19" name="グループ化 18">
            <a:extLst>
              <a:ext uri="{FF2B5EF4-FFF2-40B4-BE49-F238E27FC236}">
                <a16:creationId xmlns:a16="http://schemas.microsoft.com/office/drawing/2014/main" id="{E2BD46D9-D77B-EEDF-0AC6-85925B6B5F87}"/>
              </a:ext>
            </a:extLst>
          </p:cNvPr>
          <p:cNvGrpSpPr/>
          <p:nvPr/>
        </p:nvGrpSpPr>
        <p:grpSpPr>
          <a:xfrm>
            <a:off x="6583387" y="4149076"/>
            <a:ext cx="5271852" cy="410049"/>
            <a:chOff x="6583387" y="2471097"/>
            <a:chExt cx="5271852" cy="410049"/>
          </a:xfrm>
        </p:grpSpPr>
        <p:sp>
          <p:nvSpPr>
            <p:cNvPr id="23" name="テキスト ボックス 22">
              <a:extLst>
                <a:ext uri="{FF2B5EF4-FFF2-40B4-BE49-F238E27FC236}">
                  <a16:creationId xmlns:a16="http://schemas.microsoft.com/office/drawing/2014/main" id="{8FAAFB3C-151A-CB34-E27E-48DAB44F0D90}"/>
                </a:ext>
              </a:extLst>
            </p:cNvPr>
            <p:cNvSpPr txBox="1"/>
            <p:nvPr/>
          </p:nvSpPr>
          <p:spPr>
            <a:xfrm>
              <a:off x="6583387" y="2471097"/>
              <a:ext cx="5271852" cy="410049"/>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defRPr/>
              </a:pPr>
              <a:r>
                <a:rPr lang="en-US" altLang="ja-JP" sz="1600" dirty="0">
                  <a:solidFill>
                    <a:prstClr val="black"/>
                  </a:solidFill>
                </a:rPr>
                <a:t>KPI</a:t>
              </a:r>
              <a:r>
                <a:rPr lang="ja-JP" altLang="en-US" sz="1600" dirty="0">
                  <a:solidFill>
                    <a:prstClr val="black"/>
                  </a:solidFill>
                </a:rPr>
                <a:t>と</a:t>
              </a:r>
              <a:r>
                <a:rPr lang="en-US" altLang="ja-JP" sz="1600" dirty="0">
                  <a:solidFill>
                    <a:prstClr val="black"/>
                  </a:solidFill>
                </a:rPr>
                <a:t>ROI</a:t>
              </a:r>
            </a:p>
          </p:txBody>
        </p:sp>
        <p:sp>
          <p:nvSpPr>
            <p:cNvPr id="24" name="background">
              <a:extLst>
                <a:ext uri="{FF2B5EF4-FFF2-40B4-BE49-F238E27FC236}">
                  <a16:creationId xmlns:a16="http://schemas.microsoft.com/office/drawing/2014/main" id="{6F5BB600-1AF5-32FC-2F18-FB12FE6BE31C}"/>
                </a:ext>
              </a:extLst>
            </p:cNvPr>
            <p:cNvSpPr>
              <a:spLocks noChangeAspect="1"/>
            </p:cNvSpPr>
            <p:nvPr>
              <p:custDataLst>
                <p:tags r:id="rId2"/>
              </p:custDataLst>
            </p:nvPr>
          </p:nvSpPr>
          <p:spPr>
            <a:xfrm>
              <a:off x="6586403" y="2569550"/>
              <a:ext cx="270257" cy="273600"/>
            </a:xfrm>
            <a:prstGeom prst="ellipse">
              <a:avLst/>
            </a:prstGeom>
            <a:solidFill>
              <a:srgbClr val="008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US" altLang="ja-JP" sz="1400" b="0"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n-cs"/>
                </a:rPr>
                <a:t>4</a:t>
              </a:r>
            </a:p>
          </p:txBody>
        </p:sp>
      </p:grpSp>
    </p:spTree>
    <p:extLst>
      <p:ext uri="{BB962C8B-B14F-4D97-AF65-F5344CB8AC3E}">
        <p14:creationId xmlns:p14="http://schemas.microsoft.com/office/powerpoint/2010/main" val="707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FE1768-BBA7-4A50-669F-B6CF089E165A}"/>
              </a:ext>
            </a:extLst>
          </p:cNvPr>
          <p:cNvSpPr>
            <a:spLocks noGrp="1"/>
          </p:cNvSpPr>
          <p:nvPr>
            <p:ph type="title"/>
          </p:nvPr>
        </p:nvSpPr>
        <p:spPr>
          <a:xfrm>
            <a:off x="334963" y="1"/>
            <a:ext cx="11522075" cy="914400"/>
          </a:xfrm>
        </p:spPr>
        <p:txBody>
          <a:bodyPr>
            <a:normAutofit/>
          </a:bodyPr>
          <a:lstStyle/>
          <a:p>
            <a:r>
              <a:rPr lang="ja-JP" altLang="en-US" dirty="0">
                <a:solidFill>
                  <a:prstClr val="black"/>
                </a:solidFill>
                <a:latin typeface="Meiryo UI"/>
                <a:ea typeface="Meiryo UI"/>
              </a:rPr>
              <a:t>取り組みの背景・目的</a:t>
            </a:r>
            <a:br>
              <a:rPr kumimoji="1" lang="en-US" altLang="ja-JP" dirty="0"/>
            </a:br>
            <a:r>
              <a:rPr kumimoji="1" lang="ja-JP" altLang="en-US" dirty="0"/>
              <a:t>背景</a:t>
            </a:r>
            <a:r>
              <a:rPr kumimoji="1" lang="en-US" altLang="ja-JP" dirty="0"/>
              <a:t> / </a:t>
            </a:r>
            <a:r>
              <a:rPr kumimoji="1" lang="ja-JP" altLang="en-US" dirty="0"/>
              <a:t>課題</a:t>
            </a:r>
            <a:r>
              <a:rPr kumimoji="1" lang="en-US" altLang="ja-JP" dirty="0"/>
              <a:t> / </a:t>
            </a:r>
            <a:r>
              <a:rPr kumimoji="1" lang="ja-JP" altLang="en-US" dirty="0"/>
              <a:t>示唆</a:t>
            </a:r>
            <a:r>
              <a:rPr lang="ja-JP" altLang="en-US" dirty="0"/>
              <a:t> </a:t>
            </a:r>
            <a:r>
              <a:rPr kumimoji="1" lang="en-US" altLang="ja-JP" dirty="0"/>
              <a:t>/ </a:t>
            </a:r>
            <a:r>
              <a:rPr kumimoji="1" lang="ja-JP" altLang="en-US" dirty="0"/>
              <a:t>目的</a:t>
            </a:r>
          </a:p>
        </p:txBody>
      </p:sp>
      <p:sp>
        <p:nvSpPr>
          <p:cNvPr id="3" name="テキスト プレースホルダー 2">
            <a:extLst>
              <a:ext uri="{FF2B5EF4-FFF2-40B4-BE49-F238E27FC236}">
                <a16:creationId xmlns:a16="http://schemas.microsoft.com/office/drawing/2014/main" id="{119FB583-8AFF-5F30-7DAE-2773C5847599}"/>
              </a:ext>
            </a:extLst>
          </p:cNvPr>
          <p:cNvSpPr>
            <a:spLocks noGrp="1"/>
          </p:cNvSpPr>
          <p:nvPr>
            <p:ph type="body" sz="quarter" idx="13"/>
          </p:nvPr>
        </p:nvSpPr>
        <p:spPr/>
        <p:txBody>
          <a:bodyPr/>
          <a:lstStyle/>
          <a:p>
            <a:pPr>
              <a:spcBef>
                <a:spcPts val="400"/>
              </a:spcBef>
            </a:pPr>
            <a:r>
              <a:rPr kumimoji="1" lang="ja-JP" altLang="en-US" sz="1800" dirty="0"/>
              <a:t>運用の担い手は先細り、業務</a:t>
            </a:r>
            <a:r>
              <a:rPr lang="ja-JP" altLang="en-US" sz="1800" dirty="0"/>
              <a:t>も</a:t>
            </a:r>
            <a:r>
              <a:rPr kumimoji="1" lang="ja-JP" altLang="en-US" sz="1800" dirty="0"/>
              <a:t>増大、そのギャップを社員負荷で吸収しており、</a:t>
            </a:r>
            <a:r>
              <a:rPr lang="ja-JP" altLang="en-US" sz="1800" dirty="0"/>
              <a:t>分散した</a:t>
            </a:r>
            <a:r>
              <a:rPr kumimoji="1" lang="ja-JP" altLang="en-US" sz="1800" dirty="0"/>
              <a:t>コスト・品質統制の仕組みも不十分</a:t>
            </a:r>
          </a:p>
          <a:p>
            <a:pPr>
              <a:spcBef>
                <a:spcPts val="400"/>
              </a:spcBef>
            </a:pPr>
            <a:r>
              <a:rPr kumimoji="1" lang="ja-JP" altLang="en-US" sz="1800" dirty="0"/>
              <a:t>現状の延長では、人材の持続性・事業継続・</a:t>
            </a:r>
            <a:r>
              <a:rPr lang="en-US" altLang="ja-JP" sz="1800" dirty="0"/>
              <a:t>DX</a:t>
            </a:r>
            <a:r>
              <a:rPr lang="ja-JP" altLang="en-US" sz="1800" dirty="0"/>
              <a:t>推進</a:t>
            </a:r>
            <a:r>
              <a:rPr kumimoji="1" lang="ja-JP" altLang="en-US" sz="1800" dirty="0"/>
              <a:t>の実行力が毀損され、内製強化は難しく、構造転換が必要</a:t>
            </a:r>
          </a:p>
        </p:txBody>
      </p:sp>
      <p:grpSp>
        <p:nvGrpSpPr>
          <p:cNvPr id="30" name="グループ化 29">
            <a:extLst>
              <a:ext uri="{FF2B5EF4-FFF2-40B4-BE49-F238E27FC236}">
                <a16:creationId xmlns:a16="http://schemas.microsoft.com/office/drawing/2014/main" id="{9E1B2DC4-5378-8C3D-0D31-92E6A074E5B4}"/>
              </a:ext>
            </a:extLst>
          </p:cNvPr>
          <p:cNvGrpSpPr/>
          <p:nvPr/>
        </p:nvGrpSpPr>
        <p:grpSpPr>
          <a:xfrm>
            <a:off x="334963" y="1642791"/>
            <a:ext cx="11526282" cy="4676332"/>
            <a:chOff x="334963" y="1642791"/>
            <a:chExt cx="11526282" cy="4676332"/>
          </a:xfrm>
        </p:grpSpPr>
        <p:cxnSp>
          <p:nvCxnSpPr>
            <p:cNvPr id="37" name="直線コネクタ 36">
              <a:extLst>
                <a:ext uri="{FF2B5EF4-FFF2-40B4-BE49-F238E27FC236}">
                  <a16:creationId xmlns:a16="http://schemas.microsoft.com/office/drawing/2014/main" id="{524A71FB-A18E-10C1-8595-CA9D264DC632}"/>
                </a:ext>
              </a:extLst>
            </p:cNvPr>
            <p:cNvCxnSpPr/>
            <p:nvPr/>
          </p:nvCxnSpPr>
          <p:spPr>
            <a:xfrm>
              <a:off x="6856434" y="2120571"/>
              <a:ext cx="0" cy="1046324"/>
            </a:xfrm>
            <a:prstGeom prst="line">
              <a:avLst/>
            </a:prstGeom>
            <a:ln w="38100">
              <a:solidFill>
                <a:srgbClr val="008000">
                  <a:alpha val="40000"/>
                </a:srgbClr>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B5EADBA3-7451-A4BE-9F6F-A1FE4E15AE6B}"/>
                </a:ext>
              </a:extLst>
            </p:cNvPr>
            <p:cNvCxnSpPr>
              <a:cxnSpLocks/>
            </p:cNvCxnSpPr>
            <p:nvPr/>
          </p:nvCxnSpPr>
          <p:spPr>
            <a:xfrm>
              <a:off x="6856434" y="3254239"/>
              <a:ext cx="0" cy="751001"/>
            </a:xfrm>
            <a:prstGeom prst="line">
              <a:avLst/>
            </a:prstGeom>
            <a:ln w="38100">
              <a:solidFill>
                <a:srgbClr val="008000">
                  <a:alpha val="40000"/>
                </a:srgbClr>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29687019-D223-88AC-EE2A-D6A84431573B}"/>
                </a:ext>
              </a:extLst>
            </p:cNvPr>
            <p:cNvCxnSpPr>
              <a:cxnSpLocks/>
            </p:cNvCxnSpPr>
            <p:nvPr/>
          </p:nvCxnSpPr>
          <p:spPr>
            <a:xfrm>
              <a:off x="6856434" y="4093846"/>
              <a:ext cx="0" cy="1227738"/>
            </a:xfrm>
            <a:prstGeom prst="line">
              <a:avLst/>
            </a:prstGeom>
            <a:ln w="38100">
              <a:solidFill>
                <a:srgbClr val="008000">
                  <a:alpha val="40000"/>
                </a:srgbClr>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4AE27743-37D5-34F4-2A91-3EE27D6198A2}"/>
                </a:ext>
              </a:extLst>
            </p:cNvPr>
            <p:cNvCxnSpPr>
              <a:cxnSpLocks/>
            </p:cNvCxnSpPr>
            <p:nvPr/>
          </p:nvCxnSpPr>
          <p:spPr>
            <a:xfrm>
              <a:off x="6856434" y="5408930"/>
              <a:ext cx="0" cy="900000"/>
            </a:xfrm>
            <a:prstGeom prst="line">
              <a:avLst/>
            </a:prstGeom>
            <a:ln w="38100">
              <a:solidFill>
                <a:srgbClr val="008000">
                  <a:alpha val="40000"/>
                </a:srgbClr>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638DA4FD-B478-2122-C919-8F500464404C}"/>
                </a:ext>
              </a:extLst>
            </p:cNvPr>
            <p:cNvCxnSpPr/>
            <p:nvPr/>
          </p:nvCxnSpPr>
          <p:spPr>
            <a:xfrm flipH="1">
              <a:off x="6856433" y="2570571"/>
              <a:ext cx="432000" cy="0"/>
            </a:xfrm>
            <a:prstGeom prst="line">
              <a:avLst/>
            </a:prstGeom>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カギ線コネクタ 76">
              <a:extLst>
                <a:ext uri="{FF2B5EF4-FFF2-40B4-BE49-F238E27FC236}">
                  <a16:creationId xmlns:a16="http://schemas.microsoft.com/office/drawing/2014/main" id="{CD5A69D1-CB66-8911-9036-D131A036C1AB}"/>
                </a:ext>
              </a:extLst>
            </p:cNvPr>
            <p:cNvCxnSpPr>
              <a:cxnSpLocks/>
            </p:cNvCxnSpPr>
            <p:nvPr/>
          </p:nvCxnSpPr>
          <p:spPr>
            <a:xfrm rot="10800000" flipV="1">
              <a:off x="6856433" y="3557209"/>
              <a:ext cx="432000" cy="1098376"/>
            </a:xfrm>
            <a:prstGeom prst="bentConnector3">
              <a:avLst/>
            </a:prstGeom>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フリーフォーム 85">
              <a:extLst>
                <a:ext uri="{FF2B5EF4-FFF2-40B4-BE49-F238E27FC236}">
                  <a16:creationId xmlns:a16="http://schemas.microsoft.com/office/drawing/2014/main" id="{134C801B-0A62-B0DF-674D-1021FB23EB21}"/>
                </a:ext>
              </a:extLst>
            </p:cNvPr>
            <p:cNvSpPr/>
            <p:nvPr/>
          </p:nvSpPr>
          <p:spPr>
            <a:xfrm>
              <a:off x="6856433" y="4563533"/>
              <a:ext cx="432000" cy="1312334"/>
            </a:xfrm>
            <a:custGeom>
              <a:avLst/>
              <a:gdLst>
                <a:gd name="csX0" fmla="*/ 0 w 440267"/>
                <a:gd name="csY0" fmla="*/ 1312334 h 1312334"/>
                <a:gd name="csX1" fmla="*/ 0 w 440267"/>
                <a:gd name="csY1" fmla="*/ 1312334 h 1312334"/>
                <a:gd name="csX2" fmla="*/ 304800 w 440267"/>
                <a:gd name="csY2" fmla="*/ 1312334 h 1312334"/>
                <a:gd name="csX3" fmla="*/ 304800 w 440267"/>
                <a:gd name="csY3" fmla="*/ 0 h 1312334"/>
                <a:gd name="csX4" fmla="*/ 440267 w 440267"/>
                <a:gd name="csY4" fmla="*/ 0 h 1312334"/>
              </a:gdLst>
              <a:ahLst/>
              <a:cxnLst>
                <a:cxn ang="0">
                  <a:pos x="csX0" y="csY0"/>
                </a:cxn>
                <a:cxn ang="0">
                  <a:pos x="csX1" y="csY1"/>
                </a:cxn>
                <a:cxn ang="0">
                  <a:pos x="csX2" y="csY2"/>
                </a:cxn>
                <a:cxn ang="0">
                  <a:pos x="csX3" y="csY3"/>
                </a:cxn>
                <a:cxn ang="0">
                  <a:pos x="csX4" y="csY4"/>
                </a:cxn>
              </a:cxnLst>
              <a:rect l="l" t="t" r="r" b="b"/>
              <a:pathLst>
                <a:path w="440267" h="1312334">
                  <a:moveTo>
                    <a:pt x="0" y="1312334"/>
                  </a:moveTo>
                  <a:lnTo>
                    <a:pt x="0" y="1312334"/>
                  </a:lnTo>
                  <a:lnTo>
                    <a:pt x="304800" y="1312334"/>
                  </a:lnTo>
                  <a:lnTo>
                    <a:pt x="304800" y="0"/>
                  </a:lnTo>
                  <a:lnTo>
                    <a:pt x="440267" y="0"/>
                  </a:lnTo>
                </a:path>
              </a:pathLst>
            </a:cu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mn-ea"/>
              </a:endParaRPr>
            </a:p>
          </p:txBody>
        </p:sp>
        <p:sp>
          <p:nvSpPr>
            <p:cNvPr id="87" name="フリーフォーム 86">
              <a:extLst>
                <a:ext uri="{FF2B5EF4-FFF2-40B4-BE49-F238E27FC236}">
                  <a16:creationId xmlns:a16="http://schemas.microsoft.com/office/drawing/2014/main" id="{097523F2-ADD8-F675-E952-442811A76F0A}"/>
                </a:ext>
              </a:extLst>
            </p:cNvPr>
            <p:cNvSpPr/>
            <p:nvPr/>
          </p:nvSpPr>
          <p:spPr>
            <a:xfrm>
              <a:off x="6856433" y="2794475"/>
              <a:ext cx="432000" cy="803304"/>
            </a:xfrm>
            <a:custGeom>
              <a:avLst/>
              <a:gdLst>
                <a:gd name="csX0" fmla="*/ 0 w 461473"/>
                <a:gd name="csY0" fmla="*/ 803304 h 803304"/>
                <a:gd name="csX1" fmla="*/ 128187 w 461473"/>
                <a:gd name="csY1" fmla="*/ 803304 h 803304"/>
                <a:gd name="csX2" fmla="*/ 128187 w 461473"/>
                <a:gd name="csY2" fmla="*/ 0 h 803304"/>
                <a:gd name="csX3" fmla="*/ 461473 w 461473"/>
                <a:gd name="csY3" fmla="*/ 0 h 803304"/>
              </a:gdLst>
              <a:ahLst/>
              <a:cxnLst>
                <a:cxn ang="0">
                  <a:pos x="csX0" y="csY0"/>
                </a:cxn>
                <a:cxn ang="0">
                  <a:pos x="csX1" y="csY1"/>
                </a:cxn>
                <a:cxn ang="0">
                  <a:pos x="csX2" y="csY2"/>
                </a:cxn>
                <a:cxn ang="0">
                  <a:pos x="csX3" y="csY3"/>
                </a:cxn>
              </a:cxnLst>
              <a:rect l="l" t="t" r="r" b="b"/>
              <a:pathLst>
                <a:path w="461473" h="803304">
                  <a:moveTo>
                    <a:pt x="0" y="803304"/>
                  </a:moveTo>
                  <a:lnTo>
                    <a:pt x="128187" y="803304"/>
                  </a:lnTo>
                  <a:lnTo>
                    <a:pt x="128187" y="0"/>
                  </a:lnTo>
                  <a:lnTo>
                    <a:pt x="461473" y="0"/>
                  </a:lnTo>
                </a:path>
              </a:pathLst>
            </a:cu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mn-ea"/>
              </a:endParaRPr>
            </a:p>
          </p:txBody>
        </p:sp>
        <p:cxnSp>
          <p:nvCxnSpPr>
            <p:cNvPr id="6" name="直線コネクタ 5">
              <a:extLst>
                <a:ext uri="{FF2B5EF4-FFF2-40B4-BE49-F238E27FC236}">
                  <a16:creationId xmlns:a16="http://schemas.microsoft.com/office/drawing/2014/main" id="{14997333-195C-0B92-A1B5-1E687B43F695}"/>
                </a:ext>
              </a:extLst>
            </p:cNvPr>
            <p:cNvCxnSpPr>
              <a:cxnSpLocks/>
            </p:cNvCxnSpPr>
            <p:nvPr/>
          </p:nvCxnSpPr>
          <p:spPr>
            <a:xfrm>
              <a:off x="334963" y="2035809"/>
              <a:ext cx="6443075"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2736FD4B-BB0E-F079-F7AE-0DA777DC53F9}"/>
                </a:ext>
              </a:extLst>
            </p:cNvPr>
            <p:cNvSpPr txBox="1"/>
            <p:nvPr/>
          </p:nvSpPr>
          <p:spPr>
            <a:xfrm>
              <a:off x="334963" y="1642791"/>
              <a:ext cx="6443075" cy="384133"/>
            </a:xfrm>
            <a:prstGeom prst="rect">
              <a:avLst/>
            </a:prstGeom>
            <a:noFill/>
          </p:spPr>
          <p:txBody>
            <a:bodyPr wrap="square" rtlCol="0" anchor="b">
              <a:noAutofit/>
            </a:bodyPr>
            <a:lstStyle/>
            <a:p>
              <a:pPr algn="ctr"/>
              <a:r>
                <a:rPr kumimoji="1" lang="ja-JP" altLang="en-US" dirty="0">
                  <a:latin typeface="+mn-ea"/>
                </a:rPr>
                <a:t>背景</a:t>
              </a:r>
              <a:r>
                <a:rPr kumimoji="1" lang="en-US" altLang="ja-JP" dirty="0">
                  <a:latin typeface="+mn-ea"/>
                </a:rPr>
                <a:t> / </a:t>
              </a:r>
              <a:r>
                <a:rPr kumimoji="1" lang="ja-JP" altLang="en-US" dirty="0">
                  <a:latin typeface="+mn-ea"/>
                </a:rPr>
                <a:t>課題</a:t>
              </a:r>
              <a:endParaRPr kumimoji="1" lang="en-US" altLang="ja-JP" dirty="0">
                <a:latin typeface="+mn-ea"/>
              </a:endParaRPr>
            </a:p>
          </p:txBody>
        </p:sp>
        <p:sp>
          <p:nvSpPr>
            <p:cNvPr id="5" name="正方形/長方形 4">
              <a:extLst>
                <a:ext uri="{FF2B5EF4-FFF2-40B4-BE49-F238E27FC236}">
                  <a16:creationId xmlns:a16="http://schemas.microsoft.com/office/drawing/2014/main" id="{C67E388B-C9AF-2418-E802-2694EE745ABC}"/>
                </a:ext>
              </a:extLst>
            </p:cNvPr>
            <p:cNvSpPr/>
            <p:nvPr/>
          </p:nvSpPr>
          <p:spPr>
            <a:xfrm>
              <a:off x="1630039" y="2120571"/>
              <a:ext cx="5148000" cy="1046324"/>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当社では運用・保守の専門人材を入口採用しておらず、社内人材のキャリアチェンジ・キャリア採用に</a:t>
              </a:r>
              <a:br>
                <a:rPr lang="en-US" altLang="ja-JP" sz="1000" dirty="0">
                  <a:solidFill>
                    <a:schemeClr val="tx1"/>
                  </a:solidFill>
                  <a:latin typeface="+mn-ea"/>
                </a:rPr>
              </a:br>
              <a:r>
                <a:rPr lang="ja-JP" altLang="en-US" sz="1000" dirty="0">
                  <a:solidFill>
                    <a:schemeClr val="tx1"/>
                  </a:solidFill>
                  <a:latin typeface="+mn-ea"/>
                </a:rPr>
                <a:t>頼っているが、社内はキャリア志向との不一致から定着しづらく、採用は少子高齢化・</a:t>
              </a:r>
              <a:r>
                <a:rPr lang="en" altLang="ja-JP" sz="1000" dirty="0">
                  <a:solidFill>
                    <a:schemeClr val="tx1"/>
                  </a:solidFill>
                  <a:latin typeface="+mn-ea"/>
                </a:rPr>
                <a:t>IT</a:t>
              </a:r>
              <a:r>
                <a:rPr lang="ja-JP" altLang="en-US" sz="1000" dirty="0">
                  <a:solidFill>
                    <a:schemeClr val="tx1"/>
                  </a:solidFill>
                  <a:latin typeface="+mn-ea"/>
                </a:rPr>
                <a:t>人材獲得競争激化により今後は優秀人材の採用も困難な状況にある</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現状、シニア社員の経験・暗黙知に依存した属人運用が存在し、異動・退職とともに運用能力が</a:t>
              </a:r>
              <a:br>
                <a:rPr lang="en-US" altLang="ja-JP" sz="1000" dirty="0">
                  <a:solidFill>
                    <a:schemeClr val="tx1"/>
                  </a:solidFill>
                  <a:latin typeface="+mn-ea"/>
                </a:rPr>
              </a:br>
              <a:r>
                <a:rPr lang="ja-JP" altLang="en-US" sz="1000" dirty="0">
                  <a:solidFill>
                    <a:schemeClr val="tx1"/>
                  </a:solidFill>
                  <a:latin typeface="+mn-ea"/>
                </a:rPr>
                <a:t>失われ始めている</a:t>
              </a:r>
            </a:p>
            <a:p>
              <a:pPr marL="99450" indent="-99450">
                <a:buClr>
                  <a:schemeClr val="bg1">
                    <a:lumMod val="50000"/>
                  </a:schemeClr>
                </a:buClr>
                <a:buFont typeface="Arial" panose="020B0604020202020204" pitchFamily="34" charset="0"/>
                <a:buChar char="•"/>
              </a:pPr>
              <a:r>
                <a:rPr lang="en" altLang="ja-JP" sz="1000" dirty="0">
                  <a:solidFill>
                    <a:schemeClr val="tx1"/>
                  </a:solidFill>
                  <a:latin typeface="+mn-ea"/>
                </a:rPr>
                <a:t>IT</a:t>
              </a:r>
              <a:r>
                <a:rPr lang="ja-JP" altLang="en-US" sz="1000" dirty="0">
                  <a:solidFill>
                    <a:schemeClr val="tx1"/>
                  </a:solidFill>
                  <a:latin typeface="+mn-ea"/>
                </a:rPr>
                <a:t>運用は</a:t>
              </a:r>
              <a:r>
                <a:rPr lang="en" altLang="ja-JP" sz="1000" dirty="0">
                  <a:solidFill>
                    <a:schemeClr val="tx1"/>
                  </a:solidFill>
                  <a:latin typeface="+mn-ea"/>
                </a:rPr>
                <a:t>AI</a:t>
              </a:r>
              <a:r>
                <a:rPr lang="ja-JP" altLang="en" sz="1000" dirty="0">
                  <a:solidFill>
                    <a:schemeClr val="tx1"/>
                  </a:solidFill>
                  <a:latin typeface="+mn-ea"/>
                </a:rPr>
                <a:t>・</a:t>
              </a:r>
              <a:r>
                <a:rPr lang="ja-JP" altLang="en-US" sz="1000" dirty="0">
                  <a:solidFill>
                    <a:schemeClr val="tx1"/>
                  </a:solidFill>
                  <a:latin typeface="+mn-ea"/>
                </a:rPr>
                <a:t>自動化による省人化が世界的潮流。その先端投資・スキル保持は専門プロバイダ</a:t>
              </a:r>
              <a:br>
                <a:rPr lang="en-US" altLang="ja-JP" sz="1000" dirty="0">
                  <a:solidFill>
                    <a:schemeClr val="tx1"/>
                  </a:solidFill>
                  <a:latin typeface="+mn-ea"/>
                </a:rPr>
              </a:br>
              <a:r>
                <a:rPr lang="ja-JP" altLang="en-US" sz="1000" dirty="0">
                  <a:solidFill>
                    <a:schemeClr val="tx1"/>
                  </a:solidFill>
                  <a:latin typeface="+mn-ea"/>
                </a:rPr>
                <a:t>でなければ回収できず、自前での企画・実行は技術面でも構造的に不利</a:t>
              </a:r>
            </a:p>
          </p:txBody>
        </p:sp>
        <p:sp>
          <p:nvSpPr>
            <p:cNvPr id="9" name="正方形/長方形 8">
              <a:extLst>
                <a:ext uri="{FF2B5EF4-FFF2-40B4-BE49-F238E27FC236}">
                  <a16:creationId xmlns:a16="http://schemas.microsoft.com/office/drawing/2014/main" id="{7A12E95A-4AE4-D880-4FCB-D6A7C76AD3A5}"/>
                </a:ext>
              </a:extLst>
            </p:cNvPr>
            <p:cNvSpPr/>
            <p:nvPr/>
          </p:nvSpPr>
          <p:spPr>
            <a:xfrm>
              <a:off x="1630039" y="3254239"/>
              <a:ext cx="5147999" cy="751001"/>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99450" indent="-99450">
                <a:buClr>
                  <a:schemeClr val="bg1">
                    <a:lumMod val="50000"/>
                  </a:schemeClr>
                </a:buClr>
                <a:buFont typeface="Arial" panose="020B0604020202020204" pitchFamily="34" charset="0"/>
                <a:buChar char="•"/>
              </a:pPr>
              <a:r>
                <a:rPr lang="en-US" altLang="ja-JP" sz="1000" dirty="0">
                  <a:solidFill>
                    <a:schemeClr val="tx1"/>
                  </a:solidFill>
                  <a:latin typeface="+mn-ea"/>
                </a:rPr>
                <a:t>DX</a:t>
              </a:r>
              <a:r>
                <a:rPr lang="ja-JP" altLang="en-US" sz="1000" dirty="0">
                  <a:solidFill>
                    <a:schemeClr val="tx1"/>
                  </a:solidFill>
                  <a:latin typeface="+mn-ea"/>
                </a:rPr>
                <a:t>需要の拡大（全社データ基盤・</a:t>
              </a:r>
              <a:r>
                <a:rPr lang="en" altLang="ja-JP" sz="1000" dirty="0">
                  <a:solidFill>
                    <a:schemeClr val="tx1"/>
                  </a:solidFill>
                  <a:latin typeface="+mn-ea"/>
                </a:rPr>
                <a:t>データ分析</a:t>
              </a:r>
              <a:r>
                <a:rPr lang="ja-JP" altLang="en" sz="1000" dirty="0">
                  <a:solidFill>
                    <a:schemeClr val="tx1"/>
                  </a:solidFill>
                  <a:latin typeface="+mn-ea"/>
                </a:rPr>
                <a:t>・</a:t>
              </a:r>
              <a:r>
                <a:rPr lang="ja-JP" altLang="en-US" sz="1000" dirty="0">
                  <a:solidFill>
                    <a:schemeClr val="tx1"/>
                  </a:solidFill>
                  <a:latin typeface="+mn-ea"/>
                </a:rPr>
                <a:t>生成</a:t>
              </a:r>
              <a:r>
                <a:rPr lang="en" altLang="ja-JP" sz="1000" dirty="0">
                  <a:solidFill>
                    <a:schemeClr val="tx1"/>
                  </a:solidFill>
                  <a:latin typeface="+mn-ea"/>
                </a:rPr>
                <a:t>AI</a:t>
              </a:r>
              <a:r>
                <a:rPr lang="ja-JP" altLang="en-US" sz="1000" dirty="0">
                  <a:solidFill>
                    <a:schemeClr val="tx1"/>
                  </a:solidFill>
                  <a:latin typeface="+mn-ea"/>
                </a:rPr>
                <a:t>の活用拡大により、従来と異なる新たな運用により業務が増加しており今後も不可逆に進行</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セキュリティ脅威の高度化、グローバル展開による対応範囲拡大により、</a:t>
              </a:r>
              <a:r>
                <a:rPr lang="en-US" altLang="ja-JP" sz="1000" dirty="0">
                  <a:solidFill>
                    <a:schemeClr val="tx1"/>
                  </a:solidFill>
                  <a:latin typeface="+mn-ea"/>
                </a:rPr>
                <a:t>24</a:t>
              </a:r>
              <a:r>
                <a:rPr lang="ja-JP" altLang="en-US" sz="1000" dirty="0">
                  <a:solidFill>
                    <a:schemeClr val="tx1"/>
                  </a:solidFill>
                  <a:latin typeface="+mn-ea"/>
                </a:rPr>
                <a:t>時間</a:t>
              </a:r>
              <a:r>
                <a:rPr lang="en-US" altLang="ja-JP" sz="1000" dirty="0">
                  <a:solidFill>
                    <a:schemeClr val="tx1"/>
                  </a:solidFill>
                  <a:latin typeface="+mn-ea"/>
                </a:rPr>
                <a:t>365</a:t>
              </a:r>
              <a:r>
                <a:rPr lang="ja-JP" altLang="en-US" sz="1000" dirty="0">
                  <a:solidFill>
                    <a:schemeClr val="tx1"/>
                  </a:solidFill>
                  <a:latin typeface="+mn-ea"/>
                </a:rPr>
                <a:t>日の</a:t>
              </a:r>
              <a:br>
                <a:rPr lang="en-US" altLang="ja-JP" sz="1000" dirty="0">
                  <a:solidFill>
                    <a:schemeClr val="tx1"/>
                  </a:solidFill>
                  <a:latin typeface="+mn-ea"/>
                </a:rPr>
              </a:br>
              <a:r>
                <a:rPr lang="ja-JP" altLang="en-US" sz="1000" dirty="0">
                  <a:solidFill>
                    <a:schemeClr val="tx1"/>
                  </a:solidFill>
                  <a:latin typeface="+mn-ea"/>
                </a:rPr>
                <a:t>監視・対応も標準要求となりつつある</a:t>
              </a:r>
            </a:p>
          </p:txBody>
        </p:sp>
        <p:sp>
          <p:nvSpPr>
            <p:cNvPr id="12" name="正方形/長方形 11">
              <a:extLst>
                <a:ext uri="{FF2B5EF4-FFF2-40B4-BE49-F238E27FC236}">
                  <a16:creationId xmlns:a16="http://schemas.microsoft.com/office/drawing/2014/main" id="{BECDBD60-E738-83F1-BF7C-1F69DD307BE0}"/>
                </a:ext>
              </a:extLst>
            </p:cNvPr>
            <p:cNvSpPr/>
            <p:nvPr/>
          </p:nvSpPr>
          <p:spPr>
            <a:xfrm>
              <a:off x="1630039" y="4093847"/>
              <a:ext cx="5147999" cy="1227738"/>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一部安価なベンダも選定しているが品質に問題があり、指示・督促・手戻り対応など管理の手間を内部社員が肩代わりしているケースも多い</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また、デジ戦社員が定常運用・問い合わせ・障害対応など本来外部化可能な業務に忙殺され、</a:t>
              </a:r>
              <a:br>
                <a:rPr lang="en-US" altLang="ja-JP" sz="1000" dirty="0">
                  <a:solidFill>
                    <a:schemeClr val="tx1"/>
                  </a:solidFill>
                  <a:latin typeface="+mn-ea"/>
                </a:rPr>
              </a:br>
              <a:r>
                <a:rPr lang="ja-JP" altLang="en-US" sz="1000" dirty="0">
                  <a:solidFill>
                    <a:schemeClr val="tx1"/>
                  </a:solidFill>
                  <a:latin typeface="+mn-ea"/>
                </a:rPr>
                <a:t>ベンダ成果物の補完・手戻りなど表面化しない追加工数まで負担している</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担い手がいない中、内製で対応を行うためキャリア志向・業務高負荷を常態化させることで、</a:t>
              </a:r>
              <a:br>
                <a:rPr lang="en-US" altLang="ja-JP" sz="1000" dirty="0">
                  <a:solidFill>
                    <a:schemeClr val="tx1"/>
                  </a:solidFill>
                  <a:latin typeface="+mn-ea"/>
                </a:rPr>
              </a:br>
              <a:r>
                <a:rPr lang="ja-JP" altLang="en-US" sz="1000" dirty="0">
                  <a:solidFill>
                    <a:schemeClr val="tx1"/>
                  </a:solidFill>
                  <a:latin typeface="+mn-ea"/>
                </a:rPr>
                <a:t>人材の定着・業務継続の観点から持続困難な状態になりつつある</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データ活用・</a:t>
              </a:r>
              <a:r>
                <a:rPr lang="en" altLang="ja-JP" sz="1000" dirty="0">
                  <a:solidFill>
                    <a:schemeClr val="tx1"/>
                  </a:solidFill>
                  <a:latin typeface="+mn-ea"/>
                </a:rPr>
                <a:t>AI</a:t>
              </a:r>
              <a:r>
                <a:rPr lang="ja-JP" altLang="en-US" sz="1000" dirty="0">
                  <a:solidFill>
                    <a:schemeClr val="tx1"/>
                  </a:solidFill>
                  <a:latin typeface="+mn-ea"/>
                </a:rPr>
                <a:t>活用など本来注力すべき企画業務に時間を投じられず、</a:t>
              </a:r>
              <a:r>
                <a:rPr lang="en-US" altLang="ja-JP" sz="1000" dirty="0">
                  <a:solidFill>
                    <a:schemeClr val="tx1"/>
                  </a:solidFill>
                  <a:latin typeface="+mn-ea"/>
                </a:rPr>
                <a:t>DX</a:t>
              </a:r>
              <a:r>
                <a:rPr lang="ja-JP" altLang="en-US" sz="1000" dirty="0">
                  <a:solidFill>
                    <a:schemeClr val="tx1"/>
                  </a:solidFill>
                  <a:latin typeface="+mn-ea"/>
                </a:rPr>
                <a:t>推進の機会損失が発生している</a:t>
              </a:r>
            </a:p>
          </p:txBody>
        </p:sp>
        <p:sp>
          <p:nvSpPr>
            <p:cNvPr id="13" name="正方形/長方形 12">
              <a:extLst>
                <a:ext uri="{FF2B5EF4-FFF2-40B4-BE49-F238E27FC236}">
                  <a16:creationId xmlns:a16="http://schemas.microsoft.com/office/drawing/2014/main" id="{4FC60714-CB45-4F06-0642-701EEEBFBE00}"/>
                </a:ext>
              </a:extLst>
            </p:cNvPr>
            <p:cNvSpPr/>
            <p:nvPr/>
          </p:nvSpPr>
          <p:spPr>
            <a:xfrm>
              <a:off x="1630039" y="5408930"/>
              <a:ext cx="5147999" cy="90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複数ベンダ</a:t>
              </a:r>
              <a:r>
                <a:rPr lang="en-US" altLang="ja-JP" sz="1000" dirty="0">
                  <a:solidFill>
                    <a:schemeClr val="tx1"/>
                  </a:solidFill>
                  <a:latin typeface="+mn-ea"/>
                </a:rPr>
                <a:t> (6</a:t>
              </a:r>
              <a:r>
                <a:rPr lang="ja-JP" altLang="en-US" sz="1000" dirty="0">
                  <a:solidFill>
                    <a:schemeClr val="tx1"/>
                  </a:solidFill>
                  <a:latin typeface="+mn-ea"/>
                </a:rPr>
                <a:t>社</a:t>
              </a:r>
              <a:r>
                <a:rPr lang="en-US" altLang="ja-JP" sz="1000" dirty="0">
                  <a:solidFill>
                    <a:schemeClr val="tx1"/>
                  </a:solidFill>
                  <a:latin typeface="+mn-ea"/>
                </a:rPr>
                <a:t>) </a:t>
              </a:r>
              <a:r>
                <a:rPr lang="ja-JP" altLang="en-US" sz="1000" dirty="0">
                  <a:solidFill>
                    <a:schemeClr val="tx1"/>
                  </a:solidFill>
                  <a:latin typeface="+mn-ea"/>
                </a:rPr>
                <a:t>に業務が分散し、担当範囲・責任分界・実工数が多くの会社でブラックボックス化。個別契約のためスケールメリットも働かない。</a:t>
              </a:r>
            </a:p>
            <a:p>
              <a:pPr marL="99450" indent="-99450">
                <a:buClr>
                  <a:schemeClr val="bg1">
                    <a:lumMod val="50000"/>
                  </a:schemeClr>
                </a:buClr>
                <a:buFont typeface="Arial" panose="020B0604020202020204" pitchFamily="34" charset="0"/>
                <a:buChar char="•"/>
              </a:pPr>
              <a:r>
                <a:rPr lang="ja-JP" altLang="en-US" sz="1000" dirty="0">
                  <a:solidFill>
                    <a:schemeClr val="tx1"/>
                  </a:solidFill>
                  <a:latin typeface="+mn-ea"/>
                </a:rPr>
                <a:t>社員の従事工数・手戻りを含む運用の総コスト</a:t>
              </a:r>
              <a:r>
                <a:rPr lang="en-US" altLang="ja-JP" sz="1000" dirty="0">
                  <a:solidFill>
                    <a:schemeClr val="tx1"/>
                  </a:solidFill>
                  <a:latin typeface="+mn-ea"/>
                </a:rPr>
                <a:t/>
              </a:r>
              <a:r>
                <a:rPr lang="en" altLang="ja-JP" sz="1000" dirty="0">
                  <a:solidFill>
                    <a:schemeClr val="tx1"/>
                  </a:solidFill>
                  <a:latin typeface="+mn-ea"/>
                </a:rPr>
                <a:t/>
              </a:r>
              <a:r>
                <a:rPr lang="en-US" altLang="ja-JP" sz="1000" dirty="0">
                  <a:solidFill>
                    <a:schemeClr val="tx1"/>
                  </a:solidFill>
                  <a:latin typeface="+mn-ea"/>
                </a:rPr>
                <a:t/>
              </a:r>
              <a:r>
                <a:rPr lang="en" altLang="ja-JP" sz="1000" dirty="0">
                  <a:solidFill>
                    <a:schemeClr val="tx1"/>
                  </a:solidFill>
                  <a:latin typeface="+mn-ea"/>
                </a:rPr>
                <a:t> </a:t>
              </a:r>
              <a:r>
                <a:rPr lang="ja-JP" altLang="en-US" sz="1000" dirty="0">
                  <a:solidFill>
                    <a:schemeClr val="tx1"/>
                  </a:solidFill>
                  <a:latin typeface="+mn-ea"/>
                </a:rPr>
                <a:t>が把握できず、最適化の判断基盤がない</a:t>
              </a:r>
            </a:p>
            <a:p>
              <a:pPr marL="99450" indent="-99450">
                <a:buClr>
                  <a:schemeClr val="bg1">
                    <a:lumMod val="50000"/>
                  </a:schemeClr>
                </a:buClr>
                <a:buFont typeface="Arial" panose="020B0604020202020204" pitchFamily="34" charset="0"/>
                <a:buChar char="•"/>
              </a:pPr>
              <a:r>
                <a:rPr lang="en" altLang="ja-JP" sz="1000" dirty="0">
                  <a:solidFill>
                    <a:schemeClr val="tx1"/>
                  </a:solidFill>
                  <a:latin typeface="+mn-ea"/>
                </a:rPr>
                <a:t>品質基準</a:t>
              </a:r>
              <a:r>
                <a:rPr lang="ja-JP" altLang="en" sz="1000" dirty="0">
                  <a:solidFill>
                    <a:schemeClr val="tx1"/>
                  </a:solidFill>
                  <a:latin typeface="+mn-ea"/>
                </a:rPr>
                <a:t>・</a:t>
              </a:r>
              <a:r>
                <a:rPr lang="en" altLang="ja-JP" sz="1000" dirty="0">
                  <a:solidFill>
                    <a:schemeClr val="tx1"/>
                  </a:solidFill>
                  <a:latin typeface="+mn-ea"/>
                </a:rPr>
                <a:t>KPI</a:t>
              </a:r>
              <a:r>
                <a:rPr lang="ja-JP" altLang="en-US" sz="1000" dirty="0">
                  <a:solidFill>
                    <a:schemeClr val="tx1"/>
                  </a:solidFill>
                  <a:latin typeface="+mn-ea"/>
                </a:rPr>
                <a:t>が不十分で品質を測定・評価できず、障害時の復旧は個人の稼働に依存。</a:t>
              </a:r>
              <a:br>
                <a:rPr lang="en-US" altLang="ja-JP" sz="1000" dirty="0">
                  <a:solidFill>
                    <a:schemeClr val="tx1"/>
                  </a:solidFill>
                  <a:latin typeface="+mn-ea"/>
                </a:rPr>
              </a:br>
              <a:r>
                <a:rPr lang="ja-JP" altLang="en-US" sz="1000" dirty="0">
                  <a:solidFill>
                    <a:schemeClr val="tx1"/>
                  </a:solidFill>
                  <a:latin typeface="+mn-ea"/>
                </a:rPr>
                <a:t>監査・セキュリティ統制の証跡の担保が困難で外部ベンダの一部は報告書を上げず属人化が継続。</a:t>
              </a:r>
              <a:br>
                <a:rPr lang="en-US" altLang="ja-JP" sz="1000" dirty="0">
                  <a:solidFill>
                    <a:schemeClr val="tx1"/>
                  </a:solidFill>
                  <a:latin typeface="+mn-ea"/>
                </a:rPr>
              </a:br>
              <a:r>
                <a:rPr lang="ja-JP" altLang="en-US" sz="1000" dirty="0">
                  <a:solidFill>
                    <a:schemeClr val="tx1"/>
                  </a:solidFill>
                  <a:latin typeface="+mn-ea"/>
                </a:rPr>
                <a:t>品質のばらつきも大きい</a:t>
              </a:r>
            </a:p>
          </p:txBody>
        </p:sp>
        <p:cxnSp>
          <p:nvCxnSpPr>
            <p:cNvPr id="28" name="直線コネクタ 27">
              <a:extLst>
                <a:ext uri="{FF2B5EF4-FFF2-40B4-BE49-F238E27FC236}">
                  <a16:creationId xmlns:a16="http://schemas.microsoft.com/office/drawing/2014/main" id="{A20E55D4-9843-6127-841A-70B870307408}"/>
                </a:ext>
              </a:extLst>
            </p:cNvPr>
            <p:cNvCxnSpPr>
              <a:cxnSpLocks/>
            </p:cNvCxnSpPr>
            <p:nvPr/>
          </p:nvCxnSpPr>
          <p:spPr>
            <a:xfrm>
              <a:off x="1630039" y="3210567"/>
              <a:ext cx="5147999"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C4E4585A-647B-FD4C-D9C0-E20912145745}"/>
                </a:ext>
              </a:extLst>
            </p:cNvPr>
            <p:cNvCxnSpPr>
              <a:cxnSpLocks/>
            </p:cNvCxnSpPr>
            <p:nvPr/>
          </p:nvCxnSpPr>
          <p:spPr>
            <a:xfrm>
              <a:off x="1630039" y="4049544"/>
              <a:ext cx="5147999"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1E8BDF51-EBCD-B584-0F2B-FC11F0D75718}"/>
                </a:ext>
              </a:extLst>
            </p:cNvPr>
            <p:cNvCxnSpPr>
              <a:cxnSpLocks/>
            </p:cNvCxnSpPr>
            <p:nvPr/>
          </p:nvCxnSpPr>
          <p:spPr>
            <a:xfrm>
              <a:off x="1630039" y="5365258"/>
              <a:ext cx="5147999" cy="0"/>
            </a:xfrm>
            <a:prstGeom prst="line">
              <a:avLst/>
            </a:prstGeom>
            <a:ln w="952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9" name="グラフィックス 88" descr="レンガ壁の建築 枠線">
              <a:extLst>
                <a:ext uri="{FF2B5EF4-FFF2-40B4-BE49-F238E27FC236}">
                  <a16:creationId xmlns:a16="http://schemas.microsoft.com/office/drawing/2014/main" id="{6263DDFA-7303-E59B-60FB-F435D77FBB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6240" y="1672857"/>
              <a:ext cx="324000" cy="324000"/>
            </a:xfrm>
            <a:prstGeom prst="rect">
              <a:avLst/>
            </a:prstGeom>
          </p:spPr>
        </p:pic>
        <p:sp>
          <p:nvSpPr>
            <p:cNvPr id="10" name="正方形/長方形 9">
              <a:extLst>
                <a:ext uri="{FF2B5EF4-FFF2-40B4-BE49-F238E27FC236}">
                  <a16:creationId xmlns:a16="http://schemas.microsoft.com/office/drawing/2014/main" id="{C8BF33BC-6F5B-7405-1858-BB534DF9D04C}"/>
                </a:ext>
              </a:extLst>
            </p:cNvPr>
            <p:cNvSpPr/>
            <p:nvPr/>
          </p:nvSpPr>
          <p:spPr>
            <a:xfrm>
              <a:off x="334963" y="2120574"/>
              <a:ext cx="1260000" cy="1046321"/>
            </a:xfrm>
            <a:prstGeom prst="rect">
              <a:avLst/>
            </a:prstGeom>
            <a:solidFill>
              <a:schemeClr val="accent3">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50" dirty="0">
                  <a:solidFill>
                    <a:schemeClr val="bg1">
                      <a:lumMod val="50000"/>
                    </a:schemeClr>
                  </a:solidFill>
                  <a:latin typeface="+mn-ea"/>
                </a:rPr>
                <a:t>供給不足</a:t>
              </a:r>
              <a:endParaRPr lang="en-US" altLang="ja-JP" sz="1050" dirty="0">
                <a:solidFill>
                  <a:schemeClr val="bg1">
                    <a:lumMod val="50000"/>
                  </a:schemeClr>
                </a:solidFill>
                <a:latin typeface="+mn-ea"/>
              </a:endParaRPr>
            </a:p>
            <a:p>
              <a:r>
                <a:rPr lang="ja-JP" altLang="en-US" sz="1000" dirty="0">
                  <a:solidFill>
                    <a:schemeClr val="tx1"/>
                  </a:solidFill>
                  <a:latin typeface="+mn-ea"/>
                </a:rPr>
                <a:t>運用の担い手を</a:t>
              </a:r>
              <a:br>
                <a:rPr lang="en-US" altLang="ja-JP" sz="1000" dirty="0">
                  <a:solidFill>
                    <a:schemeClr val="tx1"/>
                  </a:solidFill>
                  <a:latin typeface="+mn-ea"/>
                </a:rPr>
              </a:br>
              <a:r>
                <a:rPr lang="ja-JP" altLang="en-US" sz="1000" dirty="0">
                  <a:solidFill>
                    <a:schemeClr val="tx1"/>
                  </a:solidFill>
                  <a:latin typeface="+mn-ea"/>
                </a:rPr>
                <a:t>維持できない</a:t>
              </a:r>
            </a:p>
          </p:txBody>
        </p:sp>
        <p:sp>
          <p:nvSpPr>
            <p:cNvPr id="11" name="四角形: 角を丸くする 85">
              <a:extLst>
                <a:ext uri="{FF2B5EF4-FFF2-40B4-BE49-F238E27FC236}">
                  <a16:creationId xmlns:a16="http://schemas.microsoft.com/office/drawing/2014/main" id="{B76AD727-45D8-65B6-DF36-61A6CF2DBAD0}"/>
                </a:ext>
              </a:extLst>
            </p:cNvPr>
            <p:cNvSpPr/>
            <p:nvPr/>
          </p:nvSpPr>
          <p:spPr>
            <a:xfrm>
              <a:off x="376350" y="2277259"/>
              <a:ext cx="504000" cy="180000"/>
            </a:xfrm>
            <a:prstGeom prst="roundRect">
              <a:avLst>
                <a:gd name="adj" fmla="val 100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a:solidFill>
                    <a:schemeClr val="bg1">
                      <a:lumMod val="50000"/>
                    </a:schemeClr>
                  </a:solidFill>
                  <a:latin typeface="+mn-ea"/>
                </a:rPr>
                <a:t>課題</a:t>
              </a:r>
              <a:r>
                <a:rPr lang="en-US" altLang="ja-JP" sz="900" dirty="0">
                  <a:solidFill>
                    <a:schemeClr val="bg1">
                      <a:lumMod val="50000"/>
                    </a:schemeClr>
                  </a:solidFill>
                  <a:latin typeface="+mn-ea"/>
                </a:rPr>
                <a:t>1</a:t>
              </a:r>
            </a:p>
          </p:txBody>
        </p:sp>
        <p:sp>
          <p:nvSpPr>
            <p:cNvPr id="14" name="正方形/長方形 13">
              <a:extLst>
                <a:ext uri="{FF2B5EF4-FFF2-40B4-BE49-F238E27FC236}">
                  <a16:creationId xmlns:a16="http://schemas.microsoft.com/office/drawing/2014/main" id="{84C58C12-655A-2762-7CE0-5359E3FA9149}"/>
                </a:ext>
              </a:extLst>
            </p:cNvPr>
            <p:cNvSpPr/>
            <p:nvPr/>
          </p:nvSpPr>
          <p:spPr>
            <a:xfrm>
              <a:off x="334963" y="3251657"/>
              <a:ext cx="1260000" cy="751002"/>
            </a:xfrm>
            <a:prstGeom prst="rect">
              <a:avLst/>
            </a:prstGeom>
            <a:solidFill>
              <a:schemeClr val="accent3">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216000" rIns="36000" bIns="36000" numCol="1" spcCol="0" rtlCol="0" fromWordArt="0" anchor="ctr" anchorCtr="0" forceAA="0" compatLnSpc="1">
              <a:prstTxWarp prst="textNoShape">
                <a:avLst/>
              </a:prstTxWarp>
              <a:noAutofit/>
            </a:bodyPr>
            <a:lstStyle/>
            <a:p>
              <a:r>
                <a:rPr lang="ja-JP" altLang="en-US" sz="1050" dirty="0">
                  <a:solidFill>
                    <a:schemeClr val="bg1">
                      <a:lumMod val="50000"/>
                    </a:schemeClr>
                  </a:solidFill>
                  <a:latin typeface="+mn-ea"/>
                </a:rPr>
                <a:t>需要増大</a:t>
              </a:r>
              <a:br>
                <a:rPr lang="en-US" altLang="ja-JP" sz="1050" dirty="0">
                  <a:solidFill>
                    <a:schemeClr val="bg1">
                      <a:lumMod val="50000"/>
                    </a:schemeClr>
                  </a:solidFill>
                  <a:latin typeface="+mn-ea"/>
                </a:rPr>
              </a:br>
              <a:r>
                <a:rPr lang="ja-JP" altLang="en-US" sz="1000" dirty="0">
                  <a:solidFill>
                    <a:schemeClr val="tx1"/>
                  </a:solidFill>
                  <a:latin typeface="+mn-ea"/>
                </a:rPr>
                <a:t>運用範囲・業務は</a:t>
              </a:r>
              <a:br>
                <a:rPr lang="en-US" altLang="ja-JP" sz="1000" dirty="0">
                  <a:solidFill>
                    <a:schemeClr val="tx1"/>
                  </a:solidFill>
                  <a:latin typeface="+mn-ea"/>
                </a:rPr>
              </a:br>
              <a:r>
                <a:rPr lang="ja-JP" altLang="en-US" sz="1000" dirty="0">
                  <a:solidFill>
                    <a:schemeClr val="tx1"/>
                  </a:solidFill>
                  <a:latin typeface="+mn-ea"/>
                </a:rPr>
                <a:t>増え続ける</a:t>
              </a:r>
              <a:endParaRPr lang="ja-JP" altLang="en-US" sz="1050" dirty="0">
                <a:solidFill>
                  <a:schemeClr val="tx1"/>
                </a:solidFill>
                <a:latin typeface="+mn-ea"/>
              </a:endParaRPr>
            </a:p>
          </p:txBody>
        </p:sp>
        <p:sp>
          <p:nvSpPr>
            <p:cNvPr id="15" name="四角形: 角を丸くする 85">
              <a:extLst>
                <a:ext uri="{FF2B5EF4-FFF2-40B4-BE49-F238E27FC236}">
                  <a16:creationId xmlns:a16="http://schemas.microsoft.com/office/drawing/2014/main" id="{0B021DD6-0EFE-3942-D2F4-9B70AAC78191}"/>
                </a:ext>
              </a:extLst>
            </p:cNvPr>
            <p:cNvSpPr/>
            <p:nvPr/>
          </p:nvSpPr>
          <p:spPr>
            <a:xfrm>
              <a:off x="376350" y="3279912"/>
              <a:ext cx="504000" cy="180000"/>
            </a:xfrm>
            <a:prstGeom prst="roundRect">
              <a:avLst>
                <a:gd name="adj" fmla="val 100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a:solidFill>
                    <a:schemeClr val="bg1">
                      <a:lumMod val="50000"/>
                    </a:schemeClr>
                  </a:solidFill>
                  <a:latin typeface="+mn-ea"/>
                </a:rPr>
                <a:t>課題</a:t>
              </a:r>
              <a:r>
                <a:rPr lang="en-US" altLang="ja-JP" sz="900" dirty="0">
                  <a:solidFill>
                    <a:schemeClr val="bg1">
                      <a:lumMod val="50000"/>
                    </a:schemeClr>
                  </a:solidFill>
                  <a:latin typeface="+mn-ea"/>
                </a:rPr>
                <a:t>2</a:t>
              </a:r>
            </a:p>
          </p:txBody>
        </p:sp>
        <p:sp>
          <p:nvSpPr>
            <p:cNvPr id="16" name="正方形/長方形 15">
              <a:extLst>
                <a:ext uri="{FF2B5EF4-FFF2-40B4-BE49-F238E27FC236}">
                  <a16:creationId xmlns:a16="http://schemas.microsoft.com/office/drawing/2014/main" id="{D24B0D62-2392-BCAF-35FD-D73273AAD129}"/>
                </a:ext>
              </a:extLst>
            </p:cNvPr>
            <p:cNvSpPr/>
            <p:nvPr/>
          </p:nvSpPr>
          <p:spPr>
            <a:xfrm>
              <a:off x="334963" y="4091264"/>
              <a:ext cx="1260000" cy="1227739"/>
            </a:xfrm>
            <a:prstGeom prst="rect">
              <a:avLst/>
            </a:prstGeom>
            <a:solidFill>
              <a:schemeClr val="accent3">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50" dirty="0">
                  <a:solidFill>
                    <a:schemeClr val="bg1">
                      <a:lumMod val="50000"/>
                    </a:schemeClr>
                  </a:solidFill>
                  <a:latin typeface="+mn-ea"/>
                </a:rPr>
                <a:t>歪み</a:t>
              </a:r>
              <a:endParaRPr lang="en-US" altLang="ja-JP" sz="1050" dirty="0">
                <a:solidFill>
                  <a:schemeClr val="bg1">
                    <a:lumMod val="50000"/>
                  </a:schemeClr>
                </a:solidFill>
                <a:latin typeface="+mn-ea"/>
              </a:endParaRPr>
            </a:p>
            <a:p>
              <a:r>
                <a:rPr lang="ja-JP" altLang="en-US" sz="1000" dirty="0">
                  <a:solidFill>
                    <a:schemeClr val="tx1"/>
                  </a:solidFill>
                  <a:latin typeface="+mn-ea"/>
                </a:rPr>
                <a:t>ギャップを社員の</a:t>
              </a:r>
              <a:br>
                <a:rPr lang="en-US" altLang="ja-JP" sz="1000" dirty="0">
                  <a:solidFill>
                    <a:schemeClr val="tx1"/>
                  </a:solidFill>
                  <a:latin typeface="+mn-ea"/>
                </a:rPr>
              </a:br>
              <a:r>
                <a:rPr lang="ja-JP" altLang="en-US" sz="1000" dirty="0">
                  <a:solidFill>
                    <a:schemeClr val="tx1"/>
                  </a:solidFill>
                  <a:latin typeface="+mn-ea"/>
                </a:rPr>
                <a:t>過負荷で吸収している</a:t>
              </a:r>
            </a:p>
          </p:txBody>
        </p:sp>
        <p:sp>
          <p:nvSpPr>
            <p:cNvPr id="17" name="四角形: 角を丸くする 85">
              <a:extLst>
                <a:ext uri="{FF2B5EF4-FFF2-40B4-BE49-F238E27FC236}">
                  <a16:creationId xmlns:a16="http://schemas.microsoft.com/office/drawing/2014/main" id="{E3597FFE-8C10-AE7D-80A7-5C5D4EE572E5}"/>
                </a:ext>
              </a:extLst>
            </p:cNvPr>
            <p:cNvSpPr/>
            <p:nvPr/>
          </p:nvSpPr>
          <p:spPr>
            <a:xfrm>
              <a:off x="376350" y="4209698"/>
              <a:ext cx="504000" cy="180000"/>
            </a:xfrm>
            <a:prstGeom prst="roundRect">
              <a:avLst>
                <a:gd name="adj" fmla="val 100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a:solidFill>
                    <a:schemeClr val="bg1">
                      <a:lumMod val="50000"/>
                    </a:schemeClr>
                  </a:solidFill>
                  <a:latin typeface="+mn-ea"/>
                </a:rPr>
                <a:t>課題</a:t>
              </a:r>
              <a:r>
                <a:rPr lang="en-US" altLang="ja-JP" sz="900" dirty="0">
                  <a:solidFill>
                    <a:schemeClr val="bg1">
                      <a:lumMod val="50000"/>
                    </a:schemeClr>
                  </a:solidFill>
                  <a:latin typeface="+mn-ea"/>
                </a:rPr>
                <a:t>3</a:t>
              </a:r>
            </a:p>
          </p:txBody>
        </p:sp>
        <p:sp>
          <p:nvSpPr>
            <p:cNvPr id="18" name="正方形/長方形 17">
              <a:extLst>
                <a:ext uri="{FF2B5EF4-FFF2-40B4-BE49-F238E27FC236}">
                  <a16:creationId xmlns:a16="http://schemas.microsoft.com/office/drawing/2014/main" id="{94AC67FF-B605-51F1-9BCA-9C45392794C9}"/>
                </a:ext>
              </a:extLst>
            </p:cNvPr>
            <p:cNvSpPr/>
            <p:nvPr/>
          </p:nvSpPr>
          <p:spPr>
            <a:xfrm>
              <a:off x="342712" y="5408930"/>
              <a:ext cx="1260000" cy="900000"/>
            </a:xfrm>
            <a:prstGeom prst="rect">
              <a:avLst/>
            </a:prstGeom>
            <a:solidFill>
              <a:schemeClr val="accent3">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216000" rIns="0" bIns="36000" numCol="1" spcCol="0" rtlCol="0" fromWordArt="0" anchor="ctr" anchorCtr="0" forceAA="0" compatLnSpc="1">
              <a:prstTxWarp prst="textNoShape">
                <a:avLst/>
              </a:prstTxWarp>
              <a:noAutofit/>
            </a:bodyPr>
            <a:lstStyle/>
            <a:p>
              <a:r>
                <a:rPr lang="ja-JP" altLang="en-US" sz="1050" dirty="0">
                  <a:solidFill>
                    <a:schemeClr val="bg1">
                      <a:lumMod val="50000"/>
                    </a:schemeClr>
                  </a:solidFill>
                  <a:latin typeface="+mn-ea"/>
                </a:rPr>
                <a:t>基盤</a:t>
              </a:r>
              <a:endParaRPr lang="en-US" altLang="ja-JP" sz="1050" dirty="0">
                <a:solidFill>
                  <a:schemeClr val="bg1">
                    <a:lumMod val="50000"/>
                  </a:schemeClr>
                </a:solidFill>
                <a:latin typeface="+mn-ea"/>
              </a:endParaRPr>
            </a:p>
            <a:p>
              <a:r>
                <a:rPr lang="ja-JP" altLang="en-US" sz="1000" dirty="0">
                  <a:solidFill>
                    <a:schemeClr val="tx1"/>
                  </a:solidFill>
                  <a:latin typeface="+mn-ea"/>
                </a:rPr>
                <a:t>コスト・品質を統制する</a:t>
              </a:r>
              <a:br>
                <a:rPr lang="en-US" altLang="ja-JP" sz="1000" dirty="0">
                  <a:solidFill>
                    <a:schemeClr val="tx1"/>
                  </a:solidFill>
                  <a:latin typeface="+mn-ea"/>
                </a:rPr>
              </a:br>
              <a:r>
                <a:rPr lang="ja-JP" altLang="en-US" sz="1000" dirty="0">
                  <a:solidFill>
                    <a:schemeClr val="tx1"/>
                  </a:solidFill>
                  <a:latin typeface="+mn-ea"/>
                </a:rPr>
                <a:t>仕組みが不十分</a:t>
              </a:r>
            </a:p>
          </p:txBody>
        </p:sp>
        <p:sp>
          <p:nvSpPr>
            <p:cNvPr id="19" name="四角形: 角を丸くする 85">
              <a:extLst>
                <a:ext uri="{FF2B5EF4-FFF2-40B4-BE49-F238E27FC236}">
                  <a16:creationId xmlns:a16="http://schemas.microsoft.com/office/drawing/2014/main" id="{B4293D87-517B-47BA-4092-63AD101A3789}"/>
                </a:ext>
              </a:extLst>
            </p:cNvPr>
            <p:cNvSpPr/>
            <p:nvPr/>
          </p:nvSpPr>
          <p:spPr>
            <a:xfrm>
              <a:off x="384099" y="5464878"/>
              <a:ext cx="504000" cy="180000"/>
            </a:xfrm>
            <a:prstGeom prst="roundRect">
              <a:avLst>
                <a:gd name="adj" fmla="val 100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a:solidFill>
                    <a:schemeClr val="bg1">
                      <a:lumMod val="50000"/>
                    </a:schemeClr>
                  </a:solidFill>
                  <a:latin typeface="+mn-ea"/>
                </a:rPr>
                <a:t>課題</a:t>
              </a:r>
              <a:r>
                <a:rPr lang="en-US" altLang="ja-JP" sz="900" dirty="0">
                  <a:solidFill>
                    <a:schemeClr val="bg1">
                      <a:lumMod val="50000"/>
                    </a:schemeClr>
                  </a:solidFill>
                  <a:latin typeface="+mn-ea"/>
                </a:rPr>
                <a:t>4</a:t>
              </a:r>
            </a:p>
          </p:txBody>
        </p:sp>
        <p:pic>
          <p:nvPicPr>
            <p:cNvPr id="93" name="グラフィックス 92" descr="対象の人々 単色塗りつぶし">
              <a:extLst>
                <a:ext uri="{FF2B5EF4-FFF2-40B4-BE49-F238E27FC236}">
                  <a16:creationId xmlns:a16="http://schemas.microsoft.com/office/drawing/2014/main" id="{BA0B165F-6ECF-C1EA-DE8D-4E872CC23D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0962" y="2842894"/>
              <a:ext cx="324000" cy="324000"/>
            </a:xfrm>
            <a:prstGeom prst="rect">
              <a:avLst/>
            </a:prstGeom>
          </p:spPr>
        </p:pic>
        <p:pic>
          <p:nvPicPr>
            <p:cNvPr id="97" name="グラフィックス 96" descr="環状の矢印 単色塗りつぶし">
              <a:extLst>
                <a:ext uri="{FF2B5EF4-FFF2-40B4-BE49-F238E27FC236}">
                  <a16:creationId xmlns:a16="http://schemas.microsoft.com/office/drawing/2014/main" id="{82176E51-DD0E-E118-4218-40C44341D2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0962" y="5984930"/>
              <a:ext cx="324000" cy="324000"/>
            </a:xfrm>
            <a:prstGeom prst="rect">
              <a:avLst/>
            </a:prstGeom>
          </p:spPr>
        </p:pic>
        <p:pic>
          <p:nvPicPr>
            <p:cNvPr id="101" name="グラフィックス 100" descr="釣り合っていない天秤 単色塗りつぶし">
              <a:extLst>
                <a:ext uri="{FF2B5EF4-FFF2-40B4-BE49-F238E27FC236}">
                  <a16:creationId xmlns:a16="http://schemas.microsoft.com/office/drawing/2014/main" id="{86593FBD-795B-A175-1EAF-DA2ACE707B5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70962" y="4995003"/>
              <a:ext cx="324000" cy="324000"/>
            </a:xfrm>
            <a:prstGeom prst="rect">
              <a:avLst/>
            </a:prstGeom>
          </p:spPr>
        </p:pic>
        <p:pic>
          <p:nvPicPr>
            <p:cNvPr id="103" name="グラフィックス 102" descr="在宅勤務デスク 単色塗りつぶし">
              <a:extLst>
                <a:ext uri="{FF2B5EF4-FFF2-40B4-BE49-F238E27FC236}">
                  <a16:creationId xmlns:a16="http://schemas.microsoft.com/office/drawing/2014/main" id="{5DD8185D-5DB1-3E05-D2CD-3969842D2D3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70962" y="3678659"/>
              <a:ext cx="324000" cy="324000"/>
            </a:xfrm>
            <a:prstGeom prst="rect">
              <a:avLst/>
            </a:prstGeom>
          </p:spPr>
        </p:pic>
        <p:cxnSp>
          <p:nvCxnSpPr>
            <p:cNvPr id="34" name="直線コネクタ 33">
              <a:extLst>
                <a:ext uri="{FF2B5EF4-FFF2-40B4-BE49-F238E27FC236}">
                  <a16:creationId xmlns:a16="http://schemas.microsoft.com/office/drawing/2014/main" id="{704848C4-4644-5A90-6466-01A9D0618793}"/>
                </a:ext>
              </a:extLst>
            </p:cNvPr>
            <p:cNvCxnSpPr>
              <a:cxnSpLocks/>
            </p:cNvCxnSpPr>
            <p:nvPr/>
          </p:nvCxnSpPr>
          <p:spPr>
            <a:xfrm>
              <a:off x="7288431" y="2035809"/>
              <a:ext cx="4572813"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A5609908-25A4-3B22-E46E-8252864D8F00}"/>
                </a:ext>
              </a:extLst>
            </p:cNvPr>
            <p:cNvSpPr txBox="1"/>
            <p:nvPr/>
          </p:nvSpPr>
          <p:spPr>
            <a:xfrm>
              <a:off x="7288431" y="1642791"/>
              <a:ext cx="4572813" cy="384133"/>
            </a:xfrm>
            <a:prstGeom prst="rect">
              <a:avLst/>
            </a:prstGeom>
            <a:noFill/>
          </p:spPr>
          <p:txBody>
            <a:bodyPr wrap="square" rtlCol="0" anchor="b">
              <a:noAutofit/>
            </a:bodyPr>
            <a:lstStyle/>
            <a:p>
              <a:pPr algn="ctr"/>
              <a:r>
                <a:rPr kumimoji="1" lang="ja-JP" altLang="en-US">
                  <a:latin typeface="+mn-ea"/>
                </a:rPr>
                <a:t>示唆</a:t>
              </a:r>
            </a:p>
          </p:txBody>
        </p:sp>
        <p:sp>
          <p:nvSpPr>
            <p:cNvPr id="41" name="正方形/長方形 40">
              <a:extLst>
                <a:ext uri="{FF2B5EF4-FFF2-40B4-BE49-F238E27FC236}">
                  <a16:creationId xmlns:a16="http://schemas.microsoft.com/office/drawing/2014/main" id="{CF3A21A1-411F-BE48-471B-EE9A8D301EEE}"/>
                </a:ext>
              </a:extLst>
            </p:cNvPr>
            <p:cNvSpPr/>
            <p:nvPr/>
          </p:nvSpPr>
          <p:spPr>
            <a:xfrm>
              <a:off x="7288432" y="2120571"/>
              <a:ext cx="4572813" cy="900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indent="403225">
                <a:spcAft>
                  <a:spcPts val="200"/>
                </a:spcAft>
              </a:pPr>
              <a:r>
                <a:rPr lang="ja-JP" altLang="en-US" sz="1400" dirty="0">
                  <a:solidFill>
                    <a:srgbClr val="008D2E"/>
                  </a:solidFill>
                  <a:latin typeface="+mn-ea"/>
                </a:rPr>
                <a:t>内製強化の構造的不成立</a:t>
              </a:r>
              <a:endParaRPr lang="en-US" altLang="ja-JP" sz="1400" dirty="0">
                <a:solidFill>
                  <a:srgbClr val="008D2E"/>
                </a:solidFill>
                <a:latin typeface="+mn-ea"/>
              </a:endParaRPr>
            </a:p>
            <a:p>
              <a:pPr marL="12700" lvl="1">
                <a:spcAft>
                  <a:spcPts val="200"/>
                </a:spcAft>
              </a:pPr>
              <a:r>
                <a:rPr lang="ja-JP" altLang="en-US" sz="1100" dirty="0">
                  <a:solidFill>
                    <a:schemeClr val="tx1"/>
                  </a:solidFill>
                  <a:latin typeface="+mn-ea"/>
                </a:rPr>
                <a:t>供給減</a:t>
              </a:r>
              <a:r>
                <a:rPr lang="en-US" altLang="ja-JP" sz="1100" dirty="0">
                  <a:solidFill>
                    <a:schemeClr val="tx1"/>
                  </a:solidFill>
                  <a:latin typeface="+mn-ea"/>
                </a:rPr>
                <a:t>×</a:t>
              </a:r>
              <a:r>
                <a:rPr lang="ja-JP" altLang="en-US" sz="1100" dirty="0">
                  <a:solidFill>
                    <a:schemeClr val="tx1"/>
                  </a:solidFill>
                  <a:latin typeface="+mn-ea"/>
                </a:rPr>
                <a:t>需要増のギャップ拡大に対し、自前での人材獲得や先端運用投資</a:t>
              </a:r>
              <a:br>
                <a:rPr lang="en-US" altLang="ja-JP" sz="1100" dirty="0">
                  <a:solidFill>
                    <a:schemeClr val="tx1"/>
                  </a:solidFill>
                  <a:latin typeface="+mn-ea"/>
                </a:rPr>
              </a:br>
              <a:r>
                <a:rPr lang="en-US" altLang="ja-JP" sz="1100" dirty="0">
                  <a:solidFill>
                    <a:schemeClr val="tx1"/>
                  </a:solidFill>
                  <a:latin typeface="+mn-ea"/>
                </a:rPr>
                <a:t>(AI / </a:t>
              </a:r>
              <a:r>
                <a:rPr lang="ja-JP" altLang="en-US" sz="1100" dirty="0">
                  <a:solidFill>
                    <a:schemeClr val="tx1"/>
                  </a:solidFill>
                  <a:latin typeface="+mn-ea"/>
                </a:rPr>
                <a:t>自動化</a:t>
              </a:r>
              <a:r>
                <a:rPr lang="en-US" altLang="ja-JP" sz="1100" dirty="0">
                  <a:solidFill>
                    <a:schemeClr val="tx1"/>
                  </a:solidFill>
                  <a:latin typeface="+mn-ea"/>
                </a:rPr>
                <a:t>)</a:t>
              </a:r>
              <a:r>
                <a:rPr lang="ja-JP" altLang="en-US" sz="1100" dirty="0">
                  <a:solidFill>
                    <a:schemeClr val="tx1"/>
                  </a:solidFill>
                  <a:latin typeface="+mn-ea"/>
                </a:rPr>
                <a:t> の回収は困難なため、「社員の努力による内製強化」は構造的に成り立ちづらい</a:t>
              </a:r>
              <a:endParaRPr lang="en-US" altLang="ja-JP" sz="1100" dirty="0">
                <a:solidFill>
                  <a:schemeClr val="tx1"/>
                </a:solidFill>
                <a:latin typeface="+mn-ea"/>
              </a:endParaRPr>
            </a:p>
          </p:txBody>
        </p:sp>
        <p:sp>
          <p:nvSpPr>
            <p:cNvPr id="43" name="正方形/長方形 42">
              <a:extLst>
                <a:ext uri="{FF2B5EF4-FFF2-40B4-BE49-F238E27FC236}">
                  <a16:creationId xmlns:a16="http://schemas.microsoft.com/office/drawing/2014/main" id="{A6003D7D-ED8E-12FC-2B8D-CE8831DB1198}"/>
                </a:ext>
              </a:extLst>
            </p:cNvPr>
            <p:cNvSpPr/>
            <p:nvPr/>
          </p:nvSpPr>
          <p:spPr>
            <a:xfrm>
              <a:off x="7288432" y="3107209"/>
              <a:ext cx="4572813" cy="900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indent="403225">
                <a:spcAft>
                  <a:spcPts val="200"/>
                </a:spcAft>
              </a:pPr>
              <a:r>
                <a:rPr lang="ja-JP" altLang="en-US" sz="1400" dirty="0">
                  <a:solidFill>
                    <a:srgbClr val="008D2E"/>
                  </a:solidFill>
                  <a:latin typeface="+mn-ea"/>
                </a:rPr>
                <a:t>個人依存による経営リスクと機会損失</a:t>
              </a:r>
              <a:endParaRPr lang="en-US" altLang="ja-JP" sz="1400" dirty="0">
                <a:solidFill>
                  <a:srgbClr val="008D2E"/>
                </a:solidFill>
                <a:latin typeface="+mn-ea"/>
              </a:endParaRPr>
            </a:p>
            <a:p>
              <a:pPr>
                <a:spcAft>
                  <a:spcPts val="200"/>
                </a:spcAft>
              </a:pPr>
              <a:r>
                <a:rPr lang="ja-JP" altLang="en-US" sz="1100" dirty="0">
                  <a:solidFill>
                    <a:schemeClr val="tx1"/>
                  </a:solidFill>
                  <a:latin typeface="+mn-ea"/>
                </a:rPr>
                <a:t>需給ギャップやベンダ手戻りを今後も「社員個人の過負荷」で吸収していくと</a:t>
              </a:r>
              <a:br>
                <a:rPr lang="en-US" altLang="ja-JP" sz="1100" dirty="0">
                  <a:solidFill>
                    <a:schemeClr val="tx1"/>
                  </a:solidFill>
                  <a:latin typeface="+mn-ea"/>
                </a:rPr>
              </a:br>
              <a:r>
                <a:rPr lang="ja-JP" altLang="en-US" sz="1100" dirty="0">
                  <a:solidFill>
                    <a:schemeClr val="tx1"/>
                  </a:solidFill>
                  <a:latin typeface="+mn-ea"/>
                </a:rPr>
                <a:t>休職者の増加や事業継続リスクを高めていく。さらに、社員が定常運用に</a:t>
              </a:r>
              <a:br>
                <a:rPr lang="en-US" altLang="ja-JP" sz="1100" dirty="0">
                  <a:solidFill>
                    <a:schemeClr val="tx1"/>
                  </a:solidFill>
                  <a:latin typeface="+mn-ea"/>
                </a:rPr>
              </a:br>
              <a:r>
                <a:rPr lang="ja-JP" altLang="en-US" sz="1100" dirty="0">
                  <a:solidFill>
                    <a:schemeClr val="tx1"/>
                  </a:solidFill>
                  <a:latin typeface="+mn-ea"/>
                </a:rPr>
                <a:t>忙殺されることで、</a:t>
              </a:r>
              <a:r>
                <a:rPr lang="en-US" altLang="ja-JP" sz="1100" dirty="0">
                  <a:solidFill>
                    <a:schemeClr val="tx1"/>
                  </a:solidFill>
                  <a:latin typeface="+mn-ea"/>
                </a:rPr>
                <a:t>Dx</a:t>
              </a:r>
              <a:r>
                <a:rPr lang="ja-JP" altLang="en-US" sz="1100" dirty="0">
                  <a:solidFill>
                    <a:schemeClr val="tx1"/>
                  </a:solidFill>
                  <a:latin typeface="+mn-ea"/>
                </a:rPr>
                <a:t>テーマ推進の機会損失を拡大させてしまう</a:t>
              </a:r>
            </a:p>
          </p:txBody>
        </p:sp>
        <p:sp>
          <p:nvSpPr>
            <p:cNvPr id="44" name="正方形/長方形 43">
              <a:extLst>
                <a:ext uri="{FF2B5EF4-FFF2-40B4-BE49-F238E27FC236}">
                  <a16:creationId xmlns:a16="http://schemas.microsoft.com/office/drawing/2014/main" id="{DAC0330E-12E1-7632-2728-B321AC152E84}"/>
                </a:ext>
              </a:extLst>
            </p:cNvPr>
            <p:cNvSpPr/>
            <p:nvPr/>
          </p:nvSpPr>
          <p:spPr>
            <a:xfrm>
              <a:off x="7288432" y="4093847"/>
              <a:ext cx="4572813" cy="900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pPr indent="403225">
                <a:spcAft>
                  <a:spcPts val="200"/>
                </a:spcAft>
              </a:pPr>
              <a:r>
                <a:rPr lang="ja-JP" altLang="en-US" sz="1400" dirty="0">
                  <a:solidFill>
                    <a:srgbClr val="008D2E"/>
                  </a:solidFill>
                  <a:latin typeface="+mn-ea"/>
                </a:rPr>
                <a:t>ガバナンスの欠落</a:t>
              </a:r>
              <a:endParaRPr lang="en-US" altLang="ja-JP" sz="1400" dirty="0">
                <a:solidFill>
                  <a:srgbClr val="008D2E"/>
                </a:solidFill>
                <a:latin typeface="+mn-ea"/>
              </a:endParaRPr>
            </a:p>
            <a:p>
              <a:pPr>
                <a:spcAft>
                  <a:spcPts val="200"/>
                </a:spcAft>
              </a:pPr>
              <a:r>
                <a:rPr lang="ja-JP" altLang="en-US" sz="1100" dirty="0">
                  <a:solidFill>
                    <a:schemeClr val="tx1"/>
                  </a:solidFill>
                  <a:latin typeface="+mn-ea"/>
                </a:rPr>
                <a:t>複数ベンダの分散発注や</a:t>
              </a:r>
              <a:r>
                <a:rPr lang="en" altLang="ja-JP" sz="1100" dirty="0">
                  <a:solidFill>
                    <a:schemeClr val="tx1"/>
                  </a:solidFill>
                  <a:latin typeface="+mn-ea"/>
                </a:rPr>
                <a:t>品質基準・KPIが</a:t>
              </a:r>
              <a:r>
                <a:rPr lang="ja-JP" altLang="en-US" sz="1100" dirty="0">
                  <a:solidFill>
                    <a:schemeClr val="tx1"/>
                  </a:solidFill>
                  <a:latin typeface="+mn-ea"/>
                </a:rPr>
                <a:t>未整備により、運用実態・</a:t>
              </a:r>
              <a:r>
                <a:rPr lang="en" altLang="ja-JP" sz="1100" dirty="0">
                  <a:solidFill>
                    <a:schemeClr val="tx1"/>
                  </a:solidFill>
                  <a:latin typeface="+mn-ea"/>
                </a:rPr>
                <a:t>総コスト</a:t>
              </a:r>
              <a:r>
                <a:rPr lang="ja-JP" altLang="en-US" sz="1100" dirty="0">
                  <a:solidFill>
                    <a:schemeClr val="tx1"/>
                  </a:solidFill>
                  <a:latin typeface="+mn-ea"/>
                </a:rPr>
                <a:t>が</a:t>
              </a:r>
              <a:br>
                <a:rPr lang="en-US" altLang="ja-JP" sz="1100" dirty="0">
                  <a:solidFill>
                    <a:schemeClr val="tx1"/>
                  </a:solidFill>
                  <a:latin typeface="+mn-ea"/>
                </a:rPr>
              </a:br>
              <a:r>
                <a:rPr lang="ja-JP" altLang="en-US" sz="1100" dirty="0">
                  <a:solidFill>
                    <a:schemeClr val="tx1"/>
                  </a:solidFill>
                  <a:latin typeface="+mn-ea"/>
                </a:rPr>
                <a:t>ブラックボックス化しており、現在の運用管理は「組織的なガバナンス」ではなく、</a:t>
              </a:r>
              <a:br>
                <a:rPr lang="en-US" altLang="ja-JP" sz="1100" dirty="0">
                  <a:solidFill>
                    <a:schemeClr val="tx1"/>
                  </a:solidFill>
                  <a:latin typeface="+mn-ea"/>
                </a:rPr>
              </a:br>
              <a:r>
                <a:rPr lang="ja-JP" altLang="en-US" sz="1100" dirty="0">
                  <a:solidFill>
                    <a:schemeClr val="tx1"/>
                  </a:solidFill>
                  <a:latin typeface="+mn-ea"/>
                </a:rPr>
                <a:t>「現場社員個人の稼働依存」に留まる</a:t>
              </a:r>
            </a:p>
          </p:txBody>
        </p:sp>
        <p:grpSp>
          <p:nvGrpSpPr>
            <p:cNvPr id="104" name="グループ化 103">
              <a:extLst>
                <a:ext uri="{FF2B5EF4-FFF2-40B4-BE49-F238E27FC236}">
                  <a16:creationId xmlns:a16="http://schemas.microsoft.com/office/drawing/2014/main" id="{4B21F3E8-AF8E-43C3-EFF5-DF26BF789A49}"/>
                </a:ext>
              </a:extLst>
            </p:cNvPr>
            <p:cNvGrpSpPr/>
            <p:nvPr/>
          </p:nvGrpSpPr>
          <p:grpSpPr>
            <a:xfrm>
              <a:off x="7288431" y="5096251"/>
              <a:ext cx="4572813" cy="252000"/>
              <a:chOff x="7288431" y="5080485"/>
              <a:chExt cx="4572813" cy="252000"/>
            </a:xfrm>
          </p:grpSpPr>
          <p:cxnSp>
            <p:nvCxnSpPr>
              <p:cNvPr id="46" name="直線コネクタ 31">
                <a:extLst>
                  <a:ext uri="{FF2B5EF4-FFF2-40B4-BE49-F238E27FC236}">
                    <a16:creationId xmlns:a16="http://schemas.microsoft.com/office/drawing/2014/main" id="{EDD87325-AA98-EE1C-345A-2FBC264938A6}"/>
                  </a:ext>
                </a:extLst>
              </p:cNvPr>
              <p:cNvCxnSpPr>
                <a:cxnSpLocks/>
              </p:cNvCxnSpPr>
              <p:nvPr/>
            </p:nvCxnSpPr>
            <p:spPr>
              <a:xfrm>
                <a:off x="7288431" y="5206485"/>
                <a:ext cx="4572813" cy="0"/>
              </a:xfrm>
              <a:prstGeom prst="line">
                <a:avLst/>
              </a:prstGeom>
              <a:ln w="95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円/楕円 32">
                <a:extLst>
                  <a:ext uri="{FF2B5EF4-FFF2-40B4-BE49-F238E27FC236}">
                    <a16:creationId xmlns:a16="http://schemas.microsoft.com/office/drawing/2014/main" id="{0ADC62E6-7E93-59F4-20ED-938541E668AF}"/>
                  </a:ext>
                </a:extLst>
              </p:cNvPr>
              <p:cNvSpPr>
                <a:spLocks noChangeAspect="1"/>
              </p:cNvSpPr>
              <p:nvPr/>
            </p:nvSpPr>
            <p:spPr>
              <a:xfrm>
                <a:off x="9448837" y="5080485"/>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buClr>
                    <a:schemeClr val="accent1"/>
                  </a:buClr>
                </a:pPr>
                <a:endParaRPr kumimoji="1" lang="ja-JP" altLang="en-US">
                  <a:latin typeface="+mn-ea"/>
                </a:endParaRPr>
              </a:p>
            </p:txBody>
          </p:sp>
          <p:pic>
            <p:nvPicPr>
              <p:cNvPr id="48" name="グラフィックス 111" descr="キャレットを下へ 枠線">
                <a:extLst>
                  <a:ext uri="{FF2B5EF4-FFF2-40B4-BE49-F238E27FC236}">
                    <a16:creationId xmlns:a16="http://schemas.microsoft.com/office/drawing/2014/main" id="{D228A70C-9385-4DB9-D971-811F2A1B67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48837" y="5080485"/>
                <a:ext cx="252000" cy="252000"/>
              </a:xfrm>
              <a:prstGeom prst="rect">
                <a:avLst/>
              </a:prstGeom>
            </p:spPr>
          </p:pic>
        </p:grpSp>
        <p:sp>
          <p:nvSpPr>
            <p:cNvPr id="49" name="正方形/長方形 48">
              <a:extLst>
                <a:ext uri="{FF2B5EF4-FFF2-40B4-BE49-F238E27FC236}">
                  <a16:creationId xmlns:a16="http://schemas.microsoft.com/office/drawing/2014/main" id="{2E1F58CD-E4D9-CA27-260B-A2128CA5AA5A}"/>
                </a:ext>
              </a:extLst>
            </p:cNvPr>
            <p:cNvSpPr/>
            <p:nvPr/>
          </p:nvSpPr>
          <p:spPr>
            <a:xfrm>
              <a:off x="7288432" y="5419123"/>
              <a:ext cx="4572813" cy="90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chemeClr val="bg1">
                    <a:lumMod val="50000"/>
                  </a:schemeClr>
                </a:buClr>
              </a:pPr>
              <a:r>
                <a:rPr lang="ja-JP" altLang="en-US" sz="1300" dirty="0">
                  <a:solidFill>
                    <a:schemeClr val="tx1"/>
                  </a:solidFill>
                  <a:latin typeface="+mn-ea"/>
                </a:rPr>
                <a:t>論点は単なる「内製か外注か」や現場の「業務改善」ではなく、</a:t>
              </a:r>
              <a:br>
                <a:rPr lang="en-US" altLang="ja-JP" sz="1300" dirty="0">
                  <a:solidFill>
                    <a:schemeClr val="tx1"/>
                  </a:solidFill>
                  <a:latin typeface="+mn-ea"/>
                </a:rPr>
              </a:br>
              <a:r>
                <a:rPr lang="ja-JP" altLang="en-US" sz="1300" dirty="0">
                  <a:solidFill>
                    <a:srgbClr val="008D2E"/>
                  </a:solidFill>
                  <a:latin typeface="+mn-ea"/>
                </a:rPr>
                <a:t>「社員個人の過負荷に頼る限界的な運用から脱却し、いかに仕組み</a:t>
              </a:r>
              <a:br>
                <a:rPr lang="en-US" altLang="ja-JP" sz="1300" dirty="0">
                  <a:solidFill>
                    <a:srgbClr val="008D2E"/>
                  </a:solidFill>
                  <a:latin typeface="+mn-ea"/>
                </a:rPr>
              </a:br>
              <a:r>
                <a:rPr lang="ja-JP" altLang="en-US" sz="1300" dirty="0">
                  <a:solidFill>
                    <a:srgbClr val="008D2E"/>
                  </a:solidFill>
                  <a:latin typeface="+mn-ea"/>
                </a:rPr>
                <a:t>と統制を備えた持続可能な運用の仕組みへ転換するか」</a:t>
              </a:r>
            </a:p>
          </p:txBody>
        </p:sp>
        <p:pic>
          <p:nvPicPr>
            <p:cNvPr id="91" name="グラフィックス 90" descr="電球と鉛筆 枠線">
              <a:extLst>
                <a:ext uri="{FF2B5EF4-FFF2-40B4-BE49-F238E27FC236}">
                  <a16:creationId xmlns:a16="http://schemas.microsoft.com/office/drawing/2014/main" id="{812C348C-0EC7-F555-B20D-18529E0557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02567" y="1672857"/>
              <a:ext cx="324000" cy="324000"/>
            </a:xfrm>
            <a:prstGeom prst="rect">
              <a:avLst/>
            </a:prstGeom>
          </p:spPr>
        </p:pic>
        <p:pic>
          <p:nvPicPr>
            <p:cNvPr id="106" name="グラフィックス 105" descr="警告 単色塗りつぶし">
              <a:extLst>
                <a:ext uri="{FF2B5EF4-FFF2-40B4-BE49-F238E27FC236}">
                  <a16:creationId xmlns:a16="http://schemas.microsoft.com/office/drawing/2014/main" id="{835DA42C-A568-B8D5-AE0A-846B40968B0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393761" y="3125497"/>
              <a:ext cx="288000" cy="288000"/>
            </a:xfrm>
            <a:prstGeom prst="rect">
              <a:avLst/>
            </a:prstGeom>
          </p:spPr>
        </p:pic>
        <p:pic>
          <p:nvPicPr>
            <p:cNvPr id="110" name="グラフィックス 109" descr="パズルのピース 単色塗りつぶし">
              <a:extLst>
                <a:ext uri="{FF2B5EF4-FFF2-40B4-BE49-F238E27FC236}">
                  <a16:creationId xmlns:a16="http://schemas.microsoft.com/office/drawing/2014/main" id="{B7B471D4-A47F-16DE-9610-988D686F751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93761" y="4112135"/>
              <a:ext cx="288000" cy="288000"/>
            </a:xfrm>
            <a:prstGeom prst="rect">
              <a:avLst/>
            </a:prstGeom>
          </p:spPr>
        </p:pic>
        <p:pic>
          <p:nvPicPr>
            <p:cNvPr id="114" name="グラフィックス 113" descr="イラストレーター 単色塗りつぶし">
              <a:extLst>
                <a:ext uri="{FF2B5EF4-FFF2-40B4-BE49-F238E27FC236}">
                  <a16:creationId xmlns:a16="http://schemas.microsoft.com/office/drawing/2014/main" id="{F6A52F76-47BE-A615-87C5-4A355D2EF4B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93761" y="2138859"/>
              <a:ext cx="288000" cy="288000"/>
            </a:xfrm>
            <a:prstGeom prst="rect">
              <a:avLst/>
            </a:prstGeom>
          </p:spPr>
        </p:pic>
      </p:grpSp>
    </p:spTree>
    <p:extLst>
      <p:ext uri="{BB962C8B-B14F-4D97-AF65-F5344CB8AC3E}">
        <p14:creationId xmlns:p14="http://schemas.microsoft.com/office/powerpoint/2010/main" val="1720202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D14EF-58CE-C2E7-2BFE-4CFD485E99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D7F927-566E-E145-1313-A7377659E68B}"/>
              </a:ext>
            </a:extLst>
          </p:cNvPr>
          <p:cNvSpPr>
            <a:spLocks noGrp="1"/>
          </p:cNvSpPr>
          <p:nvPr>
            <p:ph type="title"/>
          </p:nvPr>
        </p:nvSpPr>
        <p:spPr>
          <a:xfrm>
            <a:off x="334963" y="1"/>
            <a:ext cx="11522075" cy="914400"/>
          </a:xfrm>
        </p:spPr>
        <p:txBody>
          <a:bodyPr/>
          <a:lstStyle/>
          <a:p>
            <a:r>
              <a:rPr kumimoji="1" lang="ja-JP" altLang="en-US" dirty="0"/>
              <a:t>解決の方向性</a:t>
            </a:r>
            <a:br>
              <a:rPr kumimoji="1" lang="en-US" altLang="ja-JP" dirty="0"/>
            </a:br>
            <a:r>
              <a:rPr kumimoji="1" lang="ja-JP" altLang="en-US" dirty="0"/>
              <a:t>示唆に対する選択肢</a:t>
            </a:r>
          </a:p>
        </p:txBody>
      </p:sp>
      <p:sp>
        <p:nvSpPr>
          <p:cNvPr id="3" name="テキスト プレースホルダー 2">
            <a:extLst>
              <a:ext uri="{FF2B5EF4-FFF2-40B4-BE49-F238E27FC236}">
                <a16:creationId xmlns:a16="http://schemas.microsoft.com/office/drawing/2014/main" id="{E85F2D57-9BF2-326E-FF68-E0960E12CD21}"/>
              </a:ext>
            </a:extLst>
          </p:cNvPr>
          <p:cNvSpPr>
            <a:spLocks noGrp="1"/>
          </p:cNvSpPr>
          <p:nvPr>
            <p:ph type="body" sz="quarter" idx="13"/>
          </p:nvPr>
        </p:nvSpPr>
        <p:spPr/>
        <p:txBody>
          <a:bodyPr/>
          <a:lstStyle/>
          <a:p>
            <a:pPr>
              <a:spcBef>
                <a:spcPts val="400"/>
              </a:spcBef>
            </a:pPr>
            <a:r>
              <a:rPr kumimoji="1" lang="ja-JP" altLang="en-US" sz="1800" dirty="0"/>
              <a:t>「現状維持」「内製強化」「単純丸投げ」はいずれもリスクやコスト高を放置・増幅させるため、「実行＝外部</a:t>
            </a:r>
            <a:r>
              <a:rPr kumimoji="1" lang="en" altLang="ja-JP" sz="1800" dirty="0"/>
              <a:t>委託 × </a:t>
            </a:r>
            <a:r>
              <a:rPr kumimoji="1" lang="ja-JP" altLang="en-US" sz="1800" dirty="0"/>
              <a:t>統制＝</a:t>
            </a:r>
            <a:r>
              <a:rPr kumimoji="1" lang="en" altLang="ja-JP" sz="1800" dirty="0"/>
              <a:t>LEB</a:t>
            </a:r>
            <a:r>
              <a:rPr kumimoji="1" lang="ja-JP" altLang="en" sz="1800" dirty="0"/>
              <a:t>」</a:t>
            </a:r>
            <a:r>
              <a:rPr kumimoji="1" lang="ja-JP" altLang="en-US" sz="1800" dirty="0"/>
              <a:t>による構造転換が必要</a:t>
            </a:r>
          </a:p>
        </p:txBody>
      </p:sp>
      <p:grpSp>
        <p:nvGrpSpPr>
          <p:cNvPr id="90" name="グループ化 89">
            <a:extLst>
              <a:ext uri="{FF2B5EF4-FFF2-40B4-BE49-F238E27FC236}">
                <a16:creationId xmlns:a16="http://schemas.microsoft.com/office/drawing/2014/main" id="{54CD168F-5A6A-EAD5-4C4F-0E16D34C2443}"/>
              </a:ext>
            </a:extLst>
          </p:cNvPr>
          <p:cNvGrpSpPr/>
          <p:nvPr/>
        </p:nvGrpSpPr>
        <p:grpSpPr>
          <a:xfrm>
            <a:off x="334962" y="1628775"/>
            <a:ext cx="11522076" cy="4679950"/>
            <a:chOff x="334962" y="1628775"/>
            <a:chExt cx="11522076" cy="4679950"/>
          </a:xfrm>
        </p:grpSpPr>
        <p:sp>
          <p:nvSpPr>
            <p:cNvPr id="149" name="正方形/長方形 148">
              <a:extLst>
                <a:ext uri="{FF2B5EF4-FFF2-40B4-BE49-F238E27FC236}">
                  <a16:creationId xmlns:a16="http://schemas.microsoft.com/office/drawing/2014/main" id="{0BEF2AD7-1276-028C-EE1E-1D16A0BCC8E9}"/>
                </a:ext>
              </a:extLst>
            </p:cNvPr>
            <p:cNvSpPr/>
            <p:nvPr/>
          </p:nvSpPr>
          <p:spPr>
            <a:xfrm>
              <a:off x="969178" y="5793925"/>
              <a:ext cx="10886277" cy="514799"/>
            </a:xfrm>
            <a:prstGeom prst="rect">
              <a:avLst/>
            </a:prstGeom>
            <a:solidFill>
              <a:srgbClr val="C5E0B4">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139700" lvl="0" indent="-139700">
                <a:buClr>
                  <a:srgbClr val="046294"/>
                </a:buClr>
                <a:defRPr/>
              </a:pPr>
              <a:endParaRPr lang="ja-JP" altLang="en-US" sz="1100">
                <a:solidFill>
                  <a:srgbClr val="575757">
                    <a:lumMod val="75000"/>
                  </a:srgbClr>
                </a:solidFill>
                <a:latin typeface="+mn-ea"/>
              </a:endParaRPr>
            </a:p>
          </p:txBody>
        </p:sp>
        <p:sp>
          <p:nvSpPr>
            <p:cNvPr id="22" name="正方形/長方形 21">
              <a:extLst>
                <a:ext uri="{FF2B5EF4-FFF2-40B4-BE49-F238E27FC236}">
                  <a16:creationId xmlns:a16="http://schemas.microsoft.com/office/drawing/2014/main" id="{EC1DC9A3-519F-F8BE-0CC1-4EF3C05BD32F}"/>
                </a:ext>
              </a:extLst>
            </p:cNvPr>
            <p:cNvSpPr/>
            <p:nvPr/>
          </p:nvSpPr>
          <p:spPr>
            <a:xfrm>
              <a:off x="334962" y="1628775"/>
              <a:ext cx="553692" cy="900000"/>
            </a:xfrm>
            <a:prstGeom prst="rect">
              <a:avLst/>
            </a:prstGeom>
            <a:solidFill>
              <a:schemeClr val="bg1">
                <a:lumMod val="75000"/>
                <a:alpha val="2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400">
                  <a:solidFill>
                    <a:srgbClr val="008D2E"/>
                  </a:solidFill>
                  <a:latin typeface="+mn-ea"/>
                </a:rPr>
                <a:t>目的</a:t>
              </a:r>
              <a:endParaRPr lang="en-US" altLang="ja-JP" sz="1200" dirty="0">
                <a:solidFill>
                  <a:schemeClr val="tx1"/>
                </a:solidFill>
                <a:latin typeface="+mn-ea"/>
              </a:endParaRPr>
            </a:p>
          </p:txBody>
        </p:sp>
        <p:sp>
          <p:nvSpPr>
            <p:cNvPr id="23" name="正方形/長方形 22">
              <a:extLst>
                <a:ext uri="{FF2B5EF4-FFF2-40B4-BE49-F238E27FC236}">
                  <a16:creationId xmlns:a16="http://schemas.microsoft.com/office/drawing/2014/main" id="{D29D35EF-31A7-A0BB-E76F-3DD0BAE82929}"/>
                </a:ext>
              </a:extLst>
            </p:cNvPr>
            <p:cNvSpPr/>
            <p:nvPr/>
          </p:nvSpPr>
          <p:spPr>
            <a:xfrm>
              <a:off x="334964" y="2614818"/>
              <a:ext cx="553692" cy="1067921"/>
            </a:xfrm>
            <a:prstGeom prst="rect">
              <a:avLst/>
            </a:prstGeom>
            <a:solidFill>
              <a:schemeClr val="bg1">
                <a:lumMod val="75000"/>
                <a:alpha val="2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400">
                  <a:solidFill>
                    <a:srgbClr val="008D2E"/>
                  </a:solidFill>
                  <a:latin typeface="+mn-ea"/>
                </a:rPr>
                <a:t>ゴール</a:t>
              </a:r>
              <a:endParaRPr lang="en-US" altLang="ja-JP" sz="1200" dirty="0">
                <a:solidFill>
                  <a:schemeClr val="tx1"/>
                </a:solidFill>
                <a:latin typeface="+mn-ea"/>
              </a:endParaRPr>
            </a:p>
          </p:txBody>
        </p:sp>
        <p:grpSp>
          <p:nvGrpSpPr>
            <p:cNvPr id="75" name="グループ化 74">
              <a:extLst>
                <a:ext uri="{FF2B5EF4-FFF2-40B4-BE49-F238E27FC236}">
                  <a16:creationId xmlns:a16="http://schemas.microsoft.com/office/drawing/2014/main" id="{887BCF51-654E-3B55-4DF8-89AB1DDE1840}"/>
                </a:ext>
              </a:extLst>
            </p:cNvPr>
            <p:cNvGrpSpPr/>
            <p:nvPr/>
          </p:nvGrpSpPr>
          <p:grpSpPr>
            <a:xfrm>
              <a:off x="9218528" y="2614819"/>
              <a:ext cx="2638505" cy="1067922"/>
              <a:chOff x="9362531" y="2597207"/>
              <a:chExt cx="2638505" cy="1067922"/>
            </a:xfrm>
          </p:grpSpPr>
          <p:sp>
            <p:nvSpPr>
              <p:cNvPr id="55" name="正方形/長方形 54">
                <a:extLst>
                  <a:ext uri="{FF2B5EF4-FFF2-40B4-BE49-F238E27FC236}">
                    <a16:creationId xmlns:a16="http://schemas.microsoft.com/office/drawing/2014/main" id="{268EEAC4-D1D7-EBBC-F4E3-19F1E329C50F}"/>
                  </a:ext>
                </a:extLst>
              </p:cNvPr>
              <p:cNvSpPr/>
              <p:nvPr/>
            </p:nvSpPr>
            <p:spPr>
              <a:xfrm>
                <a:off x="9481036" y="2661857"/>
                <a:ext cx="2520000" cy="1003272"/>
              </a:xfrm>
              <a:prstGeom prst="rect">
                <a:avLst/>
              </a:prstGeom>
              <a:no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indent="11113">
                  <a:spcAft>
                    <a:spcPts val="200"/>
                  </a:spcAft>
                </a:pPr>
                <a:r>
                  <a:rPr lang="ja-JP" altLang="en-US" sz="1300" dirty="0">
                    <a:solidFill>
                      <a:srgbClr val="008D2E"/>
                    </a:solidFill>
                    <a:latin typeface="+mn-ea"/>
                  </a:rPr>
                  <a:t>社員の戦力シフト </a:t>
                </a:r>
                <a:endParaRPr lang="en-US" altLang="ja-JP" sz="1300" dirty="0">
                  <a:solidFill>
                    <a:srgbClr val="008D2E"/>
                  </a:solidFill>
                  <a:latin typeface="+mn-ea"/>
                </a:endParaRPr>
              </a:p>
              <a:p>
                <a:pPr marL="12700" lvl="1">
                  <a:spcAft>
                    <a:spcPts val="200"/>
                  </a:spcAft>
                </a:pPr>
                <a:r>
                  <a:rPr lang="ja-JP" altLang="en-US" sz="1100" dirty="0">
                    <a:solidFill>
                      <a:schemeClr val="tx1"/>
                    </a:solidFill>
                    <a:latin typeface="+mn-ea"/>
                  </a:rPr>
                  <a:t>運用従事工数を削減し定常業務から、</a:t>
                </a:r>
                <a:br>
                  <a:rPr lang="en-US" altLang="ja-JP" sz="1100" dirty="0">
                    <a:solidFill>
                      <a:schemeClr val="tx1"/>
                    </a:solidFill>
                    <a:latin typeface="+mn-ea"/>
                  </a:rPr>
                </a:br>
                <a:r>
                  <a:rPr lang="en" altLang="ja-JP" sz="1100" dirty="0">
                    <a:solidFill>
                      <a:schemeClr val="tx1"/>
                    </a:solidFill>
                    <a:latin typeface="+mn-ea"/>
                  </a:rPr>
                  <a:t>IT</a:t>
                </a:r>
                <a:r>
                  <a:rPr lang="ja-JP" altLang="en-US" sz="1100" dirty="0">
                    <a:solidFill>
                      <a:schemeClr val="tx1"/>
                    </a:solidFill>
                    <a:latin typeface="+mn-ea"/>
                  </a:rPr>
                  <a:t>企画業務へ再配置、過負荷を</a:t>
                </a:r>
                <a:br>
                  <a:rPr lang="en-US" altLang="ja-JP" sz="1100" dirty="0">
                    <a:solidFill>
                      <a:schemeClr val="tx1"/>
                    </a:solidFill>
                    <a:latin typeface="+mn-ea"/>
                  </a:rPr>
                </a:br>
                <a:r>
                  <a:rPr lang="ja-JP" altLang="en-US" sz="1100" dirty="0">
                    <a:solidFill>
                      <a:schemeClr val="tx1"/>
                    </a:solidFill>
                    <a:latin typeface="+mn-ea"/>
                  </a:rPr>
                  <a:t>構造的に解消するとともにベンダ統制の</a:t>
                </a:r>
                <a:br>
                  <a:rPr lang="en-US" altLang="ja-JP" sz="1100" dirty="0">
                    <a:solidFill>
                      <a:schemeClr val="tx1"/>
                    </a:solidFill>
                    <a:latin typeface="+mn-ea"/>
                  </a:rPr>
                </a:br>
                <a:r>
                  <a:rPr lang="ja-JP" altLang="en-US" sz="1100" dirty="0">
                    <a:solidFill>
                      <a:schemeClr val="tx1"/>
                    </a:solidFill>
                    <a:latin typeface="+mn-ea"/>
                  </a:rPr>
                  <a:t>マネジメント能力を組織に蓄積</a:t>
                </a:r>
              </a:p>
            </p:txBody>
          </p:sp>
          <p:sp>
            <p:nvSpPr>
              <p:cNvPr id="59" name="円/楕円 58">
                <a:extLst>
                  <a:ext uri="{FF2B5EF4-FFF2-40B4-BE49-F238E27FC236}">
                    <a16:creationId xmlns:a16="http://schemas.microsoft.com/office/drawing/2014/main" id="{BA90C103-5512-62C8-C424-83DEAC0DD073}"/>
                  </a:ext>
                </a:extLst>
              </p:cNvPr>
              <p:cNvSpPr>
                <a:spLocks noChangeAspect="1"/>
              </p:cNvSpPr>
              <p:nvPr/>
            </p:nvSpPr>
            <p:spPr>
              <a:xfrm>
                <a:off x="9362531" y="2597207"/>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4</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pic>
            <p:nvPicPr>
              <p:cNvPr id="61" name="グラフィックス 60" descr="階層状のピラミッド 単色塗りつぶし">
                <a:extLst>
                  <a:ext uri="{FF2B5EF4-FFF2-40B4-BE49-F238E27FC236}">
                    <a16:creationId xmlns:a16="http://schemas.microsoft.com/office/drawing/2014/main" id="{C89CC2FD-9F4D-8D3C-CCB3-0954B5826B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41035" y="3305129"/>
                <a:ext cx="360000" cy="360000"/>
              </a:xfrm>
              <a:prstGeom prst="rect">
                <a:avLst/>
              </a:prstGeom>
            </p:spPr>
          </p:pic>
        </p:grpSp>
        <p:grpSp>
          <p:nvGrpSpPr>
            <p:cNvPr id="76" name="グループ化 75">
              <a:extLst>
                <a:ext uri="{FF2B5EF4-FFF2-40B4-BE49-F238E27FC236}">
                  <a16:creationId xmlns:a16="http://schemas.microsoft.com/office/drawing/2014/main" id="{15F4C58B-9253-AE9A-182D-20B3F6A9CAD6}"/>
                </a:ext>
              </a:extLst>
            </p:cNvPr>
            <p:cNvGrpSpPr/>
            <p:nvPr/>
          </p:nvGrpSpPr>
          <p:grpSpPr>
            <a:xfrm>
              <a:off x="969180" y="2614818"/>
              <a:ext cx="2646000" cy="1067921"/>
              <a:chOff x="968915" y="2597206"/>
              <a:chExt cx="2646000" cy="1067923"/>
            </a:xfrm>
          </p:grpSpPr>
          <p:sp>
            <p:nvSpPr>
              <p:cNvPr id="50" name="正方形/長方形 49">
                <a:extLst>
                  <a:ext uri="{FF2B5EF4-FFF2-40B4-BE49-F238E27FC236}">
                    <a16:creationId xmlns:a16="http://schemas.microsoft.com/office/drawing/2014/main" id="{AD587001-DC11-072D-9FD2-BAFFC3B39BE5}"/>
                  </a:ext>
                </a:extLst>
              </p:cNvPr>
              <p:cNvSpPr/>
              <p:nvPr/>
            </p:nvSpPr>
            <p:spPr>
              <a:xfrm>
                <a:off x="1094915" y="2661857"/>
                <a:ext cx="2520000" cy="1003272"/>
              </a:xfrm>
              <a:prstGeom prst="rect">
                <a:avLst/>
              </a:prstGeom>
              <a:no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indent="11113">
                  <a:spcAft>
                    <a:spcPts val="200"/>
                  </a:spcAft>
                </a:pPr>
                <a:r>
                  <a:rPr lang="ja-JP" altLang="en-US" sz="1300" dirty="0">
                    <a:solidFill>
                      <a:srgbClr val="008D2E"/>
                    </a:solidFill>
                    <a:latin typeface="+mn-ea"/>
                  </a:rPr>
                  <a:t>持続可能な運用体制の確立</a:t>
                </a:r>
                <a:endParaRPr lang="en-US" altLang="ja-JP" sz="1300" dirty="0">
                  <a:solidFill>
                    <a:srgbClr val="008D2E"/>
                  </a:solidFill>
                  <a:latin typeface="+mn-ea"/>
                </a:endParaRPr>
              </a:p>
              <a:p>
                <a:pPr marL="12700" lvl="1">
                  <a:spcAft>
                    <a:spcPts val="200"/>
                  </a:spcAft>
                </a:pPr>
                <a:r>
                  <a:rPr lang="ja-JP" altLang="en-US" sz="1100" dirty="0">
                    <a:solidFill>
                      <a:schemeClr val="tx1"/>
                    </a:solidFill>
                    <a:latin typeface="+mn-ea"/>
                  </a:rPr>
                  <a:t>特定個人依存業務を無くし</a:t>
                </a:r>
                <a:r>
                  <a:rPr lang="en-US" altLang="ja-JP" sz="1100" dirty="0">
                    <a:solidFill>
                      <a:schemeClr val="tx1"/>
                    </a:solidFill>
                    <a:latin typeface="+mn-ea"/>
                  </a:rPr>
                  <a:t> (</a:t>
                </a:r>
                <a:r>
                  <a:rPr lang="ja-JP" altLang="en-US" sz="1100" dirty="0">
                    <a:solidFill>
                      <a:schemeClr val="tx1"/>
                    </a:solidFill>
                    <a:latin typeface="+mn-ea"/>
                  </a:rPr>
                  <a:t>全業務の</a:t>
                </a:r>
                <a:br>
                  <a:rPr lang="en-US" altLang="ja-JP" sz="1100" dirty="0">
                    <a:solidFill>
                      <a:schemeClr val="tx1"/>
                    </a:solidFill>
                    <a:latin typeface="+mn-ea"/>
                  </a:rPr>
                </a:br>
                <a:r>
                  <a:rPr lang="ja-JP" altLang="en-US" sz="1100" dirty="0">
                    <a:solidFill>
                      <a:schemeClr val="tx1"/>
                    </a:solidFill>
                    <a:latin typeface="+mn-ea"/>
                  </a:rPr>
                  <a:t>手順書化・複数名対応化</a:t>
                </a:r>
                <a:r>
                  <a:rPr lang="en-US" altLang="ja-JP" sz="1100" dirty="0">
                    <a:solidFill>
                      <a:schemeClr val="tx1"/>
                    </a:solidFill>
                    <a:latin typeface="+mn-ea"/>
                  </a:rPr>
                  <a:t>) </a:t>
                </a:r>
                <a:r>
                  <a:rPr lang="ja-JP" altLang="en-US" sz="1100" dirty="0">
                    <a:solidFill>
                      <a:schemeClr val="tx1"/>
                    </a:solidFill>
                    <a:latin typeface="+mn-ea"/>
                  </a:rPr>
                  <a:t>、採用・育成</a:t>
                </a:r>
                <a:br>
                  <a:rPr lang="en-US" altLang="ja-JP" sz="1100" dirty="0">
                    <a:solidFill>
                      <a:schemeClr val="tx1"/>
                    </a:solidFill>
                    <a:latin typeface="+mn-ea"/>
                  </a:rPr>
                </a:br>
                <a:r>
                  <a:rPr lang="ja-JP" altLang="en-US" sz="1100" dirty="0">
                    <a:solidFill>
                      <a:schemeClr val="tx1"/>
                    </a:solidFill>
                    <a:latin typeface="+mn-ea"/>
                  </a:rPr>
                  <a:t>への依存から脱却し、</a:t>
                </a:r>
                <a:r>
                  <a:rPr lang="en-US" altLang="ja-JP" sz="1100" dirty="0">
                    <a:solidFill>
                      <a:schemeClr val="tx1"/>
                    </a:solidFill>
                    <a:latin typeface="+mn-ea"/>
                  </a:rPr>
                  <a:t>24</a:t>
                </a:r>
                <a:r>
                  <a:rPr lang="ja-JP" altLang="en-US" sz="1100" dirty="0">
                    <a:solidFill>
                      <a:schemeClr val="tx1"/>
                    </a:solidFill>
                    <a:latin typeface="+mn-ea"/>
                  </a:rPr>
                  <a:t>時間</a:t>
                </a:r>
                <a:r>
                  <a:rPr lang="en-US" altLang="ja-JP" sz="1100" dirty="0">
                    <a:solidFill>
                      <a:schemeClr val="tx1"/>
                    </a:solidFill>
                    <a:latin typeface="+mn-ea"/>
                  </a:rPr>
                  <a:t>365</a:t>
                </a:r>
                <a:r>
                  <a:rPr lang="ja-JP" altLang="en-US" sz="1100" dirty="0">
                    <a:solidFill>
                      <a:schemeClr val="tx1"/>
                    </a:solidFill>
                    <a:latin typeface="+mn-ea"/>
                  </a:rPr>
                  <a:t>日・</a:t>
                </a:r>
                <a:br>
                  <a:rPr lang="en-US" altLang="ja-JP" sz="1100" dirty="0">
                    <a:solidFill>
                      <a:schemeClr val="tx1"/>
                    </a:solidFill>
                    <a:latin typeface="+mn-ea"/>
                  </a:rPr>
                </a:br>
                <a:r>
                  <a:rPr lang="ja-JP" altLang="en-US" sz="1100" dirty="0">
                    <a:solidFill>
                      <a:schemeClr val="tx1"/>
                    </a:solidFill>
                    <a:latin typeface="+mn-ea"/>
                  </a:rPr>
                  <a:t>新領域対応可能な体制へ</a:t>
                </a:r>
              </a:p>
            </p:txBody>
          </p:sp>
          <p:sp>
            <p:nvSpPr>
              <p:cNvPr id="56" name="円/楕円 55">
                <a:extLst>
                  <a:ext uri="{FF2B5EF4-FFF2-40B4-BE49-F238E27FC236}">
                    <a16:creationId xmlns:a16="http://schemas.microsoft.com/office/drawing/2014/main" id="{C3144745-EF19-0E9B-FC1A-5BFAE7141959}"/>
                  </a:ext>
                </a:extLst>
              </p:cNvPr>
              <p:cNvSpPr>
                <a:spLocks noChangeAspect="1"/>
              </p:cNvSpPr>
              <p:nvPr/>
            </p:nvSpPr>
            <p:spPr>
              <a:xfrm>
                <a:off x="968915" y="2597206"/>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1</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pic>
            <p:nvPicPr>
              <p:cNvPr id="63" name="グラフィックス 62" descr="階層 単色塗りつぶし">
                <a:extLst>
                  <a:ext uri="{FF2B5EF4-FFF2-40B4-BE49-F238E27FC236}">
                    <a16:creationId xmlns:a16="http://schemas.microsoft.com/office/drawing/2014/main" id="{6484DD14-8662-C713-7B99-52998A7E77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4914" y="3305129"/>
                <a:ext cx="360000" cy="360000"/>
              </a:xfrm>
              <a:prstGeom prst="rect">
                <a:avLst/>
              </a:prstGeom>
            </p:spPr>
          </p:pic>
        </p:grpSp>
        <p:grpSp>
          <p:nvGrpSpPr>
            <p:cNvPr id="74" name="グループ化 73">
              <a:extLst>
                <a:ext uri="{FF2B5EF4-FFF2-40B4-BE49-F238E27FC236}">
                  <a16:creationId xmlns:a16="http://schemas.microsoft.com/office/drawing/2014/main" id="{5F74713B-77FD-80E6-4A48-ECE5CF095A4E}"/>
                </a:ext>
              </a:extLst>
            </p:cNvPr>
            <p:cNvGrpSpPr/>
            <p:nvPr/>
          </p:nvGrpSpPr>
          <p:grpSpPr>
            <a:xfrm>
              <a:off x="6476044" y="2614818"/>
              <a:ext cx="2635475" cy="1067921"/>
              <a:chOff x="6731169" y="2597206"/>
              <a:chExt cx="2635475" cy="1067923"/>
            </a:xfrm>
          </p:grpSpPr>
          <p:sp>
            <p:nvSpPr>
              <p:cNvPr id="54" name="正方形/長方形 53">
                <a:extLst>
                  <a:ext uri="{FF2B5EF4-FFF2-40B4-BE49-F238E27FC236}">
                    <a16:creationId xmlns:a16="http://schemas.microsoft.com/office/drawing/2014/main" id="{F023F931-B17E-AAA7-B7E0-AA08BEC48AD2}"/>
                  </a:ext>
                </a:extLst>
              </p:cNvPr>
              <p:cNvSpPr/>
              <p:nvPr/>
            </p:nvSpPr>
            <p:spPr>
              <a:xfrm>
                <a:off x="6846644" y="2661857"/>
                <a:ext cx="2520000" cy="1003272"/>
              </a:xfrm>
              <a:prstGeom prst="rect">
                <a:avLst/>
              </a:prstGeom>
              <a:no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indent="11113">
                  <a:spcAft>
                    <a:spcPts val="200"/>
                  </a:spcAft>
                </a:pPr>
                <a:r>
                  <a:rPr lang="ja-JP" altLang="en-US" sz="1300" dirty="0">
                    <a:solidFill>
                      <a:srgbClr val="008D2E"/>
                    </a:solidFill>
                    <a:latin typeface="+mn-ea"/>
                  </a:rPr>
                  <a:t>運用品質の統制力獲得</a:t>
                </a:r>
                <a:endParaRPr lang="en-US" altLang="ja-JP" sz="1300" dirty="0">
                  <a:solidFill>
                    <a:srgbClr val="008D2E"/>
                  </a:solidFill>
                  <a:latin typeface="+mn-ea"/>
                </a:endParaRPr>
              </a:p>
              <a:p>
                <a:pPr marL="12700" lvl="1">
                  <a:spcAft>
                    <a:spcPts val="200"/>
                  </a:spcAft>
                </a:pPr>
                <a:r>
                  <a:rPr lang="ja-JP" altLang="en-US" sz="1100" dirty="0">
                    <a:solidFill>
                      <a:schemeClr val="tx1"/>
                    </a:solidFill>
                    <a:latin typeface="+mn-ea"/>
                  </a:rPr>
                  <a:t>全業務へ</a:t>
                </a:r>
                <a:r>
                  <a:rPr lang="en" altLang="ja-JP" sz="1100" dirty="0">
                    <a:solidFill>
                      <a:schemeClr val="tx1"/>
                    </a:solidFill>
                    <a:latin typeface="+mn-ea"/>
                  </a:rPr>
                  <a:t>品質基準・KPI</a:t>
                </a:r>
                <a:r>
                  <a:rPr lang="ja-JP" altLang="en-US" sz="1100" dirty="0">
                    <a:solidFill>
                      <a:schemeClr val="tx1"/>
                    </a:solidFill>
                    <a:latin typeface="+mn-ea"/>
                  </a:rPr>
                  <a:t>を導入し契約に</a:t>
                </a:r>
                <a:br>
                  <a:rPr lang="en-US" altLang="ja-JP" sz="1100" dirty="0">
                    <a:solidFill>
                      <a:schemeClr val="tx1"/>
                    </a:solidFill>
                    <a:latin typeface="+mn-ea"/>
                  </a:rPr>
                </a:br>
                <a:r>
                  <a:rPr lang="ja-JP" altLang="en-US" sz="1100" dirty="0">
                    <a:solidFill>
                      <a:schemeClr val="tx1"/>
                    </a:solidFill>
                    <a:latin typeface="+mn-ea"/>
                  </a:rPr>
                  <a:t>基づく品質ガバナンスを確立、</a:t>
                </a:r>
                <a:br>
                  <a:rPr lang="en-US" altLang="ja-JP" sz="1100" dirty="0">
                    <a:solidFill>
                      <a:schemeClr val="tx1"/>
                    </a:solidFill>
                    <a:latin typeface="+mn-ea"/>
                  </a:rPr>
                </a:br>
                <a:r>
                  <a:rPr lang="ja-JP" altLang="en-US" sz="1100" dirty="0">
                    <a:solidFill>
                      <a:schemeClr val="tx1"/>
                    </a:solidFill>
                    <a:latin typeface="+mn-ea"/>
                  </a:rPr>
                  <a:t>全社ユーザーの生産性・</a:t>
                </a:r>
                <a:r>
                  <a:rPr lang="en" altLang="ja-JP" sz="1100" dirty="0">
                    <a:solidFill>
                      <a:schemeClr val="tx1"/>
                    </a:solidFill>
                    <a:latin typeface="+mn-ea"/>
                  </a:rPr>
                  <a:t>使い勝手</a:t>
                </a:r>
                <a:r>
                  <a:rPr lang="ja-JP" altLang="en-US" sz="1100" dirty="0">
                    <a:solidFill>
                      <a:schemeClr val="tx1"/>
                    </a:solidFill>
                    <a:latin typeface="+mn-ea"/>
                  </a:rPr>
                  <a:t>向上</a:t>
                </a:r>
              </a:p>
            </p:txBody>
          </p:sp>
          <p:sp>
            <p:nvSpPr>
              <p:cNvPr id="58" name="円/楕円 57">
                <a:extLst>
                  <a:ext uri="{FF2B5EF4-FFF2-40B4-BE49-F238E27FC236}">
                    <a16:creationId xmlns:a16="http://schemas.microsoft.com/office/drawing/2014/main" id="{1886723C-BE51-BCEF-33FF-9877E0CED6F1}"/>
                  </a:ext>
                </a:extLst>
              </p:cNvPr>
              <p:cNvSpPr>
                <a:spLocks noChangeAspect="1"/>
              </p:cNvSpPr>
              <p:nvPr/>
            </p:nvSpPr>
            <p:spPr>
              <a:xfrm>
                <a:off x="6731169" y="2597206"/>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3</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pic>
            <p:nvPicPr>
              <p:cNvPr id="66" name="グラフィックス 65" descr="棒グラフ (上昇) 単色塗りつぶし">
                <a:extLst>
                  <a:ext uri="{FF2B5EF4-FFF2-40B4-BE49-F238E27FC236}">
                    <a16:creationId xmlns:a16="http://schemas.microsoft.com/office/drawing/2014/main" id="{00479E45-DD73-1F36-66B2-8C13D1B6940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06644" y="3305129"/>
                <a:ext cx="360000" cy="360000"/>
              </a:xfrm>
              <a:prstGeom prst="rect">
                <a:avLst/>
              </a:prstGeom>
            </p:spPr>
          </p:pic>
        </p:grpSp>
        <p:grpSp>
          <p:nvGrpSpPr>
            <p:cNvPr id="73" name="グループ化 72">
              <a:extLst>
                <a:ext uri="{FF2B5EF4-FFF2-40B4-BE49-F238E27FC236}">
                  <a16:creationId xmlns:a16="http://schemas.microsoft.com/office/drawing/2014/main" id="{4F27201C-5A31-12EA-DECD-2FEF023D273A}"/>
                </a:ext>
              </a:extLst>
            </p:cNvPr>
            <p:cNvGrpSpPr/>
            <p:nvPr/>
          </p:nvGrpSpPr>
          <p:grpSpPr>
            <a:xfrm>
              <a:off x="3722188" y="2614818"/>
              <a:ext cx="2646847" cy="1067921"/>
              <a:chOff x="4088435" y="2597206"/>
              <a:chExt cx="2646847" cy="1067923"/>
            </a:xfrm>
          </p:grpSpPr>
          <p:sp>
            <p:nvSpPr>
              <p:cNvPr id="53" name="正方形/長方形 52">
                <a:extLst>
                  <a:ext uri="{FF2B5EF4-FFF2-40B4-BE49-F238E27FC236}">
                    <a16:creationId xmlns:a16="http://schemas.microsoft.com/office/drawing/2014/main" id="{4D6F70C3-6F27-0FD6-9074-2B6D902E48F6}"/>
                  </a:ext>
                </a:extLst>
              </p:cNvPr>
              <p:cNvSpPr/>
              <p:nvPr/>
            </p:nvSpPr>
            <p:spPr>
              <a:xfrm>
                <a:off x="4215282" y="2661857"/>
                <a:ext cx="2520000" cy="1003272"/>
              </a:xfrm>
              <a:prstGeom prst="rect">
                <a:avLst/>
              </a:prstGeom>
              <a:no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indent="11113">
                  <a:spcAft>
                    <a:spcPts val="200"/>
                  </a:spcAft>
                </a:pPr>
                <a:r>
                  <a:rPr lang="ja-JP" altLang="en-US" sz="1300">
                    <a:solidFill>
                      <a:srgbClr val="008D2E"/>
                    </a:solidFill>
                    <a:latin typeface="+mn-ea"/>
                  </a:rPr>
                  <a:t>運用コストの構造改革</a:t>
                </a:r>
                <a:endParaRPr lang="en-US" altLang="ja-JP" sz="1300" dirty="0">
                  <a:solidFill>
                    <a:srgbClr val="008D2E"/>
                  </a:solidFill>
                  <a:latin typeface="+mn-ea"/>
                </a:endParaRPr>
              </a:p>
              <a:p>
                <a:pPr marL="12700" lvl="1">
                  <a:spcAft>
                    <a:spcPts val="200"/>
                  </a:spcAft>
                </a:pPr>
                <a:r>
                  <a:rPr lang="ja-JP" altLang="en-US" sz="1100">
                    <a:solidFill>
                      <a:schemeClr val="tx1"/>
                    </a:solidFill>
                    <a:latin typeface="+mn-ea"/>
                  </a:rPr>
                  <a:t>隠れ人件費含む</a:t>
                </a:r>
                <a:r>
                  <a:rPr lang="en" altLang="ja-JP" sz="1100" dirty="0">
                    <a:solidFill>
                      <a:schemeClr val="tx1"/>
                    </a:solidFill>
                    <a:latin typeface="+mn-ea"/>
                  </a:rPr>
                  <a:t>総コスト</a:t>
                </a:r>
                <a:r>
                  <a:rPr lang="ja-JP" altLang="en-US" sz="1100">
                    <a:solidFill>
                      <a:schemeClr val="tx1"/>
                    </a:solidFill>
                    <a:latin typeface="+mn-ea"/>
                  </a:rPr>
                  <a:t>可視化、固定費の変動費化、統合発注で総コストの削減</a:t>
                </a:r>
              </a:p>
            </p:txBody>
          </p:sp>
          <p:sp>
            <p:nvSpPr>
              <p:cNvPr id="57" name="円/楕円 56">
                <a:extLst>
                  <a:ext uri="{FF2B5EF4-FFF2-40B4-BE49-F238E27FC236}">
                    <a16:creationId xmlns:a16="http://schemas.microsoft.com/office/drawing/2014/main" id="{159BC565-A516-BE10-E295-EBADC979D047}"/>
                  </a:ext>
                </a:extLst>
              </p:cNvPr>
              <p:cNvSpPr>
                <a:spLocks noChangeAspect="1"/>
              </p:cNvSpPr>
              <p:nvPr/>
            </p:nvSpPr>
            <p:spPr>
              <a:xfrm>
                <a:off x="4088435" y="2597206"/>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2</a:t>
                </a:r>
                <a:endParaRPr kumimoji="1" lang="ja-JP" altLang="en-US" sz="1200" b="0" i="0" u="none" strike="noStrike" kern="1200" cap="none" spc="0" normalizeH="0" baseline="0" noProof="0" dirty="0">
                  <a:ln>
                    <a:noFill/>
                  </a:ln>
                  <a:solidFill>
                    <a:srgbClr val="FFFFFF"/>
                  </a:solidFill>
                  <a:effectLst/>
                  <a:uLnTx/>
                  <a:uFillTx/>
                  <a:latin typeface="+mn-ea"/>
                  <a:cs typeface="+mn-cs"/>
                </a:endParaRPr>
              </a:p>
            </p:txBody>
          </p:sp>
          <p:pic>
            <p:nvPicPr>
              <p:cNvPr id="68" name="グラフィックス 67" descr="お金 単色塗りつぶし">
                <a:extLst>
                  <a:ext uri="{FF2B5EF4-FFF2-40B4-BE49-F238E27FC236}">
                    <a16:creationId xmlns:a16="http://schemas.microsoft.com/office/drawing/2014/main" id="{FBF2F12A-FDAC-5CE3-B6B4-9A6630F010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75282" y="3305129"/>
                <a:ext cx="360000" cy="360000"/>
              </a:xfrm>
              <a:prstGeom prst="rect">
                <a:avLst/>
              </a:prstGeom>
            </p:spPr>
          </p:pic>
        </p:grpSp>
        <p:sp>
          <p:nvSpPr>
            <p:cNvPr id="24" name="正方形/長方形 23">
              <a:extLst>
                <a:ext uri="{FF2B5EF4-FFF2-40B4-BE49-F238E27FC236}">
                  <a16:creationId xmlns:a16="http://schemas.microsoft.com/office/drawing/2014/main" id="{F993F0C9-BC4A-ABD3-87EC-78DBF96056A1}"/>
                </a:ext>
              </a:extLst>
            </p:cNvPr>
            <p:cNvSpPr/>
            <p:nvPr/>
          </p:nvSpPr>
          <p:spPr>
            <a:xfrm>
              <a:off x="334963" y="3781666"/>
              <a:ext cx="553692" cy="2524182"/>
            </a:xfrm>
            <a:prstGeom prst="rect">
              <a:avLst/>
            </a:prstGeom>
            <a:solidFill>
              <a:schemeClr val="bg1">
                <a:lumMod val="75000"/>
                <a:alpha val="2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400">
                  <a:solidFill>
                    <a:srgbClr val="008D2E"/>
                  </a:solidFill>
                  <a:latin typeface="+mn-ea"/>
                </a:rPr>
                <a:t>選択肢</a:t>
              </a:r>
              <a:endParaRPr lang="en-US" altLang="ja-JP" sz="1200" dirty="0">
                <a:solidFill>
                  <a:schemeClr val="tx1"/>
                </a:solidFill>
                <a:latin typeface="+mn-ea"/>
              </a:endParaRPr>
            </a:p>
          </p:txBody>
        </p:sp>
        <p:sp>
          <p:nvSpPr>
            <p:cNvPr id="81" name="正方形/長方形 80">
              <a:extLst>
                <a:ext uri="{FF2B5EF4-FFF2-40B4-BE49-F238E27FC236}">
                  <a16:creationId xmlns:a16="http://schemas.microsoft.com/office/drawing/2014/main" id="{420E5934-C126-50F2-8DD3-021000EBEEA0}"/>
                </a:ext>
              </a:extLst>
            </p:cNvPr>
            <p:cNvSpPr/>
            <p:nvPr/>
          </p:nvSpPr>
          <p:spPr>
            <a:xfrm>
              <a:off x="969178" y="4217945"/>
              <a:ext cx="2232000" cy="468000"/>
            </a:xfrm>
            <a:prstGeom prst="rect">
              <a:avLst/>
            </a:prstGeom>
            <a:solidFill>
              <a:schemeClr val="bg1">
                <a:lumMod val="75000"/>
                <a:alpha val="3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100" b="1" i="0" u="none" strike="noStrike" kern="1200" cap="none" spc="0" normalizeH="0" baseline="0" noProof="0" dirty="0">
                  <a:ln>
                    <a:noFill/>
                  </a:ln>
                  <a:solidFill>
                    <a:srgbClr val="008D2E"/>
                  </a:solidFill>
                  <a:effectLst/>
                  <a:uLnTx/>
                  <a:uFillTx/>
                  <a:latin typeface="+mn-ea"/>
                  <a:cs typeface="+mn-cs"/>
                </a:rPr>
                <a:t>A.</a:t>
              </a:r>
              <a:r>
                <a:rPr kumimoji="1" lang="ja-JP" altLang="en-US" sz="1100" b="1" i="0" u="none" strike="noStrike" kern="1200" cap="none" spc="0" normalizeH="0" baseline="0" noProof="0">
                  <a:ln>
                    <a:noFill/>
                  </a:ln>
                  <a:solidFill>
                    <a:srgbClr val="008D2E"/>
                  </a:solidFill>
                  <a:effectLst/>
                  <a:uLnTx/>
                  <a:uFillTx/>
                  <a:latin typeface="+mn-ea"/>
                  <a:cs typeface="+mn-cs"/>
                </a:rPr>
                <a:t>現状維持</a:t>
              </a:r>
            </a:p>
          </p:txBody>
        </p:sp>
        <p:sp>
          <p:nvSpPr>
            <p:cNvPr id="83" name="正方形/長方形 82">
              <a:extLst>
                <a:ext uri="{FF2B5EF4-FFF2-40B4-BE49-F238E27FC236}">
                  <a16:creationId xmlns:a16="http://schemas.microsoft.com/office/drawing/2014/main" id="{B5D7F799-C759-6EDF-FB66-2D5288A8E61B}"/>
                </a:ext>
              </a:extLst>
            </p:cNvPr>
            <p:cNvSpPr/>
            <p:nvPr/>
          </p:nvSpPr>
          <p:spPr>
            <a:xfrm>
              <a:off x="969178" y="4748453"/>
              <a:ext cx="2232000" cy="468000"/>
            </a:xfrm>
            <a:prstGeom prst="rect">
              <a:avLst/>
            </a:prstGeom>
            <a:solidFill>
              <a:schemeClr val="bg1">
                <a:lumMod val="75000"/>
                <a:alpha val="3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139700" marR="0" lvl="0" indent="-139700" defTabSz="914400" rtl="0" eaLnBrk="1" fontAlgn="auto" latinLnBrk="0" hangingPunct="1">
                <a:lnSpc>
                  <a:spcPct val="100000"/>
                </a:lnSpc>
                <a:spcBef>
                  <a:spcPts val="0"/>
                </a:spcBef>
                <a:spcAft>
                  <a:spcPts val="0"/>
                </a:spcAft>
                <a:buClr>
                  <a:srgbClr val="046294"/>
                </a:buClr>
                <a:buSzTx/>
                <a:buFontTx/>
                <a:buNone/>
                <a:defRPr/>
              </a:pPr>
              <a:r>
                <a:rPr kumimoji="1" lang="en-US" altLang="ja-JP" sz="1100" b="1" i="0" u="none" strike="noStrike" kern="1200" cap="none" spc="0" normalizeH="0" baseline="0" noProof="0" dirty="0">
                  <a:ln>
                    <a:noFill/>
                  </a:ln>
                  <a:solidFill>
                    <a:srgbClr val="008D2E"/>
                  </a:solidFill>
                  <a:effectLst/>
                  <a:uLnTx/>
                  <a:uFillTx/>
                  <a:latin typeface="+mn-ea"/>
                  <a:cs typeface="+mn-cs"/>
                </a:rPr>
                <a:t>B.</a:t>
              </a:r>
              <a:r>
                <a:rPr kumimoji="1" lang="ja-JP" altLang="en-US" sz="1100" b="1" i="0" u="none" strike="noStrike" kern="1200" cap="none" spc="0" normalizeH="0" baseline="0" noProof="0" dirty="0">
                  <a:ln>
                    <a:noFill/>
                  </a:ln>
                  <a:solidFill>
                    <a:srgbClr val="008D2E"/>
                  </a:solidFill>
                  <a:effectLst/>
                  <a:uLnTx/>
                  <a:uFillTx/>
                  <a:latin typeface="+mn-ea"/>
                  <a:cs typeface="+mn-cs"/>
                </a:rPr>
                <a:t>内製強化</a:t>
              </a:r>
              <a:br>
                <a:rPr kumimoji="1" lang="en-US" altLang="ja-JP" sz="1100" b="0" i="0" u="none" strike="noStrike" kern="1200" cap="none" spc="0" normalizeH="0" baseline="0" noProof="0" dirty="0">
                  <a:ln>
                    <a:noFill/>
                  </a:ln>
                  <a:solidFill>
                    <a:srgbClr val="575757">
                      <a:lumMod val="75000"/>
                    </a:srgbClr>
                  </a:solidFill>
                  <a:effectLst/>
                  <a:uLnTx/>
                  <a:uFillTx/>
                  <a:latin typeface="+mn-ea"/>
                  <a:cs typeface="+mn-cs"/>
                </a:rPr>
              </a:br>
              <a:r>
                <a:rPr kumimoji="1" lang="en-US" altLang="ja-JP" sz="1100" b="0" i="0" u="none" strike="noStrike" kern="1200" cap="none" spc="0" normalizeH="0" baseline="0" noProof="0" dirty="0">
                  <a:ln>
                    <a:noFill/>
                  </a:ln>
                  <a:solidFill>
                    <a:schemeClr val="tx1"/>
                  </a:solidFill>
                  <a:effectLst/>
                  <a:uLnTx/>
                  <a:uFillTx/>
                  <a:latin typeface="+mn-ea"/>
                  <a:cs typeface="+mn-cs"/>
                </a:rPr>
                <a:t>(</a:t>
              </a:r>
              <a:r>
                <a:rPr kumimoji="1" lang="ja-JP" altLang="en-US" sz="1100" b="0" i="0" u="none" strike="noStrike" kern="1200" cap="none" spc="0" normalizeH="0" baseline="0" noProof="0" dirty="0">
                  <a:ln>
                    <a:noFill/>
                  </a:ln>
                  <a:solidFill>
                    <a:schemeClr val="tx1"/>
                  </a:solidFill>
                  <a:effectLst/>
                  <a:uLnTx/>
                  <a:uFillTx/>
                  <a:latin typeface="+mn-ea"/>
                  <a:cs typeface="+mn-cs"/>
                </a:rPr>
                <a:t>採用・増員</a:t>
              </a:r>
              <a:r>
                <a:rPr kumimoji="1" lang="en-US" altLang="ja-JP" sz="1100" b="0" i="0" u="none" strike="noStrike" kern="1200" cap="none" spc="0" normalizeH="0" baseline="0" noProof="0" dirty="0">
                  <a:ln>
                    <a:noFill/>
                  </a:ln>
                  <a:solidFill>
                    <a:schemeClr val="tx1"/>
                  </a:solidFill>
                  <a:effectLst/>
                  <a:uLnTx/>
                  <a:uFillTx/>
                  <a:latin typeface="+mn-ea"/>
                  <a:cs typeface="+mn-cs"/>
                </a:rPr>
                <a:t>)</a:t>
              </a:r>
              <a:endParaRPr kumimoji="1" lang="ja-JP" altLang="en-US" sz="1100" b="0" i="0" u="none" strike="noStrike" kern="1200" cap="none" spc="0" normalizeH="0" baseline="0" noProof="0" dirty="0">
                <a:ln>
                  <a:noFill/>
                </a:ln>
                <a:solidFill>
                  <a:schemeClr val="tx1"/>
                </a:solidFill>
                <a:effectLst/>
                <a:uLnTx/>
                <a:uFillTx/>
                <a:latin typeface="+mn-ea"/>
                <a:cs typeface="+mn-cs"/>
              </a:endParaRPr>
            </a:p>
          </p:txBody>
        </p:sp>
        <p:cxnSp>
          <p:nvCxnSpPr>
            <p:cNvPr id="84" name="直線コネクタ 83">
              <a:extLst>
                <a:ext uri="{FF2B5EF4-FFF2-40B4-BE49-F238E27FC236}">
                  <a16:creationId xmlns:a16="http://schemas.microsoft.com/office/drawing/2014/main" id="{75CBF1F1-9CE0-6A1E-3468-674EC4AC7A5A}"/>
                </a:ext>
              </a:extLst>
            </p:cNvPr>
            <p:cNvCxnSpPr>
              <a:cxnSpLocks/>
            </p:cNvCxnSpPr>
            <p:nvPr/>
          </p:nvCxnSpPr>
          <p:spPr>
            <a:xfrm>
              <a:off x="969179" y="4161908"/>
              <a:ext cx="2232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5" name="正方形/長方形 84">
              <a:extLst>
                <a:ext uri="{FF2B5EF4-FFF2-40B4-BE49-F238E27FC236}">
                  <a16:creationId xmlns:a16="http://schemas.microsoft.com/office/drawing/2014/main" id="{6467AE1B-7F44-F128-7437-6E123C7BF88B}"/>
                </a:ext>
              </a:extLst>
            </p:cNvPr>
            <p:cNvSpPr/>
            <p:nvPr/>
          </p:nvSpPr>
          <p:spPr>
            <a:xfrm>
              <a:off x="969178" y="3765908"/>
              <a:ext cx="2232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72000" rtlCol="0" anchor="b"/>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100" b="0" i="0" u="none" strike="noStrike" kern="1200" cap="none" spc="0" normalizeH="0" baseline="0" noProof="0">
                  <a:ln>
                    <a:noFill/>
                  </a:ln>
                  <a:solidFill>
                    <a:schemeClr val="tx1"/>
                  </a:solidFill>
                  <a:effectLst/>
                  <a:uLnTx/>
                  <a:uFillTx/>
                  <a:latin typeface="+mn-ea"/>
                  <a:cs typeface="+mn-cs"/>
                </a:rPr>
                <a:t>選択肢</a:t>
              </a:r>
            </a:p>
          </p:txBody>
        </p:sp>
        <p:sp>
          <p:nvSpPr>
            <p:cNvPr id="88" name="正方形/長方形 87">
              <a:extLst>
                <a:ext uri="{FF2B5EF4-FFF2-40B4-BE49-F238E27FC236}">
                  <a16:creationId xmlns:a16="http://schemas.microsoft.com/office/drawing/2014/main" id="{B7D7B715-B031-1076-4033-DE77254EC414}"/>
                </a:ext>
              </a:extLst>
            </p:cNvPr>
            <p:cNvSpPr/>
            <p:nvPr/>
          </p:nvSpPr>
          <p:spPr>
            <a:xfrm>
              <a:off x="969178" y="5278961"/>
              <a:ext cx="2232000" cy="468000"/>
            </a:xfrm>
            <a:prstGeom prst="rect">
              <a:avLst/>
            </a:prstGeom>
            <a:solidFill>
              <a:schemeClr val="bg1">
                <a:lumMod val="75000"/>
                <a:alpha val="3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139700" lvl="0" indent="-139700">
                <a:buClr>
                  <a:srgbClr val="046294"/>
                </a:buClr>
                <a:defRPr/>
              </a:pPr>
              <a:r>
                <a:rPr lang="en-US" altLang="ja-JP" sz="1100" b="1" dirty="0">
                  <a:solidFill>
                    <a:srgbClr val="008D2E"/>
                  </a:solidFill>
                  <a:latin typeface="+mn-ea"/>
                </a:rPr>
                <a:t>C.</a:t>
              </a:r>
              <a:r>
                <a:rPr lang="ja-JP" altLang="en-US" sz="1100" b="1" dirty="0">
                  <a:solidFill>
                    <a:srgbClr val="008D2E"/>
                  </a:solidFill>
                  <a:latin typeface="+mn-ea"/>
                </a:rPr>
                <a:t>単純</a:t>
              </a:r>
              <a:r>
                <a:rPr lang="en" altLang="ja-JP" sz="1100" b="1" dirty="0">
                  <a:solidFill>
                    <a:srgbClr val="008D2E"/>
                  </a:solidFill>
                  <a:latin typeface="+mn-ea"/>
                </a:rPr>
                <a:t>委託</a:t>
              </a:r>
              <a:br>
                <a:rPr lang="en-US" altLang="ja-JP" sz="1100" dirty="0">
                  <a:solidFill>
                    <a:srgbClr val="575757">
                      <a:lumMod val="75000"/>
                    </a:srgbClr>
                  </a:solidFill>
                  <a:latin typeface="+mn-ea"/>
                </a:rPr>
              </a:br>
              <a:r>
                <a:rPr lang="en-US" altLang="ja-JP" sz="1100" dirty="0">
                  <a:solidFill>
                    <a:schemeClr val="tx1"/>
                  </a:solidFill>
                  <a:latin typeface="+mn-ea"/>
                </a:rPr>
                <a:t>(</a:t>
              </a:r>
              <a:r>
                <a:rPr lang="ja-JP" altLang="en-US" sz="1100" dirty="0">
                  <a:solidFill>
                    <a:schemeClr val="tx1"/>
                  </a:solidFill>
                  <a:latin typeface="+mn-ea"/>
                </a:rPr>
                <a:t>丸投げ</a:t>
              </a:r>
              <a:r>
                <a:rPr lang="en-US" altLang="ja-JP" sz="1100" dirty="0">
                  <a:solidFill>
                    <a:schemeClr val="tx1"/>
                  </a:solidFill>
                  <a:latin typeface="+mn-ea"/>
                </a:rPr>
                <a:t>)</a:t>
              </a:r>
              <a:endParaRPr lang="ja-JP" altLang="en-US" sz="1100" dirty="0">
                <a:solidFill>
                  <a:schemeClr val="tx1"/>
                </a:solidFill>
                <a:latin typeface="+mn-ea"/>
              </a:endParaRPr>
            </a:p>
          </p:txBody>
        </p:sp>
        <p:sp>
          <p:nvSpPr>
            <p:cNvPr id="92" name="正方形/長方形 91">
              <a:extLst>
                <a:ext uri="{FF2B5EF4-FFF2-40B4-BE49-F238E27FC236}">
                  <a16:creationId xmlns:a16="http://schemas.microsoft.com/office/drawing/2014/main" id="{99E95A80-E755-4F66-8EE5-AE48C8C76E9C}"/>
                </a:ext>
              </a:extLst>
            </p:cNvPr>
            <p:cNvSpPr/>
            <p:nvPr/>
          </p:nvSpPr>
          <p:spPr>
            <a:xfrm>
              <a:off x="969178" y="5793925"/>
              <a:ext cx="2232000" cy="514800"/>
            </a:xfrm>
            <a:prstGeom prst="rect">
              <a:avLst/>
            </a:prstGeom>
            <a:solidFill>
              <a:srgbClr val="C5E0B4">
                <a:alpha val="60000"/>
              </a:srgb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139700" lvl="0" indent="-139700">
                <a:buClr>
                  <a:srgbClr val="046294"/>
                </a:buClr>
                <a:defRPr/>
              </a:pPr>
              <a:r>
                <a:rPr lang="en-US" altLang="ja-JP" sz="1100" b="1" dirty="0">
                  <a:solidFill>
                    <a:srgbClr val="008D2E"/>
                  </a:solidFill>
                  <a:latin typeface="+mn-ea"/>
                </a:rPr>
                <a:t>D.</a:t>
              </a:r>
              <a:r>
                <a:rPr lang="ja-JP" altLang="en-US" sz="1100" b="1" dirty="0">
                  <a:solidFill>
                    <a:srgbClr val="008D2E"/>
                  </a:solidFill>
                  <a:latin typeface="+mn-ea"/>
                </a:rPr>
                <a:t>構造転換</a:t>
              </a:r>
              <a:br>
                <a:rPr lang="en-US" altLang="ja-JP" sz="1100" dirty="0">
                  <a:solidFill>
                    <a:srgbClr val="575757">
                      <a:lumMod val="75000"/>
                    </a:srgbClr>
                  </a:solidFill>
                  <a:latin typeface="+mn-ea"/>
                </a:rPr>
              </a:br>
              <a:r>
                <a:rPr lang="en-US" altLang="ja-JP" sz="1100" dirty="0">
                  <a:solidFill>
                    <a:schemeClr val="tx1"/>
                  </a:solidFill>
                  <a:latin typeface="+mn-ea"/>
                </a:rPr>
                <a:t>(</a:t>
              </a:r>
              <a:r>
                <a:rPr lang="ja-JP" altLang="en-US" sz="1100" dirty="0">
                  <a:solidFill>
                    <a:schemeClr val="tx1"/>
                  </a:solidFill>
                  <a:latin typeface="+mn-ea"/>
                </a:rPr>
                <a:t>本案</a:t>
              </a:r>
              <a:r>
                <a:rPr lang="en-US" altLang="ja-JP" sz="1100" dirty="0">
                  <a:solidFill>
                    <a:schemeClr val="tx1"/>
                  </a:solidFill>
                  <a:latin typeface="+mn-ea"/>
                </a:rPr>
                <a:t> : </a:t>
              </a:r>
              <a:r>
                <a:rPr lang="ja-JP" altLang="en-US" sz="1100" dirty="0">
                  <a:solidFill>
                    <a:schemeClr val="tx1"/>
                  </a:solidFill>
                  <a:latin typeface="+mn-ea"/>
                </a:rPr>
                <a:t>実行</a:t>
              </a:r>
              <a:r>
                <a:rPr lang="en-US" altLang="ja-JP" sz="1100" dirty="0">
                  <a:solidFill>
                    <a:schemeClr val="tx1"/>
                  </a:solidFill>
                  <a:latin typeface="+mn-ea"/>
                </a:rPr>
                <a:t>=</a:t>
              </a:r>
              <a:r>
                <a:rPr lang="ja-JP" altLang="en-US" sz="1100" dirty="0">
                  <a:solidFill>
                    <a:schemeClr val="tx1"/>
                  </a:solidFill>
                  <a:latin typeface="+mn-ea"/>
                </a:rPr>
                <a:t>外部</a:t>
              </a:r>
              <a:r>
                <a:rPr lang="en-US" altLang="ja-JP" sz="1100" dirty="0">
                  <a:solidFill>
                    <a:schemeClr val="tx1"/>
                  </a:solidFill>
                  <a:latin typeface="+mn-ea"/>
                </a:rPr>
                <a:t>×</a:t>
              </a:r>
              <a:r>
                <a:rPr lang="ja-JP" altLang="en-US" sz="1100" dirty="0">
                  <a:solidFill>
                    <a:schemeClr val="tx1"/>
                  </a:solidFill>
                  <a:latin typeface="+mn-ea"/>
                </a:rPr>
                <a:t>統制</a:t>
              </a:r>
              <a:r>
                <a:rPr lang="en-US" altLang="ja-JP" sz="1100" dirty="0">
                  <a:solidFill>
                    <a:schemeClr val="tx1"/>
                  </a:solidFill>
                  <a:latin typeface="+mn-ea"/>
                </a:rPr>
                <a:t>=LEB)</a:t>
              </a:r>
              <a:endParaRPr lang="ja-JP" altLang="en-US" sz="1100" dirty="0">
                <a:solidFill>
                  <a:schemeClr val="tx1"/>
                </a:solidFill>
                <a:latin typeface="+mn-ea"/>
              </a:endParaRPr>
            </a:p>
          </p:txBody>
        </p:sp>
        <p:cxnSp>
          <p:nvCxnSpPr>
            <p:cNvPr id="115" name="直線コネクタ 114">
              <a:extLst>
                <a:ext uri="{FF2B5EF4-FFF2-40B4-BE49-F238E27FC236}">
                  <a16:creationId xmlns:a16="http://schemas.microsoft.com/office/drawing/2014/main" id="{5B499385-16E8-43CC-F088-93BD6F5D2E77}"/>
                </a:ext>
              </a:extLst>
            </p:cNvPr>
            <p:cNvCxnSpPr>
              <a:cxnSpLocks/>
            </p:cNvCxnSpPr>
            <p:nvPr/>
          </p:nvCxnSpPr>
          <p:spPr>
            <a:xfrm>
              <a:off x="3300322" y="4161909"/>
              <a:ext cx="720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6" name="正方形/長方形 115">
              <a:extLst>
                <a:ext uri="{FF2B5EF4-FFF2-40B4-BE49-F238E27FC236}">
                  <a16:creationId xmlns:a16="http://schemas.microsoft.com/office/drawing/2014/main" id="{9164E9ED-3171-8DCB-7547-85BF1EA7BBC3}"/>
                </a:ext>
              </a:extLst>
            </p:cNvPr>
            <p:cNvSpPr/>
            <p:nvPr/>
          </p:nvSpPr>
          <p:spPr>
            <a:xfrm>
              <a:off x="3300324" y="3765910"/>
              <a:ext cx="720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50" b="0" i="0" u="none" strike="noStrike" kern="1200" cap="none" spc="0" normalizeH="0" baseline="0" noProof="0" dirty="0">
                  <a:ln>
                    <a:noFill/>
                  </a:ln>
                  <a:solidFill>
                    <a:schemeClr val="tx1"/>
                  </a:solidFill>
                  <a:effectLst/>
                  <a:uLnTx/>
                  <a:uFillTx/>
                  <a:latin typeface="+mn-ea"/>
                  <a:cs typeface="+mn-cs"/>
                </a:rPr>
                <a:t>持続性</a:t>
              </a:r>
            </a:p>
          </p:txBody>
        </p:sp>
        <p:sp>
          <p:nvSpPr>
            <p:cNvPr id="117" name="正方形/長方形 116">
              <a:extLst>
                <a:ext uri="{FF2B5EF4-FFF2-40B4-BE49-F238E27FC236}">
                  <a16:creationId xmlns:a16="http://schemas.microsoft.com/office/drawing/2014/main" id="{B21B1ECF-9904-FA68-D872-C1C2D62F9103}"/>
                </a:ext>
              </a:extLst>
            </p:cNvPr>
            <p:cNvSpPr/>
            <p:nvPr/>
          </p:nvSpPr>
          <p:spPr>
            <a:xfrm>
              <a:off x="3300323" y="3765909"/>
              <a:ext cx="720000" cy="167886"/>
            </a:xfrm>
            <a:prstGeom prst="rect">
              <a:avLst/>
            </a:prstGeom>
            <a:solidFill>
              <a:schemeClr val="bg1">
                <a:lumMod val="85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latin typeface="+mn-ea"/>
                </a:rPr>
                <a:t>G1</a:t>
              </a:r>
              <a:endParaRPr kumimoji="1" lang="ja-JP" altLang="en-US" sz="900" dirty="0">
                <a:solidFill>
                  <a:schemeClr val="tx1"/>
                </a:solidFill>
                <a:latin typeface="+mn-ea"/>
              </a:endParaRPr>
            </a:p>
          </p:txBody>
        </p:sp>
        <p:cxnSp>
          <p:nvCxnSpPr>
            <p:cNvPr id="39" name="直線コネクタ 38">
              <a:extLst>
                <a:ext uri="{FF2B5EF4-FFF2-40B4-BE49-F238E27FC236}">
                  <a16:creationId xmlns:a16="http://schemas.microsoft.com/office/drawing/2014/main" id="{8EBA6D24-CF3D-F09F-C5CE-F2D075D69117}"/>
                </a:ext>
              </a:extLst>
            </p:cNvPr>
            <p:cNvCxnSpPr>
              <a:cxnSpLocks/>
            </p:cNvCxnSpPr>
            <p:nvPr/>
          </p:nvCxnSpPr>
          <p:spPr>
            <a:xfrm>
              <a:off x="3300322" y="4717198"/>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B2797F78-6873-6EEE-F5B4-05D1848D898F}"/>
                </a:ext>
              </a:extLst>
            </p:cNvPr>
            <p:cNvCxnSpPr>
              <a:cxnSpLocks/>
            </p:cNvCxnSpPr>
            <p:nvPr/>
          </p:nvCxnSpPr>
          <p:spPr>
            <a:xfrm>
              <a:off x="3300322" y="5247706"/>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90A62DB-9825-3B05-0A46-0A8A39B29A25}"/>
                </a:ext>
              </a:extLst>
            </p:cNvPr>
            <p:cNvCxnSpPr>
              <a:cxnSpLocks/>
            </p:cNvCxnSpPr>
            <p:nvPr/>
          </p:nvCxnSpPr>
          <p:spPr>
            <a:xfrm>
              <a:off x="3300322" y="5771123"/>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30C19B00-D75F-94E4-4B79-2150216F807A}"/>
                </a:ext>
              </a:extLst>
            </p:cNvPr>
            <p:cNvCxnSpPr>
              <a:cxnSpLocks/>
            </p:cNvCxnSpPr>
            <p:nvPr/>
          </p:nvCxnSpPr>
          <p:spPr>
            <a:xfrm>
              <a:off x="4130746" y="4161909"/>
              <a:ext cx="720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B451CE43-3F6D-9FFF-D43F-3D305E1C3694}"/>
                </a:ext>
              </a:extLst>
            </p:cNvPr>
            <p:cNvSpPr/>
            <p:nvPr/>
          </p:nvSpPr>
          <p:spPr>
            <a:xfrm>
              <a:off x="4130747" y="3765910"/>
              <a:ext cx="720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50" b="0" i="0" u="none" strike="noStrike" kern="1200" cap="none" spc="0" normalizeH="0" baseline="0" noProof="0">
                  <a:ln>
                    <a:noFill/>
                  </a:ln>
                  <a:solidFill>
                    <a:schemeClr val="tx1"/>
                  </a:solidFill>
                  <a:effectLst/>
                  <a:uLnTx/>
                  <a:uFillTx/>
                  <a:latin typeface="+mn-ea"/>
                  <a:cs typeface="+mn-cs"/>
                </a:rPr>
                <a:t>コスト</a:t>
              </a:r>
            </a:p>
          </p:txBody>
        </p:sp>
        <p:sp>
          <p:nvSpPr>
            <p:cNvPr id="120" name="正方形/長方形 119">
              <a:extLst>
                <a:ext uri="{FF2B5EF4-FFF2-40B4-BE49-F238E27FC236}">
                  <a16:creationId xmlns:a16="http://schemas.microsoft.com/office/drawing/2014/main" id="{65851405-FC83-7A3D-D4ED-ACEA8DFE91B5}"/>
                </a:ext>
              </a:extLst>
            </p:cNvPr>
            <p:cNvSpPr/>
            <p:nvPr/>
          </p:nvSpPr>
          <p:spPr>
            <a:xfrm>
              <a:off x="4130747" y="3765909"/>
              <a:ext cx="720000" cy="167887"/>
            </a:xfrm>
            <a:prstGeom prst="rect">
              <a:avLst/>
            </a:prstGeom>
            <a:solidFill>
              <a:schemeClr val="bg1">
                <a:lumMod val="85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latin typeface="+mn-ea"/>
                </a:rPr>
                <a:t>G2</a:t>
              </a:r>
              <a:endParaRPr kumimoji="1" lang="ja-JP" altLang="en-US" sz="900">
                <a:solidFill>
                  <a:schemeClr val="tx1"/>
                </a:solidFill>
                <a:latin typeface="+mn-ea"/>
              </a:endParaRPr>
            </a:p>
          </p:txBody>
        </p:sp>
        <p:cxnSp>
          <p:nvCxnSpPr>
            <p:cNvPr id="43" name="直線コネクタ 42">
              <a:extLst>
                <a:ext uri="{FF2B5EF4-FFF2-40B4-BE49-F238E27FC236}">
                  <a16:creationId xmlns:a16="http://schemas.microsoft.com/office/drawing/2014/main" id="{3824D473-BFD6-92A1-EFCC-2CA5F7CE53DD}"/>
                </a:ext>
              </a:extLst>
            </p:cNvPr>
            <p:cNvCxnSpPr>
              <a:cxnSpLocks/>
            </p:cNvCxnSpPr>
            <p:nvPr/>
          </p:nvCxnSpPr>
          <p:spPr>
            <a:xfrm>
              <a:off x="4130746" y="4717198"/>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9C5F21A7-127E-4C79-6347-A658526B2492}"/>
                </a:ext>
              </a:extLst>
            </p:cNvPr>
            <p:cNvCxnSpPr>
              <a:cxnSpLocks/>
            </p:cNvCxnSpPr>
            <p:nvPr/>
          </p:nvCxnSpPr>
          <p:spPr>
            <a:xfrm>
              <a:off x="4130746" y="5247706"/>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50750D0C-B20A-9A8D-FD6E-1639F13E5204}"/>
                </a:ext>
              </a:extLst>
            </p:cNvPr>
            <p:cNvCxnSpPr>
              <a:cxnSpLocks/>
            </p:cNvCxnSpPr>
            <p:nvPr/>
          </p:nvCxnSpPr>
          <p:spPr>
            <a:xfrm>
              <a:off x="4130746" y="5771123"/>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308FE7A1-26BB-2C4A-A294-FC4051C7354D}"/>
                </a:ext>
              </a:extLst>
            </p:cNvPr>
            <p:cNvCxnSpPr>
              <a:cxnSpLocks/>
            </p:cNvCxnSpPr>
            <p:nvPr/>
          </p:nvCxnSpPr>
          <p:spPr>
            <a:xfrm>
              <a:off x="4961168" y="4161909"/>
              <a:ext cx="720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2" name="正方形/長方形 121">
              <a:extLst>
                <a:ext uri="{FF2B5EF4-FFF2-40B4-BE49-F238E27FC236}">
                  <a16:creationId xmlns:a16="http://schemas.microsoft.com/office/drawing/2014/main" id="{71618551-58C4-9A26-0193-13711EF23783}"/>
                </a:ext>
              </a:extLst>
            </p:cNvPr>
            <p:cNvSpPr/>
            <p:nvPr/>
          </p:nvSpPr>
          <p:spPr>
            <a:xfrm>
              <a:off x="4961167" y="3765910"/>
              <a:ext cx="720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50" b="0" i="0" u="none" strike="noStrike" kern="1200" cap="none" spc="0" normalizeH="0" baseline="0" noProof="0">
                  <a:ln>
                    <a:noFill/>
                  </a:ln>
                  <a:solidFill>
                    <a:schemeClr val="tx1"/>
                  </a:solidFill>
                  <a:effectLst/>
                  <a:uLnTx/>
                  <a:uFillTx/>
                  <a:latin typeface="+mn-ea"/>
                  <a:cs typeface="+mn-cs"/>
                </a:rPr>
                <a:t>品質統制</a:t>
              </a:r>
            </a:p>
          </p:txBody>
        </p:sp>
        <p:sp>
          <p:nvSpPr>
            <p:cNvPr id="123" name="正方形/長方形 122">
              <a:extLst>
                <a:ext uri="{FF2B5EF4-FFF2-40B4-BE49-F238E27FC236}">
                  <a16:creationId xmlns:a16="http://schemas.microsoft.com/office/drawing/2014/main" id="{82CDBE60-5DDE-E80A-3408-7F541F6973F3}"/>
                </a:ext>
              </a:extLst>
            </p:cNvPr>
            <p:cNvSpPr/>
            <p:nvPr/>
          </p:nvSpPr>
          <p:spPr>
            <a:xfrm>
              <a:off x="4961168" y="3765909"/>
              <a:ext cx="720000" cy="167887"/>
            </a:xfrm>
            <a:prstGeom prst="rect">
              <a:avLst/>
            </a:prstGeom>
            <a:solidFill>
              <a:schemeClr val="bg1">
                <a:lumMod val="85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latin typeface="+mn-ea"/>
                </a:rPr>
                <a:t>G3</a:t>
              </a:r>
              <a:endParaRPr kumimoji="1" lang="ja-JP" altLang="en-US" sz="900">
                <a:solidFill>
                  <a:schemeClr val="tx1"/>
                </a:solidFill>
                <a:latin typeface="+mn-ea"/>
              </a:endParaRPr>
            </a:p>
          </p:txBody>
        </p:sp>
        <p:cxnSp>
          <p:nvCxnSpPr>
            <p:cNvPr id="46" name="直線コネクタ 45">
              <a:extLst>
                <a:ext uri="{FF2B5EF4-FFF2-40B4-BE49-F238E27FC236}">
                  <a16:creationId xmlns:a16="http://schemas.microsoft.com/office/drawing/2014/main" id="{A6782AA6-7ECE-FF12-311A-A6EFA2A58468}"/>
                </a:ext>
              </a:extLst>
            </p:cNvPr>
            <p:cNvCxnSpPr>
              <a:cxnSpLocks/>
            </p:cNvCxnSpPr>
            <p:nvPr/>
          </p:nvCxnSpPr>
          <p:spPr>
            <a:xfrm>
              <a:off x="4961168" y="4717198"/>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4AF682C4-0A11-6EB8-C559-95B077F02F4C}"/>
                </a:ext>
              </a:extLst>
            </p:cNvPr>
            <p:cNvCxnSpPr>
              <a:cxnSpLocks/>
            </p:cNvCxnSpPr>
            <p:nvPr/>
          </p:nvCxnSpPr>
          <p:spPr>
            <a:xfrm>
              <a:off x="4961168" y="5247706"/>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1079CE3-519F-DA7B-736B-80E4651F8D51}"/>
                </a:ext>
              </a:extLst>
            </p:cNvPr>
            <p:cNvCxnSpPr>
              <a:cxnSpLocks/>
            </p:cNvCxnSpPr>
            <p:nvPr/>
          </p:nvCxnSpPr>
          <p:spPr>
            <a:xfrm>
              <a:off x="4961168" y="5771123"/>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C5AB2D5F-D6F7-F6D4-D468-5E9F3D2FE436}"/>
                </a:ext>
              </a:extLst>
            </p:cNvPr>
            <p:cNvCxnSpPr>
              <a:cxnSpLocks/>
            </p:cNvCxnSpPr>
            <p:nvPr/>
          </p:nvCxnSpPr>
          <p:spPr>
            <a:xfrm>
              <a:off x="5780312" y="4161909"/>
              <a:ext cx="720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5" name="正方形/長方形 124">
              <a:extLst>
                <a:ext uri="{FF2B5EF4-FFF2-40B4-BE49-F238E27FC236}">
                  <a16:creationId xmlns:a16="http://schemas.microsoft.com/office/drawing/2014/main" id="{4DE30652-F464-A32F-1C01-98F111E31987}"/>
                </a:ext>
              </a:extLst>
            </p:cNvPr>
            <p:cNvSpPr/>
            <p:nvPr/>
          </p:nvSpPr>
          <p:spPr>
            <a:xfrm>
              <a:off x="5780312" y="3765910"/>
              <a:ext cx="720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50" b="0" i="0" u="none" strike="noStrike" kern="1200" cap="none" spc="0" normalizeH="0" baseline="0" noProof="0">
                  <a:ln>
                    <a:noFill/>
                  </a:ln>
                  <a:solidFill>
                    <a:schemeClr val="tx1"/>
                  </a:solidFill>
                  <a:effectLst/>
                  <a:uLnTx/>
                  <a:uFillTx/>
                  <a:latin typeface="+mn-ea"/>
                  <a:cs typeface="+mn-cs"/>
                </a:rPr>
                <a:t>戦略シフト</a:t>
              </a:r>
            </a:p>
          </p:txBody>
        </p:sp>
        <p:sp>
          <p:nvSpPr>
            <p:cNvPr id="126" name="正方形/長方形 125">
              <a:extLst>
                <a:ext uri="{FF2B5EF4-FFF2-40B4-BE49-F238E27FC236}">
                  <a16:creationId xmlns:a16="http://schemas.microsoft.com/office/drawing/2014/main" id="{9001AA92-4FAC-DFA6-D853-9D6FEFA56FF3}"/>
                </a:ext>
              </a:extLst>
            </p:cNvPr>
            <p:cNvSpPr/>
            <p:nvPr/>
          </p:nvSpPr>
          <p:spPr>
            <a:xfrm>
              <a:off x="5780312" y="3765909"/>
              <a:ext cx="720000" cy="167887"/>
            </a:xfrm>
            <a:prstGeom prst="rect">
              <a:avLst/>
            </a:prstGeom>
            <a:solidFill>
              <a:schemeClr val="bg1">
                <a:lumMod val="85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latin typeface="+mn-ea"/>
                </a:rPr>
                <a:t>G4</a:t>
              </a:r>
              <a:endParaRPr kumimoji="1" lang="ja-JP" altLang="en-US" sz="900">
                <a:solidFill>
                  <a:schemeClr val="tx1"/>
                </a:solidFill>
                <a:latin typeface="+mn-ea"/>
              </a:endParaRPr>
            </a:p>
          </p:txBody>
        </p:sp>
        <p:cxnSp>
          <p:nvCxnSpPr>
            <p:cNvPr id="49" name="直線コネクタ 48">
              <a:extLst>
                <a:ext uri="{FF2B5EF4-FFF2-40B4-BE49-F238E27FC236}">
                  <a16:creationId xmlns:a16="http://schemas.microsoft.com/office/drawing/2014/main" id="{769574C9-A126-9645-D78D-31DCAC30A2DF}"/>
                </a:ext>
              </a:extLst>
            </p:cNvPr>
            <p:cNvCxnSpPr>
              <a:cxnSpLocks/>
            </p:cNvCxnSpPr>
            <p:nvPr/>
          </p:nvCxnSpPr>
          <p:spPr>
            <a:xfrm>
              <a:off x="5780312" y="4717198"/>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746B8863-B6DC-48A5-C784-E53AB3DC4FB6}"/>
                </a:ext>
              </a:extLst>
            </p:cNvPr>
            <p:cNvCxnSpPr>
              <a:cxnSpLocks/>
            </p:cNvCxnSpPr>
            <p:nvPr/>
          </p:nvCxnSpPr>
          <p:spPr>
            <a:xfrm>
              <a:off x="5780312" y="5247706"/>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30B58C1A-5F4B-63C0-097B-6FCA0822B96E}"/>
                </a:ext>
              </a:extLst>
            </p:cNvPr>
            <p:cNvCxnSpPr>
              <a:cxnSpLocks/>
            </p:cNvCxnSpPr>
            <p:nvPr/>
          </p:nvCxnSpPr>
          <p:spPr>
            <a:xfrm>
              <a:off x="5780312" y="5771123"/>
              <a:ext cx="7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FFC5E8AE-09B4-CA62-9C3B-E57FF62E335D}"/>
                </a:ext>
              </a:extLst>
            </p:cNvPr>
            <p:cNvCxnSpPr>
              <a:cxnSpLocks/>
            </p:cNvCxnSpPr>
            <p:nvPr/>
          </p:nvCxnSpPr>
          <p:spPr>
            <a:xfrm>
              <a:off x="6599456" y="4161910"/>
              <a:ext cx="5256000" cy="0"/>
            </a:xfrm>
            <a:prstGeom prst="line">
              <a:avLst/>
            </a:prstGeom>
            <a:ln w="9525">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11F2BD2-A8A5-6F1D-77BC-F0EFB0E9D349}"/>
                </a:ext>
              </a:extLst>
            </p:cNvPr>
            <p:cNvSpPr/>
            <p:nvPr/>
          </p:nvSpPr>
          <p:spPr>
            <a:xfrm>
              <a:off x="6599456" y="3765910"/>
              <a:ext cx="5256000" cy="396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2556000" bIns="72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lang="ja-JP" altLang="en-US" sz="1400" dirty="0">
                  <a:solidFill>
                    <a:srgbClr val="008D2E"/>
                  </a:solidFill>
                  <a:latin typeface="+mn-ea"/>
                </a:rPr>
                <a:t>各選択肢の評価 </a:t>
              </a:r>
              <a:r>
                <a:rPr lang="en-US" altLang="ja-JP" sz="1400" dirty="0">
                  <a:solidFill>
                    <a:srgbClr val="008D2E"/>
                  </a:solidFill>
                  <a:latin typeface="+mn-ea"/>
                </a:rPr>
                <a:t>(</a:t>
              </a:r>
              <a:r>
                <a:rPr lang="ja-JP" altLang="en-US" sz="1400" dirty="0">
                  <a:solidFill>
                    <a:srgbClr val="008D2E"/>
                  </a:solidFill>
                  <a:latin typeface="+mn-ea"/>
                </a:rPr>
                <a:t>メリットとリスク</a:t>
              </a:r>
              <a:r>
                <a:rPr lang="en-US" altLang="ja-JP" sz="1400" dirty="0">
                  <a:solidFill>
                    <a:srgbClr val="008D2E"/>
                  </a:solidFill>
                  <a:latin typeface="+mn-ea"/>
                </a:rPr>
                <a:t>)</a:t>
              </a:r>
              <a:endParaRPr kumimoji="1" lang="ja-JP" altLang="en-US" sz="1400" b="0" i="0" u="none" strike="noStrike" kern="1200" cap="none" spc="0" normalizeH="0" baseline="0" noProof="0" dirty="0">
                <a:ln>
                  <a:noFill/>
                </a:ln>
                <a:solidFill>
                  <a:srgbClr val="008D2E"/>
                </a:solidFill>
                <a:effectLst/>
                <a:uLnTx/>
                <a:uFillTx/>
                <a:latin typeface="+mn-ea"/>
                <a:cs typeface="+mn-cs"/>
              </a:endParaRPr>
            </a:p>
          </p:txBody>
        </p:sp>
        <p:cxnSp>
          <p:nvCxnSpPr>
            <p:cNvPr id="67" name="直線コネクタ 66">
              <a:extLst>
                <a:ext uri="{FF2B5EF4-FFF2-40B4-BE49-F238E27FC236}">
                  <a16:creationId xmlns:a16="http://schemas.microsoft.com/office/drawing/2014/main" id="{B91C7056-5AEE-7B7C-FE7A-F56B39796369}"/>
                </a:ext>
              </a:extLst>
            </p:cNvPr>
            <p:cNvCxnSpPr>
              <a:cxnSpLocks/>
            </p:cNvCxnSpPr>
            <p:nvPr/>
          </p:nvCxnSpPr>
          <p:spPr>
            <a:xfrm>
              <a:off x="6599456" y="4717199"/>
              <a:ext cx="52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A00BF2E-5312-5049-2B65-C6D776FFDE7F}"/>
                </a:ext>
              </a:extLst>
            </p:cNvPr>
            <p:cNvCxnSpPr>
              <a:cxnSpLocks/>
            </p:cNvCxnSpPr>
            <p:nvPr/>
          </p:nvCxnSpPr>
          <p:spPr>
            <a:xfrm>
              <a:off x="6599456" y="5247707"/>
              <a:ext cx="52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5860DE0A-00D6-8411-5E8C-16E02F2365C1}"/>
                </a:ext>
              </a:extLst>
            </p:cNvPr>
            <p:cNvCxnSpPr>
              <a:cxnSpLocks/>
            </p:cNvCxnSpPr>
            <p:nvPr/>
          </p:nvCxnSpPr>
          <p:spPr>
            <a:xfrm>
              <a:off x="6599456" y="5778216"/>
              <a:ext cx="52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5" name="グループ化 4">
              <a:extLst>
                <a:ext uri="{FF2B5EF4-FFF2-40B4-BE49-F238E27FC236}">
                  <a16:creationId xmlns:a16="http://schemas.microsoft.com/office/drawing/2014/main" id="{70578F2B-BAE5-37EB-1FB1-1924F9E6CF2A}"/>
                </a:ext>
              </a:extLst>
            </p:cNvPr>
            <p:cNvGrpSpPr/>
            <p:nvPr/>
          </p:nvGrpSpPr>
          <p:grpSpPr>
            <a:xfrm>
              <a:off x="6857124" y="4217944"/>
              <a:ext cx="4998332" cy="2090780"/>
              <a:chOff x="6599456" y="4217944"/>
              <a:chExt cx="5256000" cy="2090780"/>
            </a:xfrm>
            <a:noFill/>
          </p:grpSpPr>
          <p:sp>
            <p:nvSpPr>
              <p:cNvPr id="9" name="正方形/長方形 8">
                <a:extLst>
                  <a:ext uri="{FF2B5EF4-FFF2-40B4-BE49-F238E27FC236}">
                    <a16:creationId xmlns:a16="http://schemas.microsoft.com/office/drawing/2014/main" id="{544E8D37-50AA-08D7-59CE-3F36E6C28728}"/>
                  </a:ext>
                </a:extLst>
              </p:cNvPr>
              <p:cNvSpPr/>
              <p:nvPr/>
            </p:nvSpPr>
            <p:spPr>
              <a:xfrm>
                <a:off x="6599456" y="4217944"/>
                <a:ext cx="5256000"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a:ln>
                      <a:noFill/>
                    </a:ln>
                    <a:solidFill>
                      <a:schemeClr val="tx1"/>
                    </a:solidFill>
                    <a:effectLst/>
                    <a:uLnTx/>
                    <a:uFillTx/>
                    <a:latin typeface="+mn-ea"/>
                    <a:cs typeface="+mn-cs"/>
                  </a:rPr>
                  <a:t>慣れた現行運用を維持可能</a:t>
                </a:r>
              </a:p>
            </p:txBody>
          </p:sp>
          <p:sp>
            <p:nvSpPr>
              <p:cNvPr id="17" name="正方形/長方形 16">
                <a:extLst>
                  <a:ext uri="{FF2B5EF4-FFF2-40B4-BE49-F238E27FC236}">
                    <a16:creationId xmlns:a16="http://schemas.microsoft.com/office/drawing/2014/main" id="{E22D2C87-6C50-6C9F-A64C-A34D5B6E1609}"/>
                  </a:ext>
                </a:extLst>
              </p:cNvPr>
              <p:cNvSpPr/>
              <p:nvPr/>
            </p:nvSpPr>
            <p:spPr>
              <a:xfrm>
                <a:off x="6599456" y="4379944"/>
                <a:ext cx="5256000" cy="306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dirty="0">
                    <a:ln>
                      <a:noFill/>
                    </a:ln>
                    <a:solidFill>
                      <a:schemeClr val="tx1"/>
                    </a:solidFill>
                    <a:effectLst/>
                    <a:uLnTx/>
                    <a:uFillTx/>
                    <a:latin typeface="+mn-ea"/>
                    <a:cs typeface="+mn-cs"/>
                  </a:rPr>
                  <a:t>業務量増加を現体制で吸収できず、年間</a:t>
                </a:r>
                <a:r>
                  <a:rPr kumimoji="1" lang="en-US" altLang="ja-JP" sz="900" b="0" i="0" u="none" strike="noStrike" kern="1200" cap="none" spc="0" normalizeH="0" baseline="0" noProof="0" dirty="0">
                    <a:ln>
                      <a:noFill/>
                    </a:ln>
                    <a:solidFill>
                      <a:schemeClr val="tx1"/>
                    </a:solidFill>
                    <a:effectLst/>
                    <a:uLnTx/>
                    <a:uFillTx/>
                    <a:latin typeface="+mn-ea"/>
                    <a:cs typeface="+mn-cs"/>
                  </a:rPr>
                  <a:t>1.4</a:t>
                </a:r>
                <a:r>
                  <a:rPr kumimoji="1" lang="ja-JP" altLang="en-US" sz="900" b="0" i="0" u="none" strike="noStrike" kern="1200" cap="none" spc="0" normalizeH="0" baseline="0" noProof="0" dirty="0">
                    <a:ln>
                      <a:noFill/>
                    </a:ln>
                    <a:solidFill>
                      <a:schemeClr val="tx1"/>
                    </a:solidFill>
                    <a:effectLst/>
                    <a:uLnTx/>
                    <a:uFillTx/>
                    <a:latin typeface="+mn-ea"/>
                    <a:cs typeface="+mn-cs"/>
                  </a:rPr>
                  <a:t>億円の隠れ人件費やシステム停止リスク </a:t>
                </a:r>
                <a:r>
                  <a:rPr kumimoji="1" lang="en-US" altLang="ja-JP" sz="900" b="0" i="0" u="none" strike="noStrike" kern="1200" cap="none" spc="0" normalizeH="0" baseline="0" noProof="0" dirty="0">
                    <a:ln>
                      <a:noFill/>
                    </a:ln>
                    <a:solidFill>
                      <a:schemeClr val="tx1"/>
                    </a:solidFill>
                    <a:effectLst/>
                    <a:uLnTx/>
                    <a:uFillTx/>
                    <a:latin typeface="+mn-ea"/>
                    <a:cs typeface="+mn-cs"/>
                  </a:rPr>
                  <a:t>(</a:t>
                </a:r>
                <a:r>
                  <a:rPr kumimoji="1" lang="ja-JP" altLang="en-US" sz="900" b="0" i="0" u="none" strike="noStrike" kern="1200" cap="none" spc="0" normalizeH="0" baseline="0" noProof="0" dirty="0">
                    <a:ln>
                      <a:noFill/>
                    </a:ln>
                    <a:solidFill>
                      <a:schemeClr val="tx1"/>
                    </a:solidFill>
                    <a:effectLst/>
                    <a:uLnTx/>
                    <a:uFillTx/>
                    <a:latin typeface="+mn-ea"/>
                    <a:cs typeface="+mn-cs"/>
                  </a:rPr>
                  <a:t>最大</a:t>
                </a:r>
                <a:r>
                  <a:rPr kumimoji="1" lang="en-US" altLang="ja-JP" sz="900" b="0" i="0" u="none" strike="noStrike" kern="1200" cap="none" spc="0" normalizeH="0" baseline="0" noProof="0" dirty="0">
                    <a:ln>
                      <a:noFill/>
                    </a:ln>
                    <a:solidFill>
                      <a:schemeClr val="tx1"/>
                    </a:solidFill>
                    <a:effectLst/>
                    <a:uLnTx/>
                    <a:uFillTx/>
                    <a:latin typeface="+mn-ea"/>
                    <a:cs typeface="+mn-cs"/>
                  </a:rPr>
                  <a:t>11</a:t>
                </a:r>
                <a:r>
                  <a:rPr kumimoji="1" lang="ja-JP" altLang="en-US" sz="900" b="0" i="0" u="none" strike="noStrike" kern="1200" cap="none" spc="0" normalizeH="0" baseline="0" noProof="0" dirty="0">
                    <a:ln>
                      <a:noFill/>
                    </a:ln>
                    <a:solidFill>
                      <a:schemeClr val="tx1"/>
                    </a:solidFill>
                    <a:effectLst/>
                    <a:uLnTx/>
                    <a:uFillTx/>
                    <a:latin typeface="+mn-ea"/>
                    <a:cs typeface="+mn-cs"/>
                  </a:rPr>
                  <a:t>億円</a:t>
                </a:r>
                <a:r>
                  <a:rPr kumimoji="1" lang="en-US" altLang="ja-JP" sz="900" b="0" i="0" u="none" strike="noStrike" kern="1200" cap="none" spc="0" normalizeH="0" baseline="0" noProof="0" dirty="0">
                    <a:ln>
                      <a:noFill/>
                    </a:ln>
                    <a:solidFill>
                      <a:schemeClr val="tx1"/>
                    </a:solidFill>
                    <a:effectLst/>
                    <a:uLnTx/>
                    <a:uFillTx/>
                    <a:latin typeface="+mn-ea"/>
                    <a:cs typeface="+mn-cs"/>
                  </a:rPr>
                  <a:t> / </a:t>
                </a:r>
                <a:r>
                  <a:rPr kumimoji="1" lang="ja-JP" altLang="en-US" sz="900" b="0" i="0" u="none" strike="noStrike" kern="1200" cap="none" spc="0" normalizeH="0" baseline="0" noProof="0" dirty="0">
                    <a:ln>
                      <a:noFill/>
                    </a:ln>
                    <a:solidFill>
                      <a:schemeClr val="tx1"/>
                    </a:solidFill>
                    <a:effectLst/>
                    <a:uLnTx/>
                    <a:uFillTx/>
                    <a:latin typeface="+mn-ea"/>
                    <a:cs typeface="+mn-cs"/>
                  </a:rPr>
                  <a:t>日</a:t>
                </a:r>
                <a:r>
                  <a:rPr kumimoji="1" lang="en-US" altLang="ja-JP" sz="900" b="0" i="0" u="none" strike="noStrike" kern="1200" cap="none" spc="0" normalizeH="0" baseline="0" noProof="0" dirty="0">
                    <a:ln>
                      <a:noFill/>
                    </a:ln>
                    <a:solidFill>
                      <a:schemeClr val="tx1"/>
                    </a:solidFill>
                    <a:effectLst/>
                    <a:uLnTx/>
                    <a:uFillTx/>
                    <a:latin typeface="+mn-ea"/>
                    <a:cs typeface="+mn-cs"/>
                  </a:rPr>
                  <a:t>) </a:t>
                </a:r>
                <a:r>
                  <a:rPr kumimoji="1" lang="ja-JP" altLang="en-US" sz="900" b="0" i="0" u="none" strike="noStrike" kern="1200" cap="none" spc="0" normalizeH="0" baseline="0" noProof="0" dirty="0">
                    <a:ln>
                      <a:noFill/>
                    </a:ln>
                    <a:solidFill>
                      <a:schemeClr val="tx1"/>
                    </a:solidFill>
                    <a:effectLst/>
                    <a:uLnTx/>
                    <a:uFillTx/>
                    <a:latin typeface="+mn-ea"/>
                    <a:cs typeface="+mn-cs"/>
                  </a:rPr>
                  <a:t>を放置するリスクがある</a:t>
                </a:r>
              </a:p>
            </p:txBody>
          </p:sp>
          <p:sp>
            <p:nvSpPr>
              <p:cNvPr id="71" name="正方形/長方形 70">
                <a:extLst>
                  <a:ext uri="{FF2B5EF4-FFF2-40B4-BE49-F238E27FC236}">
                    <a16:creationId xmlns:a16="http://schemas.microsoft.com/office/drawing/2014/main" id="{34EE5EAA-DB21-63BC-101A-340F265CA48E}"/>
                  </a:ext>
                </a:extLst>
              </p:cNvPr>
              <p:cNvSpPr/>
              <p:nvPr/>
            </p:nvSpPr>
            <p:spPr>
              <a:xfrm>
                <a:off x="6599456" y="4748453"/>
                <a:ext cx="5256000"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a:ln>
                      <a:noFill/>
                    </a:ln>
                    <a:solidFill>
                      <a:schemeClr val="tx1"/>
                    </a:solidFill>
                    <a:effectLst/>
                    <a:uLnTx/>
                    <a:uFillTx/>
                    <a:latin typeface="+mn-ea"/>
                    <a:cs typeface="+mn-cs"/>
                  </a:rPr>
                  <a:t>自社内に直接ノウハウを保持・蓄積可能</a:t>
                </a:r>
              </a:p>
            </p:txBody>
          </p:sp>
          <p:sp>
            <p:nvSpPr>
              <p:cNvPr id="72" name="正方形/長方形 71">
                <a:extLst>
                  <a:ext uri="{FF2B5EF4-FFF2-40B4-BE49-F238E27FC236}">
                    <a16:creationId xmlns:a16="http://schemas.microsoft.com/office/drawing/2014/main" id="{210652F2-7414-A76F-FEDC-9CCE76AEE829}"/>
                  </a:ext>
                </a:extLst>
              </p:cNvPr>
              <p:cNvSpPr/>
              <p:nvPr/>
            </p:nvSpPr>
            <p:spPr>
              <a:xfrm>
                <a:off x="6599456" y="4910453"/>
                <a:ext cx="5256000" cy="306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dirty="0">
                    <a:ln>
                      <a:noFill/>
                    </a:ln>
                    <a:solidFill>
                      <a:schemeClr val="tx1"/>
                    </a:solidFill>
                    <a:effectLst/>
                    <a:uLnTx/>
                    <a:uFillTx/>
                    <a:latin typeface="+mn-ea"/>
                    <a:cs typeface="+mn-cs"/>
                  </a:rPr>
                  <a:t>採用難・離職による育成投資</a:t>
                </a:r>
                <a:r>
                  <a:rPr lang="en-US" altLang="ja-JP" sz="900" dirty="0">
                    <a:solidFill>
                      <a:schemeClr val="tx1"/>
                    </a:solidFill>
                    <a:latin typeface="+mn-ea"/>
                  </a:rPr>
                  <a:t> (</a:t>
                </a:r>
                <a:r>
                  <a:rPr kumimoji="1" lang="en-US" altLang="ja-JP" sz="900" b="0" i="0" u="none" strike="noStrike" kern="1200" cap="none" spc="0" normalizeH="0" baseline="0" noProof="0" dirty="0">
                    <a:ln>
                      <a:noFill/>
                    </a:ln>
                    <a:solidFill>
                      <a:schemeClr val="tx1"/>
                    </a:solidFill>
                    <a:effectLst/>
                    <a:uLnTx/>
                    <a:uFillTx/>
                    <a:latin typeface="+mn-ea"/>
                    <a:cs typeface="+mn-cs"/>
                  </a:rPr>
                  <a:t>1,500</a:t>
                </a:r>
                <a:r>
                  <a:rPr kumimoji="1" lang="ja-JP" altLang="en-US" sz="900" b="0" i="0" u="none" strike="noStrike" kern="1200" cap="none" spc="0" normalizeH="0" baseline="0" noProof="0" dirty="0">
                    <a:ln>
                      <a:noFill/>
                    </a:ln>
                    <a:solidFill>
                      <a:schemeClr val="tx1"/>
                    </a:solidFill>
                    <a:effectLst/>
                    <a:uLnTx/>
                    <a:uFillTx/>
                    <a:latin typeface="+mn-ea"/>
                    <a:cs typeface="+mn-cs"/>
                  </a:rPr>
                  <a:t>万円</a:t>
                </a:r>
                <a:r>
                  <a:rPr kumimoji="1" lang="en-US" altLang="ja-JP" sz="900" b="0" i="0" u="none" strike="noStrike" kern="1200" cap="none" spc="0" normalizeH="0" baseline="0" noProof="0" dirty="0">
                    <a:ln>
                      <a:noFill/>
                    </a:ln>
                    <a:solidFill>
                      <a:schemeClr val="tx1"/>
                    </a:solidFill>
                    <a:effectLst/>
                    <a:uLnTx/>
                    <a:uFillTx/>
                    <a:latin typeface="+mn-ea"/>
                    <a:cs typeface="+mn-cs"/>
                  </a:rPr>
                  <a:t>/</a:t>
                </a:r>
                <a:r>
                  <a:rPr kumimoji="1" lang="ja-JP" altLang="en-US" sz="900" b="0" i="0" u="none" strike="noStrike" kern="1200" cap="none" spc="0" normalizeH="0" baseline="0" noProof="0" dirty="0">
                    <a:ln>
                      <a:noFill/>
                    </a:ln>
                    <a:solidFill>
                      <a:schemeClr val="tx1"/>
                    </a:solidFill>
                    <a:effectLst/>
                    <a:uLnTx/>
                    <a:uFillTx/>
                    <a:latin typeface="+mn-ea"/>
                    <a:cs typeface="+mn-cs"/>
                  </a:rPr>
                  <a:t>人</a:t>
                </a:r>
                <a:r>
                  <a:rPr kumimoji="1" lang="en-US" altLang="ja-JP" sz="900" b="0" i="0" u="none" strike="noStrike" kern="1200" cap="none" spc="0" normalizeH="0" baseline="0" noProof="0" dirty="0">
                    <a:ln>
                      <a:noFill/>
                    </a:ln>
                    <a:solidFill>
                      <a:schemeClr val="tx1"/>
                    </a:solidFill>
                    <a:effectLst/>
                    <a:uLnTx/>
                    <a:uFillTx/>
                    <a:latin typeface="+mn-ea"/>
                    <a:cs typeface="+mn-cs"/>
                  </a:rPr>
                  <a:t>) </a:t>
                </a:r>
                <a:r>
                  <a:rPr kumimoji="1" lang="ja-JP" altLang="en-US" sz="900" b="0" i="0" u="none" strike="noStrike" kern="1200" cap="none" spc="0" normalizeH="0" baseline="0" noProof="0" dirty="0">
                    <a:ln>
                      <a:noFill/>
                    </a:ln>
                    <a:solidFill>
                      <a:schemeClr val="tx1"/>
                    </a:solidFill>
                    <a:effectLst/>
                    <a:uLnTx/>
                    <a:uFillTx/>
                    <a:latin typeface="+mn-ea"/>
                    <a:cs typeface="+mn-cs"/>
                  </a:rPr>
                  <a:t>の流出リスクが高く、自社単独では</a:t>
                </a:r>
                <a:r>
                  <a:rPr kumimoji="1" lang="en" altLang="ja-JP" sz="900" b="0" i="0" u="none" strike="noStrike" kern="1200" cap="none" spc="0" normalizeH="0" baseline="0" noProof="0" dirty="0">
                    <a:ln>
                      <a:noFill/>
                    </a:ln>
                    <a:solidFill>
                      <a:schemeClr val="tx1"/>
                    </a:solidFill>
                    <a:effectLst/>
                    <a:uLnTx/>
                    <a:uFillTx/>
                    <a:latin typeface="+mn-ea"/>
                    <a:cs typeface="+mn-cs"/>
                  </a:rPr>
                  <a:t>AI</a:t>
                </a:r>
                <a:r>
                  <a:rPr kumimoji="1" lang="ja-JP" altLang="en-US" sz="900" b="0" i="0" u="none" strike="noStrike" kern="1200" cap="none" spc="0" normalizeH="0" baseline="0" noProof="0" dirty="0">
                    <a:ln>
                      <a:noFill/>
                    </a:ln>
                    <a:solidFill>
                      <a:schemeClr val="tx1"/>
                    </a:solidFill>
                    <a:effectLst/>
                    <a:uLnTx/>
                    <a:uFillTx/>
                    <a:latin typeface="+mn-ea"/>
                    <a:cs typeface="+mn-cs"/>
                  </a:rPr>
                  <a:t>自動化等の</a:t>
                </a:r>
                <a:br>
                  <a:rPr kumimoji="1" lang="en-US" altLang="ja-JP" sz="900" b="0" i="0" u="none" strike="noStrike" kern="1200" cap="none" spc="0" normalizeH="0" baseline="0" noProof="0" dirty="0">
                    <a:ln>
                      <a:noFill/>
                    </a:ln>
                    <a:solidFill>
                      <a:schemeClr val="tx1"/>
                    </a:solidFill>
                    <a:effectLst/>
                    <a:uLnTx/>
                    <a:uFillTx/>
                    <a:latin typeface="+mn-ea"/>
                    <a:cs typeface="+mn-cs"/>
                  </a:rPr>
                </a:br>
                <a:r>
                  <a:rPr kumimoji="1" lang="ja-JP" altLang="en-US" sz="900" b="0" i="0" u="none" strike="noStrike" kern="1200" cap="none" spc="0" normalizeH="0" baseline="0" noProof="0" dirty="0">
                    <a:ln>
                      <a:noFill/>
                    </a:ln>
                    <a:solidFill>
                      <a:schemeClr val="tx1"/>
                    </a:solidFill>
                    <a:effectLst/>
                    <a:uLnTx/>
                    <a:uFillTx/>
                    <a:latin typeface="+mn-ea"/>
                    <a:cs typeface="+mn-cs"/>
                  </a:rPr>
                  <a:t>基盤投資を回収できずコストが高騰する</a:t>
                </a:r>
              </a:p>
            </p:txBody>
          </p:sp>
          <p:sp>
            <p:nvSpPr>
              <p:cNvPr id="77" name="正方形/長方形 76">
                <a:extLst>
                  <a:ext uri="{FF2B5EF4-FFF2-40B4-BE49-F238E27FC236}">
                    <a16:creationId xmlns:a16="http://schemas.microsoft.com/office/drawing/2014/main" id="{36F2271B-0E7F-3D0E-8F93-A00A5BE7DCB9}"/>
                  </a:ext>
                </a:extLst>
              </p:cNvPr>
              <p:cNvSpPr/>
              <p:nvPr/>
            </p:nvSpPr>
            <p:spPr>
              <a:xfrm>
                <a:off x="6599456" y="5278962"/>
                <a:ext cx="5256000"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900" b="0" i="0" u="none" strike="noStrike" kern="1200" cap="none" spc="0" normalizeH="0" baseline="0" noProof="0" dirty="0">
                    <a:ln>
                      <a:noFill/>
                    </a:ln>
                    <a:solidFill>
                      <a:schemeClr val="tx1"/>
                    </a:solidFill>
                    <a:effectLst/>
                    <a:uLnTx/>
                    <a:uFillTx/>
                    <a:latin typeface="+mn-ea"/>
                    <a:cs typeface="+mn-cs"/>
                  </a:rPr>
                  <a:t>24</a:t>
                </a:r>
                <a:r>
                  <a:rPr kumimoji="1" lang="ja-JP" altLang="en-US" sz="900" b="0" i="0" u="none" strike="noStrike" kern="1200" cap="none" spc="0" normalizeH="0" baseline="0" noProof="0">
                    <a:ln>
                      <a:noFill/>
                    </a:ln>
                    <a:solidFill>
                      <a:schemeClr val="tx1"/>
                    </a:solidFill>
                    <a:effectLst/>
                    <a:uLnTx/>
                    <a:uFillTx/>
                    <a:latin typeface="+mn-ea"/>
                    <a:cs typeface="+mn-cs"/>
                  </a:rPr>
                  <a:t>時間</a:t>
                </a:r>
                <a:r>
                  <a:rPr kumimoji="1" lang="en-US" altLang="ja-JP" sz="900" b="0" i="0" u="none" strike="noStrike" kern="1200" cap="none" spc="0" normalizeH="0" baseline="0" noProof="0" dirty="0">
                    <a:ln>
                      <a:noFill/>
                    </a:ln>
                    <a:solidFill>
                      <a:schemeClr val="tx1"/>
                    </a:solidFill>
                    <a:effectLst/>
                    <a:uLnTx/>
                    <a:uFillTx/>
                    <a:latin typeface="+mn-ea"/>
                    <a:cs typeface="+mn-cs"/>
                  </a:rPr>
                  <a:t>365</a:t>
                </a:r>
                <a:r>
                  <a:rPr kumimoji="1" lang="ja-JP" altLang="en-US" sz="900" b="0" i="0" u="none" strike="noStrike" kern="1200" cap="none" spc="0" normalizeH="0" baseline="0" noProof="0">
                    <a:ln>
                      <a:noFill/>
                    </a:ln>
                    <a:solidFill>
                      <a:schemeClr val="tx1"/>
                    </a:solidFill>
                    <a:effectLst/>
                    <a:uLnTx/>
                    <a:uFillTx/>
                    <a:latin typeface="+mn-ea"/>
                    <a:cs typeface="+mn-cs"/>
                  </a:rPr>
                  <a:t>日の監視・運用体制やリソース確保が即時に可能</a:t>
                </a:r>
              </a:p>
            </p:txBody>
          </p:sp>
          <p:sp>
            <p:nvSpPr>
              <p:cNvPr id="79" name="正方形/長方形 78">
                <a:extLst>
                  <a:ext uri="{FF2B5EF4-FFF2-40B4-BE49-F238E27FC236}">
                    <a16:creationId xmlns:a16="http://schemas.microsoft.com/office/drawing/2014/main" id="{C304D687-148E-DC61-9B1C-6297220DD4AB}"/>
                  </a:ext>
                </a:extLst>
              </p:cNvPr>
              <p:cNvSpPr/>
              <p:nvPr/>
            </p:nvSpPr>
            <p:spPr>
              <a:xfrm>
                <a:off x="6599456" y="5440962"/>
                <a:ext cx="5256000" cy="306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 altLang="ja-JP" sz="900" b="0" i="0" u="none" strike="noStrike" kern="1200" cap="none" spc="0" normalizeH="0" baseline="0" noProof="0" dirty="0">
                    <a:ln>
                      <a:noFill/>
                    </a:ln>
                    <a:solidFill>
                      <a:schemeClr val="tx1"/>
                    </a:solidFill>
                    <a:effectLst/>
                    <a:uLnTx/>
                    <a:uFillTx/>
                    <a:latin typeface="+mn-ea"/>
                    <a:cs typeface="+mn-cs"/>
                  </a:rPr>
                  <a:t>品質</a:t>
                </a:r>
                <a:r>
                  <a:rPr kumimoji="1" lang="ja-JP" altLang="en" sz="900" b="0" i="0" u="none" strike="noStrike" kern="1200" cap="none" spc="0" normalizeH="0" baseline="0" noProof="0" dirty="0">
                    <a:ln>
                      <a:noFill/>
                    </a:ln>
                    <a:solidFill>
                      <a:schemeClr val="tx1"/>
                    </a:solidFill>
                    <a:effectLst/>
                    <a:uLnTx/>
                    <a:uFillTx/>
                    <a:latin typeface="+mn-ea"/>
                    <a:cs typeface="+mn-cs"/>
                  </a:rPr>
                  <a:t>・</a:t>
                </a:r>
                <a:r>
                  <a:rPr kumimoji="1" lang="ja-JP" altLang="en-US" sz="900" b="0" i="0" u="none" strike="noStrike" kern="1200" cap="none" spc="0" normalizeH="0" baseline="0" noProof="0" dirty="0">
                    <a:ln>
                      <a:noFill/>
                    </a:ln>
                    <a:solidFill>
                      <a:schemeClr val="tx1"/>
                    </a:solidFill>
                    <a:effectLst/>
                    <a:uLnTx/>
                    <a:uFillTx/>
                    <a:latin typeface="+mn-ea"/>
                    <a:cs typeface="+mn-cs"/>
                  </a:rPr>
                  <a:t>検収基準がないためブラックボックス化が社外に拡大し、社内社員の手戻り補完や</a:t>
                </a:r>
                <a:br>
                  <a:rPr kumimoji="1" lang="en-US" altLang="ja-JP" sz="900" b="0" i="0" u="none" strike="noStrike" kern="1200" cap="none" spc="0" normalizeH="0" baseline="0" noProof="0" dirty="0">
                    <a:ln>
                      <a:noFill/>
                    </a:ln>
                    <a:solidFill>
                      <a:schemeClr val="tx1"/>
                    </a:solidFill>
                    <a:effectLst/>
                    <a:uLnTx/>
                    <a:uFillTx/>
                    <a:latin typeface="+mn-ea"/>
                    <a:cs typeface="+mn-cs"/>
                  </a:rPr>
                </a:br>
                <a:r>
                  <a:rPr kumimoji="1" lang="ja-JP" altLang="en-US" sz="900" b="0" i="0" u="none" strike="noStrike" kern="1200" cap="none" spc="0" normalizeH="0" baseline="0" noProof="0" dirty="0">
                    <a:ln>
                      <a:noFill/>
                    </a:ln>
                    <a:solidFill>
                      <a:schemeClr val="tx1"/>
                    </a:solidFill>
                    <a:effectLst/>
                    <a:uLnTx/>
                    <a:uFillTx/>
                    <a:latin typeface="+mn-ea"/>
                    <a:cs typeface="+mn-cs"/>
                  </a:rPr>
                  <a:t>指示・督促工数が削減されない</a:t>
                </a:r>
              </a:p>
            </p:txBody>
          </p:sp>
          <p:sp>
            <p:nvSpPr>
              <p:cNvPr id="86" name="正方形/長方形 85">
                <a:extLst>
                  <a:ext uri="{FF2B5EF4-FFF2-40B4-BE49-F238E27FC236}">
                    <a16:creationId xmlns:a16="http://schemas.microsoft.com/office/drawing/2014/main" id="{AD88716E-6475-98B5-EEB1-DE05856622C5}"/>
                  </a:ext>
                </a:extLst>
              </p:cNvPr>
              <p:cNvSpPr/>
              <p:nvPr/>
            </p:nvSpPr>
            <p:spPr>
              <a:xfrm>
                <a:off x="6599456" y="5809470"/>
                <a:ext cx="5256000" cy="23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dirty="0">
                    <a:ln>
                      <a:noFill/>
                    </a:ln>
                    <a:solidFill>
                      <a:schemeClr val="tx1"/>
                    </a:solidFill>
                    <a:effectLst/>
                    <a:uLnTx/>
                    <a:uFillTx/>
                    <a:latin typeface="+mn-ea"/>
                    <a:cs typeface="+mn-cs"/>
                  </a:rPr>
                  <a:t>外部</a:t>
                </a:r>
                <a:r>
                  <a:rPr kumimoji="1" lang="en-US" altLang="ja-JP" sz="900" b="0" i="0" u="none" strike="noStrike" kern="1200" cap="none" spc="0" normalizeH="0" baseline="0" noProof="0" dirty="0">
                    <a:ln>
                      <a:noFill/>
                    </a:ln>
                    <a:solidFill>
                      <a:schemeClr val="tx1"/>
                    </a:solidFill>
                    <a:effectLst/>
                    <a:uLnTx/>
                    <a:uFillTx/>
                    <a:latin typeface="+mn-ea"/>
                    <a:cs typeface="+mn-cs"/>
                  </a:rPr>
                  <a:t>委託</a:t>
                </a:r>
                <a:r>
                  <a:rPr kumimoji="1" lang="ja-JP" altLang="en-US" sz="900" b="0" i="0" u="none" strike="noStrike" kern="1200" cap="none" spc="0" normalizeH="0" baseline="0" noProof="0" dirty="0">
                    <a:ln>
                      <a:noFill/>
                    </a:ln>
                    <a:solidFill>
                      <a:schemeClr val="tx1"/>
                    </a:solidFill>
                    <a:effectLst/>
                    <a:uLnTx/>
                    <a:uFillTx/>
                    <a:latin typeface="+mn-ea"/>
                    <a:cs typeface="+mn-cs"/>
                  </a:rPr>
                  <a:t>のスケール・技術活用とグループ会社</a:t>
                </a:r>
                <a:r>
                  <a:rPr kumimoji="1" lang="en-US" altLang="ja-JP" sz="900" b="0" i="0" u="none" strike="noStrike" kern="1200" cap="none" spc="0" normalizeH="0" baseline="0" noProof="0" dirty="0">
                    <a:ln>
                      <a:noFill/>
                    </a:ln>
                    <a:solidFill>
                      <a:schemeClr val="tx1"/>
                    </a:solidFill>
                    <a:effectLst/>
                    <a:uLnTx/>
                    <a:uFillTx/>
                    <a:latin typeface="+mn-ea"/>
                    <a:cs typeface="+mn-cs"/>
                  </a:rPr>
                  <a:t> (LEB</a:t>
                </a:r>
                <a:r>
                  <a:rPr lang="en-US" altLang="ja-JP" sz="900" dirty="0">
                    <a:solidFill>
                      <a:schemeClr val="tx1"/>
                    </a:solidFill>
                    <a:latin typeface="+mn-ea"/>
                  </a:rPr>
                  <a:t>) </a:t>
                </a:r>
                <a:r>
                  <a:rPr kumimoji="1" lang="ja-JP" altLang="en-US" sz="900" b="0" i="0" u="none" strike="noStrike" kern="1200" cap="none" spc="0" normalizeH="0" baseline="0" noProof="0" dirty="0">
                    <a:ln>
                      <a:noFill/>
                    </a:ln>
                    <a:solidFill>
                      <a:schemeClr val="tx1"/>
                    </a:solidFill>
                    <a:effectLst/>
                    <a:uLnTx/>
                    <a:uFillTx/>
                    <a:latin typeface="+mn-ea"/>
                    <a:cs typeface="+mn-cs"/>
                  </a:rPr>
                  <a:t>による統制力を両立し、全課題を根本解決</a:t>
                </a:r>
              </a:p>
            </p:txBody>
          </p:sp>
          <p:sp>
            <p:nvSpPr>
              <p:cNvPr id="87" name="正方形/長方形 86">
                <a:extLst>
                  <a:ext uri="{FF2B5EF4-FFF2-40B4-BE49-F238E27FC236}">
                    <a16:creationId xmlns:a16="http://schemas.microsoft.com/office/drawing/2014/main" id="{016FB8E9-1F0E-B3A0-AA8D-D4885AC06E22}"/>
                  </a:ext>
                </a:extLst>
              </p:cNvPr>
              <p:cNvSpPr/>
              <p:nvPr/>
            </p:nvSpPr>
            <p:spPr>
              <a:xfrm>
                <a:off x="6599456" y="6074724"/>
                <a:ext cx="5256000" cy="23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900" b="0" i="0" u="none" strike="noStrike" kern="1200" cap="none" spc="0" normalizeH="0" baseline="0" noProof="0" dirty="0">
                    <a:ln>
                      <a:noFill/>
                    </a:ln>
                    <a:solidFill>
                      <a:schemeClr val="tx1"/>
                    </a:solidFill>
                    <a:effectLst/>
                    <a:uLnTx/>
                    <a:uFillTx/>
                    <a:latin typeface="+mn-ea"/>
                    <a:cs typeface="+mn-cs"/>
                  </a:rPr>
                  <a:t>移管期</a:t>
                </a:r>
                <a:r>
                  <a:rPr kumimoji="1" lang="en-US" altLang="ja-JP" sz="900" b="0" i="0" u="none" strike="noStrike" kern="1200" cap="none" spc="0" normalizeH="0" baseline="0" noProof="0" dirty="0">
                    <a:ln>
                      <a:noFill/>
                    </a:ln>
                    <a:solidFill>
                      <a:schemeClr val="tx1"/>
                    </a:solidFill>
                    <a:effectLst/>
                    <a:uLnTx/>
                    <a:uFillTx/>
                    <a:latin typeface="+mn-ea"/>
                    <a:cs typeface="+mn-cs"/>
                  </a:rPr>
                  <a:t> (</a:t>
                </a:r>
                <a:r>
                  <a:rPr kumimoji="1" lang="en" altLang="ja-JP" sz="900" b="0" i="0" u="none" strike="noStrike" kern="1200" cap="none" spc="0" normalizeH="0" baseline="0" noProof="0" dirty="0">
                    <a:ln>
                      <a:noFill/>
                    </a:ln>
                    <a:solidFill>
                      <a:schemeClr val="tx1"/>
                    </a:solidFill>
                    <a:effectLst/>
                    <a:uLnTx/>
                    <a:uFillTx/>
                    <a:latin typeface="+mn-ea"/>
                    <a:cs typeface="+mn-cs"/>
                  </a:rPr>
                  <a:t>フェーズ0〜第1段階</a:t>
                </a:r>
                <a:r>
                  <a:rPr lang="en-US" altLang="ja-JP" sz="900" dirty="0">
                    <a:solidFill>
                      <a:schemeClr val="tx1"/>
                    </a:solidFill>
                    <a:latin typeface="+mn-ea"/>
                  </a:rPr>
                  <a:t>)</a:t>
                </a:r>
                <a:r>
                  <a:rPr lang="en" altLang="ja-JP" sz="900" dirty="0">
                    <a:solidFill>
                      <a:schemeClr val="tx1"/>
                    </a:solidFill>
                    <a:latin typeface="+mn-ea"/>
                  </a:rPr>
                  <a:t> </a:t>
                </a:r>
                <a:r>
                  <a:rPr kumimoji="1" lang="ja-JP" altLang="en-US" sz="900" b="0" i="0" u="none" strike="noStrike" kern="1200" cap="none" spc="0" normalizeH="0" baseline="0" noProof="0" dirty="0">
                    <a:ln>
                      <a:noFill/>
                    </a:ln>
                    <a:solidFill>
                      <a:schemeClr val="tx1"/>
                    </a:solidFill>
                    <a:effectLst/>
                    <a:uLnTx/>
                    <a:uFillTx/>
                    <a:latin typeface="+mn-ea"/>
                    <a:cs typeface="+mn-cs"/>
                  </a:rPr>
                  <a:t>における立ち上げ・検証工数が発生する</a:t>
                </a:r>
                <a:r>
                  <a:rPr kumimoji="1" lang="en-US" altLang="ja-JP" sz="900" b="0" i="0" u="none" strike="noStrike" kern="1200" cap="none" spc="0" normalizeH="0" baseline="0" noProof="0" dirty="0">
                    <a:ln>
                      <a:noFill/>
                    </a:ln>
                    <a:solidFill>
                      <a:schemeClr val="tx1"/>
                    </a:solidFill>
                    <a:effectLst/>
                    <a:uLnTx/>
                    <a:uFillTx/>
                    <a:latin typeface="+mn-ea"/>
                    <a:cs typeface="+mn-cs"/>
                  </a:rPr>
                  <a:t> </a:t>
                </a:r>
                <a:r>
                  <a:rPr lang="en-US" altLang="ja-JP" sz="900" dirty="0">
                    <a:solidFill>
                      <a:schemeClr val="tx1"/>
                    </a:solidFill>
                    <a:latin typeface="+mn-ea"/>
                  </a:rPr>
                  <a:t>(</a:t>
                </a:r>
                <a:r>
                  <a:rPr kumimoji="1" lang="ja-JP" altLang="en-US" sz="900" b="0" i="0" u="none" strike="noStrike" kern="1200" cap="none" spc="0" normalizeH="0" baseline="0" noProof="0" dirty="0">
                    <a:ln>
                      <a:noFill/>
                    </a:ln>
                    <a:solidFill>
                      <a:schemeClr val="tx1"/>
                    </a:solidFill>
                    <a:effectLst/>
                    <a:uLnTx/>
                    <a:uFillTx/>
                    <a:latin typeface="+mn-ea"/>
                    <a:cs typeface="+mn-cs"/>
                  </a:rPr>
                  <a:t>段階コミットでリスク管理</a:t>
                </a:r>
                <a:r>
                  <a:rPr lang="en-US" altLang="ja-JP" sz="900" dirty="0">
                    <a:solidFill>
                      <a:schemeClr val="tx1"/>
                    </a:solidFill>
                    <a:latin typeface="+mn-ea"/>
                  </a:rPr>
                  <a:t>)</a:t>
                </a:r>
                <a:endParaRPr kumimoji="1" lang="ja-JP" altLang="en-US" sz="900" b="0" i="0" u="none" strike="noStrike" kern="1200" cap="none" spc="0" normalizeH="0" baseline="0" noProof="0" dirty="0">
                  <a:ln>
                    <a:noFill/>
                  </a:ln>
                  <a:solidFill>
                    <a:schemeClr val="tx1"/>
                  </a:solidFill>
                  <a:effectLst/>
                  <a:uLnTx/>
                  <a:uFillTx/>
                  <a:latin typeface="+mn-ea"/>
                  <a:cs typeface="+mn-cs"/>
                </a:endParaRPr>
              </a:p>
            </p:txBody>
          </p:sp>
        </p:grpSp>
        <p:sp>
          <p:nvSpPr>
            <p:cNvPr id="109" name="乗算記号 108">
              <a:extLst>
                <a:ext uri="{FF2B5EF4-FFF2-40B4-BE49-F238E27FC236}">
                  <a16:creationId xmlns:a16="http://schemas.microsoft.com/office/drawing/2014/main" id="{85E4C6C5-2EA5-1CB0-6E51-0FE5A4D5634B}"/>
                </a:ext>
              </a:extLst>
            </p:cNvPr>
            <p:cNvSpPr>
              <a:spLocks noChangeAspect="1"/>
            </p:cNvSpPr>
            <p:nvPr/>
          </p:nvSpPr>
          <p:spPr>
            <a:xfrm>
              <a:off x="3462323" y="4253945"/>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10" name="ドーナツ 109">
              <a:extLst>
                <a:ext uri="{FF2B5EF4-FFF2-40B4-BE49-F238E27FC236}">
                  <a16:creationId xmlns:a16="http://schemas.microsoft.com/office/drawing/2014/main" id="{5D1045D3-67FE-836B-85FC-5B853E7570A8}"/>
                </a:ext>
              </a:extLst>
            </p:cNvPr>
            <p:cNvSpPr>
              <a:spLocks noChangeAspect="1"/>
            </p:cNvSpPr>
            <p:nvPr/>
          </p:nvSpPr>
          <p:spPr>
            <a:xfrm>
              <a:off x="3516323" y="5907325"/>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11" name="乗算記号 110">
              <a:extLst>
                <a:ext uri="{FF2B5EF4-FFF2-40B4-BE49-F238E27FC236}">
                  <a16:creationId xmlns:a16="http://schemas.microsoft.com/office/drawing/2014/main" id="{78581B4B-1988-67A9-7FAA-9F6CB6946A96}"/>
                </a:ext>
              </a:extLst>
            </p:cNvPr>
            <p:cNvSpPr>
              <a:spLocks noChangeAspect="1"/>
            </p:cNvSpPr>
            <p:nvPr/>
          </p:nvSpPr>
          <p:spPr>
            <a:xfrm>
              <a:off x="4292746" y="4253945"/>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12" name="乗算記号 111">
              <a:extLst>
                <a:ext uri="{FF2B5EF4-FFF2-40B4-BE49-F238E27FC236}">
                  <a16:creationId xmlns:a16="http://schemas.microsoft.com/office/drawing/2014/main" id="{263AD682-2C64-49E9-F886-437C0CE69E63}"/>
                </a:ext>
              </a:extLst>
            </p:cNvPr>
            <p:cNvSpPr>
              <a:spLocks noChangeAspect="1"/>
            </p:cNvSpPr>
            <p:nvPr/>
          </p:nvSpPr>
          <p:spPr>
            <a:xfrm>
              <a:off x="5123168" y="4253945"/>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13" name="乗算記号 112">
              <a:extLst>
                <a:ext uri="{FF2B5EF4-FFF2-40B4-BE49-F238E27FC236}">
                  <a16:creationId xmlns:a16="http://schemas.microsoft.com/office/drawing/2014/main" id="{FC2CCD9B-0CC1-5222-B5DF-1CCC831C2278}"/>
                </a:ext>
              </a:extLst>
            </p:cNvPr>
            <p:cNvSpPr>
              <a:spLocks noChangeAspect="1"/>
            </p:cNvSpPr>
            <p:nvPr/>
          </p:nvSpPr>
          <p:spPr>
            <a:xfrm>
              <a:off x="5942312" y="4253945"/>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14" name="ドーナツ 113">
              <a:extLst>
                <a:ext uri="{FF2B5EF4-FFF2-40B4-BE49-F238E27FC236}">
                  <a16:creationId xmlns:a16="http://schemas.microsoft.com/office/drawing/2014/main" id="{6A385214-D739-F0E3-9940-572DA96DB4B6}"/>
                </a:ext>
              </a:extLst>
            </p:cNvPr>
            <p:cNvSpPr>
              <a:spLocks noChangeAspect="1"/>
            </p:cNvSpPr>
            <p:nvPr/>
          </p:nvSpPr>
          <p:spPr>
            <a:xfrm>
              <a:off x="4346746" y="5907325"/>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27" name="ドーナツ 126">
              <a:extLst>
                <a:ext uri="{FF2B5EF4-FFF2-40B4-BE49-F238E27FC236}">
                  <a16:creationId xmlns:a16="http://schemas.microsoft.com/office/drawing/2014/main" id="{21E72517-1202-D750-FD1C-9F607ECD7042}"/>
                </a:ext>
              </a:extLst>
            </p:cNvPr>
            <p:cNvSpPr>
              <a:spLocks noChangeAspect="1"/>
            </p:cNvSpPr>
            <p:nvPr/>
          </p:nvSpPr>
          <p:spPr>
            <a:xfrm>
              <a:off x="5177168" y="5907325"/>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28" name="ドーナツ 127">
              <a:extLst>
                <a:ext uri="{FF2B5EF4-FFF2-40B4-BE49-F238E27FC236}">
                  <a16:creationId xmlns:a16="http://schemas.microsoft.com/office/drawing/2014/main" id="{C5CE3A58-1FE4-6493-0F95-91C416691BEA}"/>
                </a:ext>
              </a:extLst>
            </p:cNvPr>
            <p:cNvSpPr>
              <a:spLocks noChangeAspect="1"/>
            </p:cNvSpPr>
            <p:nvPr/>
          </p:nvSpPr>
          <p:spPr>
            <a:xfrm>
              <a:off x="5996312" y="5907325"/>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29" name="ドーナツ 128">
              <a:extLst>
                <a:ext uri="{FF2B5EF4-FFF2-40B4-BE49-F238E27FC236}">
                  <a16:creationId xmlns:a16="http://schemas.microsoft.com/office/drawing/2014/main" id="{248AB426-BCCB-7DF9-502B-F515F6DC121E}"/>
                </a:ext>
              </a:extLst>
            </p:cNvPr>
            <p:cNvSpPr>
              <a:spLocks noChangeAspect="1"/>
            </p:cNvSpPr>
            <p:nvPr/>
          </p:nvSpPr>
          <p:spPr>
            <a:xfrm>
              <a:off x="5177168" y="4838453"/>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0" name="乗算記号 129">
              <a:extLst>
                <a:ext uri="{FF2B5EF4-FFF2-40B4-BE49-F238E27FC236}">
                  <a16:creationId xmlns:a16="http://schemas.microsoft.com/office/drawing/2014/main" id="{AA99F493-43E6-9994-64C1-47C5E17CDE2F}"/>
                </a:ext>
              </a:extLst>
            </p:cNvPr>
            <p:cNvSpPr>
              <a:spLocks noChangeAspect="1"/>
            </p:cNvSpPr>
            <p:nvPr/>
          </p:nvSpPr>
          <p:spPr>
            <a:xfrm>
              <a:off x="5123168" y="5314961"/>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1" name="乗算記号 130">
              <a:extLst>
                <a:ext uri="{FF2B5EF4-FFF2-40B4-BE49-F238E27FC236}">
                  <a16:creationId xmlns:a16="http://schemas.microsoft.com/office/drawing/2014/main" id="{3DBAF94C-2F52-8B9F-A1C5-6E40314361A4}"/>
                </a:ext>
              </a:extLst>
            </p:cNvPr>
            <p:cNvSpPr>
              <a:spLocks noChangeAspect="1"/>
            </p:cNvSpPr>
            <p:nvPr/>
          </p:nvSpPr>
          <p:spPr>
            <a:xfrm>
              <a:off x="5942312" y="4784453"/>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3" name="三角形 132">
              <a:extLst>
                <a:ext uri="{FF2B5EF4-FFF2-40B4-BE49-F238E27FC236}">
                  <a16:creationId xmlns:a16="http://schemas.microsoft.com/office/drawing/2014/main" id="{0210FA38-C288-B7EF-FAAF-39EA04E944CB}"/>
                </a:ext>
              </a:extLst>
            </p:cNvPr>
            <p:cNvSpPr>
              <a:spLocks/>
            </p:cNvSpPr>
            <p:nvPr/>
          </p:nvSpPr>
          <p:spPr>
            <a:xfrm>
              <a:off x="3516323" y="4856453"/>
              <a:ext cx="288000" cy="252000"/>
            </a:xfrm>
            <a:prstGeom prst="triangle">
              <a:avLst/>
            </a:prstGeom>
            <a:noFill/>
            <a:ln w="38100">
              <a:solidFill>
                <a:srgbClr val="008D2E">
                  <a:alpha val="60000"/>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4" name="乗算記号 133">
              <a:extLst>
                <a:ext uri="{FF2B5EF4-FFF2-40B4-BE49-F238E27FC236}">
                  <a16:creationId xmlns:a16="http://schemas.microsoft.com/office/drawing/2014/main" id="{0A6293A2-6619-C3FF-C947-9605344B44EE}"/>
                </a:ext>
              </a:extLst>
            </p:cNvPr>
            <p:cNvSpPr>
              <a:spLocks noChangeAspect="1"/>
            </p:cNvSpPr>
            <p:nvPr/>
          </p:nvSpPr>
          <p:spPr>
            <a:xfrm>
              <a:off x="4292746" y="4784453"/>
              <a:ext cx="396000" cy="396000"/>
            </a:xfrm>
            <a:prstGeom prst="mathMultiply">
              <a:avLst>
                <a:gd name="adj1" fmla="val 1165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5" name="三角形 134">
              <a:extLst>
                <a:ext uri="{FF2B5EF4-FFF2-40B4-BE49-F238E27FC236}">
                  <a16:creationId xmlns:a16="http://schemas.microsoft.com/office/drawing/2014/main" id="{B9192D38-5CED-EE19-4010-576D54491A2F}"/>
                </a:ext>
              </a:extLst>
            </p:cNvPr>
            <p:cNvSpPr>
              <a:spLocks/>
            </p:cNvSpPr>
            <p:nvPr/>
          </p:nvSpPr>
          <p:spPr>
            <a:xfrm>
              <a:off x="4346746" y="5386961"/>
              <a:ext cx="288000" cy="252000"/>
            </a:xfrm>
            <a:prstGeom prst="triangle">
              <a:avLst/>
            </a:prstGeom>
            <a:noFill/>
            <a:ln w="38100">
              <a:solidFill>
                <a:srgbClr val="008D2E">
                  <a:alpha val="60000"/>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6" name="ドーナツ 135">
              <a:extLst>
                <a:ext uri="{FF2B5EF4-FFF2-40B4-BE49-F238E27FC236}">
                  <a16:creationId xmlns:a16="http://schemas.microsoft.com/office/drawing/2014/main" id="{21F36C17-BBE8-45D0-8278-1BBC479E6DC0}"/>
                </a:ext>
              </a:extLst>
            </p:cNvPr>
            <p:cNvSpPr>
              <a:spLocks noChangeAspect="1"/>
            </p:cNvSpPr>
            <p:nvPr/>
          </p:nvSpPr>
          <p:spPr>
            <a:xfrm>
              <a:off x="3516323" y="5368961"/>
              <a:ext cx="288000" cy="288000"/>
            </a:xfrm>
            <a:prstGeom prst="donut">
              <a:avLst>
                <a:gd name="adj" fmla="val 15595"/>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137" name="三角形 136">
              <a:extLst>
                <a:ext uri="{FF2B5EF4-FFF2-40B4-BE49-F238E27FC236}">
                  <a16:creationId xmlns:a16="http://schemas.microsoft.com/office/drawing/2014/main" id="{760B9ED0-1FCE-4EA2-F768-C36F79AC1FE0}"/>
                </a:ext>
              </a:extLst>
            </p:cNvPr>
            <p:cNvSpPr>
              <a:spLocks/>
            </p:cNvSpPr>
            <p:nvPr/>
          </p:nvSpPr>
          <p:spPr>
            <a:xfrm>
              <a:off x="5996312" y="5386961"/>
              <a:ext cx="288000" cy="252000"/>
            </a:xfrm>
            <a:prstGeom prst="triangle">
              <a:avLst/>
            </a:prstGeom>
            <a:noFill/>
            <a:ln w="38100">
              <a:solidFill>
                <a:srgbClr val="008D2E">
                  <a:alpha val="60000"/>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buClr>
                  <a:schemeClr val="accent1"/>
                </a:buClr>
              </a:pPr>
              <a:endParaRPr kumimoji="1" lang="ja-JP" altLang="en-US" dirty="0">
                <a:solidFill>
                  <a:schemeClr val="tx2">
                    <a:lumMod val="75000"/>
                    <a:lumOff val="25000"/>
                  </a:schemeClr>
                </a:solidFill>
                <a:latin typeface="+mn-ea"/>
              </a:endParaRPr>
            </a:p>
          </p:txBody>
        </p:sp>
        <p:sp>
          <p:nvSpPr>
            <p:cNvPr id="26" name="四角形: 角を丸くする 4">
              <a:extLst>
                <a:ext uri="{FF2B5EF4-FFF2-40B4-BE49-F238E27FC236}">
                  <a16:creationId xmlns:a16="http://schemas.microsoft.com/office/drawing/2014/main" id="{C7DBE7C0-D3C0-4626-5A70-00F081D3C0BB}"/>
                </a:ext>
              </a:extLst>
            </p:cNvPr>
            <p:cNvSpPr/>
            <p:nvPr/>
          </p:nvSpPr>
          <p:spPr>
            <a:xfrm>
              <a:off x="969180" y="1628775"/>
              <a:ext cx="4680000" cy="623967"/>
            </a:xfrm>
            <a:prstGeom prst="roundRect">
              <a:avLst>
                <a:gd name="adj" fmla="val 7810"/>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lang="en" altLang="ja-JP" sz="1500" dirty="0">
                  <a:solidFill>
                    <a:schemeClr val="tx1"/>
                  </a:solidFill>
                  <a:latin typeface="+mn-ea"/>
                </a:rPr>
                <a:t>IT</a:t>
              </a:r>
              <a:r>
                <a:rPr lang="ja-JP" altLang="en-US" sz="1500">
                  <a:solidFill>
                    <a:schemeClr val="tx1"/>
                  </a:solidFill>
                  <a:latin typeface="+mn-ea"/>
                </a:rPr>
                <a:t>運用を「人に依存する固定費・リスク」から</a:t>
              </a:r>
              <a:br>
                <a:rPr lang="en-US" altLang="ja-JP" sz="1500" dirty="0">
                  <a:solidFill>
                    <a:schemeClr val="tx1"/>
                  </a:solidFill>
                  <a:latin typeface="+mn-ea"/>
                </a:rPr>
              </a:br>
              <a:r>
                <a:rPr lang="ja-JP" altLang="en-US" sz="1500">
                  <a:solidFill>
                    <a:schemeClr val="tx1"/>
                  </a:solidFill>
                  <a:latin typeface="+mn-ea"/>
                </a:rPr>
                <a:t>「仕組みで統制された変動費・経営基盤」へ構造転換する</a:t>
              </a:r>
            </a:p>
          </p:txBody>
        </p:sp>
        <p:sp>
          <p:nvSpPr>
            <p:cNvPr id="27" name="四角形: 角を丸くする 4">
              <a:extLst>
                <a:ext uri="{FF2B5EF4-FFF2-40B4-BE49-F238E27FC236}">
                  <a16:creationId xmlns:a16="http://schemas.microsoft.com/office/drawing/2014/main" id="{1F4B6768-B63B-31FE-E262-07E78CFA310F}"/>
                </a:ext>
              </a:extLst>
            </p:cNvPr>
            <p:cNvSpPr/>
            <p:nvPr/>
          </p:nvSpPr>
          <p:spPr>
            <a:xfrm>
              <a:off x="5729701" y="1628775"/>
              <a:ext cx="1366811" cy="252000"/>
            </a:xfrm>
            <a:prstGeom prst="roundRect">
              <a:avLst>
                <a:gd name="adj" fmla="val 781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mn-ea"/>
                </a:rPr>
                <a:t>加えて</a:t>
              </a:r>
            </a:p>
          </p:txBody>
        </p:sp>
        <p:sp>
          <p:nvSpPr>
            <p:cNvPr id="30" name="四角形: 角を丸くする 4">
              <a:extLst>
                <a:ext uri="{FF2B5EF4-FFF2-40B4-BE49-F238E27FC236}">
                  <a16:creationId xmlns:a16="http://schemas.microsoft.com/office/drawing/2014/main" id="{2C4946FC-153B-220E-9277-EE176B7568CB}"/>
                </a:ext>
              </a:extLst>
            </p:cNvPr>
            <p:cNvSpPr/>
            <p:nvPr/>
          </p:nvSpPr>
          <p:spPr>
            <a:xfrm>
              <a:off x="7177038" y="1628775"/>
              <a:ext cx="4680000" cy="623967"/>
            </a:xfrm>
            <a:prstGeom prst="roundRect">
              <a:avLst>
                <a:gd name="adj" fmla="val 7810"/>
              </a:avLst>
            </a:prstGeom>
            <a:solidFill>
              <a:schemeClr val="accent6">
                <a:lumMod val="20000"/>
                <a:lumOff val="8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lang="ja-JP" altLang="en-US" sz="1500" dirty="0">
                  <a:solidFill>
                    <a:schemeClr val="tx1"/>
                  </a:solidFill>
                  <a:latin typeface="+mn-ea"/>
                </a:rPr>
                <a:t>社員の定常業務を削り、</a:t>
              </a:r>
              <a:endParaRPr lang="en-US" altLang="ja-JP" sz="1500" dirty="0">
                <a:solidFill>
                  <a:schemeClr val="tx1"/>
                </a:solidFill>
                <a:latin typeface="+mn-ea"/>
              </a:endParaRPr>
            </a:p>
            <a:p>
              <a:pPr algn="ctr"/>
              <a:r>
                <a:rPr lang="en-US" altLang="ja-JP" sz="1500" dirty="0">
                  <a:solidFill>
                    <a:schemeClr val="tx1"/>
                  </a:solidFill>
                  <a:latin typeface="+mn-ea"/>
                </a:rPr>
                <a:t>DX</a:t>
              </a:r>
              <a:r>
                <a:rPr lang="ja-JP" altLang="en-US" sz="1500" dirty="0">
                  <a:solidFill>
                    <a:schemeClr val="tx1"/>
                  </a:solidFill>
                  <a:latin typeface="+mn-ea"/>
                </a:rPr>
                <a:t>推進の成長投資へ振り向ける</a:t>
              </a:r>
            </a:p>
          </p:txBody>
        </p:sp>
        <p:sp>
          <p:nvSpPr>
            <p:cNvPr id="32" name="四角形: 角を丸くする 4">
              <a:extLst>
                <a:ext uri="{FF2B5EF4-FFF2-40B4-BE49-F238E27FC236}">
                  <a16:creationId xmlns:a16="http://schemas.microsoft.com/office/drawing/2014/main" id="{2931C8B0-1749-24E6-739B-25FE31638EDD}"/>
                </a:ext>
              </a:extLst>
            </p:cNvPr>
            <p:cNvSpPr/>
            <p:nvPr/>
          </p:nvSpPr>
          <p:spPr>
            <a:xfrm>
              <a:off x="969180" y="2276775"/>
              <a:ext cx="10887856" cy="252000"/>
            </a:xfrm>
            <a:prstGeom prst="roundRect">
              <a:avLst>
                <a:gd name="adj" fmla="val 7810"/>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lang="en-US" altLang="ja-JP" sz="1400" dirty="0">
                  <a:solidFill>
                    <a:srgbClr val="008D2E"/>
                  </a:solidFill>
                  <a:latin typeface="+mn-ea"/>
                </a:rPr>
                <a:t>※</a:t>
              </a:r>
              <a:r>
                <a:rPr lang="ja-JP" altLang="en-US" sz="1400" dirty="0">
                  <a:solidFill>
                    <a:schemeClr val="tx1"/>
                  </a:solidFill>
                  <a:latin typeface="+mn-ea"/>
                </a:rPr>
                <a:t>位置づけは運用改善ではなく、運用の仕組み全体の転換</a:t>
              </a:r>
            </a:p>
          </p:txBody>
        </p:sp>
        <p:cxnSp>
          <p:nvCxnSpPr>
            <p:cNvPr id="144" name="直線矢印コネクタ 143">
              <a:extLst>
                <a:ext uri="{FF2B5EF4-FFF2-40B4-BE49-F238E27FC236}">
                  <a16:creationId xmlns:a16="http://schemas.microsoft.com/office/drawing/2014/main" id="{798833A1-A598-C5A7-4EC9-1521DC139FDB}"/>
                </a:ext>
              </a:extLst>
            </p:cNvPr>
            <p:cNvCxnSpPr>
              <a:stCxn id="26" idx="3"/>
              <a:endCxn id="30" idx="1"/>
            </p:cNvCxnSpPr>
            <p:nvPr/>
          </p:nvCxnSpPr>
          <p:spPr>
            <a:xfrm>
              <a:off x="5649180" y="1940759"/>
              <a:ext cx="1527858" cy="0"/>
            </a:xfrm>
            <a:prstGeom prst="straightConnector1">
              <a:avLst/>
            </a:prstGeom>
            <a:ln w="25400">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7" name="グラフィックス 6" descr="右向き指示マーク 単色塗りつぶし">
              <a:extLst>
                <a:ext uri="{FF2B5EF4-FFF2-40B4-BE49-F238E27FC236}">
                  <a16:creationId xmlns:a16="http://schemas.microsoft.com/office/drawing/2014/main" id="{BB582086-6AE1-D13D-38EF-AB7297EE0B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1523" y="6099291"/>
              <a:ext cx="144000" cy="144000"/>
            </a:xfrm>
            <a:prstGeom prst="rect">
              <a:avLst/>
            </a:prstGeom>
          </p:spPr>
        </p:pic>
        <p:pic>
          <p:nvPicPr>
            <p:cNvPr id="10" name="グラフィックス 9" descr="リサーチ 単色塗りつぶし">
              <a:extLst>
                <a:ext uri="{FF2B5EF4-FFF2-40B4-BE49-F238E27FC236}">
                  <a16:creationId xmlns:a16="http://schemas.microsoft.com/office/drawing/2014/main" id="{935C0C05-7252-1530-734D-7C4414EB5BD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11523" y="4464737"/>
              <a:ext cx="144000" cy="144000"/>
            </a:xfrm>
            <a:prstGeom prst="rect">
              <a:avLst/>
            </a:prstGeom>
          </p:spPr>
        </p:pic>
        <p:pic>
          <p:nvPicPr>
            <p:cNvPr id="14" name="グラフィックス 13" descr="ライト: オン 単色塗りつぶし">
              <a:extLst>
                <a:ext uri="{FF2B5EF4-FFF2-40B4-BE49-F238E27FC236}">
                  <a16:creationId xmlns:a16="http://schemas.microsoft.com/office/drawing/2014/main" id="{CDEA8CD4-8DF2-A84A-6A1F-9853C9C1042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1523" y="4202045"/>
              <a:ext cx="144000" cy="144000"/>
            </a:xfrm>
            <a:prstGeom prst="rect">
              <a:avLst/>
            </a:prstGeom>
          </p:spPr>
        </p:pic>
        <p:pic>
          <p:nvPicPr>
            <p:cNvPr id="15" name="グラフィックス 14" descr="リサーチ 単色塗りつぶし">
              <a:extLst>
                <a:ext uri="{FF2B5EF4-FFF2-40B4-BE49-F238E27FC236}">
                  <a16:creationId xmlns:a16="http://schemas.microsoft.com/office/drawing/2014/main" id="{6B6EB12E-A678-6F17-BFC3-F503D819C39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11523" y="4991409"/>
              <a:ext cx="144000" cy="144000"/>
            </a:xfrm>
            <a:prstGeom prst="rect">
              <a:avLst/>
            </a:prstGeom>
          </p:spPr>
        </p:pic>
        <p:pic>
          <p:nvPicPr>
            <p:cNvPr id="16" name="グラフィックス 15" descr="ライト: オン 単色塗りつぶし">
              <a:extLst>
                <a:ext uri="{FF2B5EF4-FFF2-40B4-BE49-F238E27FC236}">
                  <a16:creationId xmlns:a16="http://schemas.microsoft.com/office/drawing/2014/main" id="{6C1B13F1-0EA5-7F0B-BD20-369DE435969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1523" y="4746497"/>
              <a:ext cx="144000" cy="144000"/>
            </a:xfrm>
            <a:prstGeom prst="rect">
              <a:avLst/>
            </a:prstGeom>
          </p:spPr>
        </p:pic>
        <p:pic>
          <p:nvPicPr>
            <p:cNvPr id="18" name="グラフィックス 17" descr="リサーチ 単色塗りつぶし">
              <a:extLst>
                <a:ext uri="{FF2B5EF4-FFF2-40B4-BE49-F238E27FC236}">
                  <a16:creationId xmlns:a16="http://schemas.microsoft.com/office/drawing/2014/main" id="{38B8A888-41A1-715D-9A4A-D2A7E0E9159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11523" y="5535056"/>
              <a:ext cx="144000" cy="144000"/>
            </a:xfrm>
            <a:prstGeom prst="rect">
              <a:avLst/>
            </a:prstGeom>
          </p:spPr>
        </p:pic>
        <p:pic>
          <p:nvPicPr>
            <p:cNvPr id="19" name="グラフィックス 18" descr="ライト: オン 単色塗りつぶし">
              <a:extLst>
                <a:ext uri="{FF2B5EF4-FFF2-40B4-BE49-F238E27FC236}">
                  <a16:creationId xmlns:a16="http://schemas.microsoft.com/office/drawing/2014/main" id="{61E11E1E-3860-8229-4649-F3DF8422FF8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1523" y="5277444"/>
              <a:ext cx="144000" cy="144000"/>
            </a:xfrm>
            <a:prstGeom prst="rect">
              <a:avLst/>
            </a:prstGeom>
          </p:spPr>
        </p:pic>
        <p:pic>
          <p:nvPicPr>
            <p:cNvPr id="21" name="グラフィックス 20" descr="ライト: オン 単色塗りつぶし">
              <a:extLst>
                <a:ext uri="{FF2B5EF4-FFF2-40B4-BE49-F238E27FC236}">
                  <a16:creationId xmlns:a16="http://schemas.microsoft.com/office/drawing/2014/main" id="{5FFB1448-7984-C3DA-74E3-11F2916515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1523" y="5866402"/>
              <a:ext cx="144000" cy="144000"/>
            </a:xfrm>
            <a:prstGeom prst="rect">
              <a:avLst/>
            </a:prstGeom>
          </p:spPr>
        </p:pic>
        <p:grpSp>
          <p:nvGrpSpPr>
            <p:cNvPr id="64" name="グループ化 63">
              <a:extLst>
                <a:ext uri="{FF2B5EF4-FFF2-40B4-BE49-F238E27FC236}">
                  <a16:creationId xmlns:a16="http://schemas.microsoft.com/office/drawing/2014/main" id="{335262D9-AD45-5A37-ECBF-E269ECC043F7}"/>
                </a:ext>
              </a:extLst>
            </p:cNvPr>
            <p:cNvGrpSpPr/>
            <p:nvPr/>
          </p:nvGrpSpPr>
          <p:grpSpPr>
            <a:xfrm>
              <a:off x="6816483" y="4217945"/>
              <a:ext cx="877" cy="2076294"/>
              <a:chOff x="6816483" y="4217945"/>
              <a:chExt cx="877" cy="2076294"/>
            </a:xfrm>
          </p:grpSpPr>
          <p:grpSp>
            <p:nvGrpSpPr>
              <p:cNvPr id="31" name="グループ化 30">
                <a:extLst>
                  <a:ext uri="{FF2B5EF4-FFF2-40B4-BE49-F238E27FC236}">
                    <a16:creationId xmlns:a16="http://schemas.microsoft.com/office/drawing/2014/main" id="{FF9F2A82-9CF6-93C0-BC49-4A91CF592292}"/>
                  </a:ext>
                </a:extLst>
              </p:cNvPr>
              <p:cNvGrpSpPr/>
              <p:nvPr/>
            </p:nvGrpSpPr>
            <p:grpSpPr>
              <a:xfrm>
                <a:off x="6817360" y="4217945"/>
                <a:ext cx="0" cy="474470"/>
                <a:chOff x="6863080" y="4217945"/>
                <a:chExt cx="0" cy="474470"/>
              </a:xfrm>
            </p:grpSpPr>
            <p:cxnSp>
              <p:nvCxnSpPr>
                <p:cNvPr id="28" name="直線コネクタ 27">
                  <a:extLst>
                    <a:ext uri="{FF2B5EF4-FFF2-40B4-BE49-F238E27FC236}">
                      <a16:creationId xmlns:a16="http://schemas.microsoft.com/office/drawing/2014/main" id="{F79D2614-09DD-4DCD-7712-2D86887A36F3}"/>
                    </a:ext>
                  </a:extLst>
                </p:cNvPr>
                <p:cNvCxnSpPr>
                  <a:cxnSpLocks/>
                </p:cNvCxnSpPr>
                <p:nvPr/>
              </p:nvCxnSpPr>
              <p:spPr>
                <a:xfrm>
                  <a:off x="6863080" y="4217945"/>
                  <a:ext cx="0" cy="1281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83325FFD-1C78-6B15-EE8D-360FC0AF3238}"/>
                    </a:ext>
                  </a:extLst>
                </p:cNvPr>
                <p:cNvCxnSpPr>
                  <a:cxnSpLocks/>
                </p:cNvCxnSpPr>
                <p:nvPr/>
              </p:nvCxnSpPr>
              <p:spPr>
                <a:xfrm>
                  <a:off x="6863080" y="4382815"/>
                  <a:ext cx="0" cy="3096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3" name="グループ化 32">
                <a:extLst>
                  <a:ext uri="{FF2B5EF4-FFF2-40B4-BE49-F238E27FC236}">
                    <a16:creationId xmlns:a16="http://schemas.microsoft.com/office/drawing/2014/main" id="{B60E9D31-D7F3-C00A-0413-51EA37E55D83}"/>
                  </a:ext>
                </a:extLst>
              </p:cNvPr>
              <p:cNvGrpSpPr/>
              <p:nvPr/>
            </p:nvGrpSpPr>
            <p:grpSpPr>
              <a:xfrm>
                <a:off x="6816483" y="4748453"/>
                <a:ext cx="0" cy="474470"/>
                <a:chOff x="6863080" y="4217945"/>
                <a:chExt cx="0" cy="474470"/>
              </a:xfrm>
            </p:grpSpPr>
            <p:cxnSp>
              <p:nvCxnSpPr>
                <p:cNvPr id="34" name="直線コネクタ 33">
                  <a:extLst>
                    <a:ext uri="{FF2B5EF4-FFF2-40B4-BE49-F238E27FC236}">
                      <a16:creationId xmlns:a16="http://schemas.microsoft.com/office/drawing/2014/main" id="{0616AC8A-C975-DB22-6DA0-72DA072559A5}"/>
                    </a:ext>
                  </a:extLst>
                </p:cNvPr>
                <p:cNvCxnSpPr>
                  <a:cxnSpLocks/>
                </p:cNvCxnSpPr>
                <p:nvPr/>
              </p:nvCxnSpPr>
              <p:spPr>
                <a:xfrm>
                  <a:off x="6863080" y="4217945"/>
                  <a:ext cx="0" cy="1281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107DF819-A8D8-1029-AAA2-0C30327A40CE}"/>
                    </a:ext>
                  </a:extLst>
                </p:cNvPr>
                <p:cNvCxnSpPr>
                  <a:cxnSpLocks/>
                </p:cNvCxnSpPr>
                <p:nvPr/>
              </p:nvCxnSpPr>
              <p:spPr>
                <a:xfrm>
                  <a:off x="6863080" y="4382815"/>
                  <a:ext cx="0" cy="3096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6" name="グループ化 35">
                <a:extLst>
                  <a:ext uri="{FF2B5EF4-FFF2-40B4-BE49-F238E27FC236}">
                    <a16:creationId xmlns:a16="http://schemas.microsoft.com/office/drawing/2014/main" id="{244FB605-1677-4355-EAD5-6D2BEB81BC4F}"/>
                  </a:ext>
                </a:extLst>
              </p:cNvPr>
              <p:cNvGrpSpPr/>
              <p:nvPr/>
            </p:nvGrpSpPr>
            <p:grpSpPr>
              <a:xfrm>
                <a:off x="6816483" y="5283953"/>
                <a:ext cx="0" cy="474470"/>
                <a:chOff x="6863080" y="4217945"/>
                <a:chExt cx="0" cy="474470"/>
              </a:xfrm>
            </p:grpSpPr>
            <p:cxnSp>
              <p:nvCxnSpPr>
                <p:cNvPr id="37" name="直線コネクタ 36">
                  <a:extLst>
                    <a:ext uri="{FF2B5EF4-FFF2-40B4-BE49-F238E27FC236}">
                      <a16:creationId xmlns:a16="http://schemas.microsoft.com/office/drawing/2014/main" id="{B3A31181-D68C-217A-1F69-518464F5E4D2}"/>
                    </a:ext>
                  </a:extLst>
                </p:cNvPr>
                <p:cNvCxnSpPr>
                  <a:cxnSpLocks/>
                </p:cNvCxnSpPr>
                <p:nvPr/>
              </p:nvCxnSpPr>
              <p:spPr>
                <a:xfrm>
                  <a:off x="6863080" y="4217945"/>
                  <a:ext cx="0" cy="1281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6B323FA8-046C-FC71-7475-101D5105CE7C}"/>
                    </a:ext>
                  </a:extLst>
                </p:cNvPr>
                <p:cNvCxnSpPr>
                  <a:cxnSpLocks/>
                </p:cNvCxnSpPr>
                <p:nvPr/>
              </p:nvCxnSpPr>
              <p:spPr>
                <a:xfrm>
                  <a:off x="6863080" y="4382815"/>
                  <a:ext cx="0" cy="3096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0" name="直線コネクタ 59">
                <a:extLst>
                  <a:ext uri="{FF2B5EF4-FFF2-40B4-BE49-F238E27FC236}">
                    <a16:creationId xmlns:a16="http://schemas.microsoft.com/office/drawing/2014/main" id="{6E677F96-044C-68BB-8D0F-F5B847A84D2E}"/>
                  </a:ext>
                </a:extLst>
              </p:cNvPr>
              <p:cNvCxnSpPr>
                <a:cxnSpLocks/>
              </p:cNvCxnSpPr>
              <p:nvPr/>
            </p:nvCxnSpPr>
            <p:spPr>
              <a:xfrm>
                <a:off x="6816483" y="5816629"/>
                <a:ext cx="0" cy="2340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CF5E3176-3BA0-0F5E-03B5-62CA2E164436}"/>
                  </a:ext>
                </a:extLst>
              </p:cNvPr>
              <p:cNvCxnSpPr>
                <a:cxnSpLocks/>
              </p:cNvCxnSpPr>
              <p:nvPr/>
            </p:nvCxnSpPr>
            <p:spPr>
              <a:xfrm>
                <a:off x="6816483" y="6060239"/>
                <a:ext cx="0" cy="234000"/>
              </a:xfrm>
              <a:prstGeom prst="line">
                <a:avLst/>
              </a:prstGeom>
              <a:ln w="9525">
                <a:solidFill>
                  <a:srgbClr val="C5E0B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グループ化 88">
              <a:extLst>
                <a:ext uri="{FF2B5EF4-FFF2-40B4-BE49-F238E27FC236}">
                  <a16:creationId xmlns:a16="http://schemas.microsoft.com/office/drawing/2014/main" id="{31CFFA90-A09C-A724-FBE6-5611B159ED16}"/>
                </a:ext>
              </a:extLst>
            </p:cNvPr>
            <p:cNvGrpSpPr/>
            <p:nvPr/>
          </p:nvGrpSpPr>
          <p:grpSpPr>
            <a:xfrm>
              <a:off x="9466065" y="3868078"/>
              <a:ext cx="2341182" cy="167887"/>
              <a:chOff x="9466065" y="3868078"/>
              <a:chExt cx="2341182" cy="167887"/>
            </a:xfrm>
          </p:grpSpPr>
          <p:sp>
            <p:nvSpPr>
              <p:cNvPr id="95" name="正方形/長方形 94">
                <a:extLst>
                  <a:ext uri="{FF2B5EF4-FFF2-40B4-BE49-F238E27FC236}">
                    <a16:creationId xmlns:a16="http://schemas.microsoft.com/office/drawing/2014/main" id="{7606F6B8-68AA-4EA4-DB2E-B84F1B4D389F}"/>
                  </a:ext>
                </a:extLst>
              </p:cNvPr>
              <p:cNvSpPr/>
              <p:nvPr/>
            </p:nvSpPr>
            <p:spPr>
              <a:xfrm>
                <a:off x="9626785" y="3868078"/>
                <a:ext cx="385584" cy="167887"/>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ja-JP" altLang="en-US" sz="900" dirty="0">
                    <a:solidFill>
                      <a:schemeClr val="tx1"/>
                    </a:solidFill>
                    <a:latin typeface="+mn-ea"/>
                  </a:rPr>
                  <a:t>メリット</a:t>
                </a:r>
              </a:p>
            </p:txBody>
          </p:sp>
          <p:sp>
            <p:nvSpPr>
              <p:cNvPr id="96" name="正方形/長方形 95">
                <a:extLst>
                  <a:ext uri="{FF2B5EF4-FFF2-40B4-BE49-F238E27FC236}">
                    <a16:creationId xmlns:a16="http://schemas.microsoft.com/office/drawing/2014/main" id="{8D2E2E4E-80A7-20C3-4415-CC8F41F80B99}"/>
                  </a:ext>
                </a:extLst>
              </p:cNvPr>
              <p:cNvSpPr/>
              <p:nvPr/>
            </p:nvSpPr>
            <p:spPr>
              <a:xfrm>
                <a:off x="10189809" y="3868078"/>
                <a:ext cx="720000" cy="167887"/>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ja-JP" altLang="en-US" sz="900" dirty="0">
                    <a:solidFill>
                      <a:schemeClr val="tx1"/>
                    </a:solidFill>
                    <a:latin typeface="+mn-ea"/>
                  </a:rPr>
                  <a:t>構造的課題</a:t>
                </a:r>
              </a:p>
            </p:txBody>
          </p:sp>
          <p:sp>
            <p:nvSpPr>
              <p:cNvPr id="97" name="正方形/長方形 96">
                <a:extLst>
                  <a:ext uri="{FF2B5EF4-FFF2-40B4-BE49-F238E27FC236}">
                    <a16:creationId xmlns:a16="http://schemas.microsoft.com/office/drawing/2014/main" id="{E7E7035A-2453-E801-D9E5-5CF7DBAF06A5}"/>
                  </a:ext>
                </a:extLst>
              </p:cNvPr>
              <p:cNvSpPr/>
              <p:nvPr/>
            </p:nvSpPr>
            <p:spPr>
              <a:xfrm>
                <a:off x="11087247" y="3868078"/>
                <a:ext cx="720000" cy="167887"/>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ja-JP" altLang="en-US" sz="900" dirty="0">
                    <a:solidFill>
                      <a:schemeClr val="tx1"/>
                    </a:solidFill>
                    <a:latin typeface="+mn-ea"/>
                  </a:rPr>
                  <a:t>留意点・リスク</a:t>
                </a:r>
              </a:p>
            </p:txBody>
          </p:sp>
          <p:pic>
            <p:nvPicPr>
              <p:cNvPr id="65" name="グラフィックス 64" descr="右向き指示マーク 単色塗りつぶし">
                <a:extLst>
                  <a:ext uri="{FF2B5EF4-FFF2-40B4-BE49-F238E27FC236}">
                    <a16:creationId xmlns:a16="http://schemas.microsoft.com/office/drawing/2014/main" id="{4B0E091A-DCBF-6868-251D-6BF5572E98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26529" y="3880021"/>
                <a:ext cx="144000" cy="144000"/>
              </a:xfrm>
              <a:prstGeom prst="rect">
                <a:avLst/>
              </a:prstGeom>
            </p:spPr>
          </p:pic>
          <p:pic>
            <p:nvPicPr>
              <p:cNvPr id="78" name="グラフィックス 77" descr="リサーチ 単色塗りつぶし">
                <a:extLst>
                  <a:ext uri="{FF2B5EF4-FFF2-40B4-BE49-F238E27FC236}">
                    <a16:creationId xmlns:a16="http://schemas.microsoft.com/office/drawing/2014/main" id="{8D0C77CC-1C4F-400C-F308-2A52C1DAD2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29089" y="3880021"/>
                <a:ext cx="144000" cy="144000"/>
              </a:xfrm>
              <a:prstGeom prst="rect">
                <a:avLst/>
              </a:prstGeom>
            </p:spPr>
          </p:pic>
          <p:pic>
            <p:nvPicPr>
              <p:cNvPr id="80" name="グラフィックス 79" descr="ライト: オン 単色塗りつぶし">
                <a:extLst>
                  <a:ext uri="{FF2B5EF4-FFF2-40B4-BE49-F238E27FC236}">
                    <a16:creationId xmlns:a16="http://schemas.microsoft.com/office/drawing/2014/main" id="{57EA2554-43C5-3F3A-2353-DCCB500B075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466065" y="3880021"/>
                <a:ext cx="144000" cy="144000"/>
              </a:xfrm>
              <a:prstGeom prst="rect">
                <a:avLst/>
              </a:prstGeom>
            </p:spPr>
          </p:pic>
        </p:grpSp>
      </p:grpSp>
    </p:spTree>
    <p:extLst>
      <p:ext uri="{BB962C8B-B14F-4D97-AF65-F5344CB8AC3E}">
        <p14:creationId xmlns:p14="http://schemas.microsoft.com/office/powerpoint/2010/main" val="649748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211BE-C670-8E6A-7120-F74FE99D7A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110119-C423-8C70-B4DE-F1CF180C3C7D}"/>
              </a:ext>
            </a:extLst>
          </p:cNvPr>
          <p:cNvSpPr>
            <a:spLocks noGrp="1"/>
          </p:cNvSpPr>
          <p:nvPr>
            <p:ph type="title"/>
          </p:nvPr>
        </p:nvSpPr>
        <p:spPr>
          <a:xfrm>
            <a:off x="334963" y="1"/>
            <a:ext cx="11522075" cy="914400"/>
          </a:xfrm>
        </p:spPr>
        <p:txBody>
          <a:bodyPr/>
          <a:lstStyle/>
          <a:p>
            <a:r>
              <a:rPr kumimoji="1" lang="ja-JP" altLang="en-US" dirty="0"/>
              <a:t>参考</a:t>
            </a:r>
            <a:r>
              <a:rPr kumimoji="1" lang="en-US" altLang="ja-JP" dirty="0"/>
              <a:t>)</a:t>
            </a:r>
            <a:br>
              <a:rPr kumimoji="1" lang="en-US" altLang="ja-JP" dirty="0"/>
            </a:br>
            <a:r>
              <a:rPr kumimoji="1" lang="ja-JP" altLang="en-US" dirty="0"/>
              <a:t>近しい大手消費財・製造メーカーにおける</a:t>
            </a:r>
            <a:r>
              <a:rPr kumimoji="1" lang="en" altLang="ja-JP" dirty="0"/>
              <a:t>外部委託</a:t>
            </a:r>
            <a:r>
              <a:rPr kumimoji="1" lang="ja-JP" altLang="en-US" dirty="0"/>
              <a:t>構造転換事例</a:t>
            </a:r>
          </a:p>
        </p:txBody>
      </p:sp>
      <p:sp>
        <p:nvSpPr>
          <p:cNvPr id="3" name="テキスト プレースホルダー 2">
            <a:extLst>
              <a:ext uri="{FF2B5EF4-FFF2-40B4-BE49-F238E27FC236}">
                <a16:creationId xmlns:a16="http://schemas.microsoft.com/office/drawing/2014/main" id="{EB494027-D2DF-F638-1349-CACF9EEDC999}"/>
              </a:ext>
            </a:extLst>
          </p:cNvPr>
          <p:cNvSpPr>
            <a:spLocks noGrp="1"/>
          </p:cNvSpPr>
          <p:nvPr>
            <p:ph type="body" sz="quarter" idx="13"/>
          </p:nvPr>
        </p:nvSpPr>
        <p:spPr/>
        <p:txBody>
          <a:bodyPr/>
          <a:lstStyle/>
          <a:p>
            <a:pPr>
              <a:spcBef>
                <a:spcPts val="400"/>
              </a:spcBef>
            </a:pPr>
            <a:r>
              <a:rPr kumimoji="1" lang="ja-JP" altLang="en-US" sz="1800" dirty="0"/>
              <a:t>大手消費財・製造メーカー各社においても自前運用の限界から「実行の外部</a:t>
            </a:r>
            <a:r>
              <a:rPr kumimoji="1" lang="en" altLang="ja-JP" sz="1800" dirty="0"/>
              <a:t>委託</a:t>
            </a:r>
            <a:r>
              <a:rPr kumimoji="1" lang="ja-JP" altLang="en-US" sz="1800" dirty="0"/>
              <a:t>化」と「グループ会社による統制強化」を</a:t>
            </a:r>
            <a:br>
              <a:rPr kumimoji="1" lang="en-US" altLang="ja-JP" sz="1800" dirty="0"/>
            </a:br>
            <a:r>
              <a:rPr kumimoji="1" lang="ja-JP" altLang="en-US" sz="1800" dirty="0"/>
              <a:t>組み合わせた運用の仕組みへの転換が、当たり前の取り組みとなっている</a:t>
            </a:r>
          </a:p>
        </p:txBody>
      </p:sp>
      <p:grpSp>
        <p:nvGrpSpPr>
          <p:cNvPr id="9" name="グループ化 8">
            <a:extLst>
              <a:ext uri="{FF2B5EF4-FFF2-40B4-BE49-F238E27FC236}">
                <a16:creationId xmlns:a16="http://schemas.microsoft.com/office/drawing/2014/main" id="{D798B02B-94AF-A0E0-6C9E-25417821D034}"/>
              </a:ext>
            </a:extLst>
          </p:cNvPr>
          <p:cNvGrpSpPr/>
          <p:nvPr/>
        </p:nvGrpSpPr>
        <p:grpSpPr>
          <a:xfrm>
            <a:off x="334964" y="1628775"/>
            <a:ext cx="11522074" cy="4675656"/>
            <a:chOff x="334964" y="1628775"/>
            <a:chExt cx="11522074" cy="4675656"/>
          </a:xfrm>
        </p:grpSpPr>
        <p:sp>
          <p:nvSpPr>
            <p:cNvPr id="5" name="正方形/長方形 4">
              <a:extLst>
                <a:ext uri="{FF2B5EF4-FFF2-40B4-BE49-F238E27FC236}">
                  <a16:creationId xmlns:a16="http://schemas.microsoft.com/office/drawing/2014/main" id="{56D68A86-71DD-7EC9-E362-693929E3BCA2}"/>
                </a:ext>
              </a:extLst>
            </p:cNvPr>
            <p:cNvSpPr/>
            <p:nvPr/>
          </p:nvSpPr>
          <p:spPr>
            <a:xfrm>
              <a:off x="1181814" y="1693426"/>
              <a:ext cx="2520000" cy="488565"/>
            </a:xfrm>
            <a:prstGeom prst="rect">
              <a:avLst/>
            </a:prstGeom>
            <a:solidFill>
              <a:srgbClr val="008D2E">
                <a:alpha val="7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bg1"/>
                  </a:solidFill>
                  <a:latin typeface="+mn-ea"/>
                </a:rPr>
                <a:t>花王株式会社</a:t>
              </a:r>
              <a:endParaRPr lang="ja-JP" altLang="en-US" sz="1100">
                <a:solidFill>
                  <a:schemeClr val="bg1"/>
                </a:solidFill>
                <a:latin typeface="+mn-ea"/>
              </a:endParaRPr>
            </a:p>
          </p:txBody>
        </p:sp>
        <p:sp>
          <p:nvSpPr>
            <p:cNvPr id="6" name="円/楕円 5">
              <a:extLst>
                <a:ext uri="{FF2B5EF4-FFF2-40B4-BE49-F238E27FC236}">
                  <a16:creationId xmlns:a16="http://schemas.microsoft.com/office/drawing/2014/main" id="{532D9BFA-C047-67D2-777C-E696D7ED9D21}"/>
                </a:ext>
              </a:extLst>
            </p:cNvPr>
            <p:cNvSpPr>
              <a:spLocks noChangeAspect="1"/>
            </p:cNvSpPr>
            <p:nvPr/>
          </p:nvSpPr>
          <p:spPr>
            <a:xfrm>
              <a:off x="1055814" y="1628775"/>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1</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sp>
          <p:nvSpPr>
            <p:cNvPr id="8" name="正方形/長方形 7">
              <a:extLst>
                <a:ext uri="{FF2B5EF4-FFF2-40B4-BE49-F238E27FC236}">
                  <a16:creationId xmlns:a16="http://schemas.microsoft.com/office/drawing/2014/main" id="{9941DBB7-EB50-44FF-E840-04865ABD4888}"/>
                </a:ext>
              </a:extLst>
            </p:cNvPr>
            <p:cNvSpPr/>
            <p:nvPr/>
          </p:nvSpPr>
          <p:spPr>
            <a:xfrm>
              <a:off x="1181813" y="2228039"/>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ctr" anchorCtr="0" forceAA="0" compatLnSpc="1">
              <a:prstTxWarp prst="textNoShape">
                <a:avLst/>
              </a:prstTxWarp>
              <a:noAutofit/>
            </a:bodyPr>
            <a:lstStyle/>
            <a:p>
              <a:pPr indent="11113" algn="ctr">
                <a:spcAft>
                  <a:spcPts val="200"/>
                </a:spcAft>
              </a:pPr>
              <a:r>
                <a:rPr lang="en" altLang="ja-JP" sz="1200" dirty="0">
                  <a:solidFill>
                    <a:srgbClr val="008D2E"/>
                  </a:solidFill>
                  <a:latin typeface="+mn-ea"/>
                </a:rPr>
                <a:t>IT</a:t>
              </a:r>
              <a:r>
                <a:rPr lang="ja-JP" altLang="en-US" sz="1200">
                  <a:solidFill>
                    <a:srgbClr val="008D2E"/>
                  </a:solidFill>
                  <a:latin typeface="+mn-ea"/>
                </a:rPr>
                <a:t>サービスデスク業務の</a:t>
              </a:r>
              <a:r>
                <a:rPr lang="en" altLang="ja-JP" sz="1200" dirty="0">
                  <a:solidFill>
                    <a:srgbClr val="008D2E"/>
                  </a:solidFill>
                  <a:latin typeface="+mn-ea"/>
                </a:rPr>
                <a:t>委託</a:t>
              </a:r>
              <a:r>
                <a:rPr lang="ja-JP" altLang="en-US" sz="1200">
                  <a:solidFill>
                    <a:srgbClr val="008D2E"/>
                  </a:solidFill>
                  <a:latin typeface="+mn-ea"/>
                </a:rPr>
                <a:t>化と</a:t>
              </a:r>
              <a:br>
                <a:rPr lang="en-US" altLang="ja-JP" sz="1200" dirty="0">
                  <a:solidFill>
                    <a:srgbClr val="008D2E"/>
                  </a:solidFill>
                  <a:latin typeface="+mn-ea"/>
                </a:rPr>
              </a:br>
              <a:r>
                <a:rPr lang="ja-JP" altLang="en-US" sz="1200">
                  <a:solidFill>
                    <a:srgbClr val="008D2E"/>
                  </a:solidFill>
                  <a:latin typeface="+mn-ea"/>
                </a:rPr>
                <a:t>ナレッジ統合</a:t>
              </a:r>
              <a:endParaRPr lang="ja-JP" altLang="en-US" sz="1200">
                <a:solidFill>
                  <a:schemeClr val="tx1"/>
                </a:solidFill>
                <a:latin typeface="+mn-ea"/>
              </a:endParaRPr>
            </a:p>
          </p:txBody>
        </p:sp>
        <p:sp>
          <p:nvSpPr>
            <p:cNvPr id="10" name="正方形/長方形 9">
              <a:extLst>
                <a:ext uri="{FF2B5EF4-FFF2-40B4-BE49-F238E27FC236}">
                  <a16:creationId xmlns:a16="http://schemas.microsoft.com/office/drawing/2014/main" id="{70D10843-E41A-4C43-26B6-0365B8319A9E}"/>
                </a:ext>
              </a:extLst>
            </p:cNvPr>
            <p:cNvSpPr/>
            <p:nvPr/>
          </p:nvSpPr>
          <p:spPr>
            <a:xfrm>
              <a:off x="334964" y="2716136"/>
              <a:ext cx="684000" cy="792000"/>
            </a:xfrm>
            <a:prstGeom prst="rect">
              <a:avLst/>
            </a:prstGeom>
            <a:solidFill>
              <a:schemeClr val="bg1">
                <a:lumMod val="85000"/>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tx1"/>
                  </a:solidFill>
                  <a:latin typeface="+mn-ea"/>
                </a:rPr>
                <a:t>背景・</a:t>
              </a:r>
              <a:br>
                <a:rPr lang="en-US" altLang="ja-JP" sz="1300" dirty="0">
                  <a:solidFill>
                    <a:schemeClr val="tx1"/>
                  </a:solidFill>
                  <a:latin typeface="+mn-ea"/>
                </a:rPr>
              </a:br>
              <a:r>
                <a:rPr lang="ja-JP" altLang="en-US" sz="1300">
                  <a:solidFill>
                    <a:schemeClr val="tx1"/>
                  </a:solidFill>
                  <a:latin typeface="+mn-ea"/>
                </a:rPr>
                <a:t>課題</a:t>
              </a:r>
              <a:endParaRPr lang="en-US" altLang="ja-JP" sz="1300" dirty="0">
                <a:solidFill>
                  <a:schemeClr val="tx1"/>
                </a:solidFill>
                <a:latin typeface="+mn-ea"/>
              </a:endParaRPr>
            </a:p>
          </p:txBody>
        </p:sp>
        <p:sp>
          <p:nvSpPr>
            <p:cNvPr id="11" name="正方形/長方形 10">
              <a:extLst>
                <a:ext uri="{FF2B5EF4-FFF2-40B4-BE49-F238E27FC236}">
                  <a16:creationId xmlns:a16="http://schemas.microsoft.com/office/drawing/2014/main" id="{526BFDA0-517E-907B-EE47-F380EADEBBB6}"/>
                </a:ext>
              </a:extLst>
            </p:cNvPr>
            <p:cNvSpPr/>
            <p:nvPr/>
          </p:nvSpPr>
          <p:spPr>
            <a:xfrm>
              <a:off x="334964" y="3600235"/>
              <a:ext cx="684000" cy="971999"/>
            </a:xfrm>
            <a:prstGeom prst="rect">
              <a:avLst/>
            </a:prstGeom>
            <a:solidFill>
              <a:schemeClr val="bg1">
                <a:lumMod val="85000"/>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tx1"/>
                  </a:solidFill>
                  <a:latin typeface="+mn-ea"/>
                </a:rPr>
                <a:t>施策</a:t>
              </a:r>
              <a:r>
                <a:rPr lang="en-US" altLang="ja-JP" sz="1300" dirty="0">
                  <a:solidFill>
                    <a:schemeClr val="tx1"/>
                  </a:solidFill>
                  <a:latin typeface="+mn-ea"/>
                </a:rPr>
                <a:t>(</a:t>
              </a:r>
              <a:r>
                <a:rPr lang="en" altLang="ja-JP" sz="1300" dirty="0">
                  <a:solidFill>
                    <a:schemeClr val="tx1"/>
                  </a:solidFill>
                  <a:latin typeface="+mn-ea"/>
                </a:rPr>
                <a:t>委託</a:t>
              </a:r>
              <a:r>
                <a:rPr lang="ja-JP" altLang="en-US" sz="1300">
                  <a:solidFill>
                    <a:schemeClr val="tx1"/>
                  </a:solidFill>
                  <a:latin typeface="+mn-ea"/>
                </a:rPr>
                <a:t>化</a:t>
              </a:r>
              <a:r>
                <a:rPr lang="en-US" altLang="ja-JP" sz="1300" dirty="0">
                  <a:solidFill>
                    <a:schemeClr val="tx1"/>
                  </a:solidFill>
                  <a:latin typeface="+mn-ea"/>
                </a:rPr>
                <a:t>)</a:t>
              </a:r>
            </a:p>
          </p:txBody>
        </p:sp>
        <p:sp>
          <p:nvSpPr>
            <p:cNvPr id="14" name="正方形/長方形 13">
              <a:extLst>
                <a:ext uri="{FF2B5EF4-FFF2-40B4-BE49-F238E27FC236}">
                  <a16:creationId xmlns:a16="http://schemas.microsoft.com/office/drawing/2014/main" id="{14CED84F-F651-F87A-BBF6-F2B994172FDC}"/>
                </a:ext>
              </a:extLst>
            </p:cNvPr>
            <p:cNvSpPr/>
            <p:nvPr/>
          </p:nvSpPr>
          <p:spPr>
            <a:xfrm>
              <a:off x="334964" y="4664333"/>
              <a:ext cx="684000" cy="1151999"/>
            </a:xfrm>
            <a:prstGeom prst="rect">
              <a:avLst/>
            </a:prstGeom>
            <a:solidFill>
              <a:schemeClr val="bg1">
                <a:lumMod val="85000"/>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tx1"/>
                  </a:solidFill>
                  <a:latin typeface="+mn-ea"/>
                </a:rPr>
                <a:t>成果</a:t>
              </a:r>
              <a:endParaRPr lang="en-US" altLang="ja-JP" sz="1300" dirty="0">
                <a:solidFill>
                  <a:schemeClr val="tx1"/>
                </a:solidFill>
                <a:latin typeface="+mn-ea"/>
              </a:endParaRPr>
            </a:p>
          </p:txBody>
        </p:sp>
        <p:sp>
          <p:nvSpPr>
            <p:cNvPr id="15" name="正方形/長方形 14">
              <a:extLst>
                <a:ext uri="{FF2B5EF4-FFF2-40B4-BE49-F238E27FC236}">
                  <a16:creationId xmlns:a16="http://schemas.microsoft.com/office/drawing/2014/main" id="{9FAF9F6B-C2B0-73D1-F2B0-1C3DC0EE052E}"/>
                </a:ext>
              </a:extLst>
            </p:cNvPr>
            <p:cNvSpPr/>
            <p:nvPr/>
          </p:nvSpPr>
          <p:spPr>
            <a:xfrm>
              <a:off x="334964" y="5908431"/>
              <a:ext cx="684000" cy="395999"/>
            </a:xfrm>
            <a:prstGeom prst="rect">
              <a:avLst/>
            </a:prstGeom>
            <a:solidFill>
              <a:schemeClr val="bg1">
                <a:lumMod val="85000"/>
                <a:alpha val="40000"/>
              </a:scheme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tx1"/>
                  </a:solidFill>
                  <a:latin typeface="+mn-ea"/>
                </a:rPr>
                <a:t>出典・</a:t>
              </a:r>
              <a:r>
                <a:rPr lang="en" altLang="ja-JP" sz="1300" dirty="0">
                  <a:solidFill>
                    <a:schemeClr val="tx1"/>
                  </a:solidFill>
                  <a:latin typeface="+mn-ea"/>
                </a:rPr>
                <a:t>URL</a:t>
              </a:r>
              <a:endParaRPr lang="en-US" altLang="ja-JP" sz="1300" dirty="0">
                <a:solidFill>
                  <a:schemeClr val="tx1"/>
                </a:solidFill>
                <a:latin typeface="+mn-ea"/>
              </a:endParaRPr>
            </a:p>
          </p:txBody>
        </p:sp>
        <p:sp>
          <p:nvSpPr>
            <p:cNvPr id="18" name="正方形/長方形 17">
              <a:extLst>
                <a:ext uri="{FF2B5EF4-FFF2-40B4-BE49-F238E27FC236}">
                  <a16:creationId xmlns:a16="http://schemas.microsoft.com/office/drawing/2014/main" id="{C6A47954-D4AF-E193-5822-665BEA706738}"/>
                </a:ext>
              </a:extLst>
            </p:cNvPr>
            <p:cNvSpPr/>
            <p:nvPr/>
          </p:nvSpPr>
          <p:spPr>
            <a:xfrm>
              <a:off x="3878122" y="1693426"/>
              <a:ext cx="2520000" cy="488565"/>
            </a:xfrm>
            <a:prstGeom prst="rect">
              <a:avLst/>
            </a:prstGeom>
            <a:solidFill>
              <a:srgbClr val="008D2E">
                <a:alpha val="7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bg1"/>
                  </a:solidFill>
                  <a:latin typeface="+mn-ea"/>
                </a:rPr>
                <a:t>株式会社資生堂</a:t>
              </a:r>
              <a:endParaRPr lang="ja-JP" altLang="en-US" sz="1100">
                <a:solidFill>
                  <a:schemeClr val="bg1"/>
                </a:solidFill>
                <a:latin typeface="+mn-ea"/>
              </a:endParaRPr>
            </a:p>
          </p:txBody>
        </p:sp>
        <p:sp>
          <p:nvSpPr>
            <p:cNvPr id="19" name="円/楕円 18">
              <a:extLst>
                <a:ext uri="{FF2B5EF4-FFF2-40B4-BE49-F238E27FC236}">
                  <a16:creationId xmlns:a16="http://schemas.microsoft.com/office/drawing/2014/main" id="{F19C6CB6-4CF9-3F88-4113-8FC0EA5F16ED}"/>
                </a:ext>
              </a:extLst>
            </p:cNvPr>
            <p:cNvSpPr>
              <a:spLocks noChangeAspect="1"/>
            </p:cNvSpPr>
            <p:nvPr/>
          </p:nvSpPr>
          <p:spPr>
            <a:xfrm>
              <a:off x="3752122" y="1628775"/>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2</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sp>
          <p:nvSpPr>
            <p:cNvPr id="20" name="正方形/長方形 19">
              <a:extLst>
                <a:ext uri="{FF2B5EF4-FFF2-40B4-BE49-F238E27FC236}">
                  <a16:creationId xmlns:a16="http://schemas.microsoft.com/office/drawing/2014/main" id="{0EB2A3FE-30F2-0F39-7DDD-61E605DFC3F4}"/>
                </a:ext>
              </a:extLst>
            </p:cNvPr>
            <p:cNvSpPr/>
            <p:nvPr/>
          </p:nvSpPr>
          <p:spPr>
            <a:xfrm>
              <a:off x="3878121" y="2228038"/>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200">
                  <a:solidFill>
                    <a:srgbClr val="008D2E"/>
                  </a:solidFill>
                  <a:latin typeface="+mn-ea"/>
                </a:rPr>
                <a:t>店舗・システムサポートヘルプデスクの</a:t>
              </a:r>
              <a:r>
                <a:rPr lang="en" altLang="ja-JP" sz="1200" dirty="0">
                  <a:solidFill>
                    <a:srgbClr val="008D2E"/>
                  </a:solidFill>
                  <a:latin typeface="+mn-ea"/>
                </a:rPr>
                <a:t>委託</a:t>
              </a:r>
              <a:r>
                <a:rPr lang="ja-JP" altLang="en-US" sz="1200">
                  <a:solidFill>
                    <a:srgbClr val="008D2E"/>
                  </a:solidFill>
                  <a:latin typeface="+mn-ea"/>
                </a:rPr>
                <a:t>化</a:t>
              </a:r>
              <a:endParaRPr lang="ja-JP" altLang="en-US" sz="1200">
                <a:solidFill>
                  <a:schemeClr val="tx1"/>
                </a:solidFill>
                <a:latin typeface="+mn-ea"/>
              </a:endParaRPr>
            </a:p>
          </p:txBody>
        </p:sp>
        <p:sp>
          <p:nvSpPr>
            <p:cNvPr id="21" name="正方形/長方形 20">
              <a:extLst>
                <a:ext uri="{FF2B5EF4-FFF2-40B4-BE49-F238E27FC236}">
                  <a16:creationId xmlns:a16="http://schemas.microsoft.com/office/drawing/2014/main" id="{2E313FD4-B977-E5FC-C07A-830D35EA9686}"/>
                </a:ext>
              </a:extLst>
            </p:cNvPr>
            <p:cNvSpPr/>
            <p:nvPr/>
          </p:nvSpPr>
          <p:spPr>
            <a:xfrm>
              <a:off x="6586153" y="1693426"/>
              <a:ext cx="2520000" cy="488565"/>
            </a:xfrm>
            <a:prstGeom prst="rect">
              <a:avLst/>
            </a:prstGeom>
            <a:solidFill>
              <a:srgbClr val="008D2E">
                <a:alpha val="7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300" dirty="0">
                  <a:solidFill>
                    <a:schemeClr val="bg1"/>
                  </a:solidFill>
                  <a:latin typeface="+mn-ea"/>
                </a:rPr>
                <a:t>味の素株式会社</a:t>
              </a:r>
              <a:br>
                <a:rPr lang="en-US" altLang="ja-JP" sz="1300" dirty="0">
                  <a:solidFill>
                    <a:schemeClr val="bg1"/>
                  </a:solidFill>
                  <a:latin typeface="+mn-ea"/>
                </a:rPr>
              </a:br>
              <a:r>
                <a:rPr lang="en-US" altLang="ja-JP" sz="1000" dirty="0">
                  <a:solidFill>
                    <a:schemeClr val="bg1"/>
                  </a:solidFill>
                  <a:latin typeface="+mn-ea"/>
                </a:rPr>
                <a:t>(</a:t>
              </a:r>
              <a:r>
                <a:rPr lang="ja-JP" altLang="en-US" sz="1000" dirty="0">
                  <a:solidFill>
                    <a:schemeClr val="bg1"/>
                  </a:solidFill>
                  <a:latin typeface="+mn-ea"/>
                </a:rPr>
                <a:t>味の素フィナンシャル・ソリューションズ</a:t>
              </a:r>
              <a:r>
                <a:rPr lang="en-US" altLang="ja-JP" sz="1000" dirty="0">
                  <a:solidFill>
                    <a:schemeClr val="bg1"/>
                  </a:solidFill>
                  <a:latin typeface="+mn-ea"/>
                </a:rPr>
                <a:t>)</a:t>
              </a:r>
              <a:endParaRPr lang="ja-JP" altLang="en-US" sz="1000" dirty="0">
                <a:solidFill>
                  <a:schemeClr val="bg1"/>
                </a:solidFill>
                <a:latin typeface="+mn-ea"/>
              </a:endParaRPr>
            </a:p>
          </p:txBody>
        </p:sp>
        <p:sp>
          <p:nvSpPr>
            <p:cNvPr id="25" name="円/楕円 24">
              <a:extLst>
                <a:ext uri="{FF2B5EF4-FFF2-40B4-BE49-F238E27FC236}">
                  <a16:creationId xmlns:a16="http://schemas.microsoft.com/office/drawing/2014/main" id="{0E45854A-986A-5AFF-EF03-DE7FB676F656}"/>
                </a:ext>
              </a:extLst>
            </p:cNvPr>
            <p:cNvSpPr>
              <a:spLocks noChangeAspect="1"/>
            </p:cNvSpPr>
            <p:nvPr/>
          </p:nvSpPr>
          <p:spPr>
            <a:xfrm>
              <a:off x="6460153" y="1628775"/>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3</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sp>
          <p:nvSpPr>
            <p:cNvPr id="28" name="正方形/長方形 27">
              <a:extLst>
                <a:ext uri="{FF2B5EF4-FFF2-40B4-BE49-F238E27FC236}">
                  <a16:creationId xmlns:a16="http://schemas.microsoft.com/office/drawing/2014/main" id="{6C2E8D02-DB8B-F41C-97D8-ED8696095414}"/>
                </a:ext>
              </a:extLst>
            </p:cNvPr>
            <p:cNvSpPr/>
            <p:nvPr/>
          </p:nvSpPr>
          <p:spPr>
            <a:xfrm>
              <a:off x="6586152" y="2228038"/>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200">
                  <a:solidFill>
                    <a:srgbClr val="008D2E"/>
                  </a:solidFill>
                  <a:latin typeface="+mn-ea"/>
                </a:rPr>
                <a:t>グループ定型運用の</a:t>
              </a:r>
              <a:r>
                <a:rPr lang="en" altLang="ja-JP" sz="1200" dirty="0">
                  <a:solidFill>
                    <a:srgbClr val="008D2E"/>
                  </a:solidFill>
                  <a:latin typeface="+mn-ea"/>
                </a:rPr>
                <a:t>委託</a:t>
              </a:r>
              <a:r>
                <a:rPr lang="ja-JP" altLang="en" sz="1200">
                  <a:solidFill>
                    <a:srgbClr val="008D2E"/>
                  </a:solidFill>
                  <a:latin typeface="+mn-ea"/>
                </a:rPr>
                <a:t>・</a:t>
              </a:r>
              <a:r>
                <a:rPr lang="en" altLang="ja-JP" sz="1200" dirty="0">
                  <a:solidFill>
                    <a:srgbClr val="008D2E"/>
                  </a:solidFill>
                  <a:latin typeface="+mn-ea"/>
                </a:rPr>
                <a:t>AI</a:t>
              </a:r>
              <a:r>
                <a:rPr lang="ja-JP" altLang="en-US" sz="1200">
                  <a:solidFill>
                    <a:srgbClr val="008D2E"/>
                  </a:solidFill>
                  <a:latin typeface="+mn-ea"/>
                </a:rPr>
                <a:t>統合</a:t>
              </a:r>
            </a:p>
          </p:txBody>
        </p:sp>
        <p:sp>
          <p:nvSpPr>
            <p:cNvPr id="29" name="正方形/長方形 28">
              <a:extLst>
                <a:ext uri="{FF2B5EF4-FFF2-40B4-BE49-F238E27FC236}">
                  <a16:creationId xmlns:a16="http://schemas.microsoft.com/office/drawing/2014/main" id="{5A613FD8-DC0E-316A-D5B9-45BC7A571214}"/>
                </a:ext>
              </a:extLst>
            </p:cNvPr>
            <p:cNvSpPr/>
            <p:nvPr/>
          </p:nvSpPr>
          <p:spPr>
            <a:xfrm>
              <a:off x="9337038" y="1693426"/>
              <a:ext cx="2520000" cy="488565"/>
            </a:xfrm>
            <a:prstGeom prst="rect">
              <a:avLst/>
            </a:prstGeom>
            <a:solidFill>
              <a:srgbClr val="008D2E">
                <a:alpha val="7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300">
                  <a:solidFill>
                    <a:schemeClr val="bg1"/>
                  </a:solidFill>
                  <a:latin typeface="+mn-ea"/>
                </a:rPr>
                <a:t>サントリーホールディングス株式会社</a:t>
              </a:r>
              <a:endParaRPr lang="ja-JP" altLang="en-US" sz="1100">
                <a:solidFill>
                  <a:schemeClr val="bg1"/>
                </a:solidFill>
                <a:latin typeface="+mn-ea"/>
              </a:endParaRPr>
            </a:p>
          </p:txBody>
        </p:sp>
        <p:sp>
          <p:nvSpPr>
            <p:cNvPr id="31" name="円/楕円 30">
              <a:extLst>
                <a:ext uri="{FF2B5EF4-FFF2-40B4-BE49-F238E27FC236}">
                  <a16:creationId xmlns:a16="http://schemas.microsoft.com/office/drawing/2014/main" id="{996672A3-CAAD-C6C5-7B55-70DECF9D7265}"/>
                </a:ext>
              </a:extLst>
            </p:cNvPr>
            <p:cNvSpPr>
              <a:spLocks noChangeAspect="1"/>
            </p:cNvSpPr>
            <p:nvPr/>
          </p:nvSpPr>
          <p:spPr>
            <a:xfrm>
              <a:off x="9211038" y="1628775"/>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mn-ea"/>
                  <a:cs typeface="+mn-cs"/>
                </a:rPr>
                <a:t>4</a:t>
              </a: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sp>
          <p:nvSpPr>
            <p:cNvPr id="33" name="正方形/長方形 32">
              <a:extLst>
                <a:ext uri="{FF2B5EF4-FFF2-40B4-BE49-F238E27FC236}">
                  <a16:creationId xmlns:a16="http://schemas.microsoft.com/office/drawing/2014/main" id="{2B6C8D56-F181-2E51-E7F7-E56837712628}"/>
                </a:ext>
              </a:extLst>
            </p:cNvPr>
            <p:cNvSpPr/>
            <p:nvPr/>
          </p:nvSpPr>
          <p:spPr>
            <a:xfrm>
              <a:off x="9337037" y="2228038"/>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ctr" anchorCtr="0" forceAA="0" compatLnSpc="1">
              <a:prstTxWarp prst="textNoShape">
                <a:avLst/>
              </a:prstTxWarp>
              <a:noAutofit/>
            </a:bodyPr>
            <a:lstStyle/>
            <a:p>
              <a:pPr indent="11113" algn="ctr">
                <a:spcAft>
                  <a:spcPts val="200"/>
                </a:spcAft>
              </a:pPr>
              <a:r>
                <a:rPr lang="ja-JP" altLang="en-US" sz="1200">
                  <a:solidFill>
                    <a:srgbClr val="008D2E"/>
                  </a:solidFill>
                  <a:latin typeface="+mn-ea"/>
                </a:rPr>
                <a:t>グループシェアード統制</a:t>
              </a:r>
              <a:br>
                <a:rPr lang="en-US" altLang="ja-JP" sz="1200" dirty="0">
                  <a:solidFill>
                    <a:srgbClr val="008D2E"/>
                  </a:solidFill>
                  <a:latin typeface="+mn-ea"/>
                </a:rPr>
              </a:br>
              <a:r>
                <a:rPr lang="en-US" altLang="ja-JP" sz="1200" dirty="0">
                  <a:solidFill>
                    <a:srgbClr val="008D2E"/>
                  </a:solidFill>
                  <a:latin typeface="+mn-ea"/>
                </a:rPr>
                <a:t>× </a:t>
              </a:r>
              <a:r>
                <a:rPr lang="ja-JP" altLang="en-US" sz="1200">
                  <a:solidFill>
                    <a:srgbClr val="008D2E"/>
                  </a:solidFill>
                  <a:latin typeface="+mn-ea"/>
                </a:rPr>
                <a:t>外部</a:t>
              </a:r>
              <a:r>
                <a:rPr lang="en" altLang="ja-JP" sz="1200" dirty="0">
                  <a:solidFill>
                    <a:srgbClr val="008D2E"/>
                  </a:solidFill>
                  <a:latin typeface="+mn-ea"/>
                </a:rPr>
                <a:t>委託</a:t>
              </a:r>
              <a:r>
                <a:rPr lang="ja-JP" altLang="en-US" sz="1200">
                  <a:solidFill>
                    <a:srgbClr val="008D2E"/>
                  </a:solidFill>
                  <a:latin typeface="+mn-ea"/>
                </a:rPr>
                <a:t>活用</a:t>
              </a:r>
            </a:p>
          </p:txBody>
        </p:sp>
        <p:sp>
          <p:nvSpPr>
            <p:cNvPr id="34" name="正方形/長方形 33">
              <a:extLst>
                <a:ext uri="{FF2B5EF4-FFF2-40B4-BE49-F238E27FC236}">
                  <a16:creationId xmlns:a16="http://schemas.microsoft.com/office/drawing/2014/main" id="{1899269A-4A2F-2BC5-A10E-A3808A7DAFB1}"/>
                </a:ext>
              </a:extLst>
            </p:cNvPr>
            <p:cNvSpPr/>
            <p:nvPr/>
          </p:nvSpPr>
          <p:spPr>
            <a:xfrm>
              <a:off x="1181813" y="2716137"/>
              <a:ext cx="252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dirty="0">
                  <a:solidFill>
                    <a:schemeClr val="tx1"/>
                  </a:solidFill>
                  <a:latin typeface="+mn-ea"/>
                </a:rPr>
                <a:t>各領域・システムごとに問い合わせ窓口が分断・属人化しており、社内サポート</a:t>
              </a:r>
              <a:br>
                <a:rPr lang="en-US" altLang="ja-JP" sz="1200" dirty="0">
                  <a:solidFill>
                    <a:schemeClr val="tx1"/>
                  </a:solidFill>
                  <a:latin typeface="+mn-ea"/>
                </a:rPr>
              </a:br>
              <a:r>
                <a:rPr lang="ja-JP" altLang="en-US" sz="1200" dirty="0">
                  <a:solidFill>
                    <a:schemeClr val="tx1"/>
                  </a:solidFill>
                  <a:latin typeface="+mn-ea"/>
                </a:rPr>
                <a:t>対応によって情報システム部門の工数が圧迫されていた</a:t>
              </a:r>
            </a:p>
          </p:txBody>
        </p:sp>
        <p:sp>
          <p:nvSpPr>
            <p:cNvPr id="35" name="正方形/長方形 34">
              <a:extLst>
                <a:ext uri="{FF2B5EF4-FFF2-40B4-BE49-F238E27FC236}">
                  <a16:creationId xmlns:a16="http://schemas.microsoft.com/office/drawing/2014/main" id="{BD1C0A89-C9CE-1C2C-8669-6E263444684A}"/>
                </a:ext>
              </a:extLst>
            </p:cNvPr>
            <p:cNvSpPr/>
            <p:nvPr/>
          </p:nvSpPr>
          <p:spPr>
            <a:xfrm>
              <a:off x="3878121" y="2716136"/>
              <a:ext cx="252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国内拠点・店舗カウンターのサポート</a:t>
              </a:r>
              <a:br>
                <a:rPr lang="en-US" altLang="ja-JP" sz="1200" dirty="0">
                  <a:solidFill>
                    <a:schemeClr val="tx1"/>
                  </a:solidFill>
                  <a:latin typeface="+mn-ea"/>
                </a:rPr>
              </a:br>
              <a:r>
                <a:rPr lang="ja-JP" altLang="en-US" sz="1200">
                  <a:solidFill>
                    <a:schemeClr val="tx1"/>
                  </a:solidFill>
                  <a:latin typeface="+mn-ea"/>
                </a:rPr>
                <a:t>システム運用において、対応業務の</a:t>
              </a:r>
              <a:br>
                <a:rPr lang="en-US" altLang="ja-JP" sz="1200" dirty="0">
                  <a:solidFill>
                    <a:schemeClr val="tx1"/>
                  </a:solidFill>
                  <a:latin typeface="+mn-ea"/>
                </a:rPr>
              </a:br>
              <a:r>
                <a:rPr lang="ja-JP" altLang="en-US" sz="1200">
                  <a:solidFill>
                    <a:schemeClr val="tx1"/>
                  </a:solidFill>
                  <a:latin typeface="+mn-ea"/>
                </a:rPr>
                <a:t>属人化と運用コストの高止まりが常態化していた</a:t>
              </a:r>
            </a:p>
          </p:txBody>
        </p:sp>
        <p:sp>
          <p:nvSpPr>
            <p:cNvPr id="36" name="正方形/長方形 35">
              <a:extLst>
                <a:ext uri="{FF2B5EF4-FFF2-40B4-BE49-F238E27FC236}">
                  <a16:creationId xmlns:a16="http://schemas.microsoft.com/office/drawing/2014/main" id="{1A49F63A-FA6C-5ECB-B148-903F7395AAD0}"/>
                </a:ext>
              </a:extLst>
            </p:cNvPr>
            <p:cNvSpPr/>
            <p:nvPr/>
          </p:nvSpPr>
          <p:spPr>
            <a:xfrm>
              <a:off x="6586152" y="2716136"/>
              <a:ext cx="252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dirty="0">
                  <a:solidFill>
                    <a:schemeClr val="tx1"/>
                  </a:solidFill>
                  <a:latin typeface="+mn-ea"/>
                </a:rPr>
                <a:t>グループ各社で業務プロセスが分散・</a:t>
              </a:r>
              <a:br>
                <a:rPr lang="en-US" altLang="ja-JP" sz="1200" dirty="0">
                  <a:solidFill>
                    <a:schemeClr val="tx1"/>
                  </a:solidFill>
                  <a:latin typeface="+mn-ea"/>
                </a:rPr>
              </a:br>
              <a:r>
                <a:rPr lang="ja-JP" altLang="en-US" sz="1200" dirty="0">
                  <a:solidFill>
                    <a:schemeClr val="tx1"/>
                  </a:solidFill>
                  <a:latin typeface="+mn-ea"/>
                </a:rPr>
                <a:t>属人化しており、社内人材が日常の</a:t>
              </a:r>
              <a:br>
                <a:rPr lang="en-US" altLang="ja-JP" sz="1200" dirty="0">
                  <a:solidFill>
                    <a:schemeClr val="tx1"/>
                  </a:solidFill>
                  <a:latin typeface="+mn-ea"/>
                </a:rPr>
              </a:br>
              <a:r>
                <a:rPr lang="ja-JP" altLang="en-US" sz="1200" dirty="0">
                  <a:solidFill>
                    <a:schemeClr val="tx1"/>
                  </a:solidFill>
                  <a:latin typeface="+mn-ea"/>
                </a:rPr>
                <a:t>オペレーション処理に拘束され、</a:t>
              </a:r>
              <a:br>
                <a:rPr lang="en-US" altLang="ja-JP" sz="1200" dirty="0">
                  <a:solidFill>
                    <a:schemeClr val="tx1"/>
                  </a:solidFill>
                  <a:latin typeface="+mn-ea"/>
                </a:rPr>
              </a:br>
              <a:r>
                <a:rPr lang="ja-JP" altLang="en-US" sz="1200" dirty="0">
                  <a:solidFill>
                    <a:schemeClr val="tx1"/>
                  </a:solidFill>
                  <a:latin typeface="+mn-ea"/>
                </a:rPr>
                <a:t>経営参謀・企画機能が低下</a:t>
              </a:r>
            </a:p>
          </p:txBody>
        </p:sp>
        <p:sp>
          <p:nvSpPr>
            <p:cNvPr id="37" name="正方形/長方形 36">
              <a:extLst>
                <a:ext uri="{FF2B5EF4-FFF2-40B4-BE49-F238E27FC236}">
                  <a16:creationId xmlns:a16="http://schemas.microsoft.com/office/drawing/2014/main" id="{FE0A9A67-7E00-8D28-8B88-3BCE82FF1462}"/>
                </a:ext>
              </a:extLst>
            </p:cNvPr>
            <p:cNvSpPr/>
            <p:nvPr/>
          </p:nvSpPr>
          <p:spPr>
            <a:xfrm>
              <a:off x="9337037" y="2716136"/>
              <a:ext cx="252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各事業会社の個別システム運用によるブラックボックス化と、自前主義による</a:t>
              </a:r>
              <a:br>
                <a:rPr lang="en-US" altLang="ja-JP" sz="1200" dirty="0">
                  <a:solidFill>
                    <a:schemeClr val="tx1"/>
                  </a:solidFill>
                  <a:latin typeface="+mn-ea"/>
                </a:rPr>
              </a:br>
              <a:r>
                <a:rPr lang="en" altLang="ja-JP" sz="1200" dirty="0">
                  <a:solidFill>
                    <a:schemeClr val="tx1"/>
                  </a:solidFill>
                  <a:latin typeface="+mn-ea"/>
                </a:rPr>
                <a:t>IT</a:t>
              </a:r>
              <a:r>
                <a:rPr lang="ja-JP" altLang="en-US" sz="1200">
                  <a:solidFill>
                    <a:schemeClr val="tx1"/>
                  </a:solidFill>
                  <a:latin typeface="+mn-ea"/>
                </a:rPr>
                <a:t>運用人材の獲得・維持の限界</a:t>
              </a:r>
            </a:p>
          </p:txBody>
        </p:sp>
        <p:sp>
          <p:nvSpPr>
            <p:cNvPr id="38" name="正方形/長方形 37">
              <a:extLst>
                <a:ext uri="{FF2B5EF4-FFF2-40B4-BE49-F238E27FC236}">
                  <a16:creationId xmlns:a16="http://schemas.microsoft.com/office/drawing/2014/main" id="{29C8A22B-C635-E0E7-4A03-61EBDC1814F5}"/>
                </a:ext>
              </a:extLst>
            </p:cNvPr>
            <p:cNvSpPr/>
            <p:nvPr/>
          </p:nvSpPr>
          <p:spPr>
            <a:xfrm>
              <a:off x="1181813" y="3600235"/>
              <a:ext cx="2520000" cy="97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共有インフラ等の社内問合せ窓口を</a:t>
              </a:r>
              <a:br>
                <a:rPr lang="en-US" altLang="ja-JP" sz="1200" dirty="0">
                  <a:solidFill>
                    <a:schemeClr val="tx1"/>
                  </a:solidFill>
                  <a:latin typeface="+mn-ea"/>
                </a:rPr>
              </a:br>
              <a:r>
                <a:rPr lang="ja-JP" altLang="en-US" sz="1200">
                  <a:solidFill>
                    <a:schemeClr val="tx1"/>
                  </a:solidFill>
                  <a:latin typeface="+mn-ea"/>
                </a:rPr>
                <a:t>統合し、</a:t>
              </a:r>
              <a:r>
                <a:rPr lang="en" altLang="ja-JP" sz="1200" dirty="0">
                  <a:solidFill>
                    <a:schemeClr val="tx1"/>
                  </a:solidFill>
                  <a:latin typeface="+mn-ea"/>
                </a:rPr>
                <a:t>ServiceNow</a:t>
              </a:r>
              <a:r>
                <a:rPr lang="ja-JP" altLang="en-US" sz="1200">
                  <a:solidFill>
                    <a:schemeClr val="tx1"/>
                  </a:solidFill>
                  <a:latin typeface="+mn-ea"/>
                </a:rPr>
                <a:t>基盤を活用した外部委託サービス</a:t>
              </a:r>
              <a:r>
                <a:rPr lang="en-US" altLang="ja-JP" sz="1200" dirty="0">
                  <a:solidFill>
                    <a:schemeClr val="tx1"/>
                  </a:solidFill>
                  <a:latin typeface="+mn-ea"/>
                </a:rPr>
                <a:t> (</a:t>
              </a:r>
              <a:r>
                <a:rPr lang="en" altLang="ja-JP" sz="1200" dirty="0">
                  <a:solidFill>
                    <a:schemeClr val="tx1"/>
                  </a:solidFill>
                  <a:latin typeface="+mn-ea"/>
                </a:rPr>
                <a:t>JBS</a:t>
              </a:r>
              <a:r>
                <a:rPr lang="ja-JP" altLang="en-US" sz="1200">
                  <a:solidFill>
                    <a:schemeClr val="tx1"/>
                  </a:solidFill>
                  <a:latin typeface="+mn-ea"/>
                </a:rPr>
                <a:t>提供</a:t>
              </a:r>
              <a:r>
                <a:rPr lang="en-US" altLang="ja-JP" sz="1200" dirty="0">
                  <a:solidFill>
                    <a:schemeClr val="tx1"/>
                  </a:solidFill>
                  <a:latin typeface="+mn-ea"/>
                </a:rPr>
                <a:t>) </a:t>
              </a:r>
              <a:r>
                <a:rPr lang="ja-JP" altLang="en-US" sz="1200">
                  <a:solidFill>
                    <a:schemeClr val="tx1"/>
                  </a:solidFill>
                  <a:latin typeface="+mn-ea"/>
                </a:rPr>
                <a:t>へ移行。ナレッジ共有とセルフサービス化を推進</a:t>
              </a:r>
            </a:p>
            <a:p>
              <a:pPr indent="11113">
                <a:spcAft>
                  <a:spcPts val="200"/>
                </a:spcAft>
              </a:pPr>
              <a:endParaRPr lang="ja-JP" altLang="en-US" sz="1200">
                <a:solidFill>
                  <a:schemeClr val="tx1"/>
                </a:solidFill>
                <a:latin typeface="+mn-ea"/>
              </a:endParaRPr>
            </a:p>
          </p:txBody>
        </p:sp>
        <p:sp>
          <p:nvSpPr>
            <p:cNvPr id="41" name="正方形/長方形 40">
              <a:extLst>
                <a:ext uri="{FF2B5EF4-FFF2-40B4-BE49-F238E27FC236}">
                  <a16:creationId xmlns:a16="http://schemas.microsoft.com/office/drawing/2014/main" id="{AC214371-B00C-4C5C-B85C-741C815E0DC4}"/>
                </a:ext>
              </a:extLst>
            </p:cNvPr>
            <p:cNvSpPr/>
            <p:nvPr/>
          </p:nvSpPr>
          <p:spPr>
            <a:xfrm>
              <a:off x="1181813" y="4664333"/>
              <a:ext cx="2520000" cy="115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dirty="0">
                  <a:solidFill>
                    <a:schemeClr val="tx1"/>
                  </a:solidFill>
                  <a:latin typeface="+mn-ea"/>
                </a:rPr>
                <a:t>利用者の自己解決率が大幅に向上し、問合せ対応工数を削減。情シス社員が定常対応から解放され、戦略的</a:t>
              </a:r>
              <a:r>
                <a:rPr lang="en" altLang="ja-JP" sz="1200" dirty="0">
                  <a:solidFill>
                    <a:schemeClr val="tx1"/>
                  </a:solidFill>
                  <a:latin typeface="+mn-ea"/>
                </a:rPr>
                <a:t>IT</a:t>
              </a:r>
              <a:r>
                <a:rPr lang="ja-JP" altLang="en-US" sz="1200" dirty="0">
                  <a:solidFill>
                    <a:schemeClr val="tx1"/>
                  </a:solidFill>
                  <a:latin typeface="+mn-ea"/>
                </a:rPr>
                <a:t>企画</a:t>
              </a:r>
              <a:r>
                <a:rPr lang="en-US" altLang="ja-JP" sz="1200" dirty="0">
                  <a:solidFill>
                    <a:schemeClr val="tx1"/>
                  </a:solidFill>
                  <a:latin typeface="+mn-ea"/>
                </a:rPr>
                <a:t> (</a:t>
              </a:r>
              <a:r>
                <a:rPr lang="ja-JP" altLang="en-US" sz="1200" dirty="0">
                  <a:solidFill>
                    <a:schemeClr val="tx1"/>
                  </a:solidFill>
                  <a:latin typeface="+mn-ea"/>
                </a:rPr>
                <a:t>コア業務</a:t>
              </a:r>
              <a:r>
                <a:rPr lang="en-US" altLang="ja-JP" sz="1200" dirty="0">
                  <a:solidFill>
                    <a:schemeClr val="tx1"/>
                  </a:solidFill>
                  <a:latin typeface="+mn-ea"/>
                </a:rPr>
                <a:t>) </a:t>
              </a:r>
              <a:r>
                <a:rPr lang="ja-JP" altLang="en-US" sz="1200" dirty="0">
                  <a:solidFill>
                    <a:schemeClr val="tx1"/>
                  </a:solidFill>
                  <a:latin typeface="+mn-ea"/>
                </a:rPr>
                <a:t>へ注力できる体制を確立</a:t>
              </a:r>
            </a:p>
          </p:txBody>
        </p:sp>
        <p:sp>
          <p:nvSpPr>
            <p:cNvPr id="60" name="正方形/長方形 59">
              <a:extLst>
                <a:ext uri="{FF2B5EF4-FFF2-40B4-BE49-F238E27FC236}">
                  <a16:creationId xmlns:a16="http://schemas.microsoft.com/office/drawing/2014/main" id="{4885926C-2485-2AC3-CF51-49F2BCBFCE3B}"/>
                </a:ext>
              </a:extLst>
            </p:cNvPr>
            <p:cNvSpPr/>
            <p:nvPr/>
          </p:nvSpPr>
          <p:spPr>
            <a:xfrm>
              <a:off x="1181813" y="5908431"/>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lvl="0"/>
              <a:r>
                <a:rPr lang="ja-JP" altLang="ja-JP" sz="1200" dirty="0">
                  <a:solidFill>
                    <a:srgbClr val="008D2E"/>
                  </a:solidFill>
                  <a:latin typeface="+mn-ea"/>
                  <a:hlinkClick r:id="rId3">
                    <a:extLst>
                      <a:ext uri="{A12FA001-AC4F-418D-AE19-62706E023703}">
                        <ahyp:hlinkClr xmlns:ahyp="http://schemas.microsoft.com/office/drawing/2018/hyperlinkcolor" val="tx"/>
                      </a:ext>
                    </a:extLst>
                  </a:hlinkClick>
                </a:rPr>
                <a:t>JBS「サービスデスク導入事例 </a:t>
              </a:r>
              <a:br>
                <a:rPr lang="en-US" altLang="ja-JP" sz="1200" dirty="0">
                  <a:solidFill>
                    <a:srgbClr val="008D2E"/>
                  </a:solidFill>
                  <a:latin typeface="+mn-ea"/>
                  <a:hlinkClick r:id="rId3">
                    <a:extLst>
                      <a:ext uri="{A12FA001-AC4F-418D-AE19-62706E023703}">
                        <ahyp:hlinkClr xmlns:ahyp="http://schemas.microsoft.com/office/drawing/2018/hyperlinkcolor" val="tx"/>
                      </a:ext>
                    </a:extLst>
                  </a:hlinkClick>
                </a:rPr>
              </a:br>
              <a:r>
                <a:rPr lang="ja-JP" altLang="ja-JP" sz="1200" dirty="0">
                  <a:solidFill>
                    <a:srgbClr val="008D2E"/>
                  </a:solidFill>
                  <a:latin typeface="+mn-ea"/>
                  <a:hlinkClick r:id="rId3">
                    <a:extLst>
                      <a:ext uri="{A12FA001-AC4F-418D-AE19-62706E023703}">
                        <ahyp:hlinkClr xmlns:ahyp="http://schemas.microsoft.com/office/drawing/2018/hyperlinkcolor" val="tx"/>
                      </a:ext>
                    </a:extLst>
                  </a:hlinkClick>
                </a:rPr>
                <a:t>花王株式会社」</a:t>
              </a:r>
              <a:endParaRPr lang="ja-JP" altLang="ja-JP" sz="1200" dirty="0">
                <a:solidFill>
                  <a:srgbClr val="008D2E"/>
                </a:solidFill>
                <a:latin typeface="+mn-ea"/>
              </a:endParaRPr>
            </a:p>
          </p:txBody>
        </p:sp>
        <p:sp>
          <p:nvSpPr>
            <p:cNvPr id="62" name="正方形/長方形 61">
              <a:extLst>
                <a:ext uri="{FF2B5EF4-FFF2-40B4-BE49-F238E27FC236}">
                  <a16:creationId xmlns:a16="http://schemas.microsoft.com/office/drawing/2014/main" id="{22309439-23CC-1CEB-06C0-7D3D3C99F692}"/>
                </a:ext>
              </a:extLst>
            </p:cNvPr>
            <p:cNvSpPr/>
            <p:nvPr/>
          </p:nvSpPr>
          <p:spPr>
            <a:xfrm>
              <a:off x="3878121" y="3600235"/>
              <a:ext cx="2520000" cy="97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dirty="0">
                  <a:solidFill>
                    <a:schemeClr val="tx1"/>
                  </a:solidFill>
                  <a:latin typeface="+mn-ea"/>
                </a:rPr>
                <a:t>カウンターサポートシステムのヘルプデスク業務全体を外部</a:t>
              </a:r>
              <a:r>
                <a:rPr lang="en" altLang="ja-JP" sz="1200" dirty="0">
                  <a:solidFill>
                    <a:schemeClr val="tx1"/>
                  </a:solidFill>
                  <a:latin typeface="+mn-ea"/>
                </a:rPr>
                <a:t>委託</a:t>
              </a:r>
              <a:r>
                <a:rPr lang="ja-JP" altLang="en-US" sz="1200" dirty="0">
                  <a:solidFill>
                    <a:schemeClr val="tx1"/>
                  </a:solidFill>
                  <a:latin typeface="+mn-ea"/>
                </a:rPr>
                <a:t>拠点</a:t>
              </a:r>
              <a:br>
                <a:rPr lang="en-US" altLang="ja-JP" sz="1200" dirty="0">
                  <a:solidFill>
                    <a:schemeClr val="tx1"/>
                  </a:solidFill>
                  <a:latin typeface="+mn-ea"/>
                </a:rPr>
              </a:br>
              <a:r>
                <a:rPr lang="en-US" altLang="ja-JP" sz="1200" dirty="0">
                  <a:solidFill>
                    <a:schemeClr val="tx1"/>
                  </a:solidFill>
                  <a:latin typeface="+mn-ea"/>
                </a:rPr>
                <a:t>(</a:t>
              </a:r>
              <a:r>
                <a:rPr lang="ja-JP" altLang="en-US" sz="1200" dirty="0">
                  <a:solidFill>
                    <a:schemeClr val="tx1"/>
                  </a:solidFill>
                  <a:latin typeface="+mn-ea"/>
                </a:rPr>
                <a:t>中国・大連</a:t>
              </a:r>
              <a:r>
                <a:rPr lang="en-US" altLang="ja-JP" sz="1200" dirty="0">
                  <a:solidFill>
                    <a:schemeClr val="tx1"/>
                  </a:solidFill>
                  <a:latin typeface="+mn-ea"/>
                </a:rPr>
                <a:t>) </a:t>
              </a:r>
              <a:r>
                <a:rPr lang="ja-JP" altLang="en-US" sz="1200" dirty="0">
                  <a:solidFill>
                    <a:schemeClr val="tx1"/>
                  </a:solidFill>
                  <a:latin typeface="+mn-ea"/>
                </a:rPr>
                <a:t>へ移管・集約し、</a:t>
              </a:r>
              <a:br>
                <a:rPr lang="en-US" altLang="ja-JP" sz="1200" dirty="0">
                  <a:solidFill>
                    <a:schemeClr val="tx1"/>
                  </a:solidFill>
                  <a:latin typeface="+mn-ea"/>
                </a:rPr>
              </a:br>
              <a:r>
                <a:rPr lang="en" altLang="ja-JP" sz="1200" dirty="0">
                  <a:solidFill>
                    <a:schemeClr val="tx1"/>
                  </a:solidFill>
                  <a:latin typeface="+mn-ea"/>
                </a:rPr>
                <a:t>品質基準</a:t>
              </a:r>
              <a:r>
                <a:rPr lang="ja-JP" altLang="en-US" sz="1200" dirty="0">
                  <a:solidFill>
                    <a:schemeClr val="tx1"/>
                  </a:solidFill>
                  <a:latin typeface="+mn-ea"/>
                </a:rPr>
                <a:t>および運用手順の標準化を実施</a:t>
              </a:r>
            </a:p>
          </p:txBody>
        </p:sp>
        <p:sp>
          <p:nvSpPr>
            <p:cNvPr id="64" name="正方形/長方形 63">
              <a:extLst>
                <a:ext uri="{FF2B5EF4-FFF2-40B4-BE49-F238E27FC236}">
                  <a16:creationId xmlns:a16="http://schemas.microsoft.com/office/drawing/2014/main" id="{7988037E-8CD7-827D-DACF-B4DBCE96F3C4}"/>
                </a:ext>
              </a:extLst>
            </p:cNvPr>
            <p:cNvSpPr/>
            <p:nvPr/>
          </p:nvSpPr>
          <p:spPr>
            <a:xfrm>
              <a:off x="3878121" y="4664333"/>
              <a:ext cx="2520000" cy="115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従来通りの高品質なサポートレベルを</a:t>
              </a:r>
              <a:br>
                <a:rPr lang="en-US" altLang="ja-JP" sz="1200" dirty="0">
                  <a:solidFill>
                    <a:schemeClr val="tx1"/>
                  </a:solidFill>
                  <a:latin typeface="+mn-ea"/>
                </a:rPr>
              </a:br>
              <a:r>
                <a:rPr lang="ja-JP" altLang="en-US" sz="1200">
                  <a:solidFill>
                    <a:schemeClr val="tx1"/>
                  </a:solidFill>
                  <a:latin typeface="+mn-ea"/>
                </a:rPr>
                <a:t>維持したまま、運用コストを約</a:t>
              </a:r>
              <a:r>
                <a:rPr lang="en-US" altLang="ja-JP" sz="1200" dirty="0">
                  <a:solidFill>
                    <a:schemeClr val="tx1"/>
                  </a:solidFill>
                  <a:latin typeface="+mn-ea"/>
                </a:rPr>
                <a:t>40%</a:t>
              </a:r>
              <a:r>
                <a:rPr lang="ja-JP" altLang="en-US" sz="1200">
                  <a:solidFill>
                    <a:schemeClr val="tx1"/>
                  </a:solidFill>
                  <a:latin typeface="+mn-ea"/>
                </a:rPr>
                <a:t>削減。社内リソースを運用保守の手戻り対応</a:t>
              </a:r>
              <a:br>
                <a:rPr lang="en-US" altLang="ja-JP" sz="1200" dirty="0">
                  <a:solidFill>
                    <a:schemeClr val="tx1"/>
                  </a:solidFill>
                  <a:latin typeface="+mn-ea"/>
                </a:rPr>
              </a:br>
              <a:r>
                <a:rPr lang="ja-JP" altLang="en-US" sz="1200">
                  <a:solidFill>
                    <a:schemeClr val="tx1"/>
                  </a:solidFill>
                  <a:latin typeface="+mn-ea"/>
                </a:rPr>
                <a:t>から切り離し、グローバル</a:t>
              </a:r>
              <a:r>
                <a:rPr lang="en" altLang="ja-JP" sz="1200" dirty="0">
                  <a:solidFill>
                    <a:schemeClr val="tx1"/>
                  </a:solidFill>
                  <a:latin typeface="+mn-ea"/>
                </a:rPr>
                <a:t>DX</a:t>
              </a:r>
              <a:r>
                <a:rPr lang="ja-JP" altLang="en-US" sz="1200">
                  <a:solidFill>
                    <a:schemeClr val="tx1"/>
                  </a:solidFill>
                  <a:latin typeface="+mn-ea"/>
                </a:rPr>
                <a:t>推進へ集中</a:t>
              </a:r>
            </a:p>
          </p:txBody>
        </p:sp>
        <p:sp>
          <p:nvSpPr>
            <p:cNvPr id="65" name="正方形/長方形 64">
              <a:hlinkClick r:id="rId4"/>
              <a:extLst>
                <a:ext uri="{FF2B5EF4-FFF2-40B4-BE49-F238E27FC236}">
                  <a16:creationId xmlns:a16="http://schemas.microsoft.com/office/drawing/2014/main" id="{04C2506A-1622-2AC7-E1FE-628767BC2264}"/>
                </a:ext>
              </a:extLst>
            </p:cNvPr>
            <p:cNvSpPr/>
            <p:nvPr/>
          </p:nvSpPr>
          <p:spPr>
            <a:xfrm>
              <a:off x="3878121" y="5908431"/>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36000" bIns="36000" numCol="1" spcCol="0" rtlCol="0" fromWordArt="0" anchor="t" anchorCtr="0" forceAA="0" compatLnSpc="1">
              <a:prstTxWarp prst="textNoShape">
                <a:avLst/>
              </a:prstTxWarp>
              <a:noAutofit/>
            </a:bodyPr>
            <a:lstStyle/>
            <a:p>
              <a:pPr lvl="0"/>
              <a:r>
                <a:rPr lang="ja-JP" altLang="ja-JP" sz="1200">
                  <a:solidFill>
                    <a:srgbClr val="008D2E"/>
                  </a:solidFill>
                  <a:latin typeface="+mn-ea"/>
                  <a:hlinkClick r:id="rId4">
                    <a:extLst>
                      <a:ext uri="{A12FA001-AC4F-418D-AE19-62706E023703}">
                        <ahyp:hlinkClr xmlns:ahyp="http://schemas.microsoft.com/office/drawing/2018/hyperlinkcolor" val="tx"/>
                      </a:ext>
                    </a:extLst>
                  </a:hlinkClick>
                </a:rPr>
                <a:t>東芝デジタルソリューションズ</a:t>
              </a:r>
              <a:br>
                <a:rPr lang="en-US" altLang="ja-JP" sz="1200" dirty="0">
                  <a:solidFill>
                    <a:srgbClr val="008D2E"/>
                  </a:solidFill>
                  <a:latin typeface="+mn-ea"/>
                  <a:hlinkClick r:id="rId4">
                    <a:extLst>
                      <a:ext uri="{A12FA001-AC4F-418D-AE19-62706E023703}">
                        <ahyp:hlinkClr xmlns:ahyp="http://schemas.microsoft.com/office/drawing/2018/hyperlinkcolor" val="tx"/>
                      </a:ext>
                    </a:extLst>
                  </a:hlinkClick>
                </a:rPr>
              </a:br>
              <a:r>
                <a:rPr lang="ja-JP" altLang="ja-JP" sz="1200">
                  <a:solidFill>
                    <a:srgbClr val="008D2E"/>
                  </a:solidFill>
                  <a:latin typeface="+mn-ea"/>
                  <a:hlinkClick r:id="rId4">
                    <a:extLst>
                      <a:ext uri="{A12FA001-AC4F-418D-AE19-62706E023703}">
                        <ahyp:hlinkClr xmlns:ahyp="http://schemas.microsoft.com/office/drawing/2018/hyperlinkcolor" val="tx"/>
                      </a:ext>
                    </a:extLst>
                  </a:hlinkClick>
                </a:rPr>
                <a:t>「事例紹介：資生堂」</a:t>
              </a:r>
              <a:endParaRPr lang="ja-JP" altLang="ja-JP" sz="1200" dirty="0">
                <a:solidFill>
                  <a:srgbClr val="008D2E"/>
                </a:solidFill>
                <a:latin typeface="+mn-ea"/>
              </a:endParaRPr>
            </a:p>
          </p:txBody>
        </p:sp>
        <p:sp>
          <p:nvSpPr>
            <p:cNvPr id="78" name="正方形/長方形 77">
              <a:extLst>
                <a:ext uri="{FF2B5EF4-FFF2-40B4-BE49-F238E27FC236}">
                  <a16:creationId xmlns:a16="http://schemas.microsoft.com/office/drawing/2014/main" id="{3757F1DF-BA72-8105-7003-C8831EEE2356}"/>
                </a:ext>
              </a:extLst>
            </p:cNvPr>
            <p:cNvSpPr/>
            <p:nvPr/>
          </p:nvSpPr>
          <p:spPr>
            <a:xfrm>
              <a:off x="6586152" y="3600235"/>
              <a:ext cx="2520000" cy="97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グループシェアード会社を中心に、</a:t>
              </a:r>
              <a:br>
                <a:rPr lang="en-US" altLang="ja-JP" sz="1200" dirty="0">
                  <a:solidFill>
                    <a:schemeClr val="tx1"/>
                  </a:solidFill>
                  <a:latin typeface="+mn-ea"/>
                </a:rPr>
              </a:br>
              <a:r>
                <a:rPr lang="ja-JP" altLang="en-US" sz="1200">
                  <a:solidFill>
                    <a:schemeClr val="tx1"/>
                  </a:solidFill>
                  <a:latin typeface="+mn-ea"/>
                </a:rPr>
                <a:t>定型運用</a:t>
              </a:r>
              <a:r>
                <a:rPr lang="en-US" altLang="ja-JP" sz="1200" dirty="0">
                  <a:solidFill>
                    <a:schemeClr val="tx1"/>
                  </a:solidFill>
                  <a:latin typeface="+mn-ea"/>
                </a:rPr>
                <a:t> (</a:t>
              </a:r>
              <a:r>
                <a:rPr lang="ja-JP" altLang="en-US" sz="1200">
                  <a:solidFill>
                    <a:schemeClr val="tx1"/>
                  </a:solidFill>
                  <a:latin typeface="+mn-ea"/>
                </a:rPr>
                <a:t>請求書・財務経理処理等</a:t>
              </a:r>
              <a:r>
                <a:rPr lang="en-US" altLang="ja-JP" sz="1200" dirty="0">
                  <a:solidFill>
                    <a:schemeClr val="tx1"/>
                  </a:solidFill>
                  <a:latin typeface="+mn-ea"/>
                </a:rPr>
                <a:t>) </a:t>
              </a:r>
              <a:r>
                <a:rPr lang="ja-JP" altLang="en-US" sz="1200">
                  <a:solidFill>
                    <a:schemeClr val="tx1"/>
                  </a:solidFill>
                  <a:latin typeface="+mn-ea"/>
                </a:rPr>
                <a:t>へ</a:t>
              </a:r>
              <a:r>
                <a:rPr lang="en" altLang="ja-JP" sz="1200" dirty="0">
                  <a:solidFill>
                    <a:schemeClr val="tx1"/>
                  </a:solidFill>
                  <a:latin typeface="+mn-ea"/>
                </a:rPr>
                <a:t>Concur</a:t>
              </a:r>
              <a:r>
                <a:rPr lang="ja-JP" altLang="en-US" sz="1200">
                  <a:solidFill>
                    <a:schemeClr val="tx1"/>
                  </a:solidFill>
                  <a:latin typeface="+mn-ea"/>
                </a:rPr>
                <a:t>や</a:t>
              </a:r>
              <a:r>
                <a:rPr lang="en" altLang="ja-JP" sz="1200" dirty="0">
                  <a:solidFill>
                    <a:schemeClr val="tx1"/>
                  </a:solidFill>
                  <a:latin typeface="+mn-ea"/>
                </a:rPr>
                <a:t>AI</a:t>
              </a:r>
              <a:r>
                <a:rPr lang="ja-JP" altLang="en-US" sz="1200">
                  <a:solidFill>
                    <a:schemeClr val="tx1"/>
                  </a:solidFill>
                  <a:latin typeface="+mn-ea"/>
                </a:rPr>
                <a:t>基盤を導入し、外部</a:t>
              </a:r>
              <a:r>
                <a:rPr lang="en" altLang="ja-JP" sz="1200" dirty="0">
                  <a:solidFill>
                    <a:schemeClr val="tx1"/>
                  </a:solidFill>
                  <a:latin typeface="+mn-ea"/>
                </a:rPr>
                <a:t>委託</a:t>
              </a:r>
              <a:r>
                <a:rPr lang="ja-JP" altLang="en-US" sz="1200">
                  <a:solidFill>
                    <a:schemeClr val="tx1"/>
                  </a:solidFill>
                  <a:latin typeface="+mn-ea"/>
                </a:rPr>
                <a:t>へ標準化移管</a:t>
              </a:r>
            </a:p>
          </p:txBody>
        </p:sp>
        <p:sp>
          <p:nvSpPr>
            <p:cNvPr id="80" name="正方形/長方形 79">
              <a:extLst>
                <a:ext uri="{FF2B5EF4-FFF2-40B4-BE49-F238E27FC236}">
                  <a16:creationId xmlns:a16="http://schemas.microsoft.com/office/drawing/2014/main" id="{DD9C33C1-3184-9448-8CAD-C127F2D838C5}"/>
                </a:ext>
              </a:extLst>
            </p:cNvPr>
            <p:cNvSpPr/>
            <p:nvPr/>
          </p:nvSpPr>
          <p:spPr>
            <a:xfrm>
              <a:off x="6586152" y="4664333"/>
              <a:ext cx="2520000" cy="115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処理時間を従来比</a:t>
              </a:r>
              <a:r>
                <a:rPr lang="en-US" altLang="ja-JP" sz="1200" dirty="0">
                  <a:solidFill>
                    <a:schemeClr val="tx1"/>
                  </a:solidFill>
                  <a:latin typeface="+mn-ea"/>
                </a:rPr>
                <a:t>1/4</a:t>
              </a:r>
              <a:r>
                <a:rPr lang="ja-JP" altLang="en-US" sz="1200">
                  <a:solidFill>
                    <a:schemeClr val="tx1"/>
                  </a:solidFill>
                  <a:latin typeface="+mn-ea"/>
                </a:rPr>
                <a:t>に短縮し、</a:t>
              </a:r>
              <a:br>
                <a:rPr lang="en-US" altLang="ja-JP" sz="1200" dirty="0">
                  <a:solidFill>
                    <a:schemeClr val="tx1"/>
                  </a:solidFill>
                  <a:latin typeface="+mn-ea"/>
                </a:rPr>
              </a:br>
              <a:r>
                <a:rPr lang="ja-JP" altLang="en-US" sz="1200">
                  <a:solidFill>
                    <a:schemeClr val="tx1"/>
                  </a:solidFill>
                  <a:latin typeface="+mn-ea"/>
                </a:rPr>
                <a:t>年間約</a:t>
              </a:r>
              <a:r>
                <a:rPr lang="en-US" altLang="ja-JP" sz="1200" dirty="0">
                  <a:solidFill>
                    <a:schemeClr val="tx1"/>
                  </a:solidFill>
                  <a:latin typeface="+mn-ea"/>
                </a:rPr>
                <a:t>1</a:t>
              </a:r>
              <a:r>
                <a:rPr lang="ja-JP" altLang="en-US" sz="1200">
                  <a:solidFill>
                    <a:schemeClr val="tx1"/>
                  </a:solidFill>
                  <a:latin typeface="+mn-ea"/>
                </a:rPr>
                <a:t>万時間の業務工数を削減。</a:t>
              </a:r>
              <a:br>
                <a:rPr lang="en-US" altLang="ja-JP" sz="1200" dirty="0">
                  <a:solidFill>
                    <a:schemeClr val="tx1"/>
                  </a:solidFill>
                  <a:latin typeface="+mn-ea"/>
                </a:rPr>
              </a:br>
              <a:r>
                <a:rPr lang="ja-JP" altLang="en-US" sz="1200">
                  <a:solidFill>
                    <a:schemeClr val="tx1"/>
                  </a:solidFill>
                  <a:latin typeface="+mn-ea"/>
                </a:rPr>
                <a:t>運用リスクと属人化を排除し、浮いた</a:t>
              </a:r>
              <a:br>
                <a:rPr lang="en-US" altLang="ja-JP" sz="1200" dirty="0">
                  <a:solidFill>
                    <a:schemeClr val="tx1"/>
                  </a:solidFill>
                  <a:latin typeface="+mn-ea"/>
                </a:rPr>
              </a:br>
              <a:r>
                <a:rPr lang="ja-JP" altLang="en-US" sz="1200">
                  <a:solidFill>
                    <a:schemeClr val="tx1"/>
                  </a:solidFill>
                  <a:latin typeface="+mn-ea"/>
                </a:rPr>
                <a:t>社内人材を事業成長・グループ統制等の高付加価値業務へ再配置</a:t>
              </a:r>
            </a:p>
          </p:txBody>
        </p:sp>
        <p:sp>
          <p:nvSpPr>
            <p:cNvPr id="82" name="正方形/長方形 81">
              <a:extLst>
                <a:ext uri="{FF2B5EF4-FFF2-40B4-BE49-F238E27FC236}">
                  <a16:creationId xmlns:a16="http://schemas.microsoft.com/office/drawing/2014/main" id="{747DC7A5-1857-946D-514B-3BBE3A79FE0D}"/>
                </a:ext>
              </a:extLst>
            </p:cNvPr>
            <p:cNvSpPr/>
            <p:nvPr/>
          </p:nvSpPr>
          <p:spPr>
            <a:xfrm>
              <a:off x="6586152" y="5908431"/>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t" anchorCtr="0" forceAA="0" compatLnSpc="1">
              <a:prstTxWarp prst="textNoShape">
                <a:avLst/>
              </a:prstTxWarp>
              <a:noAutofit/>
            </a:bodyPr>
            <a:lstStyle/>
            <a:p>
              <a:pPr lvl="0"/>
              <a:r>
                <a:rPr lang="ja-JP" altLang="ja-JP" sz="1200">
                  <a:solidFill>
                    <a:srgbClr val="008D2E"/>
                  </a:solidFill>
                  <a:latin typeface="+mn-ea"/>
                  <a:hlinkClick r:id="rId5">
                    <a:extLst>
                      <a:ext uri="{A12FA001-AC4F-418D-AE19-62706E023703}">
                        <ahyp:hlinkClr xmlns:ahyp="http://schemas.microsoft.com/office/drawing/2018/hyperlinkcolor" val="tx"/>
                      </a:ext>
                    </a:extLst>
                  </a:hlinkClick>
                </a:rPr>
                <a:t>SAP Concur「導入事例</a:t>
              </a:r>
              <a:r>
                <a:rPr lang="en-US" altLang="ja-JP" sz="1200" dirty="0">
                  <a:solidFill>
                    <a:srgbClr val="008D2E"/>
                  </a:solidFill>
                  <a:latin typeface="+mn-ea"/>
                  <a:hlinkClick r:id="rId5">
                    <a:extLst>
                      <a:ext uri="{A12FA001-AC4F-418D-AE19-62706E023703}">
                        <ahyp:hlinkClr xmlns:ahyp="http://schemas.microsoft.com/office/drawing/2018/hyperlinkcolor" val="tx"/>
                      </a:ext>
                    </a:extLst>
                  </a:hlinkClick>
                </a:rPr>
                <a:t> : </a:t>
              </a:r>
              <a:r>
                <a:rPr lang="ja-JP" altLang="ja-JP" sz="1200">
                  <a:solidFill>
                    <a:srgbClr val="008D2E"/>
                  </a:solidFill>
                  <a:latin typeface="+mn-ea"/>
                  <a:hlinkClick r:id="rId5">
                    <a:extLst>
                      <a:ext uri="{A12FA001-AC4F-418D-AE19-62706E023703}">
                        <ahyp:hlinkClr xmlns:ahyp="http://schemas.microsoft.com/office/drawing/2018/hyperlinkcolor" val="tx"/>
                      </a:ext>
                    </a:extLst>
                  </a:hlinkClick>
                </a:rPr>
                <a:t>味の素</a:t>
              </a:r>
              <a:endParaRPr lang="en-US" altLang="ja-JP" sz="1200" dirty="0">
                <a:solidFill>
                  <a:srgbClr val="008D2E"/>
                </a:solidFill>
                <a:latin typeface="+mn-ea"/>
                <a:hlinkClick r:id="rId5">
                  <a:extLst>
                    <a:ext uri="{A12FA001-AC4F-418D-AE19-62706E023703}">
                      <ahyp:hlinkClr xmlns:ahyp="http://schemas.microsoft.com/office/drawing/2018/hyperlinkcolor" val="tx"/>
                    </a:ext>
                  </a:extLst>
                </a:hlinkClick>
              </a:endParaRPr>
            </a:p>
            <a:p>
              <a:pPr lvl="0"/>
              <a:r>
                <a:rPr lang="ja-JP" altLang="ja-JP" sz="1200">
                  <a:solidFill>
                    <a:srgbClr val="008D2E"/>
                  </a:solidFill>
                  <a:latin typeface="+mn-ea"/>
                  <a:hlinkClick r:id="rId5">
                    <a:extLst>
                      <a:ext uri="{A12FA001-AC4F-418D-AE19-62706E023703}">
                        <ahyp:hlinkClr xmlns:ahyp="http://schemas.microsoft.com/office/drawing/2018/hyperlinkcolor" val="tx"/>
                      </a:ext>
                    </a:extLst>
                  </a:hlinkClick>
                </a:rPr>
                <a:t>フィナンシャル・ソリューションズ株式会社」</a:t>
              </a:r>
              <a:endParaRPr lang="ja-JP" altLang="ja-JP" sz="1200" dirty="0">
                <a:solidFill>
                  <a:srgbClr val="008D2E"/>
                </a:solidFill>
                <a:latin typeface="+mn-ea"/>
              </a:endParaRPr>
            </a:p>
          </p:txBody>
        </p:sp>
        <p:sp>
          <p:nvSpPr>
            <p:cNvPr id="89" name="正方形/長方形 88">
              <a:extLst>
                <a:ext uri="{FF2B5EF4-FFF2-40B4-BE49-F238E27FC236}">
                  <a16:creationId xmlns:a16="http://schemas.microsoft.com/office/drawing/2014/main" id="{0B23E91E-F24F-D741-E50D-ED45F7B21B8A}"/>
                </a:ext>
              </a:extLst>
            </p:cNvPr>
            <p:cNvSpPr/>
            <p:nvPr/>
          </p:nvSpPr>
          <p:spPr>
            <a:xfrm>
              <a:off x="9337036" y="3600235"/>
              <a:ext cx="2520000" cy="97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グループシェアード会社</a:t>
              </a:r>
              <a:r>
                <a:rPr lang="en-US" altLang="ja-JP" sz="1200" dirty="0">
                  <a:solidFill>
                    <a:schemeClr val="tx1"/>
                  </a:solidFill>
                  <a:latin typeface="+mn-ea"/>
                </a:rPr>
                <a:t> (</a:t>
              </a:r>
              <a:r>
                <a:rPr lang="ja-JP" altLang="en-US" sz="1200">
                  <a:solidFill>
                    <a:schemeClr val="tx1"/>
                  </a:solidFill>
                  <a:latin typeface="+mn-ea"/>
                </a:rPr>
                <a:t>サントリー</a:t>
              </a:r>
              <a:br>
                <a:rPr lang="en-US" altLang="ja-JP" sz="1200" dirty="0">
                  <a:solidFill>
                    <a:schemeClr val="tx1"/>
                  </a:solidFill>
                  <a:latin typeface="+mn-ea"/>
                </a:rPr>
              </a:br>
              <a:r>
                <a:rPr lang="ja-JP" altLang="en-US" sz="1200">
                  <a:solidFill>
                    <a:schemeClr val="tx1"/>
                  </a:solidFill>
                  <a:latin typeface="+mn-ea"/>
                </a:rPr>
                <a:t>ビジネスシステム</a:t>
              </a:r>
              <a:r>
                <a:rPr lang="en-US" altLang="ja-JP" sz="1200" dirty="0">
                  <a:solidFill>
                    <a:schemeClr val="tx1"/>
                  </a:solidFill>
                  <a:latin typeface="+mn-ea"/>
                </a:rPr>
                <a:t>) </a:t>
              </a:r>
              <a:r>
                <a:rPr lang="ja-JP" altLang="en-US" sz="1200">
                  <a:solidFill>
                    <a:schemeClr val="tx1"/>
                  </a:solidFill>
                  <a:latin typeface="+mn-ea"/>
                </a:rPr>
                <a:t>がガバナンス・統制を</a:t>
              </a:r>
              <a:br>
                <a:rPr lang="en-US" altLang="ja-JP" sz="1200" dirty="0">
                  <a:solidFill>
                    <a:schemeClr val="tx1"/>
                  </a:solidFill>
                  <a:latin typeface="+mn-ea"/>
                </a:rPr>
              </a:br>
              <a:r>
                <a:rPr lang="ja-JP" altLang="en-US" sz="1200">
                  <a:solidFill>
                    <a:schemeClr val="tx1"/>
                  </a:solidFill>
                  <a:latin typeface="+mn-ea"/>
                </a:rPr>
                <a:t>一元的に担い、実務実行層に</a:t>
              </a:r>
              <a:br>
                <a:rPr lang="en-US" altLang="ja-JP" sz="1200" dirty="0">
                  <a:solidFill>
                    <a:schemeClr val="tx1"/>
                  </a:solidFill>
                  <a:latin typeface="+mn-ea"/>
                </a:rPr>
              </a:br>
              <a:r>
                <a:rPr lang="ja-JP" altLang="en-US" sz="1200">
                  <a:solidFill>
                    <a:schemeClr val="tx1"/>
                  </a:solidFill>
                  <a:latin typeface="+mn-ea"/>
                </a:rPr>
                <a:t>外部プロバイダー・</a:t>
              </a:r>
              <a:r>
                <a:rPr lang="en" altLang="ja-JP" sz="1200" dirty="0">
                  <a:solidFill>
                    <a:schemeClr val="tx1"/>
                  </a:solidFill>
                  <a:latin typeface="+mn-ea"/>
                </a:rPr>
                <a:t>IT</a:t>
              </a:r>
              <a:r>
                <a:rPr lang="ja-JP" altLang="en-US" sz="1200">
                  <a:solidFill>
                    <a:schemeClr val="tx1"/>
                  </a:solidFill>
                  <a:latin typeface="+mn-ea"/>
                </a:rPr>
                <a:t>ソリューションを</a:t>
              </a:r>
              <a:br>
                <a:rPr lang="en-US" altLang="ja-JP" sz="1200" dirty="0">
                  <a:solidFill>
                    <a:schemeClr val="tx1"/>
                  </a:solidFill>
                  <a:latin typeface="+mn-ea"/>
                </a:rPr>
              </a:br>
              <a:r>
                <a:rPr lang="ja-JP" altLang="en-US" sz="1200">
                  <a:solidFill>
                    <a:schemeClr val="tx1"/>
                  </a:solidFill>
                  <a:latin typeface="+mn-ea"/>
                </a:rPr>
                <a:t>適用する</a:t>
              </a:r>
              <a:r>
                <a:rPr lang="en-US" altLang="ja-JP" sz="1200" dirty="0">
                  <a:solidFill>
                    <a:schemeClr val="tx1"/>
                  </a:solidFill>
                  <a:latin typeface="+mn-ea"/>
                </a:rPr>
                <a:t>2</a:t>
              </a:r>
              <a:r>
                <a:rPr lang="ja-JP" altLang="en-US" sz="1200">
                  <a:solidFill>
                    <a:schemeClr val="tx1"/>
                  </a:solidFill>
                  <a:latin typeface="+mn-ea"/>
                </a:rPr>
                <a:t>段構えの運用体制を構築</a:t>
              </a:r>
            </a:p>
          </p:txBody>
        </p:sp>
        <p:sp>
          <p:nvSpPr>
            <p:cNvPr id="90" name="正方形/長方形 89">
              <a:extLst>
                <a:ext uri="{FF2B5EF4-FFF2-40B4-BE49-F238E27FC236}">
                  <a16:creationId xmlns:a16="http://schemas.microsoft.com/office/drawing/2014/main" id="{70FD73BC-8A95-C8DB-143F-0CD4308C5EF3}"/>
                </a:ext>
              </a:extLst>
            </p:cNvPr>
            <p:cNvSpPr/>
            <p:nvPr/>
          </p:nvSpPr>
          <p:spPr>
            <a:xfrm>
              <a:off x="9337036" y="4664333"/>
              <a:ext cx="2520000" cy="115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200"/>
                </a:spcAft>
              </a:pPr>
              <a:r>
                <a:rPr lang="ja-JP" altLang="en-US" sz="1200">
                  <a:solidFill>
                    <a:schemeClr val="tx1"/>
                  </a:solidFill>
                  <a:latin typeface="+mn-ea"/>
                </a:rPr>
                <a:t>業務標準化とペーパーレス化により</a:t>
              </a:r>
              <a:br>
                <a:rPr lang="en-US" altLang="ja-JP" sz="1200" dirty="0">
                  <a:solidFill>
                    <a:schemeClr val="tx1"/>
                  </a:solidFill>
                  <a:latin typeface="+mn-ea"/>
                </a:rPr>
              </a:br>
              <a:r>
                <a:rPr lang="ja-JP" altLang="en-US" sz="1200">
                  <a:solidFill>
                    <a:schemeClr val="tx1"/>
                  </a:solidFill>
                  <a:latin typeface="+mn-ea"/>
                </a:rPr>
                <a:t>約</a:t>
              </a:r>
              <a:r>
                <a:rPr lang="en-US" altLang="ja-JP" sz="1200" dirty="0">
                  <a:solidFill>
                    <a:schemeClr val="tx1"/>
                  </a:solidFill>
                  <a:latin typeface="+mn-ea"/>
                </a:rPr>
                <a:t>10</a:t>
              </a:r>
              <a:r>
                <a:rPr lang="ja-JP" altLang="en-US" sz="1200">
                  <a:solidFill>
                    <a:schemeClr val="tx1"/>
                  </a:solidFill>
                  <a:latin typeface="+mn-ea"/>
                </a:rPr>
                <a:t>万時間の創出を達成。</a:t>
              </a:r>
              <a:br>
                <a:rPr lang="en-US" altLang="ja-JP" sz="1200" dirty="0">
                  <a:solidFill>
                    <a:schemeClr val="tx1"/>
                  </a:solidFill>
                  <a:latin typeface="+mn-ea"/>
                </a:rPr>
              </a:br>
              <a:r>
                <a:rPr lang="ja-JP" altLang="en-US" sz="1200">
                  <a:solidFill>
                    <a:schemeClr val="tx1"/>
                  </a:solidFill>
                  <a:latin typeface="+mn-ea"/>
                </a:rPr>
                <a:t>事業会社の</a:t>
              </a:r>
              <a:r>
                <a:rPr lang="en" altLang="ja-JP" sz="1200" dirty="0">
                  <a:solidFill>
                    <a:schemeClr val="tx1"/>
                  </a:solidFill>
                  <a:latin typeface="+mn-ea"/>
                </a:rPr>
                <a:t>IT</a:t>
              </a:r>
              <a:r>
                <a:rPr lang="ja-JP" altLang="en-US" sz="1200">
                  <a:solidFill>
                    <a:schemeClr val="tx1"/>
                  </a:solidFill>
                  <a:latin typeface="+mn-ea"/>
                </a:rPr>
                <a:t>人材をデジタル</a:t>
              </a:r>
              <a:br>
                <a:rPr lang="en-US" altLang="ja-JP" sz="1200" dirty="0">
                  <a:solidFill>
                    <a:schemeClr val="tx1"/>
                  </a:solidFill>
                  <a:latin typeface="+mn-ea"/>
                </a:rPr>
              </a:br>
              <a:r>
                <a:rPr lang="ja-JP" altLang="en-US" sz="1200">
                  <a:solidFill>
                    <a:schemeClr val="tx1"/>
                  </a:solidFill>
                  <a:latin typeface="+mn-ea"/>
                </a:rPr>
                <a:t>マーケティングやサプライチェーン先進技術などの戦略企画へ完全シフト</a:t>
              </a:r>
            </a:p>
          </p:txBody>
        </p:sp>
        <p:sp>
          <p:nvSpPr>
            <p:cNvPr id="91" name="正方形/長方形 90">
              <a:extLst>
                <a:ext uri="{FF2B5EF4-FFF2-40B4-BE49-F238E27FC236}">
                  <a16:creationId xmlns:a16="http://schemas.microsoft.com/office/drawing/2014/main" id="{2E937A6B-628E-E481-B48C-18FE12642FB4}"/>
                </a:ext>
              </a:extLst>
            </p:cNvPr>
            <p:cNvSpPr/>
            <p:nvPr/>
          </p:nvSpPr>
          <p:spPr>
            <a:xfrm>
              <a:off x="9337036" y="5908431"/>
              <a:ext cx="2520000" cy="39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t" anchorCtr="0" forceAA="0" compatLnSpc="1">
              <a:prstTxWarp prst="textNoShape">
                <a:avLst/>
              </a:prstTxWarp>
              <a:noAutofit/>
            </a:bodyPr>
            <a:lstStyle/>
            <a:p>
              <a:pPr lvl="0"/>
              <a:r>
                <a:rPr lang="ja-JP" altLang="ja-JP" sz="1200">
                  <a:solidFill>
                    <a:srgbClr val="008D2E"/>
                  </a:solidFill>
                  <a:latin typeface="+mn-ea"/>
                  <a:hlinkClick r:id="rId6">
                    <a:extLst>
                      <a:ext uri="{A12FA001-AC4F-418D-AE19-62706E023703}">
                        <ahyp:hlinkClr xmlns:ahyp="http://schemas.microsoft.com/office/drawing/2018/hyperlinkcolor" val="tx"/>
                      </a:ext>
                    </a:extLst>
                  </a:hlinkClick>
                </a:rPr>
                <a:t>インフォマート「導入事例：</a:t>
              </a:r>
              <a:br>
                <a:rPr lang="en-US" altLang="ja-JP" sz="1200" dirty="0">
                  <a:solidFill>
                    <a:srgbClr val="008D2E"/>
                  </a:solidFill>
                  <a:latin typeface="+mn-ea"/>
                  <a:hlinkClick r:id="rId6">
                    <a:extLst>
                      <a:ext uri="{A12FA001-AC4F-418D-AE19-62706E023703}">
                        <ahyp:hlinkClr xmlns:ahyp="http://schemas.microsoft.com/office/drawing/2018/hyperlinkcolor" val="tx"/>
                      </a:ext>
                    </a:extLst>
                  </a:hlinkClick>
                </a:rPr>
              </a:br>
              <a:r>
                <a:rPr lang="ja-JP" altLang="ja-JP" sz="1200">
                  <a:solidFill>
                    <a:srgbClr val="008D2E"/>
                  </a:solidFill>
                  <a:latin typeface="+mn-ea"/>
                  <a:hlinkClick r:id="rId6">
                    <a:extLst>
                      <a:ext uri="{A12FA001-AC4F-418D-AE19-62706E023703}">
                        <ahyp:hlinkClr xmlns:ahyp="http://schemas.microsoft.com/office/drawing/2018/hyperlinkcolor" val="tx"/>
                      </a:ext>
                    </a:extLst>
                  </a:hlinkClick>
                </a:rPr>
                <a:t>サントリービジネスシステム株式会社」</a:t>
              </a:r>
              <a:endParaRPr lang="ja-JP" altLang="ja-JP" sz="1200" dirty="0">
                <a:solidFill>
                  <a:srgbClr val="008D2E"/>
                </a:solidFill>
                <a:latin typeface="+mn-ea"/>
              </a:endParaRPr>
            </a:p>
          </p:txBody>
        </p:sp>
        <p:cxnSp>
          <p:nvCxnSpPr>
            <p:cNvPr id="93" name="直線コネクタ 92">
              <a:extLst>
                <a:ext uri="{FF2B5EF4-FFF2-40B4-BE49-F238E27FC236}">
                  <a16:creationId xmlns:a16="http://schemas.microsoft.com/office/drawing/2014/main" id="{F1F2E0C8-743F-F9FB-34F0-740B38A7D3F9}"/>
                </a:ext>
              </a:extLst>
            </p:cNvPr>
            <p:cNvCxnSpPr>
              <a:cxnSpLocks/>
            </p:cNvCxnSpPr>
            <p:nvPr/>
          </p:nvCxnSpPr>
          <p:spPr>
            <a:xfrm>
              <a:off x="1181813" y="2670088"/>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B0872F18-61A7-844F-0D73-773DABD79F63}"/>
                </a:ext>
              </a:extLst>
            </p:cNvPr>
            <p:cNvCxnSpPr>
              <a:cxnSpLocks/>
            </p:cNvCxnSpPr>
            <p:nvPr/>
          </p:nvCxnSpPr>
          <p:spPr>
            <a:xfrm>
              <a:off x="1181813" y="3554186"/>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6F5E8DF2-7FF4-49A8-0EDC-705F1AA9A671}"/>
                </a:ext>
              </a:extLst>
            </p:cNvPr>
            <p:cNvCxnSpPr>
              <a:cxnSpLocks/>
            </p:cNvCxnSpPr>
            <p:nvPr/>
          </p:nvCxnSpPr>
          <p:spPr>
            <a:xfrm>
              <a:off x="1181813" y="4618284"/>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6DE8C2D7-2038-8411-08C3-70D11B0A46EA}"/>
                </a:ext>
              </a:extLst>
            </p:cNvPr>
            <p:cNvCxnSpPr>
              <a:cxnSpLocks/>
            </p:cNvCxnSpPr>
            <p:nvPr/>
          </p:nvCxnSpPr>
          <p:spPr>
            <a:xfrm>
              <a:off x="1181813" y="5862382"/>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15B1DABC-3889-C075-80BB-78C2FDD73046}"/>
                </a:ext>
              </a:extLst>
            </p:cNvPr>
            <p:cNvCxnSpPr>
              <a:cxnSpLocks/>
            </p:cNvCxnSpPr>
            <p:nvPr/>
          </p:nvCxnSpPr>
          <p:spPr>
            <a:xfrm>
              <a:off x="3878121" y="2670088"/>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0A859C2B-24CB-18C3-7C61-05F2ABAAB71E}"/>
                </a:ext>
              </a:extLst>
            </p:cNvPr>
            <p:cNvCxnSpPr>
              <a:cxnSpLocks/>
            </p:cNvCxnSpPr>
            <p:nvPr/>
          </p:nvCxnSpPr>
          <p:spPr>
            <a:xfrm>
              <a:off x="3878121" y="3554186"/>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18815CF9-257C-4B44-B913-567215084A63}"/>
                </a:ext>
              </a:extLst>
            </p:cNvPr>
            <p:cNvCxnSpPr>
              <a:cxnSpLocks/>
            </p:cNvCxnSpPr>
            <p:nvPr/>
          </p:nvCxnSpPr>
          <p:spPr>
            <a:xfrm>
              <a:off x="3878121" y="4618284"/>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6A3B85C8-863C-BEDD-F54D-B95A0E092C9F}"/>
                </a:ext>
              </a:extLst>
            </p:cNvPr>
            <p:cNvCxnSpPr>
              <a:cxnSpLocks/>
            </p:cNvCxnSpPr>
            <p:nvPr/>
          </p:nvCxnSpPr>
          <p:spPr>
            <a:xfrm>
              <a:off x="3878121" y="5862382"/>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077611BC-7AC7-7270-EF17-D83EC9CD728E}"/>
                </a:ext>
              </a:extLst>
            </p:cNvPr>
            <p:cNvCxnSpPr>
              <a:cxnSpLocks/>
            </p:cNvCxnSpPr>
            <p:nvPr/>
          </p:nvCxnSpPr>
          <p:spPr>
            <a:xfrm>
              <a:off x="6586151" y="2670088"/>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74F8B8A8-4F18-D504-030D-A85F0E4CA7EF}"/>
                </a:ext>
              </a:extLst>
            </p:cNvPr>
            <p:cNvCxnSpPr>
              <a:cxnSpLocks/>
            </p:cNvCxnSpPr>
            <p:nvPr/>
          </p:nvCxnSpPr>
          <p:spPr>
            <a:xfrm>
              <a:off x="6586151" y="3554186"/>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直線コネクタ 144">
              <a:extLst>
                <a:ext uri="{FF2B5EF4-FFF2-40B4-BE49-F238E27FC236}">
                  <a16:creationId xmlns:a16="http://schemas.microsoft.com/office/drawing/2014/main" id="{8C635688-BC41-3536-B322-BA8257C21D6D}"/>
                </a:ext>
              </a:extLst>
            </p:cNvPr>
            <p:cNvCxnSpPr>
              <a:cxnSpLocks/>
            </p:cNvCxnSpPr>
            <p:nvPr/>
          </p:nvCxnSpPr>
          <p:spPr>
            <a:xfrm>
              <a:off x="6586151" y="4618284"/>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768F9755-EB39-88EA-ACEC-3AC71A9711CA}"/>
                </a:ext>
              </a:extLst>
            </p:cNvPr>
            <p:cNvCxnSpPr>
              <a:cxnSpLocks/>
            </p:cNvCxnSpPr>
            <p:nvPr/>
          </p:nvCxnSpPr>
          <p:spPr>
            <a:xfrm>
              <a:off x="6586151" y="5862382"/>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04AFAAC2-FEBA-0B74-5350-ED048F43E989}"/>
                </a:ext>
              </a:extLst>
            </p:cNvPr>
            <p:cNvCxnSpPr>
              <a:cxnSpLocks/>
            </p:cNvCxnSpPr>
            <p:nvPr/>
          </p:nvCxnSpPr>
          <p:spPr>
            <a:xfrm>
              <a:off x="9337037" y="2670088"/>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直線コネクタ 151">
              <a:extLst>
                <a:ext uri="{FF2B5EF4-FFF2-40B4-BE49-F238E27FC236}">
                  <a16:creationId xmlns:a16="http://schemas.microsoft.com/office/drawing/2014/main" id="{D5A3E0A1-0DB7-3E47-4C02-8D446F57B116}"/>
                </a:ext>
              </a:extLst>
            </p:cNvPr>
            <p:cNvCxnSpPr>
              <a:cxnSpLocks/>
            </p:cNvCxnSpPr>
            <p:nvPr/>
          </p:nvCxnSpPr>
          <p:spPr>
            <a:xfrm>
              <a:off x="9337037" y="3554186"/>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79A5A72D-EC70-6258-CCC3-6746CAA25E71}"/>
                </a:ext>
              </a:extLst>
            </p:cNvPr>
            <p:cNvCxnSpPr>
              <a:cxnSpLocks/>
            </p:cNvCxnSpPr>
            <p:nvPr/>
          </p:nvCxnSpPr>
          <p:spPr>
            <a:xfrm>
              <a:off x="9337037" y="4618284"/>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直線コネクタ 153">
              <a:extLst>
                <a:ext uri="{FF2B5EF4-FFF2-40B4-BE49-F238E27FC236}">
                  <a16:creationId xmlns:a16="http://schemas.microsoft.com/office/drawing/2014/main" id="{5A706D30-55A3-C546-88D0-B80D541CFD97}"/>
                </a:ext>
              </a:extLst>
            </p:cNvPr>
            <p:cNvCxnSpPr>
              <a:cxnSpLocks/>
            </p:cNvCxnSpPr>
            <p:nvPr/>
          </p:nvCxnSpPr>
          <p:spPr>
            <a:xfrm>
              <a:off x="9337037" y="5862382"/>
              <a:ext cx="252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2018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1A4E-3819-7B5F-ED03-63D80EBA2C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AB4620-A596-ABB2-2795-0E5C1027D8A5}"/>
              </a:ext>
            </a:extLst>
          </p:cNvPr>
          <p:cNvSpPr>
            <a:spLocks noGrp="1"/>
          </p:cNvSpPr>
          <p:nvPr>
            <p:ph type="title"/>
          </p:nvPr>
        </p:nvSpPr>
        <p:spPr>
          <a:xfrm>
            <a:off x="334963" y="1"/>
            <a:ext cx="11522075" cy="914400"/>
          </a:xfrm>
        </p:spPr>
        <p:txBody>
          <a:bodyPr/>
          <a:lstStyle/>
          <a:p>
            <a:r>
              <a:rPr kumimoji="1" lang="ja-JP" altLang="en-US" dirty="0"/>
              <a:t>解決の方向性</a:t>
            </a:r>
            <a:br>
              <a:rPr kumimoji="1" lang="en-US" altLang="ja-JP" dirty="0"/>
            </a:br>
            <a:r>
              <a:rPr kumimoji="1" lang="ja-JP" altLang="en-US" dirty="0"/>
              <a:t>構造転換と役割定義</a:t>
            </a:r>
            <a:r>
              <a:rPr lang="ja-JP" altLang="en-US" dirty="0"/>
              <a:t>（</a:t>
            </a:r>
            <a:r>
              <a:rPr kumimoji="1" lang="en" altLang="ja-JP" dirty="0"/>
              <a:t>現行</a:t>
            </a:r>
            <a:r>
              <a:rPr lang="en" altLang="ja-JP" dirty="0"/>
              <a:t> </a:t>
            </a:r>
            <a:r>
              <a:rPr lang="en-US" altLang="ja-JP" dirty="0"/>
              <a:t>/</a:t>
            </a:r>
            <a:r>
              <a:rPr lang="en" altLang="ja-JP" dirty="0"/>
              <a:t> </a:t>
            </a:r>
            <a:r>
              <a:rPr kumimoji="1" lang="en" altLang="ja-JP" dirty="0"/>
              <a:t>目指す姿</a:t>
            </a:r>
            <a:r>
              <a:rPr kumimoji="1" lang="ja-JP" altLang="en-US" dirty="0"/>
              <a:t>）</a:t>
            </a:r>
          </a:p>
        </p:txBody>
      </p:sp>
      <p:sp>
        <p:nvSpPr>
          <p:cNvPr id="3" name="テキスト プレースホルダー 2">
            <a:extLst>
              <a:ext uri="{FF2B5EF4-FFF2-40B4-BE49-F238E27FC236}">
                <a16:creationId xmlns:a16="http://schemas.microsoft.com/office/drawing/2014/main" id="{A2D01A11-9CF0-DD30-BE5A-D75D2CFC014F}"/>
              </a:ext>
            </a:extLst>
          </p:cNvPr>
          <p:cNvSpPr>
            <a:spLocks noGrp="1"/>
          </p:cNvSpPr>
          <p:nvPr>
            <p:ph type="body" sz="quarter" idx="13"/>
          </p:nvPr>
        </p:nvSpPr>
        <p:spPr/>
        <p:txBody>
          <a:bodyPr/>
          <a:lstStyle/>
          <a:p>
            <a:pPr>
              <a:spcBef>
                <a:spcPts val="400"/>
              </a:spcBef>
            </a:pPr>
            <a:r>
              <a:rPr kumimoji="1" lang="ja-JP" altLang="en-US" sz="1800"/>
              <a:t>社員個人の肩代わり作業に頼る現行構造から脱却し、「戦略</a:t>
            </a:r>
            <a:r>
              <a:rPr kumimoji="1" lang="en-US" altLang="ja-JP" sz="1800" dirty="0"/>
              <a:t> (</a:t>
            </a:r>
            <a:r>
              <a:rPr kumimoji="1" lang="ja-JP" altLang="en-US" sz="1800"/>
              <a:t>本体デジ戦</a:t>
            </a:r>
            <a:r>
              <a:rPr kumimoji="1" lang="en-US" altLang="ja-JP" sz="1800" dirty="0"/>
              <a:t>) </a:t>
            </a:r>
            <a:r>
              <a:rPr kumimoji="1" lang="ja-JP" altLang="en-US" sz="1800"/>
              <a:t>」「統制</a:t>
            </a:r>
            <a:r>
              <a:rPr kumimoji="1" lang="en-US" altLang="ja-JP" sz="1800" dirty="0"/>
              <a:t> (</a:t>
            </a:r>
            <a:r>
              <a:rPr kumimoji="1" lang="en" altLang="ja-JP" sz="1800" dirty="0"/>
              <a:t>LEB</a:t>
            </a:r>
            <a:r>
              <a:rPr lang="en-US" altLang="ja-JP" sz="1800" dirty="0"/>
              <a:t>)</a:t>
            </a:r>
            <a:r>
              <a:rPr lang="en" altLang="ja-JP" sz="1800" dirty="0"/>
              <a:t> </a:t>
            </a:r>
            <a:r>
              <a:rPr kumimoji="1" lang="ja-JP" altLang="en" sz="1800"/>
              <a:t>」「</a:t>
            </a:r>
            <a:r>
              <a:rPr kumimoji="1" lang="ja-JP" altLang="en-US" sz="1800"/>
              <a:t>実行</a:t>
            </a:r>
            <a:r>
              <a:rPr kumimoji="1" lang="en-US" altLang="ja-JP" sz="1800" dirty="0"/>
              <a:t> (</a:t>
            </a:r>
            <a:r>
              <a:rPr kumimoji="1" lang="ja-JP" altLang="en-US" sz="1800"/>
              <a:t>外部</a:t>
            </a:r>
            <a:r>
              <a:rPr kumimoji="1" lang="en" altLang="ja-JP" sz="1800" dirty="0"/>
              <a:t>委託</a:t>
            </a:r>
            <a:r>
              <a:rPr lang="en-US" altLang="ja-JP" sz="1800" dirty="0"/>
              <a:t>)</a:t>
            </a:r>
            <a:r>
              <a:rPr lang="en" altLang="ja-JP" sz="1800" dirty="0"/>
              <a:t> </a:t>
            </a:r>
            <a:r>
              <a:rPr kumimoji="1" lang="ja-JP" altLang="en" sz="1800"/>
              <a:t>」</a:t>
            </a:r>
            <a:r>
              <a:rPr kumimoji="1" lang="ja-JP" altLang="en-US" sz="1800"/>
              <a:t>へ</a:t>
            </a:r>
            <a:br>
              <a:rPr kumimoji="1" lang="en-US" altLang="ja-JP" sz="1800" dirty="0"/>
            </a:br>
            <a:r>
              <a:rPr kumimoji="1" lang="ja-JP" altLang="en-US" sz="1800"/>
              <a:t>役割を明確に切り分ける</a:t>
            </a:r>
            <a:r>
              <a:rPr kumimoji="1" lang="en-US" altLang="ja-JP" sz="1800" dirty="0"/>
              <a:t>3</a:t>
            </a:r>
            <a:r>
              <a:rPr kumimoji="1" lang="ja-JP" altLang="en-US" sz="1800"/>
              <a:t>階層モデルへ構造転換を行う</a:t>
            </a:r>
          </a:p>
        </p:txBody>
      </p:sp>
      <p:grpSp>
        <p:nvGrpSpPr>
          <p:cNvPr id="398" name="グループ化 397">
            <a:extLst>
              <a:ext uri="{FF2B5EF4-FFF2-40B4-BE49-F238E27FC236}">
                <a16:creationId xmlns:a16="http://schemas.microsoft.com/office/drawing/2014/main" id="{05AD87A9-C421-EC18-B56F-A3DABF3D7B8F}"/>
              </a:ext>
            </a:extLst>
          </p:cNvPr>
          <p:cNvGrpSpPr/>
          <p:nvPr/>
        </p:nvGrpSpPr>
        <p:grpSpPr>
          <a:xfrm>
            <a:off x="334962" y="1633114"/>
            <a:ext cx="11527486" cy="4668953"/>
            <a:chOff x="334962" y="1633114"/>
            <a:chExt cx="11527486" cy="4668953"/>
          </a:xfrm>
        </p:grpSpPr>
        <p:grpSp>
          <p:nvGrpSpPr>
            <p:cNvPr id="397" name="グループ化 396">
              <a:extLst>
                <a:ext uri="{FF2B5EF4-FFF2-40B4-BE49-F238E27FC236}">
                  <a16:creationId xmlns:a16="http://schemas.microsoft.com/office/drawing/2014/main" id="{47C094A0-45F2-1BE2-9CE4-0F49C4CA9F97}"/>
                </a:ext>
              </a:extLst>
            </p:cNvPr>
            <p:cNvGrpSpPr/>
            <p:nvPr/>
          </p:nvGrpSpPr>
          <p:grpSpPr>
            <a:xfrm>
              <a:off x="334962" y="1995832"/>
              <a:ext cx="1246776" cy="3269308"/>
              <a:chOff x="367103" y="1995832"/>
              <a:chExt cx="1246776" cy="3269308"/>
            </a:xfrm>
          </p:grpSpPr>
          <p:sp>
            <p:nvSpPr>
              <p:cNvPr id="158" name="フリーフォーム 157">
                <a:extLst>
                  <a:ext uri="{FF2B5EF4-FFF2-40B4-BE49-F238E27FC236}">
                    <a16:creationId xmlns:a16="http://schemas.microsoft.com/office/drawing/2014/main" id="{E8CAA030-A78A-0B0B-CC63-8D15048EDCE5}"/>
                  </a:ext>
                </a:extLst>
              </p:cNvPr>
              <p:cNvSpPr/>
              <p:nvPr/>
            </p:nvSpPr>
            <p:spPr>
              <a:xfrm>
                <a:off x="782695" y="1995832"/>
                <a:ext cx="415592" cy="1044000"/>
              </a:xfrm>
              <a:custGeom>
                <a:avLst/>
                <a:gdLst>
                  <a:gd name="csX0" fmla="*/ 0 w 2709333"/>
                  <a:gd name="csY0" fmla="*/ 1806222 h 1806222"/>
                  <a:gd name="csX1" fmla="*/ 1354667 w 2709333"/>
                  <a:gd name="csY1" fmla="*/ 0 h 1806222"/>
                  <a:gd name="csX2" fmla="*/ 1354667 w 2709333"/>
                  <a:gd name="csY2" fmla="*/ 0 h 1806222"/>
                  <a:gd name="csX3" fmla="*/ 2709333 w 2709333"/>
                  <a:gd name="csY3" fmla="*/ 1806222 h 1806222"/>
                  <a:gd name="csX4" fmla="*/ 0 w 2709333"/>
                  <a:gd name="csY4" fmla="*/ 1806222 h 1806222"/>
                </a:gdLst>
                <a:ahLst/>
                <a:cxnLst>
                  <a:cxn ang="0">
                    <a:pos x="csX0" y="csY0"/>
                  </a:cxn>
                  <a:cxn ang="0">
                    <a:pos x="csX1" y="csY1"/>
                  </a:cxn>
                  <a:cxn ang="0">
                    <a:pos x="csX2" y="csY2"/>
                  </a:cxn>
                  <a:cxn ang="0">
                    <a:pos x="csX3" y="csY3"/>
                  </a:cxn>
                  <a:cxn ang="0">
                    <a:pos x="csX4" y="csY4"/>
                  </a:cxn>
                </a:cxnLst>
                <a:rect l="l" t="t" r="r" b="b"/>
                <a:pathLst>
                  <a:path w="2709333" h="1806222">
                    <a:moveTo>
                      <a:pt x="0" y="1806222"/>
                    </a:moveTo>
                    <a:lnTo>
                      <a:pt x="1354667" y="0"/>
                    </a:lnTo>
                    <a:lnTo>
                      <a:pt x="1354667" y="0"/>
                    </a:lnTo>
                    <a:lnTo>
                      <a:pt x="2709333" y="1806222"/>
                    </a:lnTo>
                    <a:lnTo>
                      <a:pt x="0" y="1806222"/>
                    </a:lnTo>
                    <a:close/>
                  </a:path>
                </a:pathLst>
              </a:custGeom>
              <a:solidFill>
                <a:srgbClr val="008D2E">
                  <a:alpha val="50000"/>
                </a:srgb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kumimoji="1" lang="ja-JP" altLang="en-US" sz="5100" kern="1200">
                  <a:latin typeface="+mn-ea"/>
                </a:endParaRPr>
              </a:p>
            </p:txBody>
          </p:sp>
          <p:sp>
            <p:nvSpPr>
              <p:cNvPr id="159" name="フリーフォーム 158">
                <a:extLst>
                  <a:ext uri="{FF2B5EF4-FFF2-40B4-BE49-F238E27FC236}">
                    <a16:creationId xmlns:a16="http://schemas.microsoft.com/office/drawing/2014/main" id="{24549040-8A91-E71A-F605-922A522D8CD8}"/>
                  </a:ext>
                </a:extLst>
              </p:cNvPr>
              <p:cNvSpPr/>
              <p:nvPr/>
            </p:nvSpPr>
            <p:spPr>
              <a:xfrm>
                <a:off x="574899" y="3108485"/>
                <a:ext cx="831184" cy="1044000"/>
              </a:xfrm>
              <a:custGeom>
                <a:avLst/>
                <a:gdLst>
                  <a:gd name="csX0" fmla="*/ 0 w 5418666"/>
                  <a:gd name="csY0" fmla="*/ 1806222 h 1806222"/>
                  <a:gd name="csX1" fmla="*/ 1354667 w 5418666"/>
                  <a:gd name="csY1" fmla="*/ 0 h 1806222"/>
                  <a:gd name="csX2" fmla="*/ 4064000 w 5418666"/>
                  <a:gd name="csY2" fmla="*/ 0 h 1806222"/>
                  <a:gd name="csX3" fmla="*/ 5418666 w 5418666"/>
                  <a:gd name="csY3" fmla="*/ 1806222 h 1806222"/>
                  <a:gd name="csX4" fmla="*/ 0 w 5418666"/>
                  <a:gd name="csY4" fmla="*/ 1806222 h 1806222"/>
                </a:gdLst>
                <a:ahLst/>
                <a:cxnLst>
                  <a:cxn ang="0">
                    <a:pos x="csX0" y="csY0"/>
                  </a:cxn>
                  <a:cxn ang="0">
                    <a:pos x="csX1" y="csY1"/>
                  </a:cxn>
                  <a:cxn ang="0">
                    <a:pos x="csX2" y="csY2"/>
                  </a:cxn>
                  <a:cxn ang="0">
                    <a:pos x="csX3" y="csY3"/>
                  </a:cxn>
                  <a:cxn ang="0">
                    <a:pos x="csX4" y="csY4"/>
                  </a:cxn>
                </a:cxnLst>
                <a:rect l="l" t="t" r="r" b="b"/>
                <a:pathLst>
                  <a:path w="5418666" h="1806222">
                    <a:moveTo>
                      <a:pt x="0" y="1806222"/>
                    </a:moveTo>
                    <a:lnTo>
                      <a:pt x="1354667" y="0"/>
                    </a:lnTo>
                    <a:lnTo>
                      <a:pt x="4064000" y="0"/>
                    </a:lnTo>
                    <a:lnTo>
                      <a:pt x="5418666" y="1806222"/>
                    </a:lnTo>
                    <a:lnTo>
                      <a:pt x="0" y="1806222"/>
                    </a:lnTo>
                    <a:close/>
                  </a:path>
                </a:pathLst>
              </a:custGeom>
              <a:solidFill>
                <a:srgbClr val="008D2E">
                  <a:alpha val="40000"/>
                </a:srgb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0817" tIns="82550" rIns="1030816" bIns="82550" numCol="1" spcCol="1270" anchor="ctr" anchorCtr="0">
                <a:noAutofit/>
              </a:bodyPr>
              <a:lstStyle/>
              <a:p>
                <a:pPr marL="0" lvl="0" indent="0" algn="ctr" defTabSz="2889250">
                  <a:lnSpc>
                    <a:spcPct val="90000"/>
                  </a:lnSpc>
                  <a:spcBef>
                    <a:spcPct val="0"/>
                  </a:spcBef>
                  <a:spcAft>
                    <a:spcPct val="35000"/>
                  </a:spcAft>
                  <a:buNone/>
                </a:pPr>
                <a:endParaRPr kumimoji="1" lang="ja-JP" altLang="en-US" sz="6500" kern="1200">
                  <a:latin typeface="+mn-ea"/>
                </a:endParaRPr>
              </a:p>
            </p:txBody>
          </p:sp>
          <p:sp>
            <p:nvSpPr>
              <p:cNvPr id="160" name="フリーフォーム 159">
                <a:extLst>
                  <a:ext uri="{FF2B5EF4-FFF2-40B4-BE49-F238E27FC236}">
                    <a16:creationId xmlns:a16="http://schemas.microsoft.com/office/drawing/2014/main" id="{62FDC9DF-7B89-64DD-AB6E-0D201078B391}"/>
                  </a:ext>
                </a:extLst>
              </p:cNvPr>
              <p:cNvSpPr/>
              <p:nvPr/>
            </p:nvSpPr>
            <p:spPr>
              <a:xfrm>
                <a:off x="367103" y="4221140"/>
                <a:ext cx="1246776" cy="1044000"/>
              </a:xfrm>
              <a:custGeom>
                <a:avLst/>
                <a:gdLst>
                  <a:gd name="csX0" fmla="*/ 0 w 8128000"/>
                  <a:gd name="csY0" fmla="*/ 1806222 h 1806222"/>
                  <a:gd name="csX1" fmla="*/ 1354667 w 8128000"/>
                  <a:gd name="csY1" fmla="*/ 0 h 1806222"/>
                  <a:gd name="csX2" fmla="*/ 6773334 w 8128000"/>
                  <a:gd name="csY2" fmla="*/ 0 h 1806222"/>
                  <a:gd name="csX3" fmla="*/ 8128000 w 8128000"/>
                  <a:gd name="csY3" fmla="*/ 1806222 h 1806222"/>
                  <a:gd name="csX4" fmla="*/ 0 w 8128000"/>
                  <a:gd name="csY4" fmla="*/ 1806222 h 1806222"/>
                </a:gdLst>
                <a:ahLst/>
                <a:cxnLst>
                  <a:cxn ang="0">
                    <a:pos x="csX0" y="csY0"/>
                  </a:cxn>
                  <a:cxn ang="0">
                    <a:pos x="csX1" y="csY1"/>
                  </a:cxn>
                  <a:cxn ang="0">
                    <a:pos x="csX2" y="csY2"/>
                  </a:cxn>
                  <a:cxn ang="0">
                    <a:pos x="csX3" y="csY3"/>
                  </a:cxn>
                  <a:cxn ang="0">
                    <a:pos x="csX4" y="csY4"/>
                  </a:cxn>
                </a:cxnLst>
                <a:rect l="l" t="t" r="r" b="b"/>
                <a:pathLst>
                  <a:path w="8128000" h="1806222">
                    <a:moveTo>
                      <a:pt x="0" y="1806222"/>
                    </a:moveTo>
                    <a:lnTo>
                      <a:pt x="1354667" y="0"/>
                    </a:lnTo>
                    <a:lnTo>
                      <a:pt x="6773334" y="0"/>
                    </a:lnTo>
                    <a:lnTo>
                      <a:pt x="8128000" y="1806222"/>
                    </a:lnTo>
                    <a:lnTo>
                      <a:pt x="0" y="1806222"/>
                    </a:lnTo>
                    <a:close/>
                  </a:path>
                </a:pathLst>
              </a:custGeom>
              <a:solidFill>
                <a:srgbClr val="008D2E">
                  <a:alpha val="20000"/>
                </a:srgb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4949" tIns="82550" rIns="1504951" bIns="82550" numCol="1" spcCol="1270" anchor="ctr" anchorCtr="0">
                <a:noAutofit/>
              </a:bodyPr>
              <a:lstStyle/>
              <a:p>
                <a:pPr marL="0" lvl="0" indent="0" algn="ctr" defTabSz="2889250">
                  <a:lnSpc>
                    <a:spcPct val="90000"/>
                  </a:lnSpc>
                  <a:spcBef>
                    <a:spcPct val="0"/>
                  </a:spcBef>
                  <a:spcAft>
                    <a:spcPct val="35000"/>
                  </a:spcAft>
                  <a:buNone/>
                </a:pPr>
                <a:endParaRPr kumimoji="1" lang="ja-JP" altLang="en-US" sz="6500" kern="1200">
                  <a:latin typeface="+mn-ea"/>
                </a:endParaRPr>
              </a:p>
            </p:txBody>
          </p:sp>
          <p:sp>
            <p:nvSpPr>
              <p:cNvPr id="161" name="正方形/長方形 160">
                <a:extLst>
                  <a:ext uri="{FF2B5EF4-FFF2-40B4-BE49-F238E27FC236}">
                    <a16:creationId xmlns:a16="http://schemas.microsoft.com/office/drawing/2014/main" id="{E93B1F91-D151-87B1-54EB-680AD9E1771E}"/>
                  </a:ext>
                </a:extLst>
              </p:cNvPr>
              <p:cNvSpPr/>
              <p:nvPr/>
            </p:nvSpPr>
            <p:spPr>
              <a:xfrm>
                <a:off x="775545" y="4600867"/>
                <a:ext cx="429891" cy="284547"/>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400" b="1">
                    <a:solidFill>
                      <a:schemeClr val="accent5"/>
                    </a:solidFill>
                    <a:latin typeface="+mn-ea"/>
                  </a:rPr>
                  <a:t>実行</a:t>
                </a:r>
                <a:endParaRPr lang="ja-JP" altLang="en-US" sz="1400" b="1" dirty="0">
                  <a:solidFill>
                    <a:schemeClr val="tx1"/>
                  </a:solidFill>
                  <a:latin typeface="+mn-ea"/>
                </a:endParaRPr>
              </a:p>
            </p:txBody>
          </p:sp>
          <p:sp>
            <p:nvSpPr>
              <p:cNvPr id="162" name="正方形/長方形 161">
                <a:extLst>
                  <a:ext uri="{FF2B5EF4-FFF2-40B4-BE49-F238E27FC236}">
                    <a16:creationId xmlns:a16="http://schemas.microsoft.com/office/drawing/2014/main" id="{E4E828A6-252E-EAD5-4B35-7B228D075D5D}"/>
                  </a:ext>
                </a:extLst>
              </p:cNvPr>
              <p:cNvSpPr/>
              <p:nvPr/>
            </p:nvSpPr>
            <p:spPr>
              <a:xfrm>
                <a:off x="775545" y="3488212"/>
                <a:ext cx="429891" cy="284547"/>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400" b="1">
                    <a:solidFill>
                      <a:schemeClr val="accent5"/>
                    </a:solidFill>
                    <a:latin typeface="+mn-ea"/>
                  </a:rPr>
                  <a:t>統制</a:t>
                </a:r>
                <a:endParaRPr lang="ja-JP" altLang="en-US" sz="1400" b="1" dirty="0">
                  <a:solidFill>
                    <a:schemeClr val="tx1"/>
                  </a:solidFill>
                  <a:latin typeface="+mn-ea"/>
                </a:endParaRPr>
              </a:p>
            </p:txBody>
          </p:sp>
          <p:sp>
            <p:nvSpPr>
              <p:cNvPr id="163" name="正方形/長方形 162">
                <a:extLst>
                  <a:ext uri="{FF2B5EF4-FFF2-40B4-BE49-F238E27FC236}">
                    <a16:creationId xmlns:a16="http://schemas.microsoft.com/office/drawing/2014/main" id="{AFB7C025-D9C3-9894-84F0-0AE625630E3D}"/>
                  </a:ext>
                </a:extLst>
              </p:cNvPr>
              <p:cNvSpPr/>
              <p:nvPr/>
            </p:nvSpPr>
            <p:spPr>
              <a:xfrm>
                <a:off x="775546" y="2375558"/>
                <a:ext cx="429891" cy="284547"/>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400" b="1">
                    <a:solidFill>
                      <a:schemeClr val="accent5"/>
                    </a:solidFill>
                    <a:latin typeface="+mn-ea"/>
                  </a:rPr>
                  <a:t>戦略</a:t>
                </a:r>
                <a:endParaRPr lang="ja-JP" altLang="en-US" sz="1400" b="1" dirty="0">
                  <a:solidFill>
                    <a:schemeClr val="tx1"/>
                  </a:solidFill>
                  <a:latin typeface="+mn-ea"/>
                </a:endParaRPr>
              </a:p>
            </p:txBody>
          </p:sp>
        </p:grpSp>
        <p:grpSp>
          <p:nvGrpSpPr>
            <p:cNvPr id="243" name="グループ化 242">
              <a:extLst>
                <a:ext uri="{FF2B5EF4-FFF2-40B4-BE49-F238E27FC236}">
                  <a16:creationId xmlns:a16="http://schemas.microsoft.com/office/drawing/2014/main" id="{D3CF00D8-F67E-BB9F-5B80-AFC47DBD9CB3}"/>
                </a:ext>
              </a:extLst>
            </p:cNvPr>
            <p:cNvGrpSpPr/>
            <p:nvPr/>
          </p:nvGrpSpPr>
          <p:grpSpPr>
            <a:xfrm>
              <a:off x="334963" y="5315662"/>
              <a:ext cx="11522075" cy="252000"/>
              <a:chOff x="334963" y="5557402"/>
              <a:chExt cx="11522075" cy="252000"/>
            </a:xfrm>
          </p:grpSpPr>
          <p:cxnSp>
            <p:nvCxnSpPr>
              <p:cNvPr id="240" name="直線コネクタ 31">
                <a:extLst>
                  <a:ext uri="{FF2B5EF4-FFF2-40B4-BE49-F238E27FC236}">
                    <a16:creationId xmlns:a16="http://schemas.microsoft.com/office/drawing/2014/main" id="{9894E8C7-BF6B-C0A0-D060-EDAD2CCEE73C}"/>
                  </a:ext>
                </a:extLst>
              </p:cNvPr>
              <p:cNvCxnSpPr>
                <a:cxnSpLocks/>
              </p:cNvCxnSpPr>
              <p:nvPr/>
            </p:nvCxnSpPr>
            <p:spPr>
              <a:xfrm>
                <a:off x="334963" y="5683402"/>
                <a:ext cx="11522075" cy="0"/>
              </a:xfrm>
              <a:prstGeom prst="line">
                <a:avLst/>
              </a:prstGeom>
              <a:ln w="952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41" name="円/楕円 32">
                <a:extLst>
                  <a:ext uri="{FF2B5EF4-FFF2-40B4-BE49-F238E27FC236}">
                    <a16:creationId xmlns:a16="http://schemas.microsoft.com/office/drawing/2014/main" id="{B239DF98-9C80-D549-3523-CB8B5DD464F8}"/>
                  </a:ext>
                </a:extLst>
              </p:cNvPr>
              <p:cNvSpPr>
                <a:spLocks noChangeAspect="1"/>
              </p:cNvSpPr>
              <p:nvPr/>
            </p:nvSpPr>
            <p:spPr>
              <a:xfrm>
                <a:off x="5970000" y="5557402"/>
                <a:ext cx="252000" cy="252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buClr>
                    <a:schemeClr val="accent1"/>
                  </a:buClr>
                </a:pPr>
                <a:endParaRPr kumimoji="1" lang="ja-JP" altLang="en-US">
                  <a:latin typeface="+mn-ea"/>
                </a:endParaRPr>
              </a:p>
            </p:txBody>
          </p:sp>
          <p:pic>
            <p:nvPicPr>
              <p:cNvPr id="242" name="グラフィックス 111" descr="キャレットを下へ 枠線">
                <a:extLst>
                  <a:ext uri="{FF2B5EF4-FFF2-40B4-BE49-F238E27FC236}">
                    <a16:creationId xmlns:a16="http://schemas.microsoft.com/office/drawing/2014/main" id="{445AE86A-F9B1-5449-532A-D8C96E26C2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0000" y="5557402"/>
                <a:ext cx="252000" cy="252000"/>
              </a:xfrm>
              <a:prstGeom prst="rect">
                <a:avLst/>
              </a:prstGeom>
            </p:spPr>
          </p:pic>
        </p:grpSp>
        <p:grpSp>
          <p:nvGrpSpPr>
            <p:cNvPr id="251" name="グループ化 250">
              <a:extLst>
                <a:ext uri="{FF2B5EF4-FFF2-40B4-BE49-F238E27FC236}">
                  <a16:creationId xmlns:a16="http://schemas.microsoft.com/office/drawing/2014/main" id="{3F8229F5-AF77-200D-2D04-60F02F8182F4}"/>
                </a:ext>
              </a:extLst>
            </p:cNvPr>
            <p:cNvGrpSpPr/>
            <p:nvPr/>
          </p:nvGrpSpPr>
          <p:grpSpPr>
            <a:xfrm>
              <a:off x="334963" y="5557980"/>
              <a:ext cx="11522075" cy="744087"/>
              <a:chOff x="334963" y="5557981"/>
              <a:chExt cx="11522075" cy="744087"/>
            </a:xfrm>
          </p:grpSpPr>
          <p:grpSp>
            <p:nvGrpSpPr>
              <p:cNvPr id="250" name="グループ化 249">
                <a:extLst>
                  <a:ext uri="{FF2B5EF4-FFF2-40B4-BE49-F238E27FC236}">
                    <a16:creationId xmlns:a16="http://schemas.microsoft.com/office/drawing/2014/main" id="{974D636B-D4BD-19B7-B70A-87F0CA635093}"/>
                  </a:ext>
                </a:extLst>
              </p:cNvPr>
              <p:cNvGrpSpPr/>
              <p:nvPr/>
            </p:nvGrpSpPr>
            <p:grpSpPr>
              <a:xfrm>
                <a:off x="641187" y="5842724"/>
                <a:ext cx="10934617" cy="396001"/>
                <a:chOff x="775545" y="5842724"/>
                <a:chExt cx="10934617" cy="396001"/>
              </a:xfrm>
            </p:grpSpPr>
            <p:sp>
              <p:nvSpPr>
                <p:cNvPr id="245" name="正方形/長方形 244">
                  <a:extLst>
                    <a:ext uri="{FF2B5EF4-FFF2-40B4-BE49-F238E27FC236}">
                      <a16:creationId xmlns:a16="http://schemas.microsoft.com/office/drawing/2014/main" id="{2B38C0BB-26BB-EAC5-6C9A-98A6015A0600}"/>
                    </a:ext>
                  </a:extLst>
                </p:cNvPr>
                <p:cNvSpPr/>
                <p:nvPr/>
              </p:nvSpPr>
              <p:spPr>
                <a:xfrm>
                  <a:off x="775545" y="5842724"/>
                  <a:ext cx="2592000" cy="396000"/>
                </a:xfrm>
                <a:prstGeom prst="rect">
                  <a:avLst/>
                </a:prstGeom>
                <a:solidFill>
                  <a:srgbClr val="008D2E"/>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200">
                      <a:solidFill>
                        <a:schemeClr val="bg1"/>
                      </a:solidFill>
                      <a:latin typeface="+mn-ea"/>
                    </a:rPr>
                    <a:t>統制の実務まで本体から切り離し、</a:t>
                  </a:r>
                  <a:br>
                    <a:rPr lang="en-US" altLang="ja-JP" sz="1200" dirty="0">
                      <a:solidFill>
                        <a:schemeClr val="bg1"/>
                      </a:solidFill>
                      <a:latin typeface="+mn-ea"/>
                    </a:rPr>
                  </a:br>
                  <a:r>
                    <a:rPr lang="ja-JP" altLang="en-US" sz="1200">
                      <a:solidFill>
                        <a:schemeClr val="bg1"/>
                      </a:solidFill>
                      <a:latin typeface="+mn-ea"/>
                    </a:rPr>
                    <a:t>社員シフトを徹底できる</a:t>
                  </a:r>
                  <a:endParaRPr lang="ja-JP" altLang="en-US" sz="1200" dirty="0">
                    <a:solidFill>
                      <a:schemeClr val="bg1"/>
                    </a:solidFill>
                    <a:latin typeface="+mn-ea"/>
                  </a:endParaRPr>
                </a:p>
              </p:txBody>
            </p:sp>
            <p:sp>
              <p:nvSpPr>
                <p:cNvPr id="246" name="正方形/長方形 245">
                  <a:extLst>
                    <a:ext uri="{FF2B5EF4-FFF2-40B4-BE49-F238E27FC236}">
                      <a16:creationId xmlns:a16="http://schemas.microsoft.com/office/drawing/2014/main" id="{7A4AA8BB-80DC-B5D8-65CD-0B11553F9E5D}"/>
                    </a:ext>
                  </a:extLst>
                </p:cNvPr>
                <p:cNvSpPr/>
                <p:nvPr/>
              </p:nvSpPr>
              <p:spPr>
                <a:xfrm>
                  <a:off x="3556417" y="5842724"/>
                  <a:ext cx="2592000" cy="396000"/>
                </a:xfrm>
                <a:prstGeom prst="rect">
                  <a:avLst/>
                </a:prstGeom>
                <a:solidFill>
                  <a:srgbClr val="008D2E"/>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200">
                      <a:solidFill>
                        <a:schemeClr val="bg1"/>
                      </a:solidFill>
                      <a:latin typeface="+mn-ea"/>
                    </a:rPr>
                    <a:t>本体より軽いコスト構造＋委託費の</a:t>
                  </a:r>
                  <a:br>
                    <a:rPr lang="en-US" altLang="ja-JP" sz="1200" dirty="0">
                      <a:solidFill>
                        <a:schemeClr val="bg1"/>
                      </a:solidFill>
                      <a:latin typeface="+mn-ea"/>
                    </a:rPr>
                  </a:br>
                  <a:r>
                    <a:rPr lang="ja-JP" altLang="en-US" sz="1200">
                      <a:solidFill>
                        <a:schemeClr val="bg1"/>
                      </a:solidFill>
                      <a:latin typeface="+mn-ea"/>
                    </a:rPr>
                    <a:t>グループ内還流</a:t>
                  </a:r>
                </a:p>
              </p:txBody>
            </p:sp>
            <p:sp>
              <p:nvSpPr>
                <p:cNvPr id="247" name="正方形/長方形 246">
                  <a:extLst>
                    <a:ext uri="{FF2B5EF4-FFF2-40B4-BE49-F238E27FC236}">
                      <a16:creationId xmlns:a16="http://schemas.microsoft.com/office/drawing/2014/main" id="{9F96AF73-3DEC-5696-1529-4EF8E24BEC77}"/>
                    </a:ext>
                  </a:extLst>
                </p:cNvPr>
                <p:cNvSpPr/>
                <p:nvPr/>
              </p:nvSpPr>
              <p:spPr>
                <a:xfrm>
                  <a:off x="6337289" y="5842724"/>
                  <a:ext cx="2592000" cy="396000"/>
                </a:xfrm>
                <a:prstGeom prst="rect">
                  <a:avLst/>
                </a:prstGeom>
                <a:solidFill>
                  <a:srgbClr val="008D2E"/>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200">
                      <a:solidFill>
                        <a:schemeClr val="bg1"/>
                      </a:solidFill>
                      <a:latin typeface="+mn-ea"/>
                    </a:rPr>
                    <a:t>統制ノウハウをグループ内に保持し、</a:t>
                  </a:r>
                  <a:br>
                    <a:rPr lang="en-US" altLang="ja-JP" sz="1200" dirty="0">
                      <a:solidFill>
                        <a:schemeClr val="bg1"/>
                      </a:solidFill>
                      <a:latin typeface="+mn-ea"/>
                    </a:rPr>
                  </a:br>
                  <a:r>
                    <a:rPr lang="ja-JP" altLang="en-US" sz="1200">
                      <a:solidFill>
                        <a:schemeClr val="bg1"/>
                      </a:solidFill>
                      <a:latin typeface="+mn-ea"/>
                    </a:rPr>
                    <a:t>ベンダ交渉力と切替自由度を維持</a:t>
                  </a:r>
                </a:p>
              </p:txBody>
            </p:sp>
            <p:sp>
              <p:nvSpPr>
                <p:cNvPr id="248" name="正方形/長方形 247">
                  <a:extLst>
                    <a:ext uri="{FF2B5EF4-FFF2-40B4-BE49-F238E27FC236}">
                      <a16:creationId xmlns:a16="http://schemas.microsoft.com/office/drawing/2014/main" id="{F0A321B1-EE28-A556-AA4E-46A899A5BBEF}"/>
                    </a:ext>
                  </a:extLst>
                </p:cNvPr>
                <p:cNvSpPr/>
                <p:nvPr/>
              </p:nvSpPr>
              <p:spPr>
                <a:xfrm>
                  <a:off x="9118162" y="5842725"/>
                  <a:ext cx="2592000" cy="396000"/>
                </a:xfrm>
                <a:prstGeom prst="rect">
                  <a:avLst/>
                </a:prstGeom>
                <a:solidFill>
                  <a:srgbClr val="008D2E"/>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200">
                      <a:solidFill>
                        <a:schemeClr val="bg1"/>
                      </a:solidFill>
                      <a:latin typeface="+mn-ea"/>
                    </a:rPr>
                    <a:t>将来のグループ他社・海外展開で</a:t>
                  </a:r>
                  <a:br>
                    <a:rPr lang="en-US" altLang="ja-JP" sz="1200" dirty="0">
                      <a:solidFill>
                        <a:schemeClr val="bg1"/>
                      </a:solidFill>
                      <a:latin typeface="+mn-ea"/>
                    </a:rPr>
                  </a:br>
                  <a:r>
                    <a:rPr lang="ja-JP" altLang="en-US" sz="1200">
                      <a:solidFill>
                        <a:schemeClr val="bg1"/>
                      </a:solidFill>
                      <a:latin typeface="+mn-ea"/>
                    </a:rPr>
                    <a:t>スケールメリットが拡大</a:t>
                  </a:r>
                </a:p>
              </p:txBody>
            </p:sp>
          </p:grpSp>
          <p:sp>
            <p:nvSpPr>
              <p:cNvPr id="249" name="正方形/長方形 248">
                <a:extLst>
                  <a:ext uri="{FF2B5EF4-FFF2-40B4-BE49-F238E27FC236}">
                    <a16:creationId xmlns:a16="http://schemas.microsoft.com/office/drawing/2014/main" id="{1A45440D-D749-679A-884B-E57B8044DE47}"/>
                  </a:ext>
                </a:extLst>
              </p:cNvPr>
              <p:cNvSpPr/>
              <p:nvPr/>
            </p:nvSpPr>
            <p:spPr>
              <a:xfrm>
                <a:off x="334963" y="5723072"/>
                <a:ext cx="11522075" cy="578996"/>
              </a:xfrm>
              <a:prstGeom prst="rect">
                <a:avLst/>
              </a:prstGeom>
              <a:noFill/>
              <a:ln w="9525">
                <a:solidFill>
                  <a:srgbClr val="008D2E"/>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endParaRPr lang="ja-JP" altLang="en-US" sz="1400" dirty="0">
                  <a:solidFill>
                    <a:schemeClr val="tx1"/>
                  </a:solidFill>
                  <a:latin typeface="+mn-ea"/>
                </a:endParaRPr>
              </a:p>
            </p:txBody>
          </p:sp>
          <p:sp>
            <p:nvSpPr>
              <p:cNvPr id="244" name="正方形/長方形 243">
                <a:extLst>
                  <a:ext uri="{FF2B5EF4-FFF2-40B4-BE49-F238E27FC236}">
                    <a16:creationId xmlns:a16="http://schemas.microsoft.com/office/drawing/2014/main" id="{A22D5477-19B1-ABB6-465D-C5278D789F01}"/>
                  </a:ext>
                </a:extLst>
              </p:cNvPr>
              <p:cNvSpPr/>
              <p:nvPr/>
            </p:nvSpPr>
            <p:spPr>
              <a:xfrm>
                <a:off x="467537" y="5557981"/>
                <a:ext cx="2275663" cy="284547"/>
              </a:xfrm>
              <a:prstGeom prst="rect">
                <a:avLst/>
              </a:prstGeom>
              <a:solidFill>
                <a:schemeClr val="bg1"/>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 altLang="ja-JP" sz="1400" dirty="0">
                    <a:solidFill>
                      <a:schemeClr val="accent5"/>
                    </a:solidFill>
                    <a:latin typeface="+mn-ea"/>
                  </a:rPr>
                  <a:t>LEB</a:t>
                </a:r>
                <a:r>
                  <a:rPr lang="ja-JP" altLang="en-US" sz="1400">
                    <a:solidFill>
                      <a:schemeClr val="accent5"/>
                    </a:solidFill>
                    <a:latin typeface="+mn-ea"/>
                  </a:rPr>
                  <a:t>に統制を置く戦略的意義</a:t>
                </a:r>
                <a:endParaRPr lang="ja-JP" altLang="en-US" sz="1400" dirty="0">
                  <a:solidFill>
                    <a:schemeClr val="tx1"/>
                  </a:solidFill>
                  <a:latin typeface="+mn-ea"/>
                </a:endParaRPr>
              </a:p>
            </p:txBody>
          </p:sp>
        </p:grpSp>
        <p:grpSp>
          <p:nvGrpSpPr>
            <p:cNvPr id="396" name="グループ化 395">
              <a:extLst>
                <a:ext uri="{FF2B5EF4-FFF2-40B4-BE49-F238E27FC236}">
                  <a16:creationId xmlns:a16="http://schemas.microsoft.com/office/drawing/2014/main" id="{3448C4D8-5B91-0F35-2C50-6B3ADF3873C1}"/>
                </a:ext>
              </a:extLst>
            </p:cNvPr>
            <p:cNvGrpSpPr/>
            <p:nvPr/>
          </p:nvGrpSpPr>
          <p:grpSpPr>
            <a:xfrm>
              <a:off x="1667113" y="1633114"/>
              <a:ext cx="3031556" cy="3632027"/>
              <a:chOff x="1654236" y="1633114"/>
              <a:chExt cx="3031556" cy="3632027"/>
            </a:xfrm>
          </p:grpSpPr>
          <p:sp>
            <p:nvSpPr>
              <p:cNvPr id="164" name="ホームベース 51">
                <a:extLst>
                  <a:ext uri="{FF2B5EF4-FFF2-40B4-BE49-F238E27FC236}">
                    <a16:creationId xmlns:a16="http://schemas.microsoft.com/office/drawing/2014/main" id="{7FF3462D-2DB5-AB92-7095-62893745333A}"/>
                  </a:ext>
                </a:extLst>
              </p:cNvPr>
              <p:cNvSpPr/>
              <p:nvPr/>
            </p:nvSpPr>
            <p:spPr>
              <a:xfrm>
                <a:off x="1661792" y="1633114"/>
                <a:ext cx="3024000" cy="324000"/>
              </a:xfrm>
              <a:prstGeom prst="homePlate">
                <a:avLst>
                  <a:gd name="adj" fmla="val 1820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buClr>
                    <a:schemeClr val="accent1"/>
                  </a:buClr>
                </a:pPr>
                <a:r>
                  <a:rPr kumimoji="1" lang="en-US" altLang="ja-JP" sz="1600" dirty="0">
                    <a:latin typeface="+mn-ea"/>
                  </a:rPr>
                  <a:t>現行</a:t>
                </a:r>
                <a:r>
                  <a:rPr lang="en-US" altLang="ja-JP" sz="1600" dirty="0">
                    <a:latin typeface="+mn-ea"/>
                  </a:rPr>
                  <a:t/>
                </a:r>
                <a:r>
                  <a:rPr kumimoji="1" lang="ja-JP" altLang="en-US" sz="1600">
                    <a:latin typeface="+mn-ea"/>
                  </a:rPr>
                  <a:t/>
                </a:r>
                <a:r>
                  <a:rPr kumimoji="1" lang="en-US" altLang="ja-JP" sz="1600" dirty="0">
                    <a:latin typeface="+mn-ea"/>
                  </a:rPr>
                  <a:t/>
                </a:r>
                <a:endParaRPr kumimoji="1" lang="ja-JP" altLang="en-US" sz="1600">
                  <a:latin typeface="+mn-ea"/>
                </a:endParaRPr>
              </a:p>
            </p:txBody>
          </p:sp>
          <p:sp>
            <p:nvSpPr>
              <p:cNvPr id="316" name="角丸四角形 315">
                <a:extLst>
                  <a:ext uri="{FF2B5EF4-FFF2-40B4-BE49-F238E27FC236}">
                    <a16:creationId xmlns:a16="http://schemas.microsoft.com/office/drawing/2014/main" id="{7545C496-A1DC-EAC6-0547-74DAE4F499CA}"/>
                  </a:ext>
                </a:extLst>
              </p:cNvPr>
              <p:cNvSpPr/>
              <p:nvPr/>
            </p:nvSpPr>
            <p:spPr>
              <a:xfrm>
                <a:off x="1654236" y="2205786"/>
                <a:ext cx="1080000" cy="624091"/>
              </a:xfrm>
              <a:prstGeom prst="roundRect">
                <a:avLst>
                  <a:gd name="adj" fmla="val 7413"/>
                </a:avLst>
              </a:prstGeom>
              <a:solidFill>
                <a:srgbClr val="008D2E">
                  <a:alpha val="10000"/>
                </a:srgb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spcAft>
                    <a:spcPts val="300"/>
                  </a:spcAft>
                  <a:buClr>
                    <a:schemeClr val="accent5"/>
                  </a:buClr>
                  <a:defRPr/>
                </a:pPr>
                <a:r>
                  <a:rPr lang="ja-JP" altLang="en-US" sz="1100" b="1" dirty="0">
                    <a:solidFill>
                      <a:schemeClr val="accent5"/>
                    </a:solidFill>
                    <a:latin typeface="+mn-ea"/>
                  </a:rPr>
                  <a:t>デジタル戦略部</a:t>
                </a:r>
              </a:p>
              <a:p>
                <a:pPr lvl="0" algn="ctr">
                  <a:spcAft>
                    <a:spcPts val="300"/>
                  </a:spcAft>
                  <a:buClr>
                    <a:schemeClr val="accent5"/>
                  </a:buClr>
                  <a:defRPr/>
                </a:pPr>
                <a:r>
                  <a:rPr lang="ja-JP" altLang="en-US" sz="900" dirty="0">
                    <a:solidFill>
                      <a:schemeClr val="tx1"/>
                    </a:solidFill>
                    <a:latin typeface="+mn-ea"/>
                  </a:rPr>
                  <a:t>戦略業務に時間を</a:t>
                </a:r>
                <a:br>
                  <a:rPr lang="en-US" altLang="ja-JP" sz="900" dirty="0">
                    <a:solidFill>
                      <a:schemeClr val="tx1"/>
                    </a:solidFill>
                    <a:latin typeface="+mn-ea"/>
                  </a:rPr>
                </a:br>
                <a:r>
                  <a:rPr lang="ja-JP" altLang="en-US" sz="900" dirty="0">
                    <a:solidFill>
                      <a:schemeClr val="tx1"/>
                    </a:solidFill>
                    <a:latin typeface="+mn-ea"/>
                  </a:rPr>
                  <a:t>割けない</a:t>
                </a:r>
              </a:p>
            </p:txBody>
          </p:sp>
          <p:sp>
            <p:nvSpPr>
              <p:cNvPr id="317" name="正方形/長方形 316">
                <a:extLst>
                  <a:ext uri="{FF2B5EF4-FFF2-40B4-BE49-F238E27FC236}">
                    <a16:creationId xmlns:a16="http://schemas.microsoft.com/office/drawing/2014/main" id="{EE7F9BC5-9821-828E-2A18-4116A635BBDE}"/>
                  </a:ext>
                </a:extLst>
              </p:cNvPr>
              <p:cNvSpPr/>
              <p:nvPr/>
            </p:nvSpPr>
            <p:spPr>
              <a:xfrm>
                <a:off x="2813794" y="2205786"/>
                <a:ext cx="1775745" cy="624091"/>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1050" b="1" dirty="0">
                    <a:solidFill>
                      <a:srgbClr val="C00000"/>
                    </a:solidFill>
                    <a:latin typeface="+mn-ea"/>
                  </a:rPr>
                  <a:t>運用実務と統制の肩代わりに</a:t>
                </a:r>
                <a:br>
                  <a:rPr lang="en-US" altLang="ja-JP" sz="1050" b="1" dirty="0">
                    <a:solidFill>
                      <a:srgbClr val="C00000"/>
                    </a:solidFill>
                    <a:latin typeface="+mn-ea"/>
                  </a:rPr>
                </a:br>
                <a:r>
                  <a:rPr lang="ja-JP" altLang="en-US" sz="1050" b="1" dirty="0">
                    <a:solidFill>
                      <a:srgbClr val="C00000"/>
                    </a:solidFill>
                    <a:latin typeface="+mn-ea"/>
                  </a:rPr>
                  <a:t>忙殺され、本来の戦略機能が痩せている</a:t>
                </a:r>
              </a:p>
            </p:txBody>
          </p:sp>
          <p:sp>
            <p:nvSpPr>
              <p:cNvPr id="319" name="角丸四角形 318">
                <a:extLst>
                  <a:ext uri="{FF2B5EF4-FFF2-40B4-BE49-F238E27FC236}">
                    <a16:creationId xmlns:a16="http://schemas.microsoft.com/office/drawing/2014/main" id="{197688F2-1441-062F-2534-51E2FA1C29A2}"/>
                  </a:ext>
                </a:extLst>
              </p:cNvPr>
              <p:cNvSpPr/>
              <p:nvPr/>
            </p:nvSpPr>
            <p:spPr>
              <a:xfrm>
                <a:off x="1661792" y="4325065"/>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A</a:t>
                </a:r>
                <a:r>
                  <a:rPr lang="ja-JP" altLang="en-US" sz="900">
                    <a:solidFill>
                      <a:schemeClr val="bg1">
                        <a:lumMod val="65000"/>
                      </a:schemeClr>
                    </a:solidFill>
                    <a:latin typeface="+mn-ea"/>
                  </a:rPr>
                  <a:t>社</a:t>
                </a:r>
                <a:endParaRPr lang="ja-JP" altLang="en-US" sz="600">
                  <a:solidFill>
                    <a:schemeClr val="bg1">
                      <a:lumMod val="65000"/>
                    </a:schemeClr>
                  </a:solidFill>
                  <a:latin typeface="+mn-ea"/>
                </a:endParaRPr>
              </a:p>
            </p:txBody>
          </p:sp>
          <p:sp>
            <p:nvSpPr>
              <p:cNvPr id="320" name="正方形/長方形 319">
                <a:extLst>
                  <a:ext uri="{FF2B5EF4-FFF2-40B4-BE49-F238E27FC236}">
                    <a16:creationId xmlns:a16="http://schemas.microsoft.com/office/drawing/2014/main" id="{B0FFE1A0-D58A-123C-6DC8-13266797305F}"/>
                  </a:ext>
                </a:extLst>
              </p:cNvPr>
              <p:cNvSpPr/>
              <p:nvPr/>
            </p:nvSpPr>
            <p:spPr>
              <a:xfrm>
                <a:off x="1661792" y="4563463"/>
                <a:ext cx="2927747" cy="175381"/>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lvl="0">
                  <a:buClr>
                    <a:schemeClr val="accent5"/>
                  </a:buClr>
                  <a:defRPr/>
                </a:pPr>
                <a:r>
                  <a:rPr lang="ja-JP" altLang="en-US" sz="900" b="1" dirty="0">
                    <a:solidFill>
                      <a:srgbClr val="C00000"/>
                    </a:solidFill>
                    <a:latin typeface="+mn-ea"/>
                  </a:rPr>
                  <a:t>＋社員も定常運用・</a:t>
                </a:r>
                <a:r>
                  <a:rPr lang="en" altLang="ja-JP" sz="900" b="1" dirty="0">
                    <a:solidFill>
                      <a:srgbClr val="C00000"/>
                    </a:solidFill>
                    <a:latin typeface="+mn-ea"/>
                  </a:rPr>
                  <a:t>L1</a:t>
                </a:r>
                <a:r>
                  <a:rPr lang="ja-JP" altLang="en-US" sz="900" b="1" dirty="0">
                    <a:solidFill>
                      <a:srgbClr val="C00000"/>
                    </a:solidFill>
                    <a:latin typeface="+mn-ea"/>
                  </a:rPr>
                  <a:t>窓口・障害エスカレーションを一部実施</a:t>
                </a:r>
              </a:p>
            </p:txBody>
          </p:sp>
          <p:sp>
            <p:nvSpPr>
              <p:cNvPr id="321" name="正方形/長方形 320">
                <a:extLst>
                  <a:ext uri="{FF2B5EF4-FFF2-40B4-BE49-F238E27FC236}">
                    <a16:creationId xmlns:a16="http://schemas.microsoft.com/office/drawing/2014/main" id="{531CCFCF-FC78-55DC-3CF7-F3EC8367A26C}"/>
                  </a:ext>
                </a:extLst>
              </p:cNvPr>
              <p:cNvSpPr/>
              <p:nvPr/>
            </p:nvSpPr>
            <p:spPr>
              <a:xfrm>
                <a:off x="1661792" y="4748152"/>
                <a:ext cx="2927747" cy="309689"/>
              </a:xfrm>
              <a:prstGeom prst="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900" dirty="0">
                    <a:solidFill>
                      <a:schemeClr val="tx1"/>
                    </a:solidFill>
                    <a:latin typeface="+mn-ea"/>
                  </a:rPr>
                  <a:t>個別契約・品質ばらつき・実工数ブラックボックス・スケールメリットなし</a:t>
                </a:r>
              </a:p>
            </p:txBody>
          </p:sp>
          <p:sp>
            <p:nvSpPr>
              <p:cNvPr id="324" name="角丸四角形 323">
                <a:extLst>
                  <a:ext uri="{FF2B5EF4-FFF2-40B4-BE49-F238E27FC236}">
                    <a16:creationId xmlns:a16="http://schemas.microsoft.com/office/drawing/2014/main" id="{F9290D64-11A1-8C8B-81F6-4CA5AFF6DC19}"/>
                  </a:ext>
                </a:extLst>
              </p:cNvPr>
              <p:cNvSpPr/>
              <p:nvPr/>
            </p:nvSpPr>
            <p:spPr>
              <a:xfrm>
                <a:off x="2089750" y="4325064"/>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B</a:t>
                </a:r>
                <a:r>
                  <a:rPr lang="ja-JP" altLang="en-US" sz="900">
                    <a:solidFill>
                      <a:schemeClr val="bg1">
                        <a:lumMod val="65000"/>
                      </a:schemeClr>
                    </a:solidFill>
                    <a:latin typeface="+mn-ea"/>
                  </a:rPr>
                  <a:t>社</a:t>
                </a:r>
                <a:endParaRPr lang="ja-JP" altLang="en-US" sz="600">
                  <a:solidFill>
                    <a:schemeClr val="bg1">
                      <a:lumMod val="65000"/>
                    </a:schemeClr>
                  </a:solidFill>
                  <a:latin typeface="+mn-ea"/>
                </a:endParaRPr>
              </a:p>
            </p:txBody>
          </p:sp>
          <p:sp>
            <p:nvSpPr>
              <p:cNvPr id="325" name="角丸四角形 324">
                <a:extLst>
                  <a:ext uri="{FF2B5EF4-FFF2-40B4-BE49-F238E27FC236}">
                    <a16:creationId xmlns:a16="http://schemas.microsoft.com/office/drawing/2014/main" id="{BAEA7027-08B3-437D-EAAD-12B022AFA7E5}"/>
                  </a:ext>
                </a:extLst>
              </p:cNvPr>
              <p:cNvSpPr/>
              <p:nvPr/>
            </p:nvSpPr>
            <p:spPr>
              <a:xfrm>
                <a:off x="2517708" y="4325064"/>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C</a:t>
                </a:r>
                <a:r>
                  <a:rPr lang="ja-JP" altLang="en-US" sz="900">
                    <a:solidFill>
                      <a:schemeClr val="bg1">
                        <a:lumMod val="65000"/>
                      </a:schemeClr>
                    </a:solidFill>
                    <a:latin typeface="+mn-ea"/>
                  </a:rPr>
                  <a:t>社</a:t>
                </a:r>
                <a:endParaRPr lang="ja-JP" altLang="en-US" sz="600">
                  <a:solidFill>
                    <a:schemeClr val="bg1">
                      <a:lumMod val="65000"/>
                    </a:schemeClr>
                  </a:solidFill>
                  <a:latin typeface="+mn-ea"/>
                </a:endParaRPr>
              </a:p>
            </p:txBody>
          </p:sp>
          <p:sp>
            <p:nvSpPr>
              <p:cNvPr id="326" name="角丸四角形 325">
                <a:extLst>
                  <a:ext uri="{FF2B5EF4-FFF2-40B4-BE49-F238E27FC236}">
                    <a16:creationId xmlns:a16="http://schemas.microsoft.com/office/drawing/2014/main" id="{3388228F-2BF2-EA1A-1BA7-AC0D68283AC3}"/>
                  </a:ext>
                </a:extLst>
              </p:cNvPr>
              <p:cNvSpPr/>
              <p:nvPr/>
            </p:nvSpPr>
            <p:spPr>
              <a:xfrm>
                <a:off x="2945666" y="4325065"/>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D</a:t>
                </a:r>
                <a:r>
                  <a:rPr lang="ja-JP" altLang="en-US" sz="900">
                    <a:solidFill>
                      <a:schemeClr val="bg1">
                        <a:lumMod val="65000"/>
                      </a:schemeClr>
                    </a:solidFill>
                    <a:latin typeface="+mn-ea"/>
                  </a:rPr>
                  <a:t>社</a:t>
                </a:r>
                <a:endParaRPr lang="ja-JP" altLang="en-US" sz="600">
                  <a:solidFill>
                    <a:schemeClr val="bg1">
                      <a:lumMod val="65000"/>
                    </a:schemeClr>
                  </a:solidFill>
                  <a:latin typeface="+mn-ea"/>
                </a:endParaRPr>
              </a:p>
            </p:txBody>
          </p:sp>
          <p:sp>
            <p:nvSpPr>
              <p:cNvPr id="327" name="角丸四角形 326">
                <a:extLst>
                  <a:ext uri="{FF2B5EF4-FFF2-40B4-BE49-F238E27FC236}">
                    <a16:creationId xmlns:a16="http://schemas.microsoft.com/office/drawing/2014/main" id="{40A093C2-0085-2020-F923-A41CD8977241}"/>
                  </a:ext>
                </a:extLst>
              </p:cNvPr>
              <p:cNvSpPr/>
              <p:nvPr/>
            </p:nvSpPr>
            <p:spPr>
              <a:xfrm>
                <a:off x="3373623" y="4325064"/>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E</a:t>
                </a:r>
                <a:r>
                  <a:rPr lang="ja-JP" altLang="en-US" sz="900">
                    <a:solidFill>
                      <a:schemeClr val="bg1">
                        <a:lumMod val="65000"/>
                      </a:schemeClr>
                    </a:solidFill>
                    <a:latin typeface="+mn-ea"/>
                  </a:rPr>
                  <a:t>社</a:t>
                </a:r>
                <a:endParaRPr lang="ja-JP" altLang="en-US" sz="600">
                  <a:solidFill>
                    <a:schemeClr val="bg1">
                      <a:lumMod val="65000"/>
                    </a:schemeClr>
                  </a:solidFill>
                  <a:latin typeface="+mn-ea"/>
                </a:endParaRPr>
              </a:p>
            </p:txBody>
          </p:sp>
          <p:sp>
            <p:nvSpPr>
              <p:cNvPr id="328" name="角丸四角形 327">
                <a:extLst>
                  <a:ext uri="{FF2B5EF4-FFF2-40B4-BE49-F238E27FC236}">
                    <a16:creationId xmlns:a16="http://schemas.microsoft.com/office/drawing/2014/main" id="{359C334F-1CCE-C411-B600-8DD841ACDEEF}"/>
                  </a:ext>
                </a:extLst>
              </p:cNvPr>
              <p:cNvSpPr/>
              <p:nvPr/>
            </p:nvSpPr>
            <p:spPr>
              <a:xfrm>
                <a:off x="3801581" y="4325065"/>
                <a:ext cx="360000" cy="229091"/>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chemeClr val="bg1">
                        <a:lumMod val="65000"/>
                      </a:schemeClr>
                    </a:solidFill>
                    <a:latin typeface="+mn-ea"/>
                  </a:rPr>
                  <a:t>F</a:t>
                </a:r>
                <a:r>
                  <a:rPr lang="ja-JP" altLang="en-US" sz="900" dirty="0">
                    <a:solidFill>
                      <a:schemeClr val="bg1">
                        <a:lumMod val="65000"/>
                      </a:schemeClr>
                    </a:solidFill>
                    <a:latin typeface="+mn-ea"/>
                  </a:rPr>
                  <a:t>社</a:t>
                </a:r>
                <a:endParaRPr lang="ja-JP" altLang="en-US" sz="600" dirty="0">
                  <a:solidFill>
                    <a:schemeClr val="bg1">
                      <a:lumMod val="65000"/>
                    </a:schemeClr>
                  </a:solidFill>
                  <a:latin typeface="+mn-ea"/>
                </a:endParaRPr>
              </a:p>
            </p:txBody>
          </p:sp>
          <p:sp>
            <p:nvSpPr>
              <p:cNvPr id="329" name="角丸四角形 328">
                <a:extLst>
                  <a:ext uri="{FF2B5EF4-FFF2-40B4-BE49-F238E27FC236}">
                    <a16:creationId xmlns:a16="http://schemas.microsoft.com/office/drawing/2014/main" id="{7DB0ECAF-977E-A581-FA02-43C611CA9494}"/>
                  </a:ext>
                </a:extLst>
              </p:cNvPr>
              <p:cNvSpPr/>
              <p:nvPr/>
            </p:nvSpPr>
            <p:spPr>
              <a:xfrm>
                <a:off x="4229539" y="4325065"/>
                <a:ext cx="360000" cy="229091"/>
              </a:xfrm>
              <a:prstGeom prst="roundRect">
                <a:avLst>
                  <a:gd name="adj" fmla="val 8476"/>
                </a:avLst>
              </a:prstGeom>
              <a:solidFill>
                <a:srgbClr val="008D2E">
                  <a:alpha val="10000"/>
                </a:srgb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en-US" altLang="ja-JP" sz="900" dirty="0">
                    <a:solidFill>
                      <a:srgbClr val="008D2E"/>
                    </a:solidFill>
                    <a:latin typeface="+mn-ea"/>
                  </a:rPr>
                  <a:t>LEB</a:t>
                </a:r>
              </a:p>
            </p:txBody>
          </p:sp>
          <p:sp>
            <p:nvSpPr>
              <p:cNvPr id="330" name="角丸四角形 329">
                <a:extLst>
                  <a:ext uri="{FF2B5EF4-FFF2-40B4-BE49-F238E27FC236}">
                    <a16:creationId xmlns:a16="http://schemas.microsoft.com/office/drawing/2014/main" id="{70ECD0C7-F6A5-715E-D583-3C04E14EF79E}"/>
                  </a:ext>
                </a:extLst>
              </p:cNvPr>
              <p:cNvSpPr/>
              <p:nvPr/>
            </p:nvSpPr>
            <p:spPr>
              <a:xfrm>
                <a:off x="1661792" y="5067150"/>
                <a:ext cx="2927747" cy="197991"/>
              </a:xfrm>
              <a:prstGeom prst="roundRect">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850" b="1" dirty="0">
                    <a:solidFill>
                      <a:schemeClr val="tx1"/>
                    </a:solidFill>
                    <a:latin typeface="+mn-ea"/>
                  </a:rPr>
                  <a:t>肩代わりの総量＝社員</a:t>
                </a:r>
                <a:r>
                  <a:rPr lang="en-US" altLang="ja-JP" sz="850" b="1" dirty="0">
                    <a:solidFill>
                      <a:schemeClr val="tx1"/>
                    </a:solidFill>
                    <a:latin typeface="+mn-ea"/>
                  </a:rPr>
                  <a:t>XX</a:t>
                </a:r>
                <a:r>
                  <a:rPr lang="en" altLang="ja-JP" sz="850" b="1" dirty="0">
                    <a:solidFill>
                      <a:schemeClr val="tx1"/>
                    </a:solidFill>
                    <a:latin typeface="+mn-ea"/>
                  </a:rPr>
                  <a:t>FTE</a:t>
                </a:r>
                <a:r>
                  <a:rPr lang="ja-JP" altLang="en" sz="850" b="1" dirty="0">
                    <a:solidFill>
                      <a:schemeClr val="tx1"/>
                    </a:solidFill>
                    <a:latin typeface="+mn-ea"/>
                  </a:rPr>
                  <a:t>・</a:t>
                </a:r>
                <a:r>
                  <a:rPr lang="ja-JP" altLang="en-US" sz="850" b="1" dirty="0">
                    <a:solidFill>
                      <a:schemeClr val="tx1"/>
                    </a:solidFill>
                    <a:latin typeface="+mn-ea"/>
                  </a:rPr>
                  <a:t>年</a:t>
                </a:r>
                <a:r>
                  <a:rPr lang="en-US" altLang="ja-JP" sz="850" b="1" dirty="0">
                    <a:solidFill>
                      <a:schemeClr val="tx1"/>
                    </a:solidFill>
                    <a:latin typeface="+mn-ea"/>
                  </a:rPr>
                  <a:t>XX</a:t>
                </a:r>
                <a:r>
                  <a:rPr lang="ja-JP" altLang="en-US" sz="850" b="1" dirty="0">
                    <a:solidFill>
                      <a:schemeClr val="tx1"/>
                    </a:solidFill>
                    <a:latin typeface="+mn-ea"/>
                  </a:rPr>
                  <a:t>億円相当 </a:t>
                </a:r>
                <a:r>
                  <a:rPr lang="en-US" altLang="ja-JP" sz="850" b="1" dirty="0">
                    <a:solidFill>
                      <a:schemeClr val="tx1"/>
                    </a:solidFill>
                    <a:latin typeface="+mn-ea"/>
                  </a:rPr>
                  <a:t>(</a:t>
                </a:r>
                <a:r>
                  <a:rPr lang="ja-JP" altLang="en-US" sz="850" b="1" dirty="0">
                    <a:solidFill>
                      <a:schemeClr val="tx1"/>
                    </a:solidFill>
                    <a:latin typeface="+mn-ea"/>
                  </a:rPr>
                  <a:t>当部試算</a:t>
                </a:r>
                <a:r>
                  <a:rPr lang="en-US" altLang="ja-JP" sz="850" b="1" dirty="0">
                    <a:solidFill>
                      <a:schemeClr val="tx1"/>
                    </a:solidFill>
                    <a:latin typeface="+mn-ea"/>
                  </a:rPr>
                  <a:t>)</a:t>
                </a:r>
                <a:endParaRPr lang="ja-JP" altLang="en-US" sz="850" b="1" dirty="0">
                  <a:solidFill>
                    <a:schemeClr val="tx1"/>
                  </a:solidFill>
                  <a:latin typeface="+mn-ea"/>
                </a:endParaRPr>
              </a:p>
            </p:txBody>
          </p:sp>
          <p:sp>
            <p:nvSpPr>
              <p:cNvPr id="331" name="角丸四角形 330">
                <a:extLst>
                  <a:ext uri="{FF2B5EF4-FFF2-40B4-BE49-F238E27FC236}">
                    <a16:creationId xmlns:a16="http://schemas.microsoft.com/office/drawing/2014/main" id="{F29D47F8-CCD9-1147-19CE-3CE41C3C09E3}"/>
                  </a:ext>
                </a:extLst>
              </p:cNvPr>
              <p:cNvSpPr/>
              <p:nvPr/>
            </p:nvSpPr>
            <p:spPr>
              <a:xfrm>
                <a:off x="2194237" y="4016864"/>
                <a:ext cx="2395304" cy="180000"/>
              </a:xfrm>
              <a:prstGeom prst="round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900" dirty="0">
                    <a:solidFill>
                      <a:schemeClr val="tx1"/>
                    </a:solidFill>
                    <a:latin typeface="+mn-ea"/>
                  </a:rPr>
                  <a:t>統制層を素通りし、社員が各社を直接・個別管理</a:t>
                </a:r>
              </a:p>
            </p:txBody>
          </p:sp>
          <p:cxnSp>
            <p:nvCxnSpPr>
              <p:cNvPr id="336" name="直線矢印コネクタ 335">
                <a:extLst>
                  <a:ext uri="{FF2B5EF4-FFF2-40B4-BE49-F238E27FC236}">
                    <a16:creationId xmlns:a16="http://schemas.microsoft.com/office/drawing/2014/main" id="{968E33CA-624F-8CA2-498B-57155AD45CA0}"/>
                  </a:ext>
                </a:extLst>
              </p:cNvPr>
              <p:cNvCxnSpPr>
                <a:cxnSpLocks/>
              </p:cNvCxnSpPr>
              <p:nvPr/>
            </p:nvCxnSpPr>
            <p:spPr>
              <a:xfrm>
                <a:off x="2182806" y="2829877"/>
                <a:ext cx="0" cy="1477185"/>
              </a:xfrm>
              <a:prstGeom prst="straightConnector1">
                <a:avLst/>
              </a:prstGeom>
              <a:ln w="15875">
                <a:solidFill>
                  <a:schemeClr val="bg1">
                    <a:lumMod val="6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8" name="角丸四角形 317">
                <a:extLst>
                  <a:ext uri="{FF2B5EF4-FFF2-40B4-BE49-F238E27FC236}">
                    <a16:creationId xmlns:a16="http://schemas.microsoft.com/office/drawing/2014/main" id="{D3BC7288-73C3-A86C-3080-6689F8D0E66F}"/>
                  </a:ext>
                </a:extLst>
              </p:cNvPr>
              <p:cNvSpPr/>
              <p:nvPr/>
            </p:nvSpPr>
            <p:spPr>
              <a:xfrm>
                <a:off x="1661792" y="3288485"/>
                <a:ext cx="2927747" cy="684000"/>
              </a:xfrm>
              <a:prstGeom prst="roundRect">
                <a:avLst>
                  <a:gd name="adj" fmla="val 6165"/>
                </a:avLst>
              </a:prstGeom>
              <a:solidFill>
                <a:srgbClr val="F9E5E5"/>
              </a:solidFill>
              <a:ln w="9525">
                <a:no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1100" b="1" dirty="0">
                    <a:solidFill>
                      <a:srgbClr val="C00000"/>
                    </a:solidFill>
                    <a:latin typeface="+mn-ea"/>
                  </a:rPr>
                  <a:t>統制機能 ＝ 不在</a:t>
                </a:r>
                <a:r>
                  <a:rPr lang="en-US" altLang="ja-JP" sz="1100" b="1" dirty="0">
                    <a:solidFill>
                      <a:srgbClr val="C00000"/>
                    </a:solidFill>
                    <a:latin typeface="+mn-ea"/>
                  </a:rPr>
                  <a:t> (</a:t>
                </a:r>
                <a:r>
                  <a:rPr lang="ja-JP" altLang="en-US" sz="1100" b="1" dirty="0">
                    <a:solidFill>
                      <a:srgbClr val="C00000"/>
                    </a:solidFill>
                    <a:latin typeface="+mn-ea"/>
                  </a:rPr>
                  <a:t>空洞</a:t>
                </a:r>
                <a:r>
                  <a:rPr lang="en-US" altLang="ja-JP" sz="1100" b="1" dirty="0">
                    <a:solidFill>
                      <a:srgbClr val="C00000"/>
                    </a:solidFill>
                    <a:latin typeface="+mn-ea"/>
                  </a:rPr>
                  <a:t>)</a:t>
                </a:r>
                <a:endParaRPr lang="ja-JP" altLang="en-US" sz="1100" b="1" dirty="0">
                  <a:solidFill>
                    <a:srgbClr val="C00000"/>
                  </a:solidFill>
                  <a:latin typeface="+mn-ea"/>
                </a:endParaRPr>
              </a:p>
              <a:p>
                <a:pPr marL="95250" lvl="0">
                  <a:buClr>
                    <a:schemeClr val="accent5"/>
                  </a:buClr>
                  <a:defRPr/>
                </a:pPr>
                <a:r>
                  <a:rPr lang="en" altLang="ja-JP" sz="1000" dirty="0">
                    <a:solidFill>
                      <a:schemeClr val="tx1"/>
                    </a:solidFill>
                    <a:latin typeface="+mn-ea"/>
                  </a:rPr>
                  <a:t>品質基準</a:t>
                </a:r>
                <a:r>
                  <a:rPr lang="en-US" altLang="ja-JP" sz="1000" dirty="0">
                    <a:solidFill>
                      <a:schemeClr val="tx1"/>
                    </a:solidFill>
                    <a:latin typeface="+mn-ea"/>
                  </a:rPr>
                  <a:t> </a:t>
                </a:r>
                <a:r>
                  <a:rPr lang="en" altLang="ja-JP" sz="1000" dirty="0">
                    <a:solidFill>
                      <a:schemeClr val="tx1"/>
                    </a:solidFill>
                    <a:latin typeface="+mn-ea"/>
                  </a:rPr>
                  <a:t>/ KPI</a:t>
                </a:r>
                <a:r>
                  <a:rPr lang="ja-JP" altLang="en-US" sz="1000" dirty="0">
                    <a:solidFill>
                      <a:schemeClr val="tx1"/>
                    </a:solidFill>
                    <a:latin typeface="+mn-ea"/>
                  </a:rPr>
                  <a:t>・検収基準不十分・</a:t>
                </a:r>
                <a:r>
                  <a:rPr lang="en" altLang="ja-JP" sz="1000" dirty="0">
                    <a:solidFill>
                      <a:schemeClr val="tx1"/>
                    </a:solidFill>
                    <a:latin typeface="+mn-ea"/>
                  </a:rPr>
                  <a:t>総コスト</a:t>
                </a:r>
                <a:r>
                  <a:rPr lang="ja-JP" altLang="en-US" sz="1000" dirty="0">
                    <a:solidFill>
                      <a:schemeClr val="tx1"/>
                    </a:solidFill>
                    <a:latin typeface="+mn-ea"/>
                  </a:rPr>
                  <a:t>不可視</a:t>
                </a:r>
                <a:br>
                  <a:rPr lang="en-US" altLang="ja-JP" sz="1000" dirty="0">
                    <a:solidFill>
                      <a:schemeClr val="tx1"/>
                    </a:solidFill>
                    <a:latin typeface="+mn-ea"/>
                  </a:rPr>
                </a:br>
                <a:r>
                  <a:rPr lang="ja-JP" altLang="en-US" sz="1000" dirty="0">
                    <a:solidFill>
                      <a:schemeClr val="tx1"/>
                    </a:solidFill>
                    <a:latin typeface="+mn-ea"/>
                  </a:rPr>
                  <a:t>社員が個人技で肩代わり</a:t>
                </a:r>
                <a:r>
                  <a:rPr lang="en-US" altLang="ja-JP" sz="1000" dirty="0">
                    <a:solidFill>
                      <a:schemeClr val="tx1"/>
                    </a:solidFill>
                    <a:latin typeface="+mn-ea"/>
                  </a:rPr>
                  <a:t> (</a:t>
                </a:r>
                <a:r>
                  <a:rPr lang="ja-JP" altLang="en-US" sz="1000" dirty="0">
                    <a:solidFill>
                      <a:schemeClr val="tx1"/>
                    </a:solidFill>
                    <a:latin typeface="+mn-ea"/>
                  </a:rPr>
                  <a:t>指示・督促・成果物補完・</a:t>
                </a:r>
                <a:br>
                  <a:rPr lang="en-US" altLang="ja-JP" sz="1000" dirty="0">
                    <a:solidFill>
                      <a:schemeClr val="tx1"/>
                    </a:solidFill>
                    <a:latin typeface="+mn-ea"/>
                  </a:rPr>
                </a:br>
                <a:r>
                  <a:rPr lang="ja-JP" altLang="en-US" sz="1000" dirty="0">
                    <a:solidFill>
                      <a:schemeClr val="tx1"/>
                    </a:solidFill>
                    <a:latin typeface="+mn-ea"/>
                  </a:rPr>
                  <a:t>手戻り・ベンダ間調整</a:t>
                </a:r>
                <a:r>
                  <a:rPr lang="en-US" altLang="ja-JP" sz="1000" dirty="0">
                    <a:solidFill>
                      <a:schemeClr val="tx1"/>
                    </a:solidFill>
                    <a:latin typeface="+mn-ea"/>
                  </a:rPr>
                  <a:t>)</a:t>
                </a:r>
                <a:endParaRPr lang="ja-JP" altLang="en-US" sz="1000" dirty="0">
                  <a:solidFill>
                    <a:schemeClr val="tx1"/>
                  </a:solidFill>
                  <a:latin typeface="+mn-ea"/>
                </a:endParaRPr>
              </a:p>
            </p:txBody>
          </p:sp>
        </p:grpSp>
        <p:grpSp>
          <p:nvGrpSpPr>
            <p:cNvPr id="395" name="グループ化 394">
              <a:extLst>
                <a:ext uri="{FF2B5EF4-FFF2-40B4-BE49-F238E27FC236}">
                  <a16:creationId xmlns:a16="http://schemas.microsoft.com/office/drawing/2014/main" id="{E99EBFE5-CA9A-1F8D-C71E-8B7A43EEA865}"/>
                </a:ext>
              </a:extLst>
            </p:cNvPr>
            <p:cNvGrpSpPr/>
            <p:nvPr/>
          </p:nvGrpSpPr>
          <p:grpSpPr>
            <a:xfrm>
              <a:off x="4784046" y="1633880"/>
              <a:ext cx="3024001" cy="3631261"/>
              <a:chOff x="4756386" y="1633880"/>
              <a:chExt cx="3024001" cy="3631261"/>
            </a:xfrm>
          </p:grpSpPr>
          <p:sp>
            <p:nvSpPr>
              <p:cNvPr id="165" name="山形 52">
                <a:extLst>
                  <a:ext uri="{FF2B5EF4-FFF2-40B4-BE49-F238E27FC236}">
                    <a16:creationId xmlns:a16="http://schemas.microsoft.com/office/drawing/2014/main" id="{FE381332-B9D3-D415-6314-7229695E48BA}"/>
                  </a:ext>
                </a:extLst>
              </p:cNvPr>
              <p:cNvSpPr/>
              <p:nvPr/>
            </p:nvSpPr>
            <p:spPr>
              <a:xfrm>
                <a:off x="4756387" y="1633880"/>
                <a:ext cx="3024000" cy="324000"/>
              </a:xfrm>
              <a:prstGeom prst="chevron">
                <a:avLst>
                  <a:gd name="adj" fmla="val 18094"/>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buClr>
                    <a:schemeClr val="accent1"/>
                  </a:buClr>
                </a:pPr>
                <a:r>
                  <a:rPr kumimoji="1" lang="en-US" altLang="ja-JP" sz="1600" dirty="0">
                    <a:solidFill>
                      <a:schemeClr val="bg1"/>
                    </a:solidFill>
                    <a:latin typeface="+mn-ea"/>
                  </a:rPr>
                  <a:t>目指す姿</a:t>
                </a:r>
                <a:r>
                  <a:rPr lang="en-US" altLang="ja-JP" sz="1600" dirty="0">
                    <a:solidFill>
                      <a:schemeClr val="bg1"/>
                    </a:solidFill>
                    <a:latin typeface="+mn-ea"/>
                  </a:rPr>
                  <a:t/>
                </a:r>
                <a:r>
                  <a:rPr kumimoji="1" lang="ja-JP" altLang="en-US" sz="1600">
                    <a:solidFill>
                      <a:schemeClr val="bg1"/>
                    </a:solidFill>
                    <a:latin typeface="+mn-ea"/>
                  </a:rPr>
                  <a:t/>
                </a:r>
                <a:r>
                  <a:rPr kumimoji="1" lang="en-US" altLang="ja-JP" sz="1600" dirty="0">
                    <a:solidFill>
                      <a:schemeClr val="bg1"/>
                    </a:solidFill>
                    <a:latin typeface="+mn-ea"/>
                  </a:rPr>
                  <a:t/>
                </a:r>
                <a:endParaRPr kumimoji="1" lang="ja-JP" altLang="en-US" sz="1600">
                  <a:solidFill>
                    <a:schemeClr val="bg1"/>
                  </a:solidFill>
                  <a:latin typeface="+mn-ea"/>
                </a:endParaRPr>
              </a:p>
            </p:txBody>
          </p:sp>
          <p:sp>
            <p:nvSpPr>
              <p:cNvPr id="364" name="角丸四角形 363">
                <a:extLst>
                  <a:ext uri="{FF2B5EF4-FFF2-40B4-BE49-F238E27FC236}">
                    <a16:creationId xmlns:a16="http://schemas.microsoft.com/office/drawing/2014/main" id="{745B950D-1179-431D-9B8D-BFEA2327A201}"/>
                  </a:ext>
                </a:extLst>
              </p:cNvPr>
              <p:cNvSpPr/>
              <p:nvPr/>
            </p:nvSpPr>
            <p:spPr>
              <a:xfrm>
                <a:off x="4756387" y="2205786"/>
                <a:ext cx="2937954" cy="624091"/>
              </a:xfrm>
              <a:prstGeom prst="roundRect">
                <a:avLst>
                  <a:gd name="adj" fmla="val 7413"/>
                </a:avLst>
              </a:prstGeom>
              <a:solidFill>
                <a:srgbClr val="008D2E">
                  <a:alpha val="10000"/>
                </a:srgb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spcAft>
                    <a:spcPts val="300"/>
                  </a:spcAft>
                  <a:buClr>
                    <a:schemeClr val="accent5"/>
                  </a:buClr>
                  <a:defRPr/>
                </a:pPr>
                <a:r>
                  <a:rPr lang="ja-JP" altLang="en-US" sz="1100" b="1" dirty="0">
                    <a:solidFill>
                      <a:schemeClr val="accent5"/>
                    </a:solidFill>
                    <a:latin typeface="+mn-ea"/>
                  </a:rPr>
                  <a:t>デジタル戦略部</a:t>
                </a:r>
                <a:r>
                  <a:rPr lang="en-US" altLang="ja-JP" sz="1100" b="1" dirty="0">
                    <a:solidFill>
                      <a:schemeClr val="accent5"/>
                    </a:solidFill>
                    <a:latin typeface="+mn-ea"/>
                  </a:rPr>
                  <a:t> (</a:t>
                </a:r>
                <a:r>
                  <a:rPr lang="ja-JP" altLang="en-US" sz="1100" b="1" dirty="0">
                    <a:solidFill>
                      <a:schemeClr val="accent5"/>
                    </a:solidFill>
                    <a:latin typeface="+mn-ea"/>
                  </a:rPr>
                  <a:t>専任化</a:t>
                </a:r>
                <a:r>
                  <a:rPr lang="en-US" altLang="ja-JP" sz="1100" b="1" dirty="0">
                    <a:solidFill>
                      <a:schemeClr val="accent5"/>
                    </a:solidFill>
                    <a:latin typeface="+mn-ea"/>
                  </a:rPr>
                  <a:t>)</a:t>
                </a:r>
              </a:p>
              <a:p>
                <a:pPr lvl="0" algn="ctr">
                  <a:spcAft>
                    <a:spcPts val="300"/>
                  </a:spcAft>
                  <a:buClr>
                    <a:schemeClr val="accent5"/>
                  </a:buClr>
                  <a:defRPr/>
                </a:pPr>
                <a:r>
                  <a:rPr lang="en" altLang="ja-JP" sz="900" dirty="0">
                    <a:solidFill>
                      <a:schemeClr val="tx1"/>
                    </a:solidFill>
                    <a:latin typeface="+mn-ea"/>
                  </a:rPr>
                  <a:t>IT</a:t>
                </a:r>
                <a:r>
                  <a:rPr lang="ja-JP" altLang="en-US" sz="900" dirty="0">
                    <a:solidFill>
                      <a:schemeClr val="tx1"/>
                    </a:solidFill>
                    <a:latin typeface="+mn-ea"/>
                  </a:rPr>
                  <a:t>戦略・投資判断・需要管理・</a:t>
                </a:r>
                <a:r>
                  <a:rPr lang="en" altLang="ja-JP" sz="900" dirty="0">
                    <a:solidFill>
                      <a:schemeClr val="tx1"/>
                    </a:solidFill>
                    <a:latin typeface="+mn-ea"/>
                  </a:rPr>
                  <a:t>LEB</a:t>
                </a:r>
                <a:r>
                  <a:rPr lang="ja-JP" altLang="en-US" sz="900" dirty="0">
                    <a:solidFill>
                      <a:schemeClr val="tx1"/>
                    </a:solidFill>
                    <a:latin typeface="+mn-ea"/>
                  </a:rPr>
                  <a:t>への</a:t>
                </a:r>
                <a:br>
                  <a:rPr lang="en-US" altLang="ja-JP" sz="900" dirty="0">
                    <a:solidFill>
                      <a:schemeClr val="tx1"/>
                    </a:solidFill>
                    <a:latin typeface="+mn-ea"/>
                  </a:rPr>
                </a:br>
                <a:r>
                  <a:rPr lang="ja-JP" altLang="en-US" sz="900" dirty="0">
                    <a:solidFill>
                      <a:schemeClr val="tx1"/>
                    </a:solidFill>
                    <a:latin typeface="+mn-ea"/>
                  </a:rPr>
                  <a:t>目標設定</a:t>
                </a:r>
                <a:r>
                  <a:rPr lang="en-US" altLang="ja-JP" sz="900" dirty="0">
                    <a:solidFill>
                      <a:schemeClr val="tx1"/>
                    </a:solidFill>
                    <a:latin typeface="+mn-ea"/>
                  </a:rPr>
                  <a:t> (</a:t>
                </a:r>
                <a:r>
                  <a:rPr lang="en" altLang="ja-JP" sz="900" dirty="0">
                    <a:solidFill>
                      <a:schemeClr val="tx1"/>
                    </a:solidFill>
                    <a:latin typeface="+mn-ea"/>
                  </a:rPr>
                  <a:t>品質・コスト・納期</a:t>
                </a:r>
                <a:r>
                  <a:rPr lang="en-US" altLang="ja-JP" sz="900" dirty="0">
                    <a:solidFill>
                      <a:schemeClr val="tx1"/>
                    </a:solidFill>
                    <a:latin typeface="+mn-ea"/>
                  </a:rPr>
                  <a:t>)</a:t>
                </a:r>
                <a:endParaRPr lang="ja-JP" altLang="en-US" sz="900" dirty="0">
                  <a:solidFill>
                    <a:schemeClr val="tx1"/>
                  </a:solidFill>
                  <a:latin typeface="+mn-ea"/>
                </a:endParaRPr>
              </a:p>
            </p:txBody>
          </p:sp>
          <p:sp>
            <p:nvSpPr>
              <p:cNvPr id="365" name="角丸四角形 364">
                <a:extLst>
                  <a:ext uri="{FF2B5EF4-FFF2-40B4-BE49-F238E27FC236}">
                    <a16:creationId xmlns:a16="http://schemas.microsoft.com/office/drawing/2014/main" id="{2FE0637D-B857-D4A1-C612-7CEE023FC271}"/>
                  </a:ext>
                </a:extLst>
              </p:cNvPr>
              <p:cNvSpPr/>
              <p:nvPr/>
            </p:nvSpPr>
            <p:spPr>
              <a:xfrm>
                <a:off x="4756387" y="3288486"/>
                <a:ext cx="2937954" cy="683999"/>
              </a:xfrm>
              <a:prstGeom prst="roundRect">
                <a:avLst>
                  <a:gd name="adj" fmla="val 7413"/>
                </a:avLst>
              </a:prstGeom>
              <a:solidFill>
                <a:srgbClr val="008D2E"/>
              </a:solidFill>
              <a:ln w="9525">
                <a:solidFill>
                  <a:srgbClr val="008D2E"/>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216000" rIns="0" bIns="36000" numCol="1" spcCol="0" rtlCol="0" fromWordArt="0" anchor="ctr" anchorCtr="0" forceAA="0" compatLnSpc="1">
                <a:prstTxWarp prst="textNoShape">
                  <a:avLst/>
                </a:prstTxWarp>
                <a:noAutofit/>
              </a:bodyPr>
              <a:lstStyle/>
              <a:p>
                <a:pPr lvl="0" algn="ctr">
                  <a:spcAft>
                    <a:spcPts val="300"/>
                  </a:spcAft>
                  <a:buClr>
                    <a:schemeClr val="accent5"/>
                  </a:buClr>
                  <a:defRPr/>
                </a:pPr>
                <a:r>
                  <a:rPr lang="en" altLang="ja-JP" sz="1050" b="1" dirty="0">
                    <a:solidFill>
                      <a:schemeClr val="bg1"/>
                    </a:solidFill>
                    <a:latin typeface="+mn-ea"/>
                  </a:rPr>
                  <a:t>LEB </a:t>
                </a:r>
                <a:r>
                  <a:rPr lang="ja-JP" altLang="en" sz="1050" b="1" dirty="0">
                    <a:solidFill>
                      <a:schemeClr val="bg1"/>
                    </a:solidFill>
                    <a:latin typeface="+mn-ea"/>
                  </a:rPr>
                  <a:t>＝ </a:t>
                </a:r>
                <a:r>
                  <a:rPr lang="ja-JP" altLang="en-US" sz="1050" b="1" dirty="0">
                    <a:solidFill>
                      <a:schemeClr val="bg1"/>
                    </a:solidFill>
                    <a:latin typeface="+mn-ea"/>
                  </a:rPr>
                  <a:t>統制</a:t>
                </a:r>
                <a:r>
                  <a:rPr lang="en-US" altLang="ja-JP" sz="1050" b="1" dirty="0">
                    <a:solidFill>
                      <a:schemeClr val="bg1"/>
                    </a:solidFill>
                    <a:latin typeface="+mn-ea"/>
                  </a:rPr>
                  <a:t> (</a:t>
                </a:r>
                <a:r>
                  <a:rPr lang="en" altLang="ja-JP" sz="1050" b="1" dirty="0">
                    <a:solidFill>
                      <a:schemeClr val="bg1"/>
                    </a:solidFill>
                    <a:latin typeface="+mn-ea"/>
                  </a:rPr>
                  <a:t>統括</a:t>
                </a:r>
                <a:r>
                  <a:rPr lang="ja-JP" altLang="en-US" sz="1050" b="1" dirty="0">
                    <a:solidFill>
                      <a:schemeClr val="bg1"/>
                    </a:solidFill>
                    <a:latin typeface="+mn-ea"/>
                  </a:rPr>
                  <a:t>運営主体・既存会社を活用</a:t>
                </a:r>
                <a:r>
                  <a:rPr lang="en-US" altLang="ja-JP" sz="1050" b="1" dirty="0">
                    <a:solidFill>
                      <a:schemeClr val="bg1"/>
                    </a:solidFill>
                    <a:latin typeface="+mn-ea"/>
                  </a:rPr>
                  <a:t>)</a:t>
                </a:r>
              </a:p>
              <a:p>
                <a:pPr lvl="0" algn="ctr">
                  <a:spcAft>
                    <a:spcPts val="300"/>
                  </a:spcAft>
                  <a:buClr>
                    <a:schemeClr val="accent5"/>
                  </a:buClr>
                  <a:defRPr/>
                </a:pPr>
                <a:r>
                  <a:rPr lang="en" altLang="ja-JP" sz="800" dirty="0">
                    <a:solidFill>
                      <a:schemeClr val="bg1"/>
                    </a:solidFill>
                    <a:latin typeface="+mn-ea"/>
                  </a:rPr>
                  <a:t>品質基準・KPI</a:t>
                </a:r>
                <a:r>
                  <a:rPr lang="ja-JP" altLang="en-US" sz="800" dirty="0">
                    <a:solidFill>
                      <a:schemeClr val="bg1"/>
                    </a:solidFill>
                    <a:latin typeface="+mn-ea"/>
                  </a:rPr>
                  <a:t>監視・品質検収・請求査定・複数ベンダ横串管理</a:t>
                </a:r>
              </a:p>
              <a:p>
                <a:pPr lvl="0" algn="ctr">
                  <a:spcAft>
                    <a:spcPts val="300"/>
                  </a:spcAft>
                  <a:buClr>
                    <a:schemeClr val="accent5"/>
                  </a:buClr>
                  <a:defRPr/>
                </a:pPr>
                <a:r>
                  <a:rPr lang="en-US" altLang="ja-JP" sz="800" dirty="0">
                    <a:solidFill>
                      <a:schemeClr val="bg1"/>
                    </a:solidFill>
                    <a:latin typeface="+mn-ea"/>
                  </a:rPr>
                  <a:t>※</a:t>
                </a:r>
                <a:r>
                  <a:rPr lang="ja-JP" altLang="en-US" sz="800" dirty="0">
                    <a:solidFill>
                      <a:schemeClr val="bg1"/>
                    </a:solidFill>
                    <a:latin typeface="+mn-ea"/>
                  </a:rPr>
                  <a:t>現行の実行業務は</a:t>
                </a:r>
                <a:r>
                  <a:rPr lang="en-US" altLang="ja-JP" sz="800" dirty="0">
                    <a:solidFill>
                      <a:schemeClr val="bg1"/>
                    </a:solidFill>
                    <a:latin typeface="+mn-ea"/>
                  </a:rPr>
                  <a:t>委託</a:t>
                </a:r>
                <a:r>
                  <a:rPr lang="ja-JP" altLang="en-US" sz="800" dirty="0">
                    <a:solidFill>
                      <a:schemeClr val="bg1"/>
                    </a:solidFill>
                    <a:latin typeface="+mn-ea"/>
                  </a:rPr>
                  <a:t>会社へ移管し「実行→統制」へ役割転換</a:t>
                </a:r>
              </a:p>
              <a:p>
                <a:pPr lvl="0" algn="ctr">
                  <a:spcAft>
                    <a:spcPts val="300"/>
                  </a:spcAft>
                  <a:buClr>
                    <a:schemeClr val="accent5"/>
                  </a:buClr>
                  <a:defRPr/>
                </a:pPr>
                <a:endParaRPr lang="ja-JP" altLang="en-US" sz="1100" dirty="0">
                  <a:solidFill>
                    <a:schemeClr val="bg1"/>
                  </a:solidFill>
                  <a:latin typeface="+mn-ea"/>
                </a:endParaRPr>
              </a:p>
            </p:txBody>
          </p:sp>
          <p:cxnSp>
            <p:nvCxnSpPr>
              <p:cNvPr id="367" name="直線コネクタ 366">
                <a:extLst>
                  <a:ext uri="{FF2B5EF4-FFF2-40B4-BE49-F238E27FC236}">
                    <a16:creationId xmlns:a16="http://schemas.microsoft.com/office/drawing/2014/main" id="{5A083885-89CF-D908-D22A-95BC1DA946EF}"/>
                  </a:ext>
                </a:extLst>
              </p:cNvPr>
              <p:cNvCxnSpPr/>
              <p:nvPr/>
            </p:nvCxnSpPr>
            <p:spPr>
              <a:xfrm>
                <a:off x="5142016" y="2847879"/>
                <a:ext cx="0" cy="440606"/>
              </a:xfrm>
              <a:prstGeom prst="line">
                <a:avLst/>
              </a:prstGeom>
              <a:ln w="9525">
                <a:solidFill>
                  <a:srgbClr val="008D2E"/>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9" name="角丸四角形 368">
                <a:extLst>
                  <a:ext uri="{FF2B5EF4-FFF2-40B4-BE49-F238E27FC236}">
                    <a16:creationId xmlns:a16="http://schemas.microsoft.com/office/drawing/2014/main" id="{3AB612B0-5126-18FA-284B-71CC952212FE}"/>
                  </a:ext>
                </a:extLst>
              </p:cNvPr>
              <p:cNvSpPr/>
              <p:nvPr/>
            </p:nvSpPr>
            <p:spPr>
              <a:xfrm>
                <a:off x="5164231" y="2917222"/>
                <a:ext cx="2395304" cy="180000"/>
              </a:xfrm>
              <a:prstGeom prst="round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ja-JP" altLang="en-US" sz="900" b="1" dirty="0">
                    <a:solidFill>
                      <a:srgbClr val="008D2E"/>
                    </a:solidFill>
                    <a:latin typeface="+mn-ea"/>
                  </a:rPr>
                  <a:t>目標設定・報告（本体−</a:t>
                </a:r>
                <a:r>
                  <a:rPr lang="en" altLang="ja-JP" sz="900" b="1" dirty="0">
                    <a:solidFill>
                      <a:srgbClr val="008D2E"/>
                    </a:solidFill>
                    <a:latin typeface="+mn-ea"/>
                  </a:rPr>
                  <a:t>LEB</a:t>
                </a:r>
                <a:r>
                  <a:rPr lang="ja-JP" altLang="en-US" sz="900" b="1" dirty="0">
                    <a:solidFill>
                      <a:srgbClr val="008D2E"/>
                    </a:solidFill>
                    <a:latin typeface="+mn-ea"/>
                  </a:rPr>
                  <a:t>間も契約化</a:t>
                </a:r>
              </a:p>
            </p:txBody>
          </p:sp>
          <p:sp>
            <p:nvSpPr>
              <p:cNvPr id="370" name="角丸四角形 369">
                <a:extLst>
                  <a:ext uri="{FF2B5EF4-FFF2-40B4-BE49-F238E27FC236}">
                    <a16:creationId xmlns:a16="http://schemas.microsoft.com/office/drawing/2014/main" id="{7270579B-EF3A-A2C5-853E-BA1CB8660447}"/>
                  </a:ext>
                </a:extLst>
              </p:cNvPr>
              <p:cNvSpPr/>
              <p:nvPr/>
            </p:nvSpPr>
            <p:spPr>
              <a:xfrm>
                <a:off x="5164231" y="4020674"/>
                <a:ext cx="2395304" cy="180000"/>
              </a:xfrm>
              <a:prstGeom prst="roundRect">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buClr>
                    <a:schemeClr val="accent5"/>
                  </a:buClr>
                  <a:defRPr/>
                </a:pPr>
                <a:r>
                  <a:rPr lang="en" altLang="ja-JP" sz="900" b="1" dirty="0">
                    <a:solidFill>
                      <a:srgbClr val="008D2E"/>
                    </a:solidFill>
                    <a:latin typeface="+mn-ea"/>
                  </a:rPr>
                  <a:t>品質基準・KPI</a:t>
                </a:r>
                <a:r>
                  <a:rPr lang="ja-JP" altLang="en-US" sz="900" b="1" dirty="0">
                    <a:solidFill>
                      <a:srgbClr val="008D2E"/>
                    </a:solidFill>
                    <a:latin typeface="+mn-ea"/>
                  </a:rPr>
                  <a:t>契約・検収</a:t>
                </a:r>
                <a:r>
                  <a:rPr lang="en-US" altLang="ja-JP" sz="900" b="1" dirty="0">
                    <a:solidFill>
                      <a:srgbClr val="008D2E"/>
                    </a:solidFill>
                    <a:latin typeface="+mn-ea"/>
                  </a:rPr>
                  <a:t> (</a:t>
                </a:r>
                <a:r>
                  <a:rPr lang="ja-JP" altLang="en-US" sz="900" b="1" dirty="0">
                    <a:solidFill>
                      <a:srgbClr val="008D2E"/>
                    </a:solidFill>
                    <a:latin typeface="+mn-ea"/>
                  </a:rPr>
                  <a:t>未達は是正・減額</a:t>
                </a:r>
                <a:r>
                  <a:rPr lang="en-US" altLang="ja-JP" sz="900" b="1" dirty="0">
                    <a:solidFill>
                      <a:srgbClr val="008D2E"/>
                    </a:solidFill>
                    <a:latin typeface="+mn-ea"/>
                  </a:rPr>
                  <a:t>)</a:t>
                </a:r>
                <a:endParaRPr lang="ja-JP" altLang="en-US" sz="900" b="1" dirty="0">
                  <a:solidFill>
                    <a:srgbClr val="008D2E"/>
                  </a:solidFill>
                  <a:latin typeface="+mn-ea"/>
                </a:endParaRPr>
              </a:p>
            </p:txBody>
          </p:sp>
          <p:cxnSp>
            <p:nvCxnSpPr>
              <p:cNvPr id="371" name="直線コネクタ 370">
                <a:extLst>
                  <a:ext uri="{FF2B5EF4-FFF2-40B4-BE49-F238E27FC236}">
                    <a16:creationId xmlns:a16="http://schemas.microsoft.com/office/drawing/2014/main" id="{023FFB57-477D-3E05-CBF0-A00A71C091E0}"/>
                  </a:ext>
                </a:extLst>
              </p:cNvPr>
              <p:cNvCxnSpPr/>
              <p:nvPr/>
            </p:nvCxnSpPr>
            <p:spPr>
              <a:xfrm>
                <a:off x="5142016" y="3972484"/>
                <a:ext cx="0" cy="324000"/>
              </a:xfrm>
              <a:prstGeom prst="line">
                <a:avLst/>
              </a:prstGeom>
              <a:ln w="9525">
                <a:solidFill>
                  <a:srgbClr val="008D2E"/>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3" name="角丸四角形 372">
                <a:extLst>
                  <a:ext uri="{FF2B5EF4-FFF2-40B4-BE49-F238E27FC236}">
                    <a16:creationId xmlns:a16="http://schemas.microsoft.com/office/drawing/2014/main" id="{8D0566D7-7B14-418D-FE9C-8415912B6C63}"/>
                  </a:ext>
                </a:extLst>
              </p:cNvPr>
              <p:cNvSpPr/>
              <p:nvPr/>
            </p:nvSpPr>
            <p:spPr>
              <a:xfrm>
                <a:off x="6673312" y="4325064"/>
                <a:ext cx="1007320" cy="542349"/>
              </a:xfrm>
              <a:prstGeom prst="roundRect">
                <a:avLst>
                  <a:gd name="adj" fmla="val 8476"/>
                </a:avLst>
              </a:prstGeom>
              <a:no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0" bIns="36000" numCol="1" spcCol="0" rtlCol="0" fromWordArt="0" anchor="ctr" anchorCtr="0" forceAA="0" compatLnSpc="1">
                <a:prstTxWarp prst="textNoShape">
                  <a:avLst/>
                </a:prstTxWarp>
                <a:noAutofit/>
              </a:bodyPr>
              <a:lstStyle/>
              <a:p>
                <a:pPr lvl="0">
                  <a:buClr>
                    <a:schemeClr val="accent5"/>
                  </a:buClr>
                  <a:defRPr/>
                </a:pPr>
                <a:r>
                  <a:rPr lang="ja-JP" altLang="en-US" sz="800" b="1">
                    <a:solidFill>
                      <a:schemeClr val="bg1">
                        <a:lumMod val="50000"/>
                      </a:schemeClr>
                    </a:solidFill>
                    <a:latin typeface="+mn-ea"/>
                  </a:rPr>
                  <a:t>残すベンダー</a:t>
                </a:r>
              </a:p>
              <a:p>
                <a:pPr lvl="0">
                  <a:buClr>
                    <a:schemeClr val="accent5"/>
                  </a:buClr>
                  <a:defRPr/>
                </a:pPr>
                <a:r>
                  <a:rPr lang="ja-JP" altLang="en-US" sz="800">
                    <a:solidFill>
                      <a:schemeClr val="bg1">
                        <a:lumMod val="50000"/>
                      </a:schemeClr>
                    </a:solidFill>
                    <a:latin typeface="+mn-ea"/>
                  </a:rPr>
                  <a:t>評価の高い現行ベンダは実行層として残す</a:t>
                </a:r>
                <a:r>
                  <a:rPr lang="en-US" altLang="ja-JP" sz="800" dirty="0">
                    <a:solidFill>
                      <a:schemeClr val="bg1">
                        <a:lumMod val="50000"/>
                      </a:schemeClr>
                    </a:solidFill>
                    <a:latin typeface="+mn-ea"/>
                  </a:rPr>
                  <a:t> (</a:t>
                </a:r>
                <a:r>
                  <a:rPr lang="ja-JP" altLang="en-US" sz="800">
                    <a:solidFill>
                      <a:schemeClr val="bg1">
                        <a:lumMod val="50000"/>
                      </a:schemeClr>
                    </a:solidFill>
                    <a:latin typeface="+mn-ea"/>
                  </a:rPr>
                  <a:t>移管リスク抑制</a:t>
                </a:r>
                <a:r>
                  <a:rPr lang="en-US" altLang="ja-JP" sz="800" dirty="0">
                    <a:solidFill>
                      <a:schemeClr val="bg1">
                        <a:lumMod val="50000"/>
                      </a:schemeClr>
                    </a:solidFill>
                    <a:latin typeface="+mn-ea"/>
                  </a:rPr>
                  <a:t>)</a:t>
                </a:r>
                <a:endParaRPr lang="ja-JP" altLang="en-US" sz="500">
                  <a:solidFill>
                    <a:schemeClr val="bg1">
                      <a:lumMod val="50000"/>
                    </a:schemeClr>
                  </a:solidFill>
                  <a:latin typeface="+mn-ea"/>
                </a:endParaRPr>
              </a:p>
            </p:txBody>
          </p:sp>
          <p:grpSp>
            <p:nvGrpSpPr>
              <p:cNvPr id="379" name="グループ化 378">
                <a:extLst>
                  <a:ext uri="{FF2B5EF4-FFF2-40B4-BE49-F238E27FC236}">
                    <a16:creationId xmlns:a16="http://schemas.microsoft.com/office/drawing/2014/main" id="{2DADD8F1-17FF-9502-C882-FA7B6F1DA37D}"/>
                  </a:ext>
                </a:extLst>
              </p:cNvPr>
              <p:cNvGrpSpPr/>
              <p:nvPr/>
            </p:nvGrpSpPr>
            <p:grpSpPr>
              <a:xfrm>
                <a:off x="4756386" y="4325064"/>
                <a:ext cx="1872000" cy="542349"/>
                <a:chOff x="4756386" y="4325065"/>
                <a:chExt cx="1872000" cy="542349"/>
              </a:xfrm>
            </p:grpSpPr>
            <p:sp>
              <p:nvSpPr>
                <p:cNvPr id="372" name="角丸四角形 371">
                  <a:extLst>
                    <a:ext uri="{FF2B5EF4-FFF2-40B4-BE49-F238E27FC236}">
                      <a16:creationId xmlns:a16="http://schemas.microsoft.com/office/drawing/2014/main" id="{F0EA95F3-7B1E-0EDF-1D81-973B74631228}"/>
                    </a:ext>
                  </a:extLst>
                </p:cNvPr>
                <p:cNvSpPr/>
                <p:nvPr/>
              </p:nvSpPr>
              <p:spPr>
                <a:xfrm>
                  <a:off x="4756386" y="4325065"/>
                  <a:ext cx="1872000" cy="542349"/>
                </a:xfrm>
                <a:prstGeom prst="roundRect">
                  <a:avLst>
                    <a:gd name="adj" fmla="val 8476"/>
                  </a:avLst>
                </a:prstGeom>
                <a:solidFill>
                  <a:schemeClr val="bg1">
                    <a:lumMod val="95000"/>
                  </a:scheme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lgn="ctr">
                    <a:buClr>
                      <a:schemeClr val="accent5"/>
                    </a:buClr>
                    <a:defRPr/>
                  </a:pPr>
                  <a:r>
                    <a:rPr lang="en-US" altLang="ja-JP" sz="900" b="1" dirty="0">
                      <a:solidFill>
                        <a:schemeClr val="bg1">
                          <a:lumMod val="50000"/>
                        </a:schemeClr>
                      </a:solidFill>
                      <a:latin typeface="+mn-ea"/>
                    </a:rPr>
                    <a:t>外部委託 (24</a:t>
                  </a:r>
                  <a:r>
                    <a:rPr lang="ja-JP" altLang="en-US" sz="900" b="1" dirty="0">
                      <a:solidFill>
                        <a:schemeClr val="bg1">
                          <a:lumMod val="50000"/>
                        </a:schemeClr>
                      </a:solidFill>
                      <a:latin typeface="+mn-ea"/>
                    </a:rPr>
                    <a:t>時間</a:t>
                  </a:r>
                  <a:r>
                    <a:rPr lang="en-US" altLang="ja-JP" sz="900" b="1" dirty="0">
                      <a:solidFill>
                        <a:schemeClr val="bg1">
                          <a:lumMod val="50000"/>
                        </a:schemeClr>
                      </a:solidFill>
                      <a:latin typeface="+mn-ea"/>
                    </a:rPr>
                    <a:t>365</a:t>
                  </a:r>
                  <a:r>
                    <a:rPr lang="ja-JP" altLang="en-US" sz="900" b="1" dirty="0">
                      <a:solidFill>
                        <a:schemeClr val="bg1">
                          <a:lumMod val="50000"/>
                        </a:schemeClr>
                      </a:solidFill>
                      <a:latin typeface="+mn-ea"/>
                    </a:rPr>
                    <a:t>日</a:t>
                  </a:r>
                  <a:r>
                    <a:rPr lang="en-US" altLang="ja-JP" sz="900" b="1" dirty="0">
                      <a:solidFill>
                        <a:schemeClr val="bg1">
                          <a:lumMod val="50000"/>
                        </a:schemeClr>
                      </a:solidFill>
                      <a:latin typeface="+mn-ea"/>
                    </a:rPr>
                    <a:t>)</a:t>
                  </a:r>
                  <a:endParaRPr lang="ja-JP" altLang="en-US" sz="900" b="1" dirty="0">
                    <a:solidFill>
                      <a:schemeClr val="bg1">
                        <a:lumMod val="50000"/>
                      </a:schemeClr>
                    </a:solidFill>
                    <a:latin typeface="+mn-ea"/>
                  </a:endParaRPr>
                </a:p>
              </p:txBody>
            </p:sp>
            <p:grpSp>
              <p:nvGrpSpPr>
                <p:cNvPr id="378" name="グループ化 377">
                  <a:extLst>
                    <a:ext uri="{FF2B5EF4-FFF2-40B4-BE49-F238E27FC236}">
                      <a16:creationId xmlns:a16="http://schemas.microsoft.com/office/drawing/2014/main" id="{D754E4B8-70BB-92F6-53A4-B5A9DC03227F}"/>
                    </a:ext>
                  </a:extLst>
                </p:cNvPr>
                <p:cNvGrpSpPr/>
                <p:nvPr/>
              </p:nvGrpSpPr>
              <p:grpSpPr>
                <a:xfrm>
                  <a:off x="4792850" y="4538591"/>
                  <a:ext cx="1799071" cy="288000"/>
                  <a:chOff x="4788276" y="4538591"/>
                  <a:chExt cx="1799071" cy="288000"/>
                </a:xfrm>
              </p:grpSpPr>
              <p:sp>
                <p:nvSpPr>
                  <p:cNvPr id="374" name="角丸四角形 373">
                    <a:extLst>
                      <a:ext uri="{FF2B5EF4-FFF2-40B4-BE49-F238E27FC236}">
                        <a16:creationId xmlns:a16="http://schemas.microsoft.com/office/drawing/2014/main" id="{D2F9DE10-3817-A9F5-0417-DCB791313972}"/>
                      </a:ext>
                    </a:extLst>
                  </p:cNvPr>
                  <p:cNvSpPr/>
                  <p:nvPr/>
                </p:nvSpPr>
                <p:spPr>
                  <a:xfrm>
                    <a:off x="4788276" y="4538591"/>
                    <a:ext cx="576000" cy="288000"/>
                  </a:xfrm>
                  <a:prstGeom prst="roundRect">
                    <a:avLst>
                      <a:gd name="adj" fmla="val 8476"/>
                    </a:avLst>
                  </a:prstGeom>
                  <a:solidFill>
                    <a:schemeClr val="bg1"/>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0" bIns="36000" numCol="1" spcCol="0" rtlCol="0" fromWordArt="0" anchor="ctr" anchorCtr="0" forceAA="0" compatLnSpc="1">
                    <a:prstTxWarp prst="textNoShape">
                      <a:avLst/>
                    </a:prstTxWarp>
                    <a:noAutofit/>
                  </a:bodyPr>
                  <a:lstStyle/>
                  <a:p>
                    <a:pPr lvl="0">
                      <a:buClr>
                        <a:schemeClr val="accent5"/>
                      </a:buClr>
                      <a:defRPr/>
                    </a:pPr>
                    <a:r>
                      <a:rPr lang="en" altLang="ja-JP" sz="700" dirty="0">
                        <a:solidFill>
                          <a:schemeClr val="bg1">
                            <a:lumMod val="50000"/>
                          </a:schemeClr>
                        </a:solidFill>
                        <a:latin typeface="+mn-ea"/>
                      </a:rPr>
                      <a:t>L1</a:t>
                    </a:r>
                    <a:r>
                      <a:rPr lang="en-US" altLang="ja-JP" sz="700" dirty="0">
                        <a:solidFill>
                          <a:schemeClr val="bg1">
                            <a:lumMod val="50000"/>
                          </a:schemeClr>
                        </a:solidFill>
                        <a:latin typeface="+mn-ea"/>
                      </a:rPr>
                      <a:t> : </a:t>
                    </a:r>
                  </a:p>
                  <a:p>
                    <a:pPr lvl="0">
                      <a:buClr>
                        <a:schemeClr val="accent5"/>
                      </a:buClr>
                      <a:defRPr/>
                    </a:pPr>
                    <a:r>
                      <a:rPr lang="ja-JP" altLang="en-US" sz="700">
                        <a:solidFill>
                          <a:schemeClr val="bg1">
                            <a:lumMod val="50000"/>
                          </a:schemeClr>
                        </a:solidFill>
                        <a:latin typeface="+mn-ea"/>
                      </a:rPr>
                      <a:t>定型・監視</a:t>
                    </a:r>
                  </a:p>
                </p:txBody>
              </p:sp>
              <p:sp>
                <p:nvSpPr>
                  <p:cNvPr id="375" name="角丸四角形 374">
                    <a:extLst>
                      <a:ext uri="{FF2B5EF4-FFF2-40B4-BE49-F238E27FC236}">
                        <a16:creationId xmlns:a16="http://schemas.microsoft.com/office/drawing/2014/main" id="{7FF9FBB5-1700-490E-65DE-E8CD0776F14C}"/>
                      </a:ext>
                    </a:extLst>
                  </p:cNvPr>
                  <p:cNvSpPr/>
                  <p:nvPr/>
                </p:nvSpPr>
                <p:spPr>
                  <a:xfrm>
                    <a:off x="5399812" y="4538591"/>
                    <a:ext cx="576000" cy="288000"/>
                  </a:xfrm>
                  <a:prstGeom prst="roundRect">
                    <a:avLst>
                      <a:gd name="adj" fmla="val 8476"/>
                    </a:avLst>
                  </a:prstGeom>
                  <a:solidFill>
                    <a:schemeClr val="bg1"/>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0" bIns="36000" numCol="1" spcCol="0" rtlCol="0" fromWordArt="0" anchor="ctr" anchorCtr="0" forceAA="0" compatLnSpc="1">
                    <a:prstTxWarp prst="textNoShape">
                      <a:avLst/>
                    </a:prstTxWarp>
                    <a:noAutofit/>
                  </a:bodyPr>
                  <a:lstStyle/>
                  <a:p>
                    <a:pPr lvl="0">
                      <a:buClr>
                        <a:schemeClr val="accent5"/>
                      </a:buClr>
                      <a:defRPr/>
                    </a:pPr>
                    <a:r>
                      <a:rPr lang="en" altLang="ja-JP" sz="700" dirty="0">
                        <a:solidFill>
                          <a:schemeClr val="bg1">
                            <a:lumMod val="50000"/>
                          </a:schemeClr>
                        </a:solidFill>
                        <a:latin typeface="+mn-ea"/>
                      </a:rPr>
                      <a:t>L2</a:t>
                    </a:r>
                    <a:r>
                      <a:rPr lang="en-US" altLang="ja-JP" sz="700" dirty="0">
                        <a:solidFill>
                          <a:schemeClr val="bg1">
                            <a:lumMod val="50000"/>
                          </a:schemeClr>
                        </a:solidFill>
                        <a:latin typeface="+mn-ea"/>
                      </a:rPr>
                      <a:t> : </a:t>
                    </a:r>
                  </a:p>
                  <a:p>
                    <a:pPr lvl="0">
                      <a:buClr>
                        <a:schemeClr val="accent5"/>
                      </a:buClr>
                      <a:defRPr/>
                    </a:pPr>
                    <a:r>
                      <a:rPr lang="ja-JP" altLang="en-US" sz="700">
                        <a:solidFill>
                          <a:schemeClr val="bg1">
                            <a:lumMod val="50000"/>
                          </a:schemeClr>
                        </a:solidFill>
                        <a:latin typeface="+mn-ea"/>
                      </a:rPr>
                      <a:t>定型・非定型</a:t>
                    </a:r>
                  </a:p>
                </p:txBody>
              </p:sp>
              <p:sp>
                <p:nvSpPr>
                  <p:cNvPr id="376" name="角丸四角形 375">
                    <a:extLst>
                      <a:ext uri="{FF2B5EF4-FFF2-40B4-BE49-F238E27FC236}">
                        <a16:creationId xmlns:a16="http://schemas.microsoft.com/office/drawing/2014/main" id="{FE1AF70C-1807-6617-4F71-8E9A0AF2004C}"/>
                      </a:ext>
                    </a:extLst>
                  </p:cNvPr>
                  <p:cNvSpPr/>
                  <p:nvPr/>
                </p:nvSpPr>
                <p:spPr>
                  <a:xfrm>
                    <a:off x="6011347" y="4538591"/>
                    <a:ext cx="576000" cy="288000"/>
                  </a:xfrm>
                  <a:prstGeom prst="roundRect">
                    <a:avLst>
                      <a:gd name="adj" fmla="val 8476"/>
                    </a:avLst>
                  </a:prstGeom>
                  <a:solidFill>
                    <a:schemeClr val="bg1"/>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0" bIns="36000" numCol="1" spcCol="0" rtlCol="0" fromWordArt="0" anchor="ctr" anchorCtr="0" forceAA="0" compatLnSpc="1">
                    <a:prstTxWarp prst="textNoShape">
                      <a:avLst/>
                    </a:prstTxWarp>
                    <a:noAutofit/>
                  </a:bodyPr>
                  <a:lstStyle/>
                  <a:p>
                    <a:pPr lvl="0">
                      <a:buClr>
                        <a:schemeClr val="accent5"/>
                      </a:buClr>
                      <a:defRPr/>
                    </a:pPr>
                    <a:r>
                      <a:rPr lang="en" altLang="ja-JP" sz="700" dirty="0">
                        <a:solidFill>
                          <a:schemeClr val="bg1">
                            <a:lumMod val="50000"/>
                          </a:schemeClr>
                        </a:solidFill>
                        <a:latin typeface="+mn-ea"/>
                      </a:rPr>
                      <a:t>L3</a:t>
                    </a:r>
                    <a:r>
                      <a:rPr lang="en-US" altLang="ja-JP" sz="700" dirty="0">
                        <a:solidFill>
                          <a:schemeClr val="bg1">
                            <a:lumMod val="50000"/>
                          </a:schemeClr>
                        </a:solidFill>
                        <a:latin typeface="+mn-ea"/>
                      </a:rPr>
                      <a:t> : </a:t>
                    </a:r>
                  </a:p>
                  <a:p>
                    <a:pPr lvl="0">
                      <a:buClr>
                        <a:schemeClr val="accent5"/>
                      </a:buClr>
                      <a:defRPr/>
                    </a:pPr>
                    <a:r>
                      <a:rPr lang="ja-JP" altLang="en-US" sz="700" dirty="0">
                        <a:solidFill>
                          <a:schemeClr val="bg1">
                            <a:lumMod val="50000"/>
                          </a:schemeClr>
                        </a:solidFill>
                        <a:latin typeface="+mn-ea"/>
                      </a:rPr>
                      <a:t>非定型・管理</a:t>
                    </a:r>
                  </a:p>
                </p:txBody>
              </p:sp>
            </p:grpSp>
          </p:grpSp>
          <p:sp>
            <p:nvSpPr>
              <p:cNvPr id="377" name="角丸四角形 376">
                <a:extLst>
                  <a:ext uri="{FF2B5EF4-FFF2-40B4-BE49-F238E27FC236}">
                    <a16:creationId xmlns:a16="http://schemas.microsoft.com/office/drawing/2014/main" id="{5745EECB-EACE-24BA-A01E-38803EFEC658}"/>
                  </a:ext>
                </a:extLst>
              </p:cNvPr>
              <p:cNvSpPr/>
              <p:nvPr/>
            </p:nvSpPr>
            <p:spPr>
              <a:xfrm>
                <a:off x="4756387" y="4955452"/>
                <a:ext cx="2937953" cy="309689"/>
              </a:xfrm>
              <a:prstGeom prst="roundRect">
                <a:avLst>
                  <a:gd name="adj" fmla="val 8476"/>
                </a:avLst>
              </a:prstGeom>
              <a:solidFill>
                <a:srgbClr val="008D2E">
                  <a:alpha val="10000"/>
                </a:srgbClr>
              </a:solidFill>
              <a:ln w="9525">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buClr>
                    <a:schemeClr val="accent5"/>
                  </a:buClr>
                  <a:defRPr/>
                </a:pPr>
                <a:r>
                  <a:rPr lang="ja-JP" altLang="en-US" sz="900" b="1" dirty="0">
                    <a:solidFill>
                      <a:srgbClr val="008D2E"/>
                    </a:solidFill>
                    <a:latin typeface="+mn-ea"/>
                  </a:rPr>
                  <a:t>社員の実行・肩代わり業務はゼロ</a:t>
                </a:r>
                <a:br>
                  <a:rPr lang="en-US" altLang="ja-JP" sz="900" b="1" dirty="0">
                    <a:solidFill>
                      <a:srgbClr val="008D2E"/>
                    </a:solidFill>
                    <a:latin typeface="+mn-ea"/>
                  </a:rPr>
                </a:br>
                <a:r>
                  <a:rPr lang="en-US" altLang="ja-JP" sz="900" b="1" dirty="0">
                    <a:solidFill>
                      <a:srgbClr val="008D2E"/>
                    </a:solidFill>
                    <a:latin typeface="+mn-ea"/>
                  </a:rPr>
                  <a:t>(</a:t>
                </a:r>
                <a:r>
                  <a:rPr lang="ja-JP" altLang="en-US" sz="900" b="1" dirty="0">
                    <a:solidFill>
                      <a:srgbClr val="008D2E"/>
                    </a:solidFill>
                    <a:latin typeface="+mn-ea"/>
                  </a:rPr>
                  <a:t>利用部門の問い合わせはサービスデスクが一次受け</a:t>
                </a:r>
                <a:r>
                  <a:rPr lang="en-US" altLang="ja-JP" sz="900" b="1" dirty="0">
                    <a:solidFill>
                      <a:srgbClr val="008D2E"/>
                    </a:solidFill>
                    <a:latin typeface="+mn-ea"/>
                  </a:rPr>
                  <a:t>)</a:t>
                </a:r>
                <a:endParaRPr lang="ja-JP" altLang="en-US" sz="900" b="1" dirty="0">
                  <a:solidFill>
                    <a:srgbClr val="008D2E"/>
                  </a:solidFill>
                  <a:latin typeface="+mn-ea"/>
                </a:endParaRPr>
              </a:p>
            </p:txBody>
          </p:sp>
        </p:grpSp>
        <p:grpSp>
          <p:nvGrpSpPr>
            <p:cNvPr id="394" name="グループ化 393">
              <a:extLst>
                <a:ext uri="{FF2B5EF4-FFF2-40B4-BE49-F238E27FC236}">
                  <a16:creationId xmlns:a16="http://schemas.microsoft.com/office/drawing/2014/main" id="{0483F560-3C86-683C-5992-57BF6CC6469C}"/>
                </a:ext>
              </a:extLst>
            </p:cNvPr>
            <p:cNvGrpSpPr/>
            <p:nvPr/>
          </p:nvGrpSpPr>
          <p:grpSpPr>
            <a:xfrm>
              <a:off x="7893422" y="1635622"/>
              <a:ext cx="3969026" cy="3629519"/>
              <a:chOff x="7893423" y="1635622"/>
              <a:chExt cx="3969026" cy="3629519"/>
            </a:xfrm>
          </p:grpSpPr>
          <p:cxnSp>
            <p:nvCxnSpPr>
              <p:cNvPr id="231" name="直線コネクタ 230">
                <a:extLst>
                  <a:ext uri="{FF2B5EF4-FFF2-40B4-BE49-F238E27FC236}">
                    <a16:creationId xmlns:a16="http://schemas.microsoft.com/office/drawing/2014/main" id="{9F694822-4C3B-DCF1-8712-08312A919BC6}"/>
                  </a:ext>
                </a:extLst>
              </p:cNvPr>
              <p:cNvCxnSpPr>
                <a:cxnSpLocks/>
              </p:cNvCxnSpPr>
              <p:nvPr/>
            </p:nvCxnSpPr>
            <p:spPr>
              <a:xfrm>
                <a:off x="7893423" y="1943399"/>
                <a:ext cx="3969026"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2" name="テキスト ボックス 231">
                <a:extLst>
                  <a:ext uri="{FF2B5EF4-FFF2-40B4-BE49-F238E27FC236}">
                    <a16:creationId xmlns:a16="http://schemas.microsoft.com/office/drawing/2014/main" id="{0C4F123C-8520-13A6-36CF-4E929A57F1FF}"/>
                  </a:ext>
                </a:extLst>
              </p:cNvPr>
              <p:cNvSpPr txBox="1"/>
              <p:nvPr/>
            </p:nvSpPr>
            <p:spPr>
              <a:xfrm>
                <a:off x="7893423" y="1635622"/>
                <a:ext cx="3969026" cy="307777"/>
              </a:xfrm>
              <a:prstGeom prst="rect">
                <a:avLst/>
              </a:prstGeom>
              <a:noFill/>
            </p:spPr>
            <p:txBody>
              <a:bodyPr wrap="square" rtlCol="0" anchor="b">
                <a:spAutoFit/>
              </a:bodyPr>
              <a:lstStyle/>
              <a:p>
                <a:pPr algn="ctr"/>
                <a:r>
                  <a:rPr kumimoji="1" lang="ja-JP" altLang="en-US" sz="1400">
                    <a:latin typeface="+mn-ea"/>
                  </a:rPr>
                  <a:t>役割定義</a:t>
                </a:r>
              </a:p>
            </p:txBody>
          </p:sp>
          <p:sp>
            <p:nvSpPr>
              <p:cNvPr id="235" name="正方形/長方形 234">
                <a:extLst>
                  <a:ext uri="{FF2B5EF4-FFF2-40B4-BE49-F238E27FC236}">
                    <a16:creationId xmlns:a16="http://schemas.microsoft.com/office/drawing/2014/main" id="{9590DFAA-30C3-B24D-C74F-E719588EB878}"/>
                  </a:ext>
                </a:extLst>
              </p:cNvPr>
              <p:cNvSpPr/>
              <p:nvPr/>
            </p:nvSpPr>
            <p:spPr>
              <a:xfrm>
                <a:off x="7893423" y="1995832"/>
                <a:ext cx="3969026" cy="104400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44000" rIns="36000" bIns="36000" numCol="1" spcCol="0" rtlCol="0" fromWordArt="0" anchor="t" anchorCtr="0" forceAA="0" compatLnSpc="1">
                <a:prstTxWarp prst="textNoShape">
                  <a:avLst/>
                </a:prstTxWarp>
                <a:noAutofit/>
              </a:bodyPr>
              <a:lstStyle/>
              <a:p>
                <a:pPr indent="11113">
                  <a:spcAft>
                    <a:spcPts val="300"/>
                  </a:spcAft>
                </a:pPr>
                <a:r>
                  <a:rPr lang="ja-JP" altLang="en-US" sz="1200" b="1" dirty="0">
                    <a:solidFill>
                      <a:srgbClr val="008D2E"/>
                    </a:solidFill>
                    <a:latin typeface="+mn-ea"/>
                  </a:rPr>
                  <a:t>戦略機能</a:t>
                </a:r>
                <a:r>
                  <a:rPr lang="en-US" altLang="ja-JP" sz="1200" b="1" dirty="0">
                    <a:solidFill>
                      <a:srgbClr val="008D2E"/>
                    </a:solidFill>
                    <a:latin typeface="+mn-ea"/>
                  </a:rPr>
                  <a:t>【</a:t>
                </a:r>
                <a:r>
                  <a:rPr lang="ja-JP" altLang="en-US" sz="1200" b="1" dirty="0">
                    <a:solidFill>
                      <a:srgbClr val="008D2E"/>
                    </a:solidFill>
                    <a:latin typeface="+mn-ea"/>
                  </a:rPr>
                  <a:t>デジタル戦略部</a:t>
                </a:r>
                <a:r>
                  <a:rPr lang="en-US" altLang="ja-JP" sz="1200" b="1" dirty="0">
                    <a:solidFill>
                      <a:srgbClr val="008D2E"/>
                    </a:solidFill>
                    <a:latin typeface="+mn-ea"/>
                  </a:rPr>
                  <a:t>】</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全社</a:t>
                </a:r>
                <a:r>
                  <a:rPr lang="en" altLang="ja-JP" sz="950" dirty="0">
                    <a:solidFill>
                      <a:schemeClr val="tx1"/>
                    </a:solidFill>
                    <a:latin typeface="+mn-ea"/>
                  </a:rPr>
                  <a:t>IT</a:t>
                </a:r>
                <a:r>
                  <a:rPr lang="ja-JP" altLang="en-US" sz="950" dirty="0">
                    <a:solidFill>
                      <a:schemeClr val="tx1"/>
                    </a:solidFill>
                    <a:latin typeface="+mn-ea"/>
                  </a:rPr>
                  <a:t>投資判断、需要管理、全社</a:t>
                </a:r>
                <a:r>
                  <a:rPr lang="en" altLang="ja-JP" sz="950" dirty="0">
                    <a:solidFill>
                      <a:schemeClr val="tx1"/>
                    </a:solidFill>
                    <a:latin typeface="+mn-ea"/>
                  </a:rPr>
                  <a:t>IT</a:t>
                </a:r>
                <a:r>
                  <a:rPr lang="ja-JP" altLang="en-US" sz="950" dirty="0">
                    <a:solidFill>
                      <a:schemeClr val="tx1"/>
                    </a:solidFill>
                    <a:latin typeface="+mn-ea"/>
                  </a:rPr>
                  <a:t>基盤方針の決定 </a:t>
                </a:r>
              </a:p>
              <a:p>
                <a:pPr marL="98425" lvl="1" indent="-85725">
                  <a:spcAft>
                    <a:spcPts val="100"/>
                  </a:spcAft>
                  <a:buClr>
                    <a:srgbClr val="008D2E"/>
                  </a:buClr>
                  <a:buFont typeface="Arial" panose="020B0604020202020204" pitchFamily="34" charset="0"/>
                  <a:buChar char="•"/>
                </a:pPr>
                <a:r>
                  <a:rPr lang="en" altLang="ja-JP" sz="950" dirty="0">
                    <a:solidFill>
                      <a:schemeClr val="tx1"/>
                    </a:solidFill>
                    <a:latin typeface="+mn-ea"/>
                  </a:rPr>
                  <a:t>LEB</a:t>
                </a:r>
                <a:r>
                  <a:rPr lang="ja-JP" altLang="en-US" sz="950" dirty="0">
                    <a:solidFill>
                      <a:schemeClr val="tx1"/>
                    </a:solidFill>
                    <a:latin typeface="+mn-ea"/>
                  </a:rPr>
                  <a:t>に対する</a:t>
                </a:r>
                <a:r>
                  <a:rPr lang="en" altLang="ja-JP" sz="950" dirty="0">
                    <a:solidFill>
                      <a:schemeClr val="tx1"/>
                    </a:solidFill>
                    <a:latin typeface="+mn-ea"/>
                  </a:rPr>
                  <a:t>品質</a:t>
                </a:r>
                <a:r>
                  <a:rPr lang="ja-JP" altLang="en" sz="950" dirty="0">
                    <a:solidFill>
                      <a:schemeClr val="tx1"/>
                    </a:solidFill>
                    <a:latin typeface="+mn-ea"/>
                  </a:rPr>
                  <a:t>・</a:t>
                </a:r>
                <a:r>
                  <a:rPr lang="ja-JP" altLang="en-US" sz="950" dirty="0">
                    <a:solidFill>
                      <a:schemeClr val="tx1"/>
                    </a:solidFill>
                    <a:latin typeface="+mn-ea"/>
                  </a:rPr>
                  <a:t>コスト目標設定</a:t>
                </a:r>
                <a:br>
                  <a:rPr lang="en-US" altLang="ja-JP" sz="950" dirty="0">
                    <a:solidFill>
                      <a:schemeClr val="tx1"/>
                    </a:solidFill>
                    <a:latin typeface="+mn-ea"/>
                  </a:rPr>
                </a:br>
                <a:r>
                  <a:rPr lang="en-US" altLang="ja-JP" sz="950" dirty="0">
                    <a:solidFill>
                      <a:schemeClr val="tx1"/>
                    </a:solidFill>
                    <a:latin typeface="+mn-ea"/>
                  </a:rPr>
                  <a:t>(</a:t>
                </a:r>
                <a:r>
                  <a:rPr lang="en" altLang="ja-JP" sz="950" dirty="0">
                    <a:solidFill>
                      <a:schemeClr val="tx1"/>
                    </a:solidFill>
                    <a:latin typeface="+mn-ea"/>
                  </a:rPr>
                  <a:t>品質↑・コスト↓・納期↑</a:t>
                </a:r>
                <a:r>
                  <a:rPr lang="en-US" altLang="ja-JP" sz="950" dirty="0">
                    <a:solidFill>
                      <a:schemeClr val="tx1"/>
                    </a:solidFill>
                    <a:latin typeface="+mn-ea"/>
                  </a:rPr>
                  <a:t>)</a:t>
                </a:r>
                <a:r>
                  <a:rPr lang="ja-JP" altLang="en" sz="950" dirty="0">
                    <a:solidFill>
                      <a:schemeClr val="tx1"/>
                    </a:solidFill>
                    <a:latin typeface="+mn-ea"/>
                  </a:rPr>
                  <a:t>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運用実務から離脱し、</a:t>
                </a:r>
                <a:r>
                  <a:rPr lang="en" altLang="ja-JP" sz="950" dirty="0">
                    <a:solidFill>
                      <a:schemeClr val="tx1"/>
                    </a:solidFill>
                    <a:latin typeface="+mn-ea"/>
                  </a:rPr>
                  <a:t>Vision2030</a:t>
                </a:r>
                <a:r>
                  <a:rPr lang="ja-JP" altLang="en-US" sz="950" dirty="0">
                    <a:solidFill>
                      <a:schemeClr val="tx1"/>
                    </a:solidFill>
                    <a:latin typeface="+mn-ea"/>
                  </a:rPr>
                  <a:t>推進 </a:t>
                </a:r>
                <a:r>
                  <a:rPr lang="en-US" altLang="ja-JP" sz="950" dirty="0">
                    <a:solidFill>
                      <a:schemeClr val="tx1"/>
                    </a:solidFill>
                    <a:latin typeface="+mn-ea"/>
                  </a:rPr>
                  <a:t>(</a:t>
                </a:r>
                <a:r>
                  <a:rPr lang="ja-JP" altLang="en-US" sz="950" dirty="0">
                    <a:solidFill>
                      <a:schemeClr val="tx1"/>
                    </a:solidFill>
                    <a:latin typeface="+mn-ea"/>
                  </a:rPr>
                  <a:t>データ・</a:t>
                </a:r>
                <a:r>
                  <a:rPr lang="en" altLang="ja-JP" sz="950" dirty="0">
                    <a:solidFill>
                      <a:schemeClr val="tx1"/>
                    </a:solidFill>
                    <a:latin typeface="+mn-ea"/>
                  </a:rPr>
                  <a:t>AI</a:t>
                </a:r>
                <a:r>
                  <a:rPr lang="ja-JP" altLang="en-US" sz="950" dirty="0">
                    <a:solidFill>
                      <a:schemeClr val="tx1"/>
                    </a:solidFill>
                    <a:latin typeface="+mn-ea"/>
                  </a:rPr>
                  <a:t>活用企画</a:t>
                </a:r>
                <a:r>
                  <a:rPr lang="en-US" altLang="ja-JP" sz="950" dirty="0">
                    <a:solidFill>
                      <a:schemeClr val="tx1"/>
                    </a:solidFill>
                    <a:latin typeface="+mn-ea"/>
                  </a:rPr>
                  <a:t>) </a:t>
                </a:r>
                <a:r>
                  <a:rPr lang="ja-JP" altLang="en-US" sz="950" dirty="0">
                    <a:solidFill>
                      <a:schemeClr val="tx1"/>
                    </a:solidFill>
                    <a:latin typeface="+mn-ea"/>
                  </a:rPr>
                  <a:t>へ集中 </a:t>
                </a:r>
              </a:p>
            </p:txBody>
          </p:sp>
          <p:sp>
            <p:nvSpPr>
              <p:cNvPr id="237" name="正方形/長方形 236">
                <a:extLst>
                  <a:ext uri="{FF2B5EF4-FFF2-40B4-BE49-F238E27FC236}">
                    <a16:creationId xmlns:a16="http://schemas.microsoft.com/office/drawing/2014/main" id="{6C677204-AE3E-EC30-0789-2735F7420ECE}"/>
                  </a:ext>
                </a:extLst>
              </p:cNvPr>
              <p:cNvSpPr/>
              <p:nvPr/>
            </p:nvSpPr>
            <p:spPr>
              <a:xfrm>
                <a:off x="7893423" y="3108486"/>
                <a:ext cx="3969026" cy="104400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indent="11113">
                  <a:spcAft>
                    <a:spcPts val="300"/>
                  </a:spcAft>
                </a:pPr>
                <a:r>
                  <a:rPr lang="ja-JP" altLang="en-US" sz="1200" b="1" dirty="0">
                    <a:solidFill>
                      <a:srgbClr val="008D2E"/>
                    </a:solidFill>
                    <a:latin typeface="+mn-ea"/>
                  </a:rPr>
                  <a:t>統制機能</a:t>
                </a:r>
                <a:r>
                  <a:rPr lang="en-US" altLang="ja-JP" sz="1200" b="1" dirty="0">
                    <a:solidFill>
                      <a:srgbClr val="008D2E"/>
                    </a:solidFill>
                    <a:latin typeface="+mn-ea"/>
                  </a:rPr>
                  <a:t> 【</a:t>
                </a:r>
                <a:r>
                  <a:rPr lang="en" altLang="ja-JP" sz="1200" b="1" dirty="0">
                    <a:solidFill>
                      <a:srgbClr val="008D2E"/>
                    </a:solidFill>
                    <a:latin typeface="+mn-ea"/>
                  </a:rPr>
                  <a:t>LEB </a:t>
                </a:r>
                <a:r>
                  <a:rPr lang="en-US" altLang="ja-JP" sz="1200" b="1" dirty="0">
                    <a:solidFill>
                      <a:srgbClr val="008D2E"/>
                    </a:solidFill>
                    <a:latin typeface="+mn-ea"/>
                  </a:rPr>
                  <a:t>(</a:t>
                </a:r>
                <a:r>
                  <a:rPr lang="ja-JP" altLang="en-US" sz="1200" b="1" dirty="0">
                    <a:solidFill>
                      <a:srgbClr val="008D2E"/>
                    </a:solidFill>
                    <a:latin typeface="+mn-ea"/>
                  </a:rPr>
                  <a:t>当社シェアード会社</a:t>
                </a:r>
                <a:r>
                  <a:rPr lang="en-US" altLang="ja-JP" sz="1200" b="1" dirty="0">
                    <a:solidFill>
                      <a:srgbClr val="008D2E"/>
                    </a:solidFill>
                    <a:latin typeface="+mn-ea"/>
                  </a:rPr>
                  <a:t>)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運営主体としてベンダー統制を一元化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複数ベンダーの</a:t>
                </a:r>
                <a:r>
                  <a:rPr lang="en" altLang="ja-JP" sz="950" dirty="0">
                    <a:solidFill>
                      <a:schemeClr val="tx1"/>
                    </a:solidFill>
                    <a:latin typeface="+mn-ea"/>
                  </a:rPr>
                  <a:t>品質基準・KPI</a:t>
                </a:r>
                <a:r>
                  <a:rPr lang="ja-JP" altLang="en-US" sz="950" dirty="0">
                    <a:solidFill>
                      <a:schemeClr val="tx1"/>
                    </a:solidFill>
                    <a:latin typeface="+mn-ea"/>
                  </a:rPr>
                  <a:t>監視、品質検収、請求査定、日常のベンダー折衝を</a:t>
                </a:r>
                <a:br>
                  <a:rPr lang="en-US" altLang="ja-JP" sz="950" dirty="0">
                    <a:solidFill>
                      <a:schemeClr val="tx1"/>
                    </a:solidFill>
                    <a:latin typeface="+mn-ea"/>
                  </a:rPr>
                </a:br>
                <a:r>
                  <a:rPr lang="ja-JP" altLang="en-US" sz="950" dirty="0">
                    <a:solidFill>
                      <a:schemeClr val="tx1"/>
                    </a:solidFill>
                    <a:latin typeface="+mn-ea"/>
                  </a:rPr>
                  <a:t>横串管理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既存</a:t>
                </a:r>
                <a:r>
                  <a:rPr lang="en" altLang="ja-JP" sz="950" dirty="0">
                    <a:solidFill>
                      <a:schemeClr val="tx1"/>
                    </a:solidFill>
                    <a:latin typeface="+mn-ea"/>
                  </a:rPr>
                  <a:t>LEB</a:t>
                </a:r>
                <a:r>
                  <a:rPr lang="ja-JP" altLang="en-US" sz="950" dirty="0">
                    <a:solidFill>
                      <a:schemeClr val="tx1"/>
                    </a:solidFill>
                    <a:latin typeface="+mn-ea"/>
                  </a:rPr>
                  <a:t>を活用</a:t>
                </a:r>
                <a:r>
                  <a:rPr lang="en-US" altLang="ja-JP" sz="950" dirty="0">
                    <a:solidFill>
                      <a:schemeClr val="tx1"/>
                    </a:solidFill>
                    <a:latin typeface="+mn-ea"/>
                  </a:rPr>
                  <a:t> (</a:t>
                </a:r>
                <a:r>
                  <a:rPr lang="ja-JP" altLang="en-US" sz="950" dirty="0">
                    <a:solidFill>
                      <a:schemeClr val="tx1"/>
                    </a:solidFill>
                    <a:latin typeface="+mn-ea"/>
                  </a:rPr>
                  <a:t>新設なし</a:t>
                </a:r>
                <a:r>
                  <a:rPr lang="en-US" altLang="ja-JP" sz="950" dirty="0">
                    <a:solidFill>
                      <a:schemeClr val="tx1"/>
                    </a:solidFill>
                    <a:latin typeface="+mn-ea"/>
                  </a:rPr>
                  <a:t>) </a:t>
                </a:r>
                <a:r>
                  <a:rPr lang="ja-JP" altLang="en-US" sz="950" dirty="0">
                    <a:solidFill>
                      <a:schemeClr val="tx1"/>
                    </a:solidFill>
                    <a:latin typeface="+mn-ea"/>
                  </a:rPr>
                  <a:t>。現行</a:t>
                </a:r>
                <a:r>
                  <a:rPr lang="en" altLang="ja-JP" sz="950" dirty="0">
                    <a:solidFill>
                      <a:schemeClr val="tx1"/>
                    </a:solidFill>
                    <a:latin typeface="+mn-ea"/>
                  </a:rPr>
                  <a:t>PC</a:t>
                </a:r>
                <a:r>
                  <a:rPr lang="ja-JP" altLang="en-US" sz="950" dirty="0">
                    <a:solidFill>
                      <a:schemeClr val="tx1"/>
                    </a:solidFill>
                    <a:latin typeface="+mn-ea"/>
                  </a:rPr>
                  <a:t>管理等は</a:t>
                </a:r>
                <a:r>
                  <a:rPr lang="en" altLang="ja-JP" sz="950" dirty="0">
                    <a:solidFill>
                      <a:schemeClr val="tx1"/>
                    </a:solidFill>
                    <a:latin typeface="+mn-ea"/>
                  </a:rPr>
                  <a:t>委託</a:t>
                </a:r>
                <a:r>
                  <a:rPr lang="ja-JP" altLang="en-US" sz="950" dirty="0">
                    <a:solidFill>
                      <a:schemeClr val="tx1"/>
                    </a:solidFill>
                    <a:latin typeface="+mn-ea"/>
                  </a:rPr>
                  <a:t>へ移管し統制へ専念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本体出向者＋外部専門家登用により、初期から高度な統制機能を確立</a:t>
                </a:r>
              </a:p>
            </p:txBody>
          </p:sp>
          <p:sp>
            <p:nvSpPr>
              <p:cNvPr id="238" name="正方形/長方形 237">
                <a:extLst>
                  <a:ext uri="{FF2B5EF4-FFF2-40B4-BE49-F238E27FC236}">
                    <a16:creationId xmlns:a16="http://schemas.microsoft.com/office/drawing/2014/main" id="{26E35508-4B3B-D126-C855-FA4F715C646C}"/>
                  </a:ext>
                </a:extLst>
              </p:cNvPr>
              <p:cNvSpPr/>
              <p:nvPr/>
            </p:nvSpPr>
            <p:spPr>
              <a:xfrm>
                <a:off x="7893423" y="4221140"/>
                <a:ext cx="3969026" cy="104400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indent="11113">
                  <a:spcAft>
                    <a:spcPts val="300"/>
                  </a:spcAft>
                </a:pPr>
                <a:r>
                  <a:rPr lang="ja-JP" altLang="en-US" sz="1200" b="1" dirty="0">
                    <a:solidFill>
                      <a:srgbClr val="008D2E"/>
                    </a:solidFill>
                    <a:latin typeface="+mn-ea"/>
                  </a:rPr>
                  <a:t>実行機能</a:t>
                </a:r>
                <a:r>
                  <a:rPr lang="en-US" altLang="ja-JP" sz="1200" b="1" dirty="0">
                    <a:solidFill>
                      <a:srgbClr val="008D2E"/>
                    </a:solidFill>
                    <a:latin typeface="+mn-ea"/>
                  </a:rPr>
                  <a:t> 【</a:t>
                </a:r>
                <a:r>
                  <a:rPr lang="ja-JP" altLang="en-US" sz="1200" b="1" dirty="0">
                    <a:solidFill>
                      <a:srgbClr val="008D2E"/>
                    </a:solidFill>
                    <a:latin typeface="+mn-ea"/>
                  </a:rPr>
                  <a:t>外部</a:t>
                </a:r>
                <a:r>
                  <a:rPr lang="en" altLang="ja-JP" sz="1200" b="1" dirty="0">
                    <a:solidFill>
                      <a:srgbClr val="008D2E"/>
                    </a:solidFill>
                    <a:latin typeface="+mn-ea"/>
                  </a:rPr>
                  <a:t>委託</a:t>
                </a:r>
                <a:r>
                  <a:rPr lang="ja-JP" altLang="en" sz="1200" b="1" dirty="0">
                    <a:solidFill>
                      <a:srgbClr val="008D2E"/>
                    </a:solidFill>
                    <a:latin typeface="+mn-ea"/>
                  </a:rPr>
                  <a:t>＋</a:t>
                </a:r>
                <a:r>
                  <a:rPr lang="ja-JP" altLang="en-US" sz="1200" b="1" dirty="0">
                    <a:solidFill>
                      <a:srgbClr val="008D2E"/>
                    </a:solidFill>
                    <a:latin typeface="+mn-ea"/>
                  </a:rPr>
                  <a:t>残すベンダー</a:t>
                </a:r>
                <a:r>
                  <a:rPr lang="en-US" altLang="ja-JP" sz="1200" b="1" dirty="0">
                    <a:solidFill>
                      <a:srgbClr val="008D2E"/>
                    </a:solidFill>
                    <a:latin typeface="+mn-ea"/>
                  </a:rPr>
                  <a:t>】</a:t>
                </a:r>
              </a:p>
              <a:p>
                <a:pPr marL="98425" lvl="1" indent="-85725">
                  <a:spcAft>
                    <a:spcPts val="100"/>
                  </a:spcAft>
                  <a:buClr>
                    <a:srgbClr val="008D2E"/>
                  </a:buClr>
                  <a:buFont typeface="Arial" panose="020B0604020202020204" pitchFamily="34" charset="0"/>
                  <a:buChar char="•"/>
                </a:pPr>
                <a:r>
                  <a:rPr lang="en-US" altLang="ja-JP" sz="950" dirty="0">
                    <a:solidFill>
                      <a:schemeClr val="tx1"/>
                    </a:solidFill>
                    <a:latin typeface="+mn-ea"/>
                  </a:rPr>
                  <a:t>24</a:t>
                </a:r>
                <a:r>
                  <a:rPr lang="ja-JP" altLang="en-US" sz="950" dirty="0">
                    <a:solidFill>
                      <a:schemeClr val="tx1"/>
                    </a:solidFill>
                    <a:latin typeface="+mn-ea"/>
                  </a:rPr>
                  <a:t>時間</a:t>
                </a:r>
                <a:r>
                  <a:rPr lang="en-US" altLang="ja-JP" sz="950" dirty="0">
                    <a:solidFill>
                      <a:schemeClr val="tx1"/>
                    </a:solidFill>
                    <a:latin typeface="+mn-ea"/>
                  </a:rPr>
                  <a:t>365</a:t>
                </a:r>
                <a:r>
                  <a:rPr lang="ja-JP" altLang="en-US" sz="950" dirty="0">
                    <a:solidFill>
                      <a:schemeClr val="tx1"/>
                    </a:solidFill>
                    <a:latin typeface="+mn-ea"/>
                  </a:rPr>
                  <a:t>日監視・定常運用・問い合わせ対応・障害一次復旧 </a:t>
                </a: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難易度別の割り当て </a:t>
                </a:r>
                <a:r>
                  <a:rPr lang="en-US" altLang="ja-JP" sz="950" dirty="0">
                    <a:solidFill>
                      <a:schemeClr val="tx1"/>
                    </a:solidFill>
                    <a:latin typeface="+mn-ea"/>
                  </a:rPr>
                  <a:t>:</a:t>
                </a:r>
                <a:br>
                  <a:rPr lang="en-US" altLang="ja-JP" sz="950" dirty="0">
                    <a:solidFill>
                      <a:schemeClr val="tx1"/>
                    </a:solidFill>
                    <a:latin typeface="+mn-ea"/>
                  </a:rPr>
                </a:br>
                <a:r>
                  <a:rPr lang="en" altLang="ja-JP" sz="950" dirty="0">
                    <a:solidFill>
                      <a:schemeClr val="tx1"/>
                    </a:solidFill>
                    <a:latin typeface="+mn-ea"/>
                  </a:rPr>
                  <a:t>L1 </a:t>
                </a:r>
                <a:r>
                  <a:rPr lang="en-US" altLang="ja-JP" sz="950" dirty="0">
                    <a:solidFill>
                      <a:schemeClr val="tx1"/>
                    </a:solidFill>
                    <a:latin typeface="+mn-ea"/>
                  </a:rPr>
                  <a:t>(</a:t>
                </a:r>
                <a:r>
                  <a:rPr lang="ja-JP" altLang="en-US" sz="950" dirty="0">
                    <a:solidFill>
                      <a:schemeClr val="tx1"/>
                    </a:solidFill>
                    <a:latin typeface="+mn-ea"/>
                  </a:rPr>
                  <a:t>定型・監視</a:t>
                </a:r>
                <a:r>
                  <a:rPr lang="en-US" altLang="ja-JP" sz="950" dirty="0">
                    <a:solidFill>
                      <a:schemeClr val="tx1"/>
                    </a:solidFill>
                    <a:latin typeface="+mn-ea"/>
                  </a:rPr>
                  <a:t>) / </a:t>
                </a:r>
                <a:r>
                  <a:rPr lang="en" altLang="ja-JP" sz="950" dirty="0">
                    <a:solidFill>
                      <a:schemeClr val="tx1"/>
                    </a:solidFill>
                    <a:latin typeface="+mn-ea"/>
                  </a:rPr>
                  <a:t>L2 </a:t>
                </a:r>
                <a:r>
                  <a:rPr lang="en-US" altLang="ja-JP" sz="950" dirty="0">
                    <a:solidFill>
                      <a:schemeClr val="tx1"/>
                    </a:solidFill>
                    <a:latin typeface="+mn-ea"/>
                  </a:rPr>
                  <a:t>(</a:t>
                </a:r>
                <a:r>
                  <a:rPr lang="ja-JP" altLang="en-US" sz="950" dirty="0">
                    <a:solidFill>
                      <a:schemeClr val="tx1"/>
                    </a:solidFill>
                    <a:latin typeface="+mn-ea"/>
                  </a:rPr>
                  <a:t>復旧・設定</a:t>
                </a:r>
                <a:r>
                  <a:rPr lang="en-US" altLang="ja-JP" sz="950" dirty="0">
                    <a:solidFill>
                      <a:schemeClr val="tx1"/>
                    </a:solidFill>
                    <a:latin typeface="+mn-ea"/>
                  </a:rPr>
                  <a:t>) / </a:t>
                </a:r>
                <a:r>
                  <a:rPr lang="en" altLang="ja-JP" sz="950" dirty="0">
                    <a:solidFill>
                      <a:schemeClr val="tx1"/>
                    </a:solidFill>
                    <a:latin typeface="+mn-ea"/>
                  </a:rPr>
                  <a:t>L3 </a:t>
                </a:r>
                <a:r>
                  <a:rPr lang="en-US" altLang="ja-JP" sz="950" dirty="0">
                    <a:solidFill>
                      <a:schemeClr val="tx1"/>
                    </a:solidFill>
                    <a:latin typeface="+mn-ea"/>
                  </a:rPr>
                  <a:t>(</a:t>
                </a:r>
                <a:r>
                  <a:rPr lang="ja-JP" altLang="en-US" sz="950" dirty="0">
                    <a:solidFill>
                      <a:schemeClr val="tx1"/>
                    </a:solidFill>
                    <a:latin typeface="+mn-ea"/>
                  </a:rPr>
                  <a:t>高度分析・自動化</a:t>
                </a:r>
                <a:r>
                  <a:rPr lang="en-US" altLang="ja-JP" sz="950" dirty="0">
                    <a:solidFill>
                      <a:schemeClr val="tx1"/>
                    </a:solidFill>
                    <a:latin typeface="+mn-ea"/>
                  </a:rPr>
                  <a:t>)</a:t>
                </a:r>
                <a:endParaRPr lang="ja-JP" altLang="en-US" sz="950" dirty="0">
                  <a:solidFill>
                    <a:schemeClr val="tx1"/>
                  </a:solidFill>
                  <a:latin typeface="+mn-ea"/>
                </a:endParaRPr>
              </a:p>
              <a:p>
                <a:pPr marL="98425" lvl="1" indent="-85725">
                  <a:spcAft>
                    <a:spcPts val="100"/>
                  </a:spcAft>
                  <a:buClr>
                    <a:srgbClr val="008D2E"/>
                  </a:buClr>
                  <a:buFont typeface="Arial" panose="020B0604020202020204" pitchFamily="34" charset="0"/>
                  <a:buChar char="•"/>
                </a:pPr>
                <a:r>
                  <a:rPr lang="ja-JP" altLang="en-US" sz="950" dirty="0">
                    <a:solidFill>
                      <a:schemeClr val="tx1"/>
                    </a:solidFill>
                    <a:latin typeface="+mn-ea"/>
                  </a:rPr>
                  <a:t>国内外拠点の規模と</a:t>
                </a:r>
                <a:r>
                  <a:rPr lang="en" altLang="ja-JP" sz="950" dirty="0">
                    <a:solidFill>
                      <a:schemeClr val="tx1"/>
                    </a:solidFill>
                    <a:latin typeface="+mn-ea"/>
                  </a:rPr>
                  <a:t>AI等</a:t>
                </a:r>
                <a:r>
                  <a:rPr lang="ja-JP" altLang="en-US" sz="950" dirty="0">
                    <a:solidFill>
                      <a:schemeClr val="tx1"/>
                    </a:solidFill>
                    <a:latin typeface="+mn-ea"/>
                  </a:rPr>
                  <a:t>自動化を活用 </a:t>
                </a:r>
              </a:p>
            </p:txBody>
          </p:sp>
          <p:pic>
            <p:nvPicPr>
              <p:cNvPr id="381" name="グラフィックス 380" descr="山形の矢印 単色塗りつぶし">
                <a:extLst>
                  <a:ext uri="{FF2B5EF4-FFF2-40B4-BE49-F238E27FC236}">
                    <a16:creationId xmlns:a16="http://schemas.microsoft.com/office/drawing/2014/main" id="{7BBA5720-4732-6DEE-46EE-C6B3A6D686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0449" y="4833141"/>
                <a:ext cx="432000" cy="432000"/>
              </a:xfrm>
              <a:prstGeom prst="rect">
                <a:avLst/>
              </a:prstGeom>
            </p:spPr>
          </p:pic>
          <p:pic>
            <p:nvPicPr>
              <p:cNvPr id="383" name="グラフィックス 382" descr="階層 単色塗りつぶし">
                <a:extLst>
                  <a:ext uri="{FF2B5EF4-FFF2-40B4-BE49-F238E27FC236}">
                    <a16:creationId xmlns:a16="http://schemas.microsoft.com/office/drawing/2014/main" id="{D0AB3C76-9EAE-A7FF-9D52-059DEBF77C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30449" y="3720485"/>
                <a:ext cx="432000" cy="432000"/>
              </a:xfrm>
              <a:prstGeom prst="rect">
                <a:avLst/>
              </a:prstGeom>
            </p:spPr>
          </p:pic>
          <p:pic>
            <p:nvPicPr>
              <p:cNvPr id="385" name="グラフィックス 384" descr="ターゲット 単色塗りつぶし">
                <a:extLst>
                  <a:ext uri="{FF2B5EF4-FFF2-40B4-BE49-F238E27FC236}">
                    <a16:creationId xmlns:a16="http://schemas.microsoft.com/office/drawing/2014/main" id="{BAAF0BFA-32AD-BD52-5E96-1C0B77BE05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30449" y="2607832"/>
                <a:ext cx="432000" cy="432000"/>
              </a:xfrm>
              <a:prstGeom prst="rect">
                <a:avLst/>
              </a:prstGeom>
            </p:spPr>
          </p:pic>
        </p:grpSp>
        <p:cxnSp>
          <p:nvCxnSpPr>
            <p:cNvPr id="390" name="直線コネクタ 389">
              <a:extLst>
                <a:ext uri="{FF2B5EF4-FFF2-40B4-BE49-F238E27FC236}">
                  <a16:creationId xmlns:a16="http://schemas.microsoft.com/office/drawing/2014/main" id="{46BC8DCE-2237-33C2-14F8-31AA5BDD5D47}"/>
                </a:ext>
              </a:extLst>
            </p:cNvPr>
            <p:cNvCxnSpPr>
              <a:cxnSpLocks/>
            </p:cNvCxnSpPr>
            <p:nvPr/>
          </p:nvCxnSpPr>
          <p:spPr>
            <a:xfrm>
              <a:off x="1661792" y="3074158"/>
              <a:ext cx="603254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3" name="直線コネクタ 392">
              <a:extLst>
                <a:ext uri="{FF2B5EF4-FFF2-40B4-BE49-F238E27FC236}">
                  <a16:creationId xmlns:a16="http://schemas.microsoft.com/office/drawing/2014/main" id="{FC299DD8-3A1F-4222-AB23-9586135AA104}"/>
                </a:ext>
              </a:extLst>
            </p:cNvPr>
            <p:cNvCxnSpPr>
              <a:cxnSpLocks/>
            </p:cNvCxnSpPr>
            <p:nvPr/>
          </p:nvCxnSpPr>
          <p:spPr>
            <a:xfrm>
              <a:off x="1661792" y="4186812"/>
              <a:ext cx="603254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883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8EF0F-3750-766C-90A4-A3D8AEFECA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C17B0D-E117-1F84-52D2-5900605D4F21}"/>
              </a:ext>
            </a:extLst>
          </p:cNvPr>
          <p:cNvSpPr>
            <a:spLocks noGrp="1"/>
          </p:cNvSpPr>
          <p:nvPr>
            <p:ph type="title"/>
          </p:nvPr>
        </p:nvSpPr>
        <p:spPr>
          <a:xfrm>
            <a:off x="334963" y="1"/>
            <a:ext cx="11522075" cy="914400"/>
          </a:xfrm>
        </p:spPr>
        <p:txBody>
          <a:bodyPr/>
          <a:lstStyle/>
          <a:p>
            <a:r>
              <a:rPr kumimoji="1" lang="ja-JP" altLang="en-US" dirty="0"/>
              <a:t>今後の進め方</a:t>
            </a:r>
            <a:br>
              <a:rPr kumimoji="1" lang="ja-JP" altLang="en-US" dirty="0"/>
            </a:br>
            <a:r>
              <a:rPr kumimoji="1" lang="ja-JP" altLang="en-US" dirty="0"/>
              <a:t>一括契約ではなく、意思決定の節目で段階コミット</a:t>
            </a:r>
          </a:p>
        </p:txBody>
      </p:sp>
      <p:sp>
        <p:nvSpPr>
          <p:cNvPr id="3" name="テキスト プレースホルダー 2">
            <a:extLst>
              <a:ext uri="{FF2B5EF4-FFF2-40B4-BE49-F238E27FC236}">
                <a16:creationId xmlns:a16="http://schemas.microsoft.com/office/drawing/2014/main" id="{FF09A625-6D57-6717-4AD0-E90EE8A2F8C4}"/>
              </a:ext>
            </a:extLst>
          </p:cNvPr>
          <p:cNvSpPr>
            <a:spLocks noGrp="1"/>
          </p:cNvSpPr>
          <p:nvPr>
            <p:ph type="body" sz="quarter" idx="13"/>
          </p:nvPr>
        </p:nvSpPr>
        <p:spPr/>
        <p:txBody>
          <a:bodyPr/>
          <a:lstStyle/>
          <a:p>
            <a:pPr>
              <a:spcBef>
                <a:spcPts val="400"/>
              </a:spcBef>
            </a:pPr>
            <a:r>
              <a:rPr kumimoji="1" lang="ja-JP" altLang="en-US" sz="1800" dirty="0"/>
              <a:t>移管期はデジタル戦略部長を責任者とする「移管</a:t>
            </a:r>
            <a:r>
              <a:rPr kumimoji="1" lang="en" altLang="ja-JP" sz="1800" dirty="0"/>
              <a:t>PMO</a:t>
            </a:r>
            <a:r>
              <a:rPr kumimoji="1" lang="ja-JP" altLang="en" sz="1800" dirty="0"/>
              <a:t>」</a:t>
            </a:r>
            <a:r>
              <a:rPr kumimoji="1" lang="ja-JP" altLang="en-US" sz="1800" dirty="0"/>
              <a:t>が全体を牽引し、最終決定権</a:t>
            </a:r>
            <a:r>
              <a:rPr kumimoji="1" lang="en-US" altLang="ja-JP" sz="1800" dirty="0"/>
              <a:t> (</a:t>
            </a:r>
            <a:r>
              <a:rPr kumimoji="1" lang="ja-JP" altLang="en-US" sz="1800" dirty="0"/>
              <a:t>当社</a:t>
            </a:r>
            <a:r>
              <a:rPr kumimoji="1" lang="en-US" altLang="ja-JP" sz="1800" dirty="0"/>
              <a:t>) </a:t>
            </a:r>
            <a:r>
              <a:rPr kumimoji="1" lang="ja-JP" altLang="en-US" sz="1800" dirty="0"/>
              <a:t>と統制・検収権</a:t>
            </a:r>
            <a:r>
              <a:rPr kumimoji="1" lang="en-US" altLang="ja-JP" sz="1800" dirty="0"/>
              <a:t> (</a:t>
            </a:r>
            <a:r>
              <a:rPr kumimoji="1" lang="en" altLang="ja-JP" sz="1800" dirty="0"/>
              <a:t>LEB</a:t>
            </a:r>
            <a:r>
              <a:rPr lang="en-US" altLang="ja-JP" sz="1800" dirty="0"/>
              <a:t>)</a:t>
            </a:r>
            <a:r>
              <a:rPr kumimoji="1" lang="ja-JP" altLang="en-US" sz="1800" dirty="0"/>
              <a:t>を</a:t>
            </a:r>
            <a:br>
              <a:rPr kumimoji="1" lang="en-US" altLang="ja-JP" sz="1800" dirty="0"/>
            </a:br>
            <a:r>
              <a:rPr kumimoji="1" lang="ja-JP" altLang="en-US" sz="1800" dirty="0"/>
              <a:t>社内に保持した厳格な役割分担のもとで推進する</a:t>
            </a:r>
          </a:p>
        </p:txBody>
      </p:sp>
      <p:grpSp>
        <p:nvGrpSpPr>
          <p:cNvPr id="112" name="グループ化 111">
            <a:extLst>
              <a:ext uri="{FF2B5EF4-FFF2-40B4-BE49-F238E27FC236}">
                <a16:creationId xmlns:a16="http://schemas.microsoft.com/office/drawing/2014/main" id="{3F6A0653-FECB-A6FD-568F-DB67687DB2AC}"/>
              </a:ext>
            </a:extLst>
          </p:cNvPr>
          <p:cNvGrpSpPr/>
          <p:nvPr/>
        </p:nvGrpSpPr>
        <p:grpSpPr>
          <a:xfrm>
            <a:off x="334962" y="1639164"/>
            <a:ext cx="11522075" cy="4666019"/>
            <a:chOff x="334962" y="1639164"/>
            <a:chExt cx="11522075" cy="4666019"/>
          </a:xfrm>
        </p:grpSpPr>
        <p:grpSp>
          <p:nvGrpSpPr>
            <p:cNvPr id="110" name="グループ化 109">
              <a:extLst>
                <a:ext uri="{FF2B5EF4-FFF2-40B4-BE49-F238E27FC236}">
                  <a16:creationId xmlns:a16="http://schemas.microsoft.com/office/drawing/2014/main" id="{D622E4CA-648B-043C-E4F1-B73729148F71}"/>
                </a:ext>
              </a:extLst>
            </p:cNvPr>
            <p:cNvGrpSpPr/>
            <p:nvPr/>
          </p:nvGrpSpPr>
          <p:grpSpPr>
            <a:xfrm>
              <a:off x="334962" y="1639164"/>
              <a:ext cx="11522075" cy="2001913"/>
              <a:chOff x="334962" y="1639164"/>
              <a:chExt cx="11522075" cy="2001913"/>
            </a:xfrm>
          </p:grpSpPr>
          <p:sp>
            <p:nvSpPr>
              <p:cNvPr id="5" name="正方形/長方形 4">
                <a:extLst>
                  <a:ext uri="{FF2B5EF4-FFF2-40B4-BE49-F238E27FC236}">
                    <a16:creationId xmlns:a16="http://schemas.microsoft.com/office/drawing/2014/main" id="{6D053990-FB00-7743-2C34-BCF181DC4420}"/>
                  </a:ext>
                </a:extLst>
              </p:cNvPr>
              <p:cNvSpPr/>
              <p:nvPr/>
            </p:nvSpPr>
            <p:spPr>
              <a:xfrm>
                <a:off x="334962" y="1639164"/>
                <a:ext cx="900000" cy="2001913"/>
              </a:xfrm>
              <a:prstGeom prst="rect">
                <a:avLst/>
              </a:prstGeom>
              <a:solidFill>
                <a:srgbClr val="008D2E"/>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bg1"/>
                    </a:solidFill>
                    <a:latin typeface="+mn-ea"/>
                  </a:rPr>
                  <a:t>移管実行</a:t>
                </a:r>
                <a:br>
                  <a:rPr kumimoji="1" lang="en-US" altLang="ja-JP" sz="1200" dirty="0">
                    <a:solidFill>
                      <a:schemeClr val="bg1"/>
                    </a:solidFill>
                    <a:latin typeface="+mn-ea"/>
                  </a:rPr>
                </a:br>
                <a:r>
                  <a:rPr kumimoji="1" lang="ja-JP" altLang="en-US" sz="1200">
                    <a:solidFill>
                      <a:schemeClr val="bg1"/>
                    </a:solidFill>
                    <a:latin typeface="+mn-ea"/>
                  </a:rPr>
                  <a:t>体制</a:t>
                </a:r>
              </a:p>
            </p:txBody>
          </p:sp>
          <p:sp>
            <p:nvSpPr>
              <p:cNvPr id="6" name="正方形/長方形 5">
                <a:extLst>
                  <a:ext uri="{FF2B5EF4-FFF2-40B4-BE49-F238E27FC236}">
                    <a16:creationId xmlns:a16="http://schemas.microsoft.com/office/drawing/2014/main" id="{F9EBFF2D-77F9-9543-0CBB-5B48F007063E}"/>
                  </a:ext>
                </a:extLst>
              </p:cNvPr>
              <p:cNvSpPr/>
              <p:nvPr/>
            </p:nvSpPr>
            <p:spPr>
              <a:xfrm>
                <a:off x="1301175" y="1639166"/>
                <a:ext cx="10555861" cy="191607"/>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n-ea"/>
                  </a:rPr>
                  <a:t>移管期は、「戦略」「統制」「実行」の</a:t>
                </a:r>
                <a:r>
                  <a:rPr kumimoji="1" lang="en-US" altLang="ja-JP" sz="1200" dirty="0">
                    <a:solidFill>
                      <a:schemeClr val="tx1"/>
                    </a:solidFill>
                    <a:latin typeface="+mn-ea"/>
                  </a:rPr>
                  <a:t>3</a:t>
                </a:r>
                <a:r>
                  <a:rPr kumimoji="1" lang="ja-JP" altLang="en-US" sz="1200">
                    <a:solidFill>
                      <a:schemeClr val="tx1"/>
                    </a:solidFill>
                    <a:latin typeface="+mn-ea"/>
                  </a:rPr>
                  <a:t>つの役割に加えて、プロジェクト全体を横断して指揮する「移管プロジェクト統括事務局」を設置し、各組織の役割と責任を明確にして推進</a:t>
                </a:r>
              </a:p>
            </p:txBody>
          </p:sp>
          <p:cxnSp>
            <p:nvCxnSpPr>
              <p:cNvPr id="9" name="直線コネクタ 8">
                <a:extLst>
                  <a:ext uri="{FF2B5EF4-FFF2-40B4-BE49-F238E27FC236}">
                    <a16:creationId xmlns:a16="http://schemas.microsoft.com/office/drawing/2014/main" id="{B25A871A-D079-EFB8-9157-03DC9A37BDE8}"/>
                  </a:ext>
                </a:extLst>
              </p:cNvPr>
              <p:cNvCxnSpPr>
                <a:cxnSpLocks/>
              </p:cNvCxnSpPr>
              <p:nvPr/>
            </p:nvCxnSpPr>
            <p:spPr>
              <a:xfrm>
                <a:off x="2576398" y="2021404"/>
                <a:ext cx="1202891"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88626AE-4334-7C4C-1AF0-4FAA70667E7C}"/>
                  </a:ext>
                </a:extLst>
              </p:cNvPr>
              <p:cNvSpPr txBox="1"/>
              <p:nvPr/>
            </p:nvSpPr>
            <p:spPr>
              <a:xfrm>
                <a:off x="2576398" y="1841404"/>
                <a:ext cx="1202891" cy="180000"/>
              </a:xfrm>
              <a:prstGeom prst="rect">
                <a:avLst/>
              </a:prstGeom>
              <a:noFill/>
            </p:spPr>
            <p:txBody>
              <a:bodyPr wrap="square" lIns="36000" tIns="36000" rIns="36000" bIns="0" rtlCol="0" anchor="ctr">
                <a:noAutofit/>
              </a:bodyPr>
              <a:lstStyle/>
              <a:p>
                <a:pPr algn="ctr"/>
                <a:r>
                  <a:rPr kumimoji="1" lang="ja-JP" altLang="en-US" sz="1000">
                    <a:latin typeface="+mn-ea"/>
                  </a:rPr>
                  <a:t>責任者</a:t>
                </a:r>
                <a:endParaRPr kumimoji="1" lang="en-US" altLang="ja-JP" sz="1000" dirty="0">
                  <a:latin typeface="+mn-ea"/>
                </a:endParaRPr>
              </a:p>
            </p:txBody>
          </p:sp>
          <p:cxnSp>
            <p:nvCxnSpPr>
              <p:cNvPr id="16" name="直線コネクタ 15">
                <a:extLst>
                  <a:ext uri="{FF2B5EF4-FFF2-40B4-BE49-F238E27FC236}">
                    <a16:creationId xmlns:a16="http://schemas.microsoft.com/office/drawing/2014/main" id="{E0F66F44-DA35-0830-FF62-861A432E5A59}"/>
                  </a:ext>
                </a:extLst>
              </p:cNvPr>
              <p:cNvCxnSpPr>
                <a:cxnSpLocks/>
              </p:cNvCxnSpPr>
              <p:nvPr/>
            </p:nvCxnSpPr>
            <p:spPr>
              <a:xfrm>
                <a:off x="3861125" y="2021404"/>
                <a:ext cx="4399592"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A7485C72-C5EF-9DFA-1E2F-F2CB866B9EF3}"/>
                  </a:ext>
                </a:extLst>
              </p:cNvPr>
              <p:cNvSpPr txBox="1"/>
              <p:nvPr/>
            </p:nvSpPr>
            <p:spPr>
              <a:xfrm>
                <a:off x="3861125" y="1841405"/>
                <a:ext cx="4399592" cy="180000"/>
              </a:xfrm>
              <a:prstGeom prst="rect">
                <a:avLst/>
              </a:prstGeom>
              <a:noFill/>
            </p:spPr>
            <p:txBody>
              <a:bodyPr wrap="square" lIns="36000" tIns="36000" rIns="36000" bIns="0" rtlCol="0" anchor="ctr">
                <a:noAutofit/>
              </a:bodyPr>
              <a:lstStyle/>
              <a:p>
                <a:pPr algn="ctr"/>
                <a:r>
                  <a:rPr lang="ja-JP" altLang="en-US" sz="1000">
                    <a:latin typeface="+mn-ea"/>
                  </a:rPr>
                  <a:t>構成</a:t>
                </a:r>
                <a:endParaRPr kumimoji="1" lang="en-US" altLang="ja-JP" sz="1000" dirty="0">
                  <a:latin typeface="+mn-ea"/>
                </a:endParaRPr>
              </a:p>
            </p:txBody>
          </p:sp>
          <p:cxnSp>
            <p:nvCxnSpPr>
              <p:cNvPr id="18" name="直線コネクタ 17">
                <a:extLst>
                  <a:ext uri="{FF2B5EF4-FFF2-40B4-BE49-F238E27FC236}">
                    <a16:creationId xmlns:a16="http://schemas.microsoft.com/office/drawing/2014/main" id="{46220B0C-951B-B122-AA0B-C6464DD6E763}"/>
                  </a:ext>
                </a:extLst>
              </p:cNvPr>
              <p:cNvCxnSpPr>
                <a:cxnSpLocks/>
              </p:cNvCxnSpPr>
              <p:nvPr/>
            </p:nvCxnSpPr>
            <p:spPr>
              <a:xfrm>
                <a:off x="8330876" y="2021404"/>
                <a:ext cx="3526161"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39EDF86-7A15-DF66-10A5-0E2EE62C51A5}"/>
                  </a:ext>
                </a:extLst>
              </p:cNvPr>
              <p:cNvSpPr txBox="1"/>
              <p:nvPr/>
            </p:nvSpPr>
            <p:spPr>
              <a:xfrm>
                <a:off x="8330876" y="1841405"/>
                <a:ext cx="3526161" cy="180000"/>
              </a:xfrm>
              <a:prstGeom prst="rect">
                <a:avLst/>
              </a:prstGeom>
              <a:noFill/>
            </p:spPr>
            <p:txBody>
              <a:bodyPr wrap="square" lIns="36000" tIns="36000" rIns="36000" bIns="0" rtlCol="0" anchor="ctr">
                <a:noAutofit/>
              </a:bodyPr>
              <a:lstStyle/>
              <a:p>
                <a:pPr algn="ctr"/>
                <a:r>
                  <a:rPr lang="ja-JP" altLang="en-US" sz="1000">
                    <a:latin typeface="+mn-ea"/>
                  </a:rPr>
                  <a:t>役割</a:t>
                </a:r>
                <a:endParaRPr kumimoji="1" lang="en-US" altLang="ja-JP" sz="1000" dirty="0">
                  <a:latin typeface="+mn-ea"/>
                </a:endParaRPr>
              </a:p>
            </p:txBody>
          </p:sp>
          <p:sp>
            <p:nvSpPr>
              <p:cNvPr id="20" name="テキスト ボックス 19">
                <a:extLst>
                  <a:ext uri="{FF2B5EF4-FFF2-40B4-BE49-F238E27FC236}">
                    <a16:creationId xmlns:a16="http://schemas.microsoft.com/office/drawing/2014/main" id="{087D62FB-2A61-37E1-2966-D0379C01EFF5}"/>
                  </a:ext>
                </a:extLst>
              </p:cNvPr>
              <p:cNvSpPr txBox="1"/>
              <p:nvPr/>
            </p:nvSpPr>
            <p:spPr>
              <a:xfrm>
                <a:off x="1301175" y="2075074"/>
                <a:ext cx="1202891" cy="369332"/>
              </a:xfrm>
              <a:prstGeom prst="rect">
                <a:avLst/>
              </a:prstGeom>
              <a:solidFill>
                <a:schemeClr val="bg1">
                  <a:lumMod val="95000"/>
                </a:schemeClr>
              </a:solidFill>
            </p:spPr>
            <p:txBody>
              <a:bodyPr wrap="square" lIns="0" tIns="36000" rIns="36000" bIns="36000" rtlCol="0" anchor="ctr">
                <a:noAutofit/>
              </a:bodyPr>
              <a:lstStyle/>
              <a:p>
                <a:pPr algn="ctr"/>
                <a:r>
                  <a:rPr kumimoji="1" lang="ja-JP" altLang="en-US" sz="1000">
                    <a:latin typeface="+mn-ea"/>
                  </a:rPr>
                  <a:t>ステアリングコミッティ</a:t>
                </a:r>
                <a:br>
                  <a:rPr kumimoji="1" lang="en-US" altLang="ja-JP" sz="1000" dirty="0">
                    <a:latin typeface="+mn-ea"/>
                  </a:rPr>
                </a:br>
                <a:r>
                  <a:rPr kumimoji="1" lang="en-US" altLang="ja-JP" sz="1000" dirty="0">
                    <a:latin typeface="+mn-ea"/>
                  </a:rPr>
                  <a:t>(</a:t>
                </a:r>
                <a:r>
                  <a:rPr kumimoji="1" lang="ja-JP" altLang="en-US" sz="1000">
                    <a:latin typeface="+mn-ea"/>
                  </a:rPr>
                  <a:t>経営意思決定体</a:t>
                </a:r>
                <a:r>
                  <a:rPr kumimoji="1" lang="en-US" altLang="ja-JP" sz="1000" dirty="0">
                    <a:latin typeface="+mn-ea"/>
                  </a:rPr>
                  <a:t>)</a:t>
                </a:r>
                <a:endParaRPr kumimoji="1" lang="ja-JP" altLang="en-US" sz="1000">
                  <a:latin typeface="+mn-ea"/>
                </a:endParaRPr>
              </a:p>
            </p:txBody>
          </p:sp>
          <p:sp>
            <p:nvSpPr>
              <p:cNvPr id="21" name="テキスト ボックス 20">
                <a:extLst>
                  <a:ext uri="{FF2B5EF4-FFF2-40B4-BE49-F238E27FC236}">
                    <a16:creationId xmlns:a16="http://schemas.microsoft.com/office/drawing/2014/main" id="{7B4927E9-8F62-927D-25C7-83FBD315E37A}"/>
                  </a:ext>
                </a:extLst>
              </p:cNvPr>
              <p:cNvSpPr txBox="1"/>
              <p:nvPr/>
            </p:nvSpPr>
            <p:spPr>
              <a:xfrm>
                <a:off x="1301175" y="2498076"/>
                <a:ext cx="1202891" cy="369332"/>
              </a:xfrm>
              <a:prstGeom prst="rect">
                <a:avLst/>
              </a:prstGeom>
              <a:solidFill>
                <a:schemeClr val="bg1">
                  <a:lumMod val="95000"/>
                </a:schemeClr>
              </a:solidFill>
            </p:spPr>
            <p:txBody>
              <a:bodyPr wrap="square" lIns="0" tIns="36000" rIns="36000" bIns="36000" rtlCol="0" anchor="ctr">
                <a:noAutofit/>
              </a:bodyPr>
              <a:lstStyle/>
              <a:p>
                <a:pPr algn="ctr"/>
                <a:r>
                  <a:rPr kumimoji="1" lang="ja-JP" altLang="en-US" sz="1000">
                    <a:latin typeface="+mn-ea"/>
                  </a:rPr>
                  <a:t>移管</a:t>
                </a:r>
                <a:r>
                  <a:rPr kumimoji="1" lang="en" altLang="ja-JP" sz="1000" dirty="0">
                    <a:latin typeface="+mn-ea"/>
                  </a:rPr>
                  <a:t>PMO</a:t>
                </a:r>
              </a:p>
            </p:txBody>
          </p:sp>
          <p:sp>
            <p:nvSpPr>
              <p:cNvPr id="24" name="テキスト ボックス 23">
                <a:extLst>
                  <a:ext uri="{FF2B5EF4-FFF2-40B4-BE49-F238E27FC236}">
                    <a16:creationId xmlns:a16="http://schemas.microsoft.com/office/drawing/2014/main" id="{6304169A-E1BE-4A6E-C1AD-23328FC1116C}"/>
                  </a:ext>
                </a:extLst>
              </p:cNvPr>
              <p:cNvSpPr txBox="1"/>
              <p:nvPr/>
            </p:nvSpPr>
            <p:spPr>
              <a:xfrm>
                <a:off x="3861125" y="2075073"/>
                <a:ext cx="4399592" cy="369332"/>
              </a:xfrm>
              <a:prstGeom prst="rect">
                <a:avLst/>
              </a:prstGeom>
              <a:noFill/>
            </p:spPr>
            <p:txBody>
              <a:bodyPr wrap="square" lIns="36000" tIns="36000" rIns="36000" rtlCol="0" anchor="ctr">
                <a:noAutofit/>
              </a:bodyPr>
              <a:lstStyle/>
              <a:p>
                <a:pPr algn="ctr"/>
                <a:r>
                  <a:rPr kumimoji="1" lang="ja-JP" altLang="en-US" sz="1000" dirty="0">
                    <a:latin typeface="+mn-ea"/>
                  </a:rPr>
                  <a:t>デジタル戦略担当役員</a:t>
                </a:r>
                <a:r>
                  <a:rPr kumimoji="1" lang="en-US" altLang="ja-JP" sz="1000" dirty="0">
                    <a:latin typeface="+mn-ea"/>
                  </a:rPr>
                  <a:t> </a:t>
                </a:r>
                <a:r>
                  <a:rPr kumimoji="1" lang="ja-JP" altLang="en-US" sz="1000" dirty="0">
                    <a:latin typeface="+mn-ea"/>
                  </a:rPr>
                  <a:t>、デジタル戦略部長、</a:t>
                </a:r>
                <a:r>
                  <a:rPr kumimoji="1" lang="en" altLang="ja-JP" sz="1000" dirty="0">
                    <a:latin typeface="+mn-ea"/>
                  </a:rPr>
                  <a:t>LEB</a:t>
                </a:r>
                <a:r>
                  <a:rPr kumimoji="1" lang="ja-JP" altLang="en-US" sz="1000" dirty="0">
                    <a:latin typeface="+mn-ea"/>
                  </a:rPr>
                  <a:t>役員</a:t>
                </a:r>
                <a:r>
                  <a:rPr lang="ja-JP" altLang="en-US" sz="1000" dirty="0">
                    <a:latin typeface="+mn-ea"/>
                  </a:rPr>
                  <a:t>、</a:t>
                </a:r>
                <a:r>
                  <a:rPr lang="en-US" altLang="ja-JP" sz="1000" dirty="0">
                    <a:latin typeface="+mn-ea"/>
                  </a:rPr>
                  <a:t>PMO</a:t>
                </a:r>
                <a:endParaRPr kumimoji="1" lang="ja-JP" altLang="en-US" sz="1000" dirty="0">
                  <a:latin typeface="+mn-ea"/>
                </a:endParaRPr>
              </a:p>
            </p:txBody>
          </p:sp>
          <p:sp>
            <p:nvSpPr>
              <p:cNvPr id="25" name="テキスト ボックス 24">
                <a:extLst>
                  <a:ext uri="{FF2B5EF4-FFF2-40B4-BE49-F238E27FC236}">
                    <a16:creationId xmlns:a16="http://schemas.microsoft.com/office/drawing/2014/main" id="{A299F6D3-56BD-D417-3463-168268A3BE90}"/>
                  </a:ext>
                </a:extLst>
              </p:cNvPr>
              <p:cNvSpPr txBox="1"/>
              <p:nvPr/>
            </p:nvSpPr>
            <p:spPr>
              <a:xfrm>
                <a:off x="8330876" y="2075073"/>
                <a:ext cx="3526161" cy="369332"/>
              </a:xfrm>
              <a:prstGeom prst="rect">
                <a:avLst/>
              </a:prstGeom>
              <a:noFill/>
            </p:spPr>
            <p:txBody>
              <a:bodyPr wrap="square" lIns="36000" tIns="36000" rIns="36000" rtlCol="0" anchor="ctr">
                <a:noAutofit/>
              </a:bodyPr>
              <a:lstStyle/>
              <a:p>
                <a:pPr algn="ctr"/>
                <a:r>
                  <a:rPr kumimoji="1" lang="ja-JP" altLang="en-US" sz="1000" dirty="0">
                    <a:latin typeface="+mn-ea"/>
                  </a:rPr>
                  <a:t>各段階 (全</a:t>
                </a:r>
                <a:r>
                  <a:rPr kumimoji="1" lang="en-US" altLang="ja-JP" sz="1000" dirty="0">
                    <a:latin typeface="+mn-ea"/>
                  </a:rPr>
                  <a:t>5</a:t>
                </a:r>
                <a:r>
                  <a:rPr kumimoji="1" lang="ja-JP" altLang="en-US" sz="1000" dirty="0">
                    <a:latin typeface="+mn-ea"/>
                  </a:rPr>
                  <a:t>回の意思決定の節目) の進否判定、</a:t>
                </a:r>
                <a:br>
                  <a:rPr kumimoji="1" lang="en-US" altLang="ja-JP" sz="1000" dirty="0">
                    <a:latin typeface="+mn-ea"/>
                  </a:rPr>
                </a:br>
                <a:r>
                  <a:rPr kumimoji="1" lang="ja-JP" altLang="en-US" sz="1000" dirty="0">
                    <a:latin typeface="+mn-ea"/>
                  </a:rPr>
                  <a:t>予算・投資判断、組織変更や人員再配置の承認</a:t>
                </a:r>
              </a:p>
            </p:txBody>
          </p:sp>
          <p:sp>
            <p:nvSpPr>
              <p:cNvPr id="26" name="テキスト ボックス 25">
                <a:extLst>
                  <a:ext uri="{FF2B5EF4-FFF2-40B4-BE49-F238E27FC236}">
                    <a16:creationId xmlns:a16="http://schemas.microsoft.com/office/drawing/2014/main" id="{2ABA7F0E-57BE-7933-AA7D-0319E1013DE6}"/>
                  </a:ext>
                </a:extLst>
              </p:cNvPr>
              <p:cNvSpPr txBox="1"/>
              <p:nvPr/>
            </p:nvSpPr>
            <p:spPr>
              <a:xfrm>
                <a:off x="3861124" y="2498075"/>
                <a:ext cx="4399593" cy="369332"/>
              </a:xfrm>
              <a:prstGeom prst="rect">
                <a:avLst/>
              </a:prstGeom>
              <a:noFill/>
            </p:spPr>
            <p:txBody>
              <a:bodyPr wrap="square" lIns="36000" tIns="36000" rIns="36000" rtlCol="0" anchor="ctr">
                <a:noAutofit/>
              </a:bodyPr>
              <a:lstStyle/>
              <a:p>
                <a:pPr algn="ctr"/>
                <a:r>
                  <a:rPr kumimoji="1" lang="ja-JP" altLang="en-US" sz="1000" dirty="0">
                    <a:latin typeface="+mn-ea"/>
                  </a:rPr>
                  <a:t>当社事務局</a:t>
                </a:r>
                <a:r>
                  <a:rPr kumimoji="1" lang="en-US" altLang="ja-JP" sz="1000" dirty="0">
                    <a:latin typeface="+mn-ea"/>
                  </a:rPr>
                  <a:t> </a:t>
                </a:r>
                <a:r>
                  <a:rPr kumimoji="1" lang="ja-JP" altLang="en-US" sz="1000" dirty="0">
                    <a:latin typeface="+mn-ea"/>
                  </a:rPr>
                  <a:t>(全体統括・社員支援)</a:t>
                </a:r>
                <a:r>
                  <a:rPr kumimoji="1" lang="en-US" altLang="ja-JP" sz="1000" dirty="0">
                    <a:latin typeface="+mn-ea"/>
                  </a:rPr>
                  <a:t> </a:t>
                </a:r>
                <a:r>
                  <a:rPr kumimoji="1" lang="ja-JP" altLang="en-US" sz="1000" dirty="0">
                    <a:latin typeface="+mn-ea"/>
                  </a:rPr>
                  <a:t>、</a:t>
                </a:r>
                <a:r>
                  <a:rPr kumimoji="1" lang="en" altLang="ja-JP" sz="1000" dirty="0">
                    <a:latin typeface="+mn-ea"/>
                  </a:rPr>
                  <a:t>LEB</a:t>
                </a:r>
                <a:r>
                  <a:rPr kumimoji="1" lang="ja-JP" altLang="en-US" sz="1000" dirty="0">
                    <a:latin typeface="+mn-ea"/>
                  </a:rPr>
                  <a:t>事務局 (統制立ち上げ・品質基準の</a:t>
                </a:r>
                <a:br>
                  <a:rPr kumimoji="1" lang="en-US" altLang="ja-JP" sz="1000" dirty="0">
                    <a:latin typeface="+mn-ea"/>
                  </a:rPr>
                </a:br>
                <a:r>
                  <a:rPr kumimoji="1" lang="ja-JP" altLang="en-US" sz="1000" dirty="0">
                    <a:latin typeface="+mn-ea"/>
                  </a:rPr>
                  <a:t>検証)、新規委託先</a:t>
                </a:r>
                <a:r>
                  <a:rPr kumimoji="1" lang="en-US" altLang="ja-JP" sz="1000" dirty="0">
                    <a:latin typeface="+mn-ea"/>
                  </a:rPr>
                  <a:t>  </a:t>
                </a:r>
                <a:r>
                  <a:rPr kumimoji="1" lang="ja-JP" altLang="en-US" sz="1000" dirty="0">
                    <a:latin typeface="+mn-ea"/>
                  </a:rPr>
                  <a:t>移行責任者</a:t>
                </a:r>
                <a:r>
                  <a:rPr kumimoji="1" lang="en-US" altLang="ja-JP" sz="1000" dirty="0">
                    <a:latin typeface="+mn-ea"/>
                  </a:rPr>
                  <a:t> </a:t>
                </a:r>
                <a:r>
                  <a:rPr kumimoji="1" lang="ja-JP" altLang="en-US" sz="1000" dirty="0">
                    <a:latin typeface="+mn-ea"/>
                  </a:rPr>
                  <a:t>(全体工程管理</a:t>
                </a:r>
                <a:r>
                  <a:rPr kumimoji="1" lang="en-US" altLang="ja-JP" sz="1000" dirty="0">
                    <a:latin typeface="+mn-ea"/>
                  </a:rPr>
                  <a:t>)</a:t>
                </a:r>
                <a:endParaRPr kumimoji="1" lang="ja-JP" altLang="en-US" sz="1000" dirty="0">
                  <a:latin typeface="+mn-ea"/>
                </a:endParaRPr>
              </a:p>
            </p:txBody>
          </p:sp>
          <p:sp>
            <p:nvSpPr>
              <p:cNvPr id="27" name="テキスト ボックス 26">
                <a:extLst>
                  <a:ext uri="{FF2B5EF4-FFF2-40B4-BE49-F238E27FC236}">
                    <a16:creationId xmlns:a16="http://schemas.microsoft.com/office/drawing/2014/main" id="{BC12F724-DD13-9F19-845F-9F1D0DA3403D}"/>
                  </a:ext>
                </a:extLst>
              </p:cNvPr>
              <p:cNvSpPr txBox="1"/>
              <p:nvPr/>
            </p:nvSpPr>
            <p:spPr>
              <a:xfrm>
                <a:off x="8330875" y="2498075"/>
                <a:ext cx="3526161" cy="369332"/>
              </a:xfrm>
              <a:prstGeom prst="rect">
                <a:avLst/>
              </a:prstGeom>
              <a:noFill/>
            </p:spPr>
            <p:txBody>
              <a:bodyPr wrap="square" lIns="36000" tIns="36000" rIns="36000" rtlCol="0" anchor="ctr">
                <a:noAutofit/>
              </a:bodyPr>
              <a:lstStyle/>
              <a:p>
                <a:pPr algn="ctr"/>
                <a:r>
                  <a:rPr kumimoji="1" lang="ja-JP" altLang="en-US" sz="1000">
                    <a:latin typeface="+mn-ea"/>
                  </a:rPr>
                  <a:t>週次の進捗・リスク管理、業務ノウハウ引き継ぎ率の監視、</a:t>
                </a:r>
                <a:br>
                  <a:rPr kumimoji="1" lang="en-US" altLang="ja-JP" sz="1000" dirty="0">
                    <a:latin typeface="+mn-ea"/>
                  </a:rPr>
                </a:br>
                <a:r>
                  <a:rPr kumimoji="1" lang="ja-JP" altLang="en-US" sz="1000">
                    <a:latin typeface="+mn-ea"/>
                  </a:rPr>
                  <a:t>完了判定の証拠確認・審査</a:t>
                </a:r>
              </a:p>
            </p:txBody>
          </p:sp>
          <p:sp>
            <p:nvSpPr>
              <p:cNvPr id="28" name="テキスト ボックス 27">
                <a:extLst>
                  <a:ext uri="{FF2B5EF4-FFF2-40B4-BE49-F238E27FC236}">
                    <a16:creationId xmlns:a16="http://schemas.microsoft.com/office/drawing/2014/main" id="{A46DA8EA-31F1-23DB-63D3-7E07583E7C1A}"/>
                  </a:ext>
                </a:extLst>
              </p:cNvPr>
              <p:cNvSpPr txBox="1"/>
              <p:nvPr/>
            </p:nvSpPr>
            <p:spPr>
              <a:xfrm>
                <a:off x="2576398" y="2498075"/>
                <a:ext cx="1202891" cy="369332"/>
              </a:xfrm>
              <a:prstGeom prst="rect">
                <a:avLst/>
              </a:prstGeom>
              <a:noFill/>
            </p:spPr>
            <p:txBody>
              <a:bodyPr wrap="square" lIns="36000" tIns="36000" rIns="36000" rtlCol="0" anchor="ctr">
                <a:noAutofit/>
              </a:bodyPr>
              <a:lstStyle/>
              <a:p>
                <a:pPr algn="ctr"/>
                <a:r>
                  <a:rPr kumimoji="1" lang="ja-JP" altLang="en-US" sz="1000">
                    <a:latin typeface="+mn-ea"/>
                  </a:rPr>
                  <a:t>デジタル戦略部長</a:t>
                </a:r>
                <a:endParaRPr kumimoji="1" lang="en" altLang="ja-JP" sz="1000" dirty="0">
                  <a:latin typeface="+mn-ea"/>
                </a:endParaRPr>
              </a:p>
            </p:txBody>
          </p:sp>
          <p:grpSp>
            <p:nvGrpSpPr>
              <p:cNvPr id="93" name="グループ化 92">
                <a:extLst>
                  <a:ext uri="{FF2B5EF4-FFF2-40B4-BE49-F238E27FC236}">
                    <a16:creationId xmlns:a16="http://schemas.microsoft.com/office/drawing/2014/main" id="{6A9900CC-5A6C-B205-B79C-B9BFACEFF5CA}"/>
                  </a:ext>
                </a:extLst>
              </p:cNvPr>
              <p:cNvGrpSpPr/>
              <p:nvPr/>
            </p:nvGrpSpPr>
            <p:grpSpPr>
              <a:xfrm>
                <a:off x="1301175" y="2921077"/>
                <a:ext cx="10555861" cy="720000"/>
                <a:chOff x="1301175" y="2889248"/>
                <a:chExt cx="10555861" cy="720000"/>
              </a:xfrm>
            </p:grpSpPr>
            <p:sp>
              <p:nvSpPr>
                <p:cNvPr id="22" name="テキスト ボックス 21">
                  <a:extLst>
                    <a:ext uri="{FF2B5EF4-FFF2-40B4-BE49-F238E27FC236}">
                      <a16:creationId xmlns:a16="http://schemas.microsoft.com/office/drawing/2014/main" id="{95A7DD05-994F-7062-E046-3F8799C050F8}"/>
                    </a:ext>
                  </a:extLst>
                </p:cNvPr>
                <p:cNvSpPr txBox="1"/>
                <p:nvPr/>
              </p:nvSpPr>
              <p:spPr>
                <a:xfrm>
                  <a:off x="1301175" y="2889248"/>
                  <a:ext cx="10555861" cy="720000"/>
                </a:xfrm>
                <a:prstGeom prst="rect">
                  <a:avLst/>
                </a:prstGeom>
                <a:solidFill>
                  <a:schemeClr val="bg1">
                    <a:lumMod val="95000"/>
                  </a:schemeClr>
                </a:solidFill>
              </p:spPr>
              <p:txBody>
                <a:bodyPr wrap="square" lIns="108000" tIns="36000" rIns="36000" bIns="36000" rtlCol="0" anchor="t">
                  <a:noAutofit/>
                </a:bodyPr>
                <a:lstStyle/>
                <a:p>
                  <a:r>
                    <a:rPr kumimoji="1" lang="ja-JP" altLang="en-US" sz="1050">
                      <a:latin typeface="+mn-ea"/>
                    </a:rPr>
                    <a:t>実務作業チーム</a:t>
                  </a:r>
                  <a:r>
                    <a:rPr lang="en-US" altLang="ja-JP" sz="1050" dirty="0">
                      <a:latin typeface="+mn-ea"/>
                    </a:rPr>
                    <a:t> (</a:t>
                  </a:r>
                  <a:r>
                    <a:rPr kumimoji="1" lang="ja-JP" altLang="en-US" sz="1050">
                      <a:latin typeface="+mn-ea"/>
                    </a:rPr>
                    <a:t>現場実行組織</a:t>
                  </a:r>
                  <a:r>
                    <a:rPr kumimoji="1" lang="en-US" altLang="ja-JP" sz="1050" dirty="0">
                      <a:latin typeface="+mn-ea"/>
                    </a:rPr>
                    <a:t>)</a:t>
                  </a:r>
                  <a:endParaRPr kumimoji="1" lang="ja-JP" altLang="en-US" sz="1050">
                    <a:latin typeface="+mn-ea"/>
                  </a:endParaRPr>
                </a:p>
              </p:txBody>
            </p:sp>
            <p:sp>
              <p:nvSpPr>
                <p:cNvPr id="8" name="テキスト ボックス 7">
                  <a:extLst>
                    <a:ext uri="{FF2B5EF4-FFF2-40B4-BE49-F238E27FC236}">
                      <a16:creationId xmlns:a16="http://schemas.microsoft.com/office/drawing/2014/main" id="{A434842C-E033-159B-79E4-43ACFE0C0E30}"/>
                    </a:ext>
                  </a:extLst>
                </p:cNvPr>
                <p:cNvSpPr txBox="1"/>
                <p:nvPr/>
              </p:nvSpPr>
              <p:spPr>
                <a:xfrm>
                  <a:off x="1431804" y="3107887"/>
                  <a:ext cx="3240000" cy="440267"/>
                </a:xfrm>
                <a:prstGeom prst="rect">
                  <a:avLst/>
                </a:prstGeom>
                <a:solidFill>
                  <a:schemeClr val="bg1"/>
                </a:solidFill>
                <a:ln>
                  <a:solidFill>
                    <a:srgbClr val="008D2E"/>
                  </a:solidFill>
                </a:ln>
              </p:spPr>
              <p:txBody>
                <a:bodyPr wrap="square" lIns="72000" tIns="36000" rIns="36000" rtlCol="0" anchor="ctr">
                  <a:noAutofit/>
                </a:bodyPr>
                <a:lstStyle/>
                <a:p>
                  <a:r>
                    <a:rPr kumimoji="1" lang="ja-JP" altLang="en-US" sz="900" dirty="0">
                      <a:solidFill>
                        <a:srgbClr val="008D2E"/>
                      </a:solidFill>
                      <a:latin typeface="+mn-ea"/>
                    </a:rPr>
                    <a:t>制度・契約班</a:t>
                  </a:r>
                  <a:r>
                    <a:rPr lang="en-US" altLang="ja-JP" sz="900" dirty="0">
                      <a:solidFill>
                        <a:srgbClr val="008D2E"/>
                      </a:solidFill>
                      <a:latin typeface="+mn-ea"/>
                    </a:rPr>
                    <a:t> : </a:t>
                  </a:r>
                  <a:r>
                    <a:rPr kumimoji="1" lang="ja-JP" altLang="en-US" sz="900" dirty="0">
                      <a:latin typeface="+mn-ea"/>
                    </a:rPr>
                    <a:t>業務手順の標準化、作成成果物</a:t>
                  </a:r>
                  <a:r>
                    <a:rPr kumimoji="1" lang="en-US" altLang="ja-JP" sz="900" dirty="0">
                      <a:latin typeface="+mn-ea"/>
                    </a:rPr>
                    <a:t> (</a:t>
                  </a:r>
                  <a:r>
                    <a:rPr kumimoji="1" lang="ja-JP" altLang="en-US" sz="900" dirty="0">
                      <a:latin typeface="+mn-ea"/>
                    </a:rPr>
                    <a:t>手順書等</a:t>
                  </a:r>
                  <a:r>
                    <a:rPr kumimoji="1" lang="en-US" altLang="ja-JP" sz="900" dirty="0">
                      <a:latin typeface="+mn-ea"/>
                    </a:rPr>
                    <a:t>) </a:t>
                  </a:r>
                  <a:r>
                    <a:rPr kumimoji="1" lang="ja-JP" altLang="en-US" sz="900" dirty="0">
                      <a:latin typeface="+mn-ea"/>
                    </a:rPr>
                    <a:t>の</a:t>
                  </a:r>
                  <a:endParaRPr kumimoji="1" lang="en-US" altLang="ja-JP" sz="900" dirty="0">
                    <a:latin typeface="+mn-ea"/>
                  </a:endParaRPr>
                </a:p>
                <a:p>
                  <a:pPr marL="755650"/>
                  <a:r>
                    <a:rPr kumimoji="1" lang="ja-JP" altLang="en-US" sz="900" dirty="0">
                      <a:latin typeface="+mn-ea"/>
                    </a:rPr>
                    <a:t>権利帰属の整理、サービス品質基準</a:t>
                  </a:r>
                  <a:r>
                    <a:rPr kumimoji="1" lang="en-US" altLang="ja-JP" sz="900" dirty="0">
                      <a:latin typeface="+mn-ea"/>
                    </a:rPr>
                    <a:t/>
                  </a:r>
                  <a:r>
                    <a:rPr kumimoji="1" lang="en" altLang="ja-JP" sz="900" dirty="0">
                      <a:latin typeface="+mn-ea"/>
                    </a:rPr>
                    <a:t/>
                  </a:r>
                  <a:br>
                    <a:rPr kumimoji="1" lang="en" altLang="ja-JP" sz="900" dirty="0">
                      <a:latin typeface="+mn-ea"/>
                    </a:rPr>
                  </a:br>
                  <a:r>
                    <a:rPr kumimoji="1" lang="ja-JP" altLang="en-US" sz="900" dirty="0">
                      <a:latin typeface="+mn-ea"/>
                    </a:rPr>
                    <a:t>および契約の設計</a:t>
                  </a:r>
                  <a:endParaRPr kumimoji="1" lang="en" altLang="ja-JP" sz="900" dirty="0">
                    <a:latin typeface="+mn-ea"/>
                  </a:endParaRPr>
                </a:p>
              </p:txBody>
            </p:sp>
            <p:sp>
              <p:nvSpPr>
                <p:cNvPr id="15" name="テキスト ボックス 14">
                  <a:extLst>
                    <a:ext uri="{FF2B5EF4-FFF2-40B4-BE49-F238E27FC236}">
                      <a16:creationId xmlns:a16="http://schemas.microsoft.com/office/drawing/2014/main" id="{02A306AA-4A77-0836-893A-AA2F3680C18B}"/>
                    </a:ext>
                  </a:extLst>
                </p:cNvPr>
                <p:cNvSpPr txBox="1"/>
                <p:nvPr/>
              </p:nvSpPr>
              <p:spPr>
                <a:xfrm>
                  <a:off x="4792428" y="3107887"/>
                  <a:ext cx="3240000" cy="440267"/>
                </a:xfrm>
                <a:prstGeom prst="rect">
                  <a:avLst/>
                </a:prstGeom>
                <a:solidFill>
                  <a:schemeClr val="bg1"/>
                </a:solidFill>
                <a:ln>
                  <a:solidFill>
                    <a:srgbClr val="008D2E"/>
                  </a:solidFill>
                </a:ln>
              </p:spPr>
              <p:txBody>
                <a:bodyPr wrap="square" lIns="72000" tIns="36000" rIns="36000" rtlCol="0" anchor="ctr">
                  <a:noAutofit/>
                </a:bodyPr>
                <a:lstStyle/>
                <a:p>
                  <a:pPr marL="850900" indent="-844550"/>
                  <a:r>
                    <a:rPr kumimoji="1" lang="ja-JP" altLang="en-US" sz="900" dirty="0">
                      <a:solidFill>
                        <a:srgbClr val="008D2E"/>
                      </a:solidFill>
                      <a:latin typeface="+mn-ea"/>
                    </a:rPr>
                    <a:t>業務引き継ぎ班</a:t>
                  </a:r>
                  <a:r>
                    <a:rPr kumimoji="1" lang="en-US" altLang="ja-JP" sz="900" dirty="0">
                      <a:solidFill>
                        <a:srgbClr val="008D2E"/>
                      </a:solidFill>
                      <a:latin typeface="+mn-ea"/>
                    </a:rPr>
                    <a:t> </a:t>
                  </a:r>
                  <a:r>
                    <a:rPr lang="en-US" altLang="ja-JP" sz="900" dirty="0">
                      <a:solidFill>
                        <a:srgbClr val="008D2E"/>
                      </a:solidFill>
                      <a:latin typeface="+mn-ea"/>
                    </a:rPr>
                    <a:t>: </a:t>
                  </a:r>
                  <a:r>
                    <a:rPr lang="ja-JP" altLang="en-US" sz="900" dirty="0">
                      <a:latin typeface="+mn-ea"/>
                    </a:rPr>
                    <a:t>現行委託先・新規委託先・</a:t>
                  </a:r>
                  <a:r>
                    <a:rPr lang="en-US" altLang="ja-JP" sz="900" dirty="0">
                      <a:latin typeface="+mn-ea"/>
                    </a:rPr>
                    <a:t>LEB</a:t>
                  </a:r>
                  <a:r>
                    <a:rPr lang="ja-JP" altLang="en-US" sz="900" dirty="0">
                      <a:latin typeface="+mn-ea"/>
                    </a:rPr>
                    <a:t>の</a:t>
                  </a:r>
                  <a:r>
                    <a:rPr lang="en-US" altLang="ja-JP" sz="900" dirty="0">
                      <a:latin typeface="+mn-ea"/>
                    </a:rPr>
                    <a:t>3</a:t>
                  </a:r>
                  <a:r>
                    <a:rPr lang="ja-JP" altLang="en-US" sz="900" dirty="0">
                      <a:latin typeface="+mn-ea"/>
                    </a:rPr>
                    <a:t>社による</a:t>
                  </a:r>
                  <a:br>
                    <a:rPr lang="en-US" altLang="ja-JP" sz="900" dirty="0">
                      <a:latin typeface="+mn-ea"/>
                    </a:rPr>
                  </a:br>
                  <a:r>
                    <a:rPr lang="ja-JP" altLang="en-US" sz="900" dirty="0">
                      <a:latin typeface="+mn-ea"/>
                    </a:rPr>
                    <a:t>「作業同席</a:t>
                  </a:r>
                  <a:r>
                    <a:rPr lang="en-US" altLang="ja-JP" sz="900" dirty="0">
                      <a:latin typeface="+mn-ea"/>
                    </a:rPr>
                    <a:t> (</a:t>
                  </a:r>
                  <a:r>
                    <a:rPr lang="ja-JP" altLang="en-US" sz="900" dirty="0">
                      <a:latin typeface="+mn-ea"/>
                    </a:rPr>
                    <a:t>暗黙知の抽出</a:t>
                  </a:r>
                  <a:r>
                    <a:rPr lang="en-US" altLang="ja-JP" sz="900" dirty="0">
                      <a:latin typeface="+mn-ea"/>
                    </a:rPr>
                    <a:t>) </a:t>
                  </a:r>
                  <a:r>
                    <a:rPr lang="ja-JP" altLang="en-US" sz="900" dirty="0">
                      <a:latin typeface="+mn-ea"/>
                    </a:rPr>
                    <a:t>」と</a:t>
                  </a:r>
                  <a:br>
                    <a:rPr lang="en-US" altLang="ja-JP" sz="900" dirty="0">
                      <a:latin typeface="+mn-ea"/>
                    </a:rPr>
                  </a:br>
                  <a:r>
                    <a:rPr lang="ja-JP" altLang="en-US" sz="900" dirty="0">
                      <a:latin typeface="+mn-ea"/>
                    </a:rPr>
                    <a:t>「実践確認</a:t>
                  </a:r>
                  <a:r>
                    <a:rPr lang="en-US" altLang="ja-JP" sz="900" dirty="0">
                      <a:latin typeface="+mn-ea"/>
                    </a:rPr>
                    <a:t> (</a:t>
                  </a:r>
                  <a:r>
                    <a:rPr lang="ja-JP" altLang="en-US" sz="900" dirty="0">
                      <a:latin typeface="+mn-ea"/>
                    </a:rPr>
                    <a:t>新体制での単独テスト</a:t>
                  </a:r>
                  <a:r>
                    <a:rPr lang="en-US" altLang="ja-JP" sz="900" dirty="0">
                      <a:latin typeface="+mn-ea"/>
                    </a:rPr>
                    <a:t>) </a:t>
                  </a:r>
                  <a:r>
                    <a:rPr lang="ja-JP" altLang="en-US" sz="900" dirty="0">
                      <a:latin typeface="+mn-ea"/>
                    </a:rPr>
                    <a:t>」の遂行</a:t>
                  </a:r>
                  <a:endParaRPr kumimoji="1" lang="en" altLang="ja-JP" sz="900" dirty="0">
                    <a:latin typeface="+mn-ea"/>
                  </a:endParaRPr>
                </a:p>
              </p:txBody>
            </p:sp>
            <p:sp>
              <p:nvSpPr>
                <p:cNvPr id="29" name="テキスト ボックス 28">
                  <a:extLst>
                    <a:ext uri="{FF2B5EF4-FFF2-40B4-BE49-F238E27FC236}">
                      <a16:creationId xmlns:a16="http://schemas.microsoft.com/office/drawing/2014/main" id="{43B35869-61AC-8E5E-0E84-E0A57C2E3A29}"/>
                    </a:ext>
                  </a:extLst>
                </p:cNvPr>
                <p:cNvSpPr txBox="1"/>
                <p:nvPr/>
              </p:nvSpPr>
              <p:spPr>
                <a:xfrm>
                  <a:off x="8205722" y="3107887"/>
                  <a:ext cx="3240000" cy="440267"/>
                </a:xfrm>
                <a:prstGeom prst="rect">
                  <a:avLst/>
                </a:prstGeom>
                <a:solidFill>
                  <a:schemeClr val="bg1"/>
                </a:solidFill>
                <a:ln>
                  <a:solidFill>
                    <a:srgbClr val="008D2E"/>
                  </a:solidFill>
                </a:ln>
              </p:spPr>
              <p:txBody>
                <a:bodyPr wrap="square" lIns="144000" tIns="36000" rIns="36000" rtlCol="0" anchor="ctr">
                  <a:noAutofit/>
                </a:bodyPr>
                <a:lstStyle/>
                <a:p>
                  <a:pPr marL="850900" indent="-844550"/>
                  <a:r>
                    <a:rPr kumimoji="1" lang="ja-JP" altLang="en-US" sz="900">
                      <a:solidFill>
                        <a:srgbClr val="008D2E"/>
                      </a:solidFill>
                      <a:latin typeface="+mn-ea"/>
                    </a:rPr>
                    <a:t>業務転換</a:t>
                  </a:r>
                  <a:r>
                    <a:rPr kumimoji="1" lang="en-US" altLang="ja-JP" sz="900" dirty="0">
                      <a:solidFill>
                        <a:srgbClr val="008D2E"/>
                      </a:solidFill>
                      <a:latin typeface="+mn-ea"/>
                    </a:rPr>
                    <a:t> </a:t>
                  </a:r>
                  <a:r>
                    <a:rPr lang="en-US" altLang="ja-JP" sz="900" dirty="0">
                      <a:solidFill>
                        <a:srgbClr val="008D2E"/>
                      </a:solidFill>
                      <a:latin typeface="+mn-ea"/>
                    </a:rPr>
                    <a:t>: </a:t>
                  </a:r>
                  <a:r>
                    <a:rPr lang="ja-JP" altLang="en-US" sz="900">
                      <a:latin typeface="+mn-ea"/>
                    </a:rPr>
                    <a:t>企画業務へのスムーズな移行・育成支援</a:t>
                  </a:r>
                  <a:endParaRPr kumimoji="1" lang="en" altLang="ja-JP" sz="900" dirty="0">
                    <a:latin typeface="+mn-ea"/>
                  </a:endParaRPr>
                </a:p>
              </p:txBody>
            </p:sp>
          </p:grpSp>
          <p:cxnSp>
            <p:nvCxnSpPr>
              <p:cNvPr id="100" name="直線コネクタ 99">
                <a:extLst>
                  <a:ext uri="{FF2B5EF4-FFF2-40B4-BE49-F238E27FC236}">
                    <a16:creationId xmlns:a16="http://schemas.microsoft.com/office/drawing/2014/main" id="{22A24EC0-1F5D-8F18-DBB6-56F743605552}"/>
                  </a:ext>
                </a:extLst>
              </p:cNvPr>
              <p:cNvCxnSpPr>
                <a:cxnSpLocks/>
              </p:cNvCxnSpPr>
              <p:nvPr/>
            </p:nvCxnSpPr>
            <p:spPr>
              <a:xfrm>
                <a:off x="2576398" y="2471240"/>
                <a:ext cx="120289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18E7E73A-74EE-55FC-219D-D597B1C7CD2A}"/>
                  </a:ext>
                </a:extLst>
              </p:cNvPr>
              <p:cNvCxnSpPr>
                <a:cxnSpLocks/>
              </p:cNvCxnSpPr>
              <p:nvPr/>
            </p:nvCxnSpPr>
            <p:spPr>
              <a:xfrm>
                <a:off x="3861124" y="2471240"/>
                <a:ext cx="4399592"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4FF78F4C-A7C5-3C0F-5DDA-0D5430D17CDD}"/>
                  </a:ext>
                </a:extLst>
              </p:cNvPr>
              <p:cNvCxnSpPr>
                <a:cxnSpLocks/>
              </p:cNvCxnSpPr>
              <p:nvPr/>
            </p:nvCxnSpPr>
            <p:spPr>
              <a:xfrm>
                <a:off x="8330875" y="2471240"/>
                <a:ext cx="3526161"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6" name="グラフィックス 105" descr="階層 単色塗りつぶし">
                <a:extLst>
                  <a:ext uri="{FF2B5EF4-FFF2-40B4-BE49-F238E27FC236}">
                    <a16:creationId xmlns:a16="http://schemas.microsoft.com/office/drawing/2014/main" id="{F49EC6C6-D015-D341-2C31-6AF30C1296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6962" y="3173077"/>
                <a:ext cx="468000" cy="468000"/>
              </a:xfrm>
              <a:prstGeom prst="rect">
                <a:avLst/>
              </a:prstGeom>
            </p:spPr>
          </p:pic>
        </p:grpSp>
        <p:grpSp>
          <p:nvGrpSpPr>
            <p:cNvPr id="111" name="グループ化 110">
              <a:extLst>
                <a:ext uri="{FF2B5EF4-FFF2-40B4-BE49-F238E27FC236}">
                  <a16:creationId xmlns:a16="http://schemas.microsoft.com/office/drawing/2014/main" id="{0FFCB203-FD79-53EE-0977-78323931DEB7}"/>
                </a:ext>
              </a:extLst>
            </p:cNvPr>
            <p:cNvGrpSpPr/>
            <p:nvPr/>
          </p:nvGrpSpPr>
          <p:grpSpPr>
            <a:xfrm>
              <a:off x="334962" y="3724052"/>
              <a:ext cx="11522074" cy="2581131"/>
              <a:chOff x="334962" y="3724052"/>
              <a:chExt cx="11522074" cy="2581131"/>
            </a:xfrm>
          </p:grpSpPr>
          <p:sp>
            <p:nvSpPr>
              <p:cNvPr id="30" name="正方形/長方形 29">
                <a:extLst>
                  <a:ext uri="{FF2B5EF4-FFF2-40B4-BE49-F238E27FC236}">
                    <a16:creationId xmlns:a16="http://schemas.microsoft.com/office/drawing/2014/main" id="{739DC4CF-016B-9898-420D-4405BE7A2DF7}"/>
                  </a:ext>
                </a:extLst>
              </p:cNvPr>
              <p:cNvSpPr/>
              <p:nvPr/>
            </p:nvSpPr>
            <p:spPr>
              <a:xfrm>
                <a:off x="334962" y="3724052"/>
                <a:ext cx="900000" cy="2581129"/>
              </a:xfrm>
              <a:prstGeom prst="rect">
                <a:avLst/>
              </a:prstGeom>
              <a:solidFill>
                <a:srgbClr val="008D2E"/>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72000" tIns="36000" rIns="36000" bIns="36000" numCol="1" spcCol="0" rtlCol="0" fromWordArt="0" anchor="ctr" anchorCtr="0" forceAA="0" compatLnSpc="1">
                <a:prstTxWarp prst="textNoShape">
                  <a:avLst/>
                </a:prstTxWarp>
                <a:noAutofit/>
              </a:bodyPr>
              <a:lstStyle/>
              <a:p>
                <a:r>
                  <a:rPr kumimoji="1" lang="ja-JP" altLang="en-US" sz="1200" dirty="0">
                    <a:solidFill>
                      <a:schemeClr val="bg1"/>
                    </a:solidFill>
                    <a:latin typeface="+mn-ea"/>
                  </a:rPr>
                  <a:t>役割と責任</a:t>
                </a:r>
                <a:br>
                  <a:rPr kumimoji="1" lang="en-US" altLang="ja-JP" sz="1200" dirty="0">
                    <a:solidFill>
                      <a:schemeClr val="bg1"/>
                    </a:solidFill>
                    <a:latin typeface="+mn-ea"/>
                  </a:rPr>
                </a:br>
                <a:r>
                  <a:rPr kumimoji="1" lang="ja-JP" altLang="en-US" sz="1200" dirty="0">
                    <a:solidFill>
                      <a:schemeClr val="bg1"/>
                    </a:solidFill>
                    <a:latin typeface="+mn-ea"/>
                  </a:rPr>
                  <a:t>の分界表</a:t>
                </a:r>
                <a:br>
                  <a:rPr kumimoji="1" lang="en-US" altLang="ja-JP" sz="1200" dirty="0">
                    <a:solidFill>
                      <a:schemeClr val="bg1"/>
                    </a:solidFill>
                    <a:latin typeface="+mn-ea"/>
                  </a:rPr>
                </a:br>
                <a:r>
                  <a:rPr kumimoji="1" lang="ja-JP" altLang="en-US" sz="1000" dirty="0">
                    <a:solidFill>
                      <a:schemeClr val="bg1"/>
                    </a:solidFill>
                    <a:latin typeface="+mn-ea"/>
                  </a:rPr>
                  <a:t>(移管期に</a:t>
                </a:r>
                <a:br>
                  <a:rPr lang="en-US" altLang="ja-JP" sz="1000" dirty="0">
                    <a:solidFill>
                      <a:schemeClr val="bg1"/>
                    </a:solidFill>
                    <a:latin typeface="+mn-ea"/>
                  </a:rPr>
                </a:br>
                <a:r>
                  <a:rPr kumimoji="1" lang="ja-JP" altLang="en-US" sz="1000" dirty="0">
                    <a:solidFill>
                      <a:schemeClr val="bg1"/>
                    </a:solidFill>
                    <a:latin typeface="+mn-ea"/>
                  </a:rPr>
                  <a:t>おける各社の</a:t>
                </a:r>
                <a:br>
                  <a:rPr kumimoji="1" lang="en-US" altLang="ja-JP" sz="1000" dirty="0">
                    <a:solidFill>
                      <a:schemeClr val="bg1"/>
                    </a:solidFill>
                    <a:latin typeface="+mn-ea"/>
                  </a:rPr>
                </a:br>
                <a:r>
                  <a:rPr kumimoji="1" lang="ja-JP" altLang="en-US" sz="1000" dirty="0">
                    <a:solidFill>
                      <a:schemeClr val="bg1"/>
                    </a:solidFill>
                    <a:latin typeface="+mn-ea"/>
                  </a:rPr>
                  <a:t>分担)</a:t>
                </a:r>
              </a:p>
            </p:txBody>
          </p:sp>
          <p:sp>
            <p:nvSpPr>
              <p:cNvPr id="7" name="テキスト ボックス 6">
                <a:extLst>
                  <a:ext uri="{FF2B5EF4-FFF2-40B4-BE49-F238E27FC236}">
                    <a16:creationId xmlns:a16="http://schemas.microsoft.com/office/drawing/2014/main" id="{EB5A3743-5F21-91FF-E141-31D16C38F13D}"/>
                  </a:ext>
                </a:extLst>
              </p:cNvPr>
              <p:cNvSpPr txBox="1"/>
              <p:nvPr/>
            </p:nvSpPr>
            <p:spPr>
              <a:xfrm>
                <a:off x="1301175" y="3724052"/>
                <a:ext cx="1202891" cy="360000"/>
              </a:xfrm>
              <a:prstGeom prst="rect">
                <a:avLst/>
              </a:prstGeom>
              <a:solidFill>
                <a:srgbClr val="C5E0B4">
                  <a:alpha val="30000"/>
                </a:srgbClr>
              </a:solidFill>
            </p:spPr>
            <p:txBody>
              <a:bodyPr wrap="square" lIns="0" tIns="36000" rIns="36000" bIns="36000" rtlCol="0" anchor="ctr">
                <a:noAutofit/>
              </a:bodyPr>
              <a:lstStyle/>
              <a:p>
                <a:pPr algn="ctr"/>
                <a:r>
                  <a:rPr kumimoji="1" lang="ja-JP" altLang="en-US" sz="1000">
                    <a:latin typeface="+mn-ea"/>
                  </a:rPr>
                  <a:t>移管ステップ</a:t>
                </a:r>
              </a:p>
            </p:txBody>
          </p:sp>
          <p:sp>
            <p:nvSpPr>
              <p:cNvPr id="12" name="テキスト ボックス 11">
                <a:extLst>
                  <a:ext uri="{FF2B5EF4-FFF2-40B4-BE49-F238E27FC236}">
                    <a16:creationId xmlns:a16="http://schemas.microsoft.com/office/drawing/2014/main" id="{62C9C7D9-B6AF-B4FD-ED48-706D69B576E1}"/>
                  </a:ext>
                </a:extLst>
              </p:cNvPr>
              <p:cNvSpPr txBox="1"/>
              <p:nvPr/>
            </p:nvSpPr>
            <p:spPr>
              <a:xfrm>
                <a:off x="1301175" y="4110177"/>
                <a:ext cx="1202891" cy="369332"/>
              </a:xfrm>
              <a:prstGeom prst="rect">
                <a:avLst/>
              </a:prstGeom>
              <a:solidFill>
                <a:srgbClr val="C5E0B4">
                  <a:alpha val="30000"/>
                </a:srgbClr>
              </a:solidFill>
            </p:spPr>
            <p:txBody>
              <a:bodyPr wrap="square" lIns="0" tIns="36000" rIns="36000" bIns="36000" rtlCol="0" anchor="ctr">
                <a:noAutofit/>
              </a:bodyPr>
              <a:lstStyle/>
              <a:p>
                <a:pPr algn="ctr"/>
                <a:r>
                  <a:rPr kumimoji="1" lang="ja-JP" altLang="en-US" sz="1000">
                    <a:latin typeface="+mn-ea"/>
                  </a:rPr>
                  <a:t>当社</a:t>
                </a:r>
                <a:br>
                  <a:rPr kumimoji="1" lang="en-US" altLang="ja-JP" sz="1000" dirty="0">
                    <a:latin typeface="+mn-ea"/>
                  </a:rPr>
                </a:br>
                <a:r>
                  <a:rPr kumimoji="1" lang="ja-JP" altLang="en-US" sz="1000">
                    <a:latin typeface="+mn-ea"/>
                  </a:rPr>
                  <a:t>(デジタル戦略部</a:t>
                </a:r>
              </a:p>
            </p:txBody>
          </p:sp>
          <p:sp>
            <p:nvSpPr>
              <p:cNvPr id="13" name="テキスト ボックス 12">
                <a:extLst>
                  <a:ext uri="{FF2B5EF4-FFF2-40B4-BE49-F238E27FC236}">
                    <a16:creationId xmlns:a16="http://schemas.microsoft.com/office/drawing/2014/main" id="{F6A43FCF-716C-D3B9-29E2-8DE69946931D}"/>
                  </a:ext>
                </a:extLst>
              </p:cNvPr>
              <p:cNvSpPr txBox="1"/>
              <p:nvPr/>
            </p:nvSpPr>
            <p:spPr>
              <a:xfrm>
                <a:off x="1301175" y="4531759"/>
                <a:ext cx="1202891" cy="369332"/>
              </a:xfrm>
              <a:prstGeom prst="rect">
                <a:avLst/>
              </a:prstGeom>
              <a:solidFill>
                <a:srgbClr val="C5E0B4">
                  <a:alpha val="30000"/>
                </a:srgbClr>
              </a:solidFill>
            </p:spPr>
            <p:txBody>
              <a:bodyPr wrap="square" lIns="0" tIns="36000" rIns="36000" bIns="36000" rtlCol="0" anchor="ctr">
                <a:noAutofit/>
              </a:bodyPr>
              <a:lstStyle/>
              <a:p>
                <a:pPr algn="ctr"/>
                <a:r>
                  <a:rPr kumimoji="1" lang="ja-JP" altLang="en-US" sz="1000" dirty="0">
                    <a:latin typeface="+mn-ea"/>
                  </a:rPr>
                  <a:t>統制担当 (</a:t>
                </a:r>
                <a:r>
                  <a:rPr kumimoji="1" lang="en" altLang="ja-JP" sz="1000" dirty="0">
                    <a:latin typeface="+mn-ea"/>
                  </a:rPr>
                  <a:t>LEB</a:t>
                </a:r>
                <a:r>
                  <a:rPr kumimoji="1" lang="ja-JP" altLang="en" sz="1000" dirty="0">
                    <a:latin typeface="+mn-ea"/>
                  </a:rPr>
                  <a:t>)</a:t>
                </a:r>
              </a:p>
            </p:txBody>
          </p:sp>
          <p:sp>
            <p:nvSpPr>
              <p:cNvPr id="14" name="テキスト ボックス 13">
                <a:extLst>
                  <a:ext uri="{FF2B5EF4-FFF2-40B4-BE49-F238E27FC236}">
                    <a16:creationId xmlns:a16="http://schemas.microsoft.com/office/drawing/2014/main" id="{FE775985-A229-3C5F-FE77-0093E8B72BAD}"/>
                  </a:ext>
                </a:extLst>
              </p:cNvPr>
              <p:cNvSpPr txBox="1"/>
              <p:nvPr/>
            </p:nvSpPr>
            <p:spPr>
              <a:xfrm>
                <a:off x="1301174" y="4948400"/>
                <a:ext cx="576000" cy="782785"/>
              </a:xfrm>
              <a:prstGeom prst="rect">
                <a:avLst/>
              </a:prstGeom>
              <a:solidFill>
                <a:srgbClr val="C5E0B4">
                  <a:alpha val="30000"/>
                </a:srgbClr>
              </a:solidFill>
            </p:spPr>
            <p:txBody>
              <a:bodyPr wrap="square" lIns="0" tIns="36000" rIns="0" bIns="36000" rtlCol="0" anchor="ctr">
                <a:noAutofit/>
              </a:bodyPr>
              <a:lstStyle/>
              <a:p>
                <a:pPr algn="ctr"/>
                <a:r>
                  <a:rPr kumimoji="1" lang="ja-JP" altLang="en-US" sz="1000">
                    <a:latin typeface="+mn-ea"/>
                  </a:rPr>
                  <a:t>委託先</a:t>
                </a:r>
              </a:p>
            </p:txBody>
          </p:sp>
          <p:sp>
            <p:nvSpPr>
              <p:cNvPr id="31" name="テキスト ボックス 30">
                <a:extLst>
                  <a:ext uri="{FF2B5EF4-FFF2-40B4-BE49-F238E27FC236}">
                    <a16:creationId xmlns:a16="http://schemas.microsoft.com/office/drawing/2014/main" id="{DB216129-D092-F456-6264-5A232B2361B3}"/>
                  </a:ext>
                </a:extLst>
              </p:cNvPr>
              <p:cNvSpPr txBox="1"/>
              <p:nvPr/>
            </p:nvSpPr>
            <p:spPr>
              <a:xfrm>
                <a:off x="1301175" y="5770380"/>
                <a:ext cx="1202891" cy="534803"/>
              </a:xfrm>
              <a:prstGeom prst="rect">
                <a:avLst/>
              </a:prstGeom>
              <a:solidFill>
                <a:srgbClr val="C5E0B4">
                  <a:alpha val="30000"/>
                </a:srgbClr>
              </a:solidFill>
            </p:spPr>
            <p:txBody>
              <a:bodyPr wrap="square" lIns="0" tIns="36000" rIns="36000" bIns="36000" rtlCol="0" anchor="ctr">
                <a:noAutofit/>
              </a:bodyPr>
              <a:lstStyle/>
              <a:p>
                <a:pPr algn="ctr"/>
                <a:r>
                  <a:rPr kumimoji="1" lang="ja-JP" altLang="en-US" sz="1000">
                    <a:latin typeface="+mn-ea"/>
                  </a:rPr>
                  <a:t>用語の定義</a:t>
                </a:r>
              </a:p>
            </p:txBody>
          </p:sp>
          <p:sp>
            <p:nvSpPr>
              <p:cNvPr id="33" name="テキスト ボックス 32">
                <a:extLst>
                  <a:ext uri="{FF2B5EF4-FFF2-40B4-BE49-F238E27FC236}">
                    <a16:creationId xmlns:a16="http://schemas.microsoft.com/office/drawing/2014/main" id="{5B2E1045-A9A8-2078-5A87-54474290D43A}"/>
                  </a:ext>
                </a:extLst>
              </p:cNvPr>
              <p:cNvSpPr txBox="1"/>
              <p:nvPr/>
            </p:nvSpPr>
            <p:spPr>
              <a:xfrm>
                <a:off x="2576398" y="5770380"/>
                <a:ext cx="1908000" cy="534803"/>
              </a:xfrm>
              <a:prstGeom prst="rect">
                <a:avLst/>
              </a:prstGeom>
              <a:solidFill>
                <a:schemeClr val="bg1">
                  <a:lumMod val="95000"/>
                </a:schemeClr>
              </a:solidFill>
            </p:spPr>
            <p:txBody>
              <a:bodyPr wrap="square" lIns="72000" tIns="36000" rIns="36000" bIns="36000" rtlCol="0" anchor="ctr">
                <a:noAutofit/>
              </a:bodyPr>
              <a:lstStyle/>
              <a:p>
                <a:r>
                  <a:rPr kumimoji="1" lang="ja-JP" altLang="en-US" sz="1000">
                    <a:solidFill>
                      <a:srgbClr val="008D2E"/>
                    </a:solidFill>
                    <a:latin typeface="+mn-ea"/>
                  </a:rPr>
                  <a:t>最終決定</a:t>
                </a:r>
                <a:endParaRPr kumimoji="1" lang="en-US" altLang="ja-JP" sz="1000" dirty="0">
                  <a:solidFill>
                    <a:srgbClr val="008D2E"/>
                  </a:solidFill>
                  <a:latin typeface="+mn-ea"/>
                </a:endParaRPr>
              </a:p>
              <a:p>
                <a:r>
                  <a:rPr kumimoji="1" lang="ja-JP" altLang="en-US" sz="1000">
                    <a:latin typeface="+mn-ea"/>
                  </a:rPr>
                  <a:t>最終的な承認および結果に対する説明責任を持つ</a:t>
                </a:r>
                <a:r>
                  <a:rPr kumimoji="1" lang="en-US" altLang="ja-JP" sz="1000" dirty="0">
                    <a:latin typeface="+mn-ea"/>
                  </a:rPr>
                  <a:t> </a:t>
                </a:r>
                <a:r>
                  <a:rPr kumimoji="1" lang="ja-JP" altLang="en-US" sz="1000">
                    <a:latin typeface="+mn-ea"/>
                  </a:rPr>
                  <a:t>(経営判断) </a:t>
                </a:r>
              </a:p>
            </p:txBody>
          </p:sp>
          <p:sp>
            <p:nvSpPr>
              <p:cNvPr id="38" name="テキスト ボックス 37">
                <a:extLst>
                  <a:ext uri="{FF2B5EF4-FFF2-40B4-BE49-F238E27FC236}">
                    <a16:creationId xmlns:a16="http://schemas.microsoft.com/office/drawing/2014/main" id="{63BEC0FF-B41F-460A-97A3-1A556D9CA919}"/>
                  </a:ext>
                </a:extLst>
              </p:cNvPr>
              <p:cNvSpPr txBox="1"/>
              <p:nvPr/>
            </p:nvSpPr>
            <p:spPr>
              <a:xfrm>
                <a:off x="4554557" y="5770380"/>
                <a:ext cx="1908000" cy="534803"/>
              </a:xfrm>
              <a:prstGeom prst="rect">
                <a:avLst/>
              </a:prstGeom>
              <a:solidFill>
                <a:schemeClr val="bg1">
                  <a:lumMod val="95000"/>
                </a:schemeClr>
              </a:solidFill>
            </p:spPr>
            <p:txBody>
              <a:bodyPr wrap="square" lIns="36000" tIns="36000" rIns="0" bIns="36000" rtlCol="0" anchor="ctr">
                <a:noAutofit/>
              </a:bodyPr>
              <a:lstStyle/>
              <a:p>
                <a:r>
                  <a:rPr kumimoji="1" lang="ja-JP" altLang="en-US" sz="1000">
                    <a:solidFill>
                      <a:srgbClr val="008D2E"/>
                    </a:solidFill>
                    <a:latin typeface="+mn-ea"/>
                  </a:rPr>
                  <a:t>主担当</a:t>
                </a:r>
                <a:r>
                  <a:rPr kumimoji="1" lang="en-US" altLang="ja-JP" sz="1000" dirty="0">
                    <a:solidFill>
                      <a:srgbClr val="008D2E"/>
                    </a:solidFill>
                    <a:latin typeface="+mn-ea"/>
                  </a:rPr>
                  <a:t> </a:t>
                </a:r>
                <a:r>
                  <a:rPr kumimoji="1" lang="ja-JP" altLang="en-US" sz="1000">
                    <a:solidFill>
                      <a:srgbClr val="008D2E"/>
                    </a:solidFill>
                    <a:latin typeface="+mn-ea"/>
                  </a:rPr>
                  <a:t>(実務</a:t>
                </a:r>
                <a:r>
                  <a:rPr kumimoji="1" lang="en-US" altLang="ja-JP" sz="1000" dirty="0">
                    <a:solidFill>
                      <a:srgbClr val="008D2E"/>
                    </a:solidFill>
                    <a:latin typeface="+mn-ea"/>
                  </a:rPr>
                  <a:t> / </a:t>
                </a:r>
                <a:r>
                  <a:rPr kumimoji="1" lang="ja-JP" altLang="en-US" sz="1000">
                    <a:solidFill>
                      <a:srgbClr val="008D2E"/>
                    </a:solidFill>
                    <a:latin typeface="+mn-ea"/>
                  </a:rPr>
                  <a:t>検収)</a:t>
                </a:r>
                <a:endParaRPr kumimoji="1" lang="en-US" altLang="ja-JP" sz="1000" dirty="0">
                  <a:latin typeface="+mn-ea"/>
                </a:endParaRPr>
              </a:p>
              <a:p>
                <a:r>
                  <a:rPr kumimoji="1" lang="ja-JP" altLang="en-US" sz="1000">
                    <a:latin typeface="+mn-ea"/>
                  </a:rPr>
                  <a:t>実効的な作業を取り仕切り、成果物を作成・検証する主責任を負う </a:t>
                </a:r>
              </a:p>
            </p:txBody>
          </p:sp>
          <p:sp>
            <p:nvSpPr>
              <p:cNvPr id="39" name="テキスト ボックス 38">
                <a:extLst>
                  <a:ext uri="{FF2B5EF4-FFF2-40B4-BE49-F238E27FC236}">
                    <a16:creationId xmlns:a16="http://schemas.microsoft.com/office/drawing/2014/main" id="{0A227FF6-1C64-552C-E5EA-CFF844FD100B}"/>
                  </a:ext>
                </a:extLst>
              </p:cNvPr>
              <p:cNvSpPr txBox="1"/>
              <p:nvPr/>
            </p:nvSpPr>
            <p:spPr>
              <a:xfrm>
                <a:off x="6532717" y="5770380"/>
                <a:ext cx="1728000" cy="534803"/>
              </a:xfrm>
              <a:prstGeom prst="rect">
                <a:avLst/>
              </a:prstGeom>
              <a:solidFill>
                <a:schemeClr val="bg1">
                  <a:lumMod val="95000"/>
                </a:schemeClr>
              </a:solidFill>
            </p:spPr>
            <p:txBody>
              <a:bodyPr wrap="square" lIns="72000" tIns="36000" rIns="36000" bIns="36000" rtlCol="0" anchor="ctr">
                <a:noAutofit/>
              </a:bodyPr>
              <a:lstStyle/>
              <a:p>
                <a:r>
                  <a:rPr kumimoji="1" lang="ja-JP" altLang="en-US" sz="1000">
                    <a:solidFill>
                      <a:srgbClr val="008D2E"/>
                    </a:solidFill>
                    <a:latin typeface="+mn-ea"/>
                  </a:rPr>
                  <a:t>事前協議</a:t>
                </a:r>
                <a:endParaRPr kumimoji="1" lang="en-US" altLang="ja-JP" sz="1000" dirty="0">
                  <a:solidFill>
                    <a:srgbClr val="008D2E"/>
                  </a:solidFill>
                  <a:latin typeface="+mn-ea"/>
                </a:endParaRPr>
              </a:p>
              <a:p>
                <a:r>
                  <a:rPr kumimoji="1" lang="ja-JP" altLang="en-US" sz="1000">
                    <a:latin typeface="+mn-ea"/>
                  </a:rPr>
                  <a:t>意見提出や情報提供を行い、</a:t>
                </a:r>
                <a:br>
                  <a:rPr kumimoji="1" lang="en-US" altLang="ja-JP" sz="1000" dirty="0">
                    <a:latin typeface="+mn-ea"/>
                  </a:rPr>
                </a:br>
                <a:r>
                  <a:rPr kumimoji="1" lang="ja-JP" altLang="en-US" sz="1000">
                    <a:latin typeface="+mn-ea"/>
                  </a:rPr>
                  <a:t>作成内容を事前に擦り合わせる </a:t>
                </a:r>
              </a:p>
            </p:txBody>
          </p:sp>
          <p:sp>
            <p:nvSpPr>
              <p:cNvPr id="40" name="テキスト ボックス 39">
                <a:extLst>
                  <a:ext uri="{FF2B5EF4-FFF2-40B4-BE49-F238E27FC236}">
                    <a16:creationId xmlns:a16="http://schemas.microsoft.com/office/drawing/2014/main" id="{C546FCFE-2EE4-E8C1-241D-DCFAA9F40971}"/>
                  </a:ext>
                </a:extLst>
              </p:cNvPr>
              <p:cNvSpPr txBox="1"/>
              <p:nvPr/>
            </p:nvSpPr>
            <p:spPr>
              <a:xfrm>
                <a:off x="8330876" y="5770380"/>
                <a:ext cx="1728000" cy="534803"/>
              </a:xfrm>
              <a:prstGeom prst="rect">
                <a:avLst/>
              </a:prstGeom>
              <a:solidFill>
                <a:schemeClr val="bg1">
                  <a:lumMod val="95000"/>
                </a:schemeClr>
              </a:solidFill>
            </p:spPr>
            <p:txBody>
              <a:bodyPr wrap="square" lIns="72000" tIns="36000" rIns="36000" bIns="36000" rtlCol="0" anchor="ctr">
                <a:noAutofit/>
              </a:bodyPr>
              <a:lstStyle/>
              <a:p>
                <a:r>
                  <a:rPr kumimoji="1" lang="ja-JP" altLang="en-US" sz="1000">
                    <a:solidFill>
                      <a:srgbClr val="008D2E"/>
                    </a:solidFill>
                    <a:latin typeface="+mn-ea"/>
                  </a:rPr>
                  <a:t>状況報告</a:t>
                </a:r>
                <a:endParaRPr kumimoji="1" lang="en-US" altLang="ja-JP" sz="1000" dirty="0">
                  <a:solidFill>
                    <a:srgbClr val="008D2E"/>
                  </a:solidFill>
                  <a:latin typeface="+mn-ea"/>
                </a:endParaRPr>
              </a:p>
              <a:p>
                <a:r>
                  <a:rPr kumimoji="1" lang="ja-JP" altLang="en-US" sz="1000">
                    <a:latin typeface="+mn-ea"/>
                  </a:rPr>
                  <a:t>進捗や完了通知を受け取り、</a:t>
                </a:r>
                <a:br>
                  <a:rPr kumimoji="1" lang="en-US" altLang="ja-JP" sz="1000" dirty="0">
                    <a:latin typeface="+mn-ea"/>
                  </a:rPr>
                </a:br>
                <a:r>
                  <a:rPr kumimoji="1" lang="ja-JP" altLang="en-US" sz="1000">
                    <a:latin typeface="+mn-ea"/>
                  </a:rPr>
                  <a:t>内容を確認する</a:t>
                </a:r>
              </a:p>
            </p:txBody>
          </p:sp>
          <p:sp>
            <p:nvSpPr>
              <p:cNvPr id="41" name="テキスト ボックス 40">
                <a:extLst>
                  <a:ext uri="{FF2B5EF4-FFF2-40B4-BE49-F238E27FC236}">
                    <a16:creationId xmlns:a16="http://schemas.microsoft.com/office/drawing/2014/main" id="{B3704D29-5234-1FAE-F5A5-7758369C317B}"/>
                  </a:ext>
                </a:extLst>
              </p:cNvPr>
              <p:cNvSpPr txBox="1"/>
              <p:nvPr/>
            </p:nvSpPr>
            <p:spPr>
              <a:xfrm>
                <a:off x="10129036" y="5770380"/>
                <a:ext cx="1728000" cy="534803"/>
              </a:xfrm>
              <a:prstGeom prst="rect">
                <a:avLst/>
              </a:prstGeom>
              <a:solidFill>
                <a:schemeClr val="bg1">
                  <a:lumMod val="95000"/>
                </a:schemeClr>
              </a:solidFill>
            </p:spPr>
            <p:txBody>
              <a:bodyPr wrap="square" lIns="72000" tIns="36000" rIns="36000" bIns="36000" rtlCol="0" anchor="ctr">
                <a:noAutofit/>
              </a:bodyPr>
              <a:lstStyle/>
              <a:p>
                <a:r>
                  <a:rPr kumimoji="1" lang="ja-JP" altLang="en-US" sz="1000" dirty="0">
                    <a:solidFill>
                      <a:srgbClr val="008D2E"/>
                    </a:solidFill>
                    <a:latin typeface="+mn-ea"/>
                  </a:rPr>
                  <a:t>作業支援</a:t>
                </a:r>
                <a:br>
                  <a:rPr kumimoji="1" lang="en-US" altLang="ja-JP" sz="1000" dirty="0">
                    <a:latin typeface="+mn-ea"/>
                  </a:rPr>
                </a:br>
                <a:r>
                  <a:rPr kumimoji="1" lang="ja-JP" altLang="en-US" sz="1000" dirty="0">
                    <a:latin typeface="+mn-ea"/>
                  </a:rPr>
                  <a:t>要請に応じて必要な情報の</a:t>
                </a:r>
                <a:br>
                  <a:rPr kumimoji="1" lang="en-US" altLang="ja-JP" sz="1000" dirty="0">
                    <a:latin typeface="+mn-ea"/>
                  </a:rPr>
                </a:br>
                <a:r>
                  <a:rPr kumimoji="1" lang="ja-JP" altLang="en-US" sz="1000" dirty="0">
                    <a:latin typeface="+mn-ea"/>
                  </a:rPr>
                  <a:t>提供や補助作業を行う </a:t>
                </a:r>
              </a:p>
            </p:txBody>
          </p:sp>
          <p:sp>
            <p:nvSpPr>
              <p:cNvPr id="34" name="ホームベース 91">
                <a:extLst>
                  <a:ext uri="{FF2B5EF4-FFF2-40B4-BE49-F238E27FC236}">
                    <a16:creationId xmlns:a16="http://schemas.microsoft.com/office/drawing/2014/main" id="{C5F76A40-4C9A-8548-CE54-632A966F7E0C}"/>
                  </a:ext>
                </a:extLst>
              </p:cNvPr>
              <p:cNvSpPr/>
              <p:nvPr/>
            </p:nvSpPr>
            <p:spPr>
              <a:xfrm rot="5400000">
                <a:off x="2012971" y="4868006"/>
                <a:ext cx="396000" cy="576000"/>
              </a:xfrm>
              <a:prstGeom prst="homePlate">
                <a:avLst>
                  <a:gd name="adj" fmla="val 1820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28800" tIns="28800" rIns="28800" bIns="28800" rtlCol="0" anchor="ctr">
                <a:noAutofit/>
              </a:bodyPr>
              <a:lstStyle/>
              <a:p>
                <a:pPr algn="ctr">
                  <a:buClr>
                    <a:schemeClr val="accent1"/>
                  </a:buClr>
                </a:pPr>
                <a:r>
                  <a:rPr lang="ja-JP" altLang="en-US" sz="1000">
                    <a:solidFill>
                      <a:schemeClr val="tx1"/>
                    </a:solidFill>
                    <a:latin typeface="+mn-ea"/>
                  </a:rPr>
                  <a:t>現行</a:t>
                </a:r>
                <a:endParaRPr kumimoji="1" lang="ja-JP" altLang="en-US" sz="1000" dirty="0">
                  <a:solidFill>
                    <a:schemeClr val="tx1"/>
                  </a:solidFill>
                  <a:latin typeface="+mn-ea"/>
                </a:endParaRPr>
              </a:p>
            </p:txBody>
          </p:sp>
          <p:sp>
            <p:nvSpPr>
              <p:cNvPr id="35" name="山形 92">
                <a:extLst>
                  <a:ext uri="{FF2B5EF4-FFF2-40B4-BE49-F238E27FC236}">
                    <a16:creationId xmlns:a16="http://schemas.microsoft.com/office/drawing/2014/main" id="{598947A1-692D-D124-F31A-404B83C5FDB2}"/>
                  </a:ext>
                </a:extLst>
              </p:cNvPr>
              <p:cNvSpPr/>
              <p:nvPr/>
            </p:nvSpPr>
            <p:spPr>
              <a:xfrm rot="5400000">
                <a:off x="2012971" y="5258519"/>
                <a:ext cx="396000" cy="576000"/>
              </a:xfrm>
              <a:prstGeom prst="chevron">
                <a:avLst>
                  <a:gd name="adj" fmla="val 18094"/>
                </a:avLst>
              </a:prstGeom>
              <a:solidFill>
                <a:srgbClr val="C5E0B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28800" tIns="28800" rIns="28800" bIns="28800" rtlCol="0" anchor="ctr">
                <a:noAutofit/>
              </a:bodyPr>
              <a:lstStyle/>
              <a:p>
                <a:pPr algn="ctr">
                  <a:buClr>
                    <a:schemeClr val="accent1"/>
                  </a:buClr>
                </a:pPr>
                <a:r>
                  <a:rPr lang="ja-JP" altLang="en-US" sz="1000">
                    <a:solidFill>
                      <a:schemeClr val="tx1"/>
                    </a:solidFill>
                    <a:latin typeface="+mn-ea"/>
                  </a:rPr>
                  <a:t>新規</a:t>
                </a:r>
                <a:endParaRPr kumimoji="1" lang="ja-JP" altLang="en-US" sz="1000">
                  <a:solidFill>
                    <a:schemeClr val="tx1"/>
                  </a:solidFill>
                  <a:latin typeface="+mn-ea"/>
                </a:endParaRPr>
              </a:p>
            </p:txBody>
          </p:sp>
          <p:sp>
            <p:nvSpPr>
              <p:cNvPr id="45" name="ホームベース 51">
                <a:extLst>
                  <a:ext uri="{FF2B5EF4-FFF2-40B4-BE49-F238E27FC236}">
                    <a16:creationId xmlns:a16="http://schemas.microsoft.com/office/drawing/2014/main" id="{F7402BA1-870F-4706-BB3A-42FF78DAC60E}"/>
                  </a:ext>
                </a:extLst>
              </p:cNvPr>
              <p:cNvSpPr/>
              <p:nvPr/>
            </p:nvSpPr>
            <p:spPr>
              <a:xfrm>
                <a:off x="2576398" y="3724052"/>
                <a:ext cx="1548000" cy="360000"/>
              </a:xfrm>
              <a:prstGeom prst="homePlate">
                <a:avLst>
                  <a:gd name="adj" fmla="val 18206"/>
                </a:avLst>
              </a:prstGeom>
              <a:solidFill>
                <a:srgbClr val="008D2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oAutofit/>
              </a:bodyPr>
              <a:lstStyle/>
              <a:p>
                <a:pPr marL="180975" indent="-180975">
                  <a:buClr>
                    <a:schemeClr val="accent1"/>
                  </a:buClr>
                </a:pPr>
                <a:r>
                  <a:rPr kumimoji="1" lang="en-US" altLang="ja-JP" sz="1100" dirty="0">
                    <a:latin typeface="+mn-ea"/>
                  </a:rPr>
                  <a:t>1. </a:t>
                </a:r>
                <a:r>
                  <a:rPr kumimoji="1" lang="ja-JP" altLang="en-US" sz="1100">
                    <a:latin typeface="+mn-ea"/>
                  </a:rPr>
                  <a:t>現状把握・</a:t>
                </a:r>
                <a:br>
                  <a:rPr kumimoji="1" lang="en-US" altLang="ja-JP" sz="1100" dirty="0">
                    <a:latin typeface="+mn-ea"/>
                  </a:rPr>
                </a:br>
                <a:r>
                  <a:rPr kumimoji="1" lang="ja-JP" altLang="en-US" sz="1100">
                    <a:latin typeface="+mn-ea"/>
                  </a:rPr>
                  <a:t>総コスト確定</a:t>
                </a:r>
                <a:endParaRPr kumimoji="1" lang="ja-JP" altLang="en-US" sz="1100" dirty="0">
                  <a:latin typeface="+mn-ea"/>
                </a:endParaRPr>
              </a:p>
            </p:txBody>
          </p:sp>
          <p:sp>
            <p:nvSpPr>
              <p:cNvPr id="46" name="山形 52">
                <a:extLst>
                  <a:ext uri="{FF2B5EF4-FFF2-40B4-BE49-F238E27FC236}">
                    <a16:creationId xmlns:a16="http://schemas.microsoft.com/office/drawing/2014/main" id="{2AE3667E-5A01-8304-36F1-7F93BA1878D1}"/>
                  </a:ext>
                </a:extLst>
              </p:cNvPr>
              <p:cNvSpPr/>
              <p:nvPr/>
            </p:nvSpPr>
            <p:spPr>
              <a:xfrm>
                <a:off x="4122925" y="3724052"/>
                <a:ext cx="1548000" cy="360000"/>
              </a:xfrm>
              <a:prstGeom prst="chevron">
                <a:avLst>
                  <a:gd name="adj" fmla="val 18094"/>
                </a:avLst>
              </a:prstGeom>
              <a:solidFill>
                <a:srgbClr val="008D2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oAutofit/>
              </a:bodyPr>
              <a:lstStyle/>
              <a:p>
                <a:pPr marL="180975" indent="-180975">
                  <a:buClr>
                    <a:schemeClr val="accent1"/>
                  </a:buClr>
                </a:pPr>
                <a:r>
                  <a:rPr kumimoji="1" lang="en-US" altLang="ja-JP" sz="1100" dirty="0">
                    <a:solidFill>
                      <a:schemeClr val="bg1"/>
                    </a:solidFill>
                    <a:latin typeface="+mn-ea"/>
                  </a:rPr>
                  <a:t>2. </a:t>
                </a:r>
                <a:r>
                  <a:rPr kumimoji="1" lang="ja-JP" altLang="en-US" sz="1100">
                    <a:solidFill>
                      <a:schemeClr val="bg1"/>
                    </a:solidFill>
                    <a:latin typeface="+mn-ea"/>
                  </a:rPr>
                  <a:t>品質基準・</a:t>
                </a:r>
                <a:br>
                  <a:rPr kumimoji="1" lang="en-US" altLang="ja-JP" sz="1100" dirty="0">
                    <a:solidFill>
                      <a:schemeClr val="bg1"/>
                    </a:solidFill>
                    <a:latin typeface="+mn-ea"/>
                  </a:rPr>
                </a:br>
                <a:r>
                  <a:rPr kumimoji="1" lang="ja-JP" altLang="en-US" sz="1100">
                    <a:solidFill>
                      <a:schemeClr val="bg1"/>
                    </a:solidFill>
                    <a:latin typeface="+mn-ea"/>
                  </a:rPr>
                  <a:t>契約条項の設計</a:t>
                </a:r>
                <a:endParaRPr kumimoji="1" lang="ja-JP" altLang="en-US" sz="1100" dirty="0">
                  <a:solidFill>
                    <a:schemeClr val="bg1"/>
                  </a:solidFill>
                  <a:latin typeface="+mn-ea"/>
                </a:endParaRPr>
              </a:p>
            </p:txBody>
          </p:sp>
          <p:sp>
            <p:nvSpPr>
              <p:cNvPr id="50" name="山形 52">
                <a:extLst>
                  <a:ext uri="{FF2B5EF4-FFF2-40B4-BE49-F238E27FC236}">
                    <a16:creationId xmlns:a16="http://schemas.microsoft.com/office/drawing/2014/main" id="{FBF6BF5B-211F-9C04-8CFB-9FCA52E460B1}"/>
                  </a:ext>
                </a:extLst>
              </p:cNvPr>
              <p:cNvSpPr/>
              <p:nvPr/>
            </p:nvSpPr>
            <p:spPr>
              <a:xfrm>
                <a:off x="5669452" y="3724052"/>
                <a:ext cx="1548000" cy="360000"/>
              </a:xfrm>
              <a:prstGeom prst="chevron">
                <a:avLst>
                  <a:gd name="adj" fmla="val 18094"/>
                </a:avLst>
              </a:prstGeom>
              <a:solidFill>
                <a:srgbClr val="008D2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oAutofit/>
              </a:bodyPr>
              <a:lstStyle/>
              <a:p>
                <a:pPr marL="180975" indent="-180975">
                  <a:buClr>
                    <a:schemeClr val="accent1"/>
                  </a:buClr>
                </a:pPr>
                <a:r>
                  <a:rPr lang="en-US" altLang="ja-JP" sz="1100" dirty="0">
                    <a:solidFill>
                      <a:schemeClr val="bg1"/>
                    </a:solidFill>
                    <a:latin typeface="+mn-ea"/>
                  </a:rPr>
                  <a:t>3</a:t>
                </a:r>
                <a:r>
                  <a:rPr kumimoji="1" lang="en-US" altLang="ja-JP" sz="1100" dirty="0">
                    <a:solidFill>
                      <a:schemeClr val="bg1"/>
                    </a:solidFill>
                    <a:latin typeface="+mn-ea"/>
                  </a:rPr>
                  <a:t>. </a:t>
                </a:r>
                <a:r>
                  <a:rPr kumimoji="1" lang="ja-JP" altLang="en-US" sz="1100">
                    <a:solidFill>
                      <a:schemeClr val="bg1"/>
                    </a:solidFill>
                    <a:latin typeface="+mn-ea"/>
                  </a:rPr>
                  <a:t>業務手順書の</a:t>
                </a:r>
                <a:br>
                  <a:rPr kumimoji="1" lang="en-US" altLang="ja-JP" sz="1100" dirty="0">
                    <a:solidFill>
                      <a:schemeClr val="bg1"/>
                    </a:solidFill>
                    <a:latin typeface="+mn-ea"/>
                  </a:rPr>
                </a:br>
                <a:r>
                  <a:rPr kumimoji="1" lang="ja-JP" altLang="en-US" sz="1100">
                    <a:solidFill>
                      <a:schemeClr val="bg1"/>
                    </a:solidFill>
                    <a:latin typeface="+mn-ea"/>
                  </a:rPr>
                  <a:t>最新化・標準化</a:t>
                </a:r>
                <a:endParaRPr kumimoji="1" lang="ja-JP" altLang="en-US" sz="1100" dirty="0">
                  <a:solidFill>
                    <a:schemeClr val="bg1"/>
                  </a:solidFill>
                  <a:latin typeface="+mn-ea"/>
                </a:endParaRPr>
              </a:p>
            </p:txBody>
          </p:sp>
          <p:sp>
            <p:nvSpPr>
              <p:cNvPr id="51" name="山形 52">
                <a:extLst>
                  <a:ext uri="{FF2B5EF4-FFF2-40B4-BE49-F238E27FC236}">
                    <a16:creationId xmlns:a16="http://schemas.microsoft.com/office/drawing/2014/main" id="{8F715255-B3FD-0981-3BAC-AE14322F3189}"/>
                  </a:ext>
                </a:extLst>
              </p:cNvPr>
              <p:cNvSpPr/>
              <p:nvPr/>
            </p:nvSpPr>
            <p:spPr>
              <a:xfrm>
                <a:off x="7215980" y="3724052"/>
                <a:ext cx="1548000" cy="360000"/>
              </a:xfrm>
              <a:prstGeom prst="chevron">
                <a:avLst>
                  <a:gd name="adj" fmla="val 18094"/>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oAutofit/>
              </a:bodyPr>
              <a:lstStyle/>
              <a:p>
                <a:pPr marL="180975" indent="-180975">
                  <a:buClr>
                    <a:schemeClr val="accent1"/>
                  </a:buClr>
                </a:pPr>
                <a:r>
                  <a:rPr lang="en-US" altLang="ja-JP" sz="1100" dirty="0">
                    <a:solidFill>
                      <a:schemeClr val="bg1"/>
                    </a:solidFill>
                    <a:latin typeface="+mn-ea"/>
                  </a:rPr>
                  <a:t>4</a:t>
                </a:r>
                <a:r>
                  <a:rPr kumimoji="1" lang="en-US" altLang="ja-JP" sz="1100" dirty="0">
                    <a:solidFill>
                      <a:schemeClr val="bg1"/>
                    </a:solidFill>
                    <a:latin typeface="+mn-ea"/>
                  </a:rPr>
                  <a:t>. </a:t>
                </a:r>
                <a:r>
                  <a:rPr kumimoji="1" lang="ja-JP" altLang="en-US" sz="1100">
                    <a:solidFill>
                      <a:schemeClr val="bg1"/>
                    </a:solidFill>
                    <a:latin typeface="+mn-ea"/>
                  </a:rPr>
                  <a:t>業務引き継ぎ・</a:t>
                </a:r>
                <a:br>
                  <a:rPr kumimoji="1" lang="en-US" altLang="ja-JP" sz="1100" dirty="0">
                    <a:solidFill>
                      <a:schemeClr val="bg1"/>
                    </a:solidFill>
                    <a:latin typeface="+mn-ea"/>
                  </a:rPr>
                </a:br>
                <a:r>
                  <a:rPr kumimoji="1" lang="ja-JP" altLang="en-US" sz="1100">
                    <a:solidFill>
                      <a:schemeClr val="bg1"/>
                    </a:solidFill>
                    <a:latin typeface="+mn-ea"/>
                  </a:rPr>
                  <a:t>実践確認</a:t>
                </a:r>
                <a:endParaRPr kumimoji="1" lang="ja-JP" altLang="en-US" sz="1100" dirty="0">
                  <a:solidFill>
                    <a:schemeClr val="bg1"/>
                  </a:solidFill>
                  <a:latin typeface="+mn-ea"/>
                </a:endParaRPr>
              </a:p>
            </p:txBody>
          </p:sp>
          <p:sp>
            <p:nvSpPr>
              <p:cNvPr id="52" name="山形 52">
                <a:extLst>
                  <a:ext uri="{FF2B5EF4-FFF2-40B4-BE49-F238E27FC236}">
                    <a16:creationId xmlns:a16="http://schemas.microsoft.com/office/drawing/2014/main" id="{0DA3064D-8086-8D06-A9F2-9C41E83C71B4}"/>
                  </a:ext>
                </a:extLst>
              </p:cNvPr>
              <p:cNvSpPr/>
              <p:nvPr/>
            </p:nvSpPr>
            <p:spPr>
              <a:xfrm>
                <a:off x="8762507" y="3724052"/>
                <a:ext cx="1548000" cy="360000"/>
              </a:xfrm>
              <a:prstGeom prst="chevron">
                <a:avLst>
                  <a:gd name="adj" fmla="val 18094"/>
                </a:avLst>
              </a:prstGeom>
              <a:solidFill>
                <a:srgbClr val="008D2E">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oAutofit/>
              </a:bodyPr>
              <a:lstStyle/>
              <a:p>
                <a:pPr marL="180975" indent="-180975">
                  <a:buClr>
                    <a:schemeClr val="accent1"/>
                  </a:buClr>
                </a:pPr>
                <a:r>
                  <a:rPr lang="en-US" altLang="ja-JP" sz="1100" dirty="0">
                    <a:solidFill>
                      <a:schemeClr val="bg1"/>
                    </a:solidFill>
                    <a:latin typeface="+mn-ea"/>
                  </a:rPr>
                  <a:t>5</a:t>
                </a:r>
                <a:r>
                  <a:rPr kumimoji="1" lang="en-US" altLang="ja-JP" sz="1100" dirty="0">
                    <a:solidFill>
                      <a:schemeClr val="bg1"/>
                    </a:solidFill>
                    <a:latin typeface="+mn-ea"/>
                  </a:rPr>
                  <a:t>. </a:t>
                </a:r>
                <a:r>
                  <a:rPr kumimoji="1" lang="ja-JP" altLang="en-US" sz="1100">
                    <a:solidFill>
                      <a:schemeClr val="bg1"/>
                    </a:solidFill>
                    <a:latin typeface="+mn-ea"/>
                  </a:rPr>
                  <a:t>単独運転テスト・</a:t>
                </a:r>
                <a:br>
                  <a:rPr kumimoji="1" lang="en-US" altLang="ja-JP" sz="1100" dirty="0">
                    <a:solidFill>
                      <a:schemeClr val="bg1"/>
                    </a:solidFill>
                    <a:latin typeface="+mn-ea"/>
                  </a:rPr>
                </a:br>
                <a:r>
                  <a:rPr kumimoji="1" lang="ja-JP" altLang="en-US" sz="1100">
                    <a:solidFill>
                      <a:schemeClr val="bg1"/>
                    </a:solidFill>
                    <a:latin typeface="+mn-ea"/>
                  </a:rPr>
                  <a:t>切り替え判断</a:t>
                </a:r>
                <a:endParaRPr kumimoji="1" lang="ja-JP" altLang="en-US" sz="1100" dirty="0">
                  <a:solidFill>
                    <a:schemeClr val="bg1"/>
                  </a:solidFill>
                  <a:latin typeface="+mn-ea"/>
                </a:endParaRPr>
              </a:p>
            </p:txBody>
          </p:sp>
          <p:sp>
            <p:nvSpPr>
              <p:cNvPr id="53" name="山形 52">
                <a:extLst>
                  <a:ext uri="{FF2B5EF4-FFF2-40B4-BE49-F238E27FC236}">
                    <a16:creationId xmlns:a16="http://schemas.microsoft.com/office/drawing/2014/main" id="{9B4E7A02-08F9-FE7C-D51E-FD0B4442A65D}"/>
                  </a:ext>
                </a:extLst>
              </p:cNvPr>
              <p:cNvSpPr/>
              <p:nvPr/>
            </p:nvSpPr>
            <p:spPr>
              <a:xfrm>
                <a:off x="10309035" y="3724052"/>
                <a:ext cx="1548000" cy="360000"/>
              </a:xfrm>
              <a:prstGeom prst="chevron">
                <a:avLst>
                  <a:gd name="adj" fmla="val 18094"/>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oAutofit/>
              </a:bodyPr>
              <a:lstStyle/>
              <a:p>
                <a:pPr marL="180975" indent="-180975">
                  <a:buClr>
                    <a:schemeClr val="accent1"/>
                  </a:buClr>
                </a:pPr>
                <a:r>
                  <a:rPr kumimoji="1" lang="en-US" altLang="ja-JP" sz="1100" dirty="0">
                    <a:solidFill>
                      <a:schemeClr val="bg1"/>
                    </a:solidFill>
                    <a:latin typeface="+mn-ea"/>
                  </a:rPr>
                  <a:t>6. </a:t>
                </a:r>
                <a:r>
                  <a:rPr kumimoji="1" lang="ja-JP" altLang="en-US" sz="1100">
                    <a:solidFill>
                      <a:schemeClr val="bg1"/>
                    </a:solidFill>
                    <a:latin typeface="+mn-ea"/>
                  </a:rPr>
                  <a:t>切り替え直後の</a:t>
                </a:r>
                <a:br>
                  <a:rPr kumimoji="1" lang="en-US" altLang="ja-JP" sz="1100" dirty="0">
                    <a:solidFill>
                      <a:schemeClr val="bg1"/>
                    </a:solidFill>
                    <a:latin typeface="+mn-ea"/>
                  </a:rPr>
                </a:br>
                <a:r>
                  <a:rPr kumimoji="1" lang="ja-JP" altLang="en-US" sz="1100">
                    <a:solidFill>
                      <a:schemeClr val="bg1"/>
                    </a:solidFill>
                    <a:latin typeface="+mn-ea"/>
                  </a:rPr>
                  <a:t>特別伴走・安定化</a:t>
                </a:r>
                <a:endParaRPr kumimoji="1" lang="ja-JP" altLang="en-US" sz="1100" dirty="0">
                  <a:solidFill>
                    <a:schemeClr val="bg1"/>
                  </a:solidFill>
                  <a:latin typeface="+mn-ea"/>
                </a:endParaRPr>
              </a:p>
            </p:txBody>
          </p:sp>
          <p:sp>
            <p:nvSpPr>
              <p:cNvPr id="54" name="テキスト ボックス 53">
                <a:extLst>
                  <a:ext uri="{FF2B5EF4-FFF2-40B4-BE49-F238E27FC236}">
                    <a16:creationId xmlns:a16="http://schemas.microsoft.com/office/drawing/2014/main" id="{D7325E04-BF33-5C84-815E-218F0E3EA59D}"/>
                  </a:ext>
                </a:extLst>
              </p:cNvPr>
              <p:cNvSpPr txBox="1"/>
              <p:nvPr/>
            </p:nvSpPr>
            <p:spPr>
              <a:xfrm>
                <a:off x="2576398"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最終決定</a:t>
                </a:r>
              </a:p>
            </p:txBody>
          </p:sp>
          <p:sp>
            <p:nvSpPr>
              <p:cNvPr id="55" name="テキスト ボックス 54">
                <a:extLst>
                  <a:ext uri="{FF2B5EF4-FFF2-40B4-BE49-F238E27FC236}">
                    <a16:creationId xmlns:a16="http://schemas.microsoft.com/office/drawing/2014/main" id="{91ECD041-651F-ED2D-3358-1A82494C18DA}"/>
                  </a:ext>
                </a:extLst>
              </p:cNvPr>
              <p:cNvSpPr txBox="1"/>
              <p:nvPr/>
            </p:nvSpPr>
            <p:spPr>
              <a:xfrm>
                <a:off x="4122925"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最終決定</a:t>
                </a:r>
              </a:p>
            </p:txBody>
          </p:sp>
          <p:sp>
            <p:nvSpPr>
              <p:cNvPr id="56" name="テキスト ボックス 55">
                <a:extLst>
                  <a:ext uri="{FF2B5EF4-FFF2-40B4-BE49-F238E27FC236}">
                    <a16:creationId xmlns:a16="http://schemas.microsoft.com/office/drawing/2014/main" id="{88A1F7A2-4782-F7EE-6FBE-7E55F4EE9578}"/>
                  </a:ext>
                </a:extLst>
              </p:cNvPr>
              <p:cNvSpPr txBox="1"/>
              <p:nvPr/>
            </p:nvSpPr>
            <p:spPr>
              <a:xfrm>
                <a:off x="5669452"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状況報告</a:t>
                </a:r>
              </a:p>
            </p:txBody>
          </p:sp>
          <p:sp>
            <p:nvSpPr>
              <p:cNvPr id="57" name="テキスト ボックス 56">
                <a:extLst>
                  <a:ext uri="{FF2B5EF4-FFF2-40B4-BE49-F238E27FC236}">
                    <a16:creationId xmlns:a16="http://schemas.microsoft.com/office/drawing/2014/main" id="{7ED7E2FF-C78B-72A3-C023-B9A5CFA309E3}"/>
                  </a:ext>
                </a:extLst>
              </p:cNvPr>
              <p:cNvSpPr txBox="1"/>
              <p:nvPr/>
            </p:nvSpPr>
            <p:spPr>
              <a:xfrm>
                <a:off x="7215979"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状況報告</a:t>
                </a:r>
              </a:p>
            </p:txBody>
          </p:sp>
          <p:sp>
            <p:nvSpPr>
              <p:cNvPr id="58" name="テキスト ボックス 57">
                <a:extLst>
                  <a:ext uri="{FF2B5EF4-FFF2-40B4-BE49-F238E27FC236}">
                    <a16:creationId xmlns:a16="http://schemas.microsoft.com/office/drawing/2014/main" id="{2C8F4401-D15A-E987-8205-C53403928D02}"/>
                  </a:ext>
                </a:extLst>
              </p:cNvPr>
              <p:cNvSpPr txBox="1"/>
              <p:nvPr/>
            </p:nvSpPr>
            <p:spPr>
              <a:xfrm>
                <a:off x="8762506"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最終決定</a:t>
                </a:r>
              </a:p>
            </p:txBody>
          </p:sp>
          <p:sp>
            <p:nvSpPr>
              <p:cNvPr id="59" name="テキスト ボックス 58">
                <a:extLst>
                  <a:ext uri="{FF2B5EF4-FFF2-40B4-BE49-F238E27FC236}">
                    <a16:creationId xmlns:a16="http://schemas.microsoft.com/office/drawing/2014/main" id="{87FF5FA0-ADF9-1C14-FD8E-5D184C35EE8B}"/>
                  </a:ext>
                </a:extLst>
              </p:cNvPr>
              <p:cNvSpPr txBox="1"/>
              <p:nvPr/>
            </p:nvSpPr>
            <p:spPr>
              <a:xfrm>
                <a:off x="10309035" y="4110177"/>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状況報告</a:t>
                </a:r>
              </a:p>
            </p:txBody>
          </p:sp>
          <p:sp>
            <p:nvSpPr>
              <p:cNvPr id="60" name="テキスト ボックス 59">
                <a:extLst>
                  <a:ext uri="{FF2B5EF4-FFF2-40B4-BE49-F238E27FC236}">
                    <a16:creationId xmlns:a16="http://schemas.microsoft.com/office/drawing/2014/main" id="{C943D772-666E-8840-B2EE-8607571AA280}"/>
                  </a:ext>
                </a:extLst>
              </p:cNvPr>
              <p:cNvSpPr txBox="1"/>
              <p:nvPr/>
            </p:nvSpPr>
            <p:spPr>
              <a:xfrm>
                <a:off x="2576398"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事前協議</a:t>
                </a:r>
              </a:p>
            </p:txBody>
          </p:sp>
          <p:sp>
            <p:nvSpPr>
              <p:cNvPr id="61" name="テキスト ボックス 60">
                <a:extLst>
                  <a:ext uri="{FF2B5EF4-FFF2-40B4-BE49-F238E27FC236}">
                    <a16:creationId xmlns:a16="http://schemas.microsoft.com/office/drawing/2014/main" id="{10D85589-1836-97E5-1FFF-3A16AAECEA0F}"/>
                  </a:ext>
                </a:extLst>
              </p:cNvPr>
              <p:cNvSpPr txBox="1"/>
              <p:nvPr/>
            </p:nvSpPr>
            <p:spPr>
              <a:xfrm>
                <a:off x="4122925"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主担当</a:t>
                </a:r>
                <a:r>
                  <a:rPr kumimoji="1" lang="en-US" altLang="ja-JP" sz="1000" dirty="0">
                    <a:latin typeface="+mn-ea"/>
                  </a:rPr>
                  <a:t> (</a:t>
                </a:r>
                <a:r>
                  <a:rPr kumimoji="1" lang="ja-JP" altLang="en-US" sz="1000">
                    <a:latin typeface="+mn-ea"/>
                  </a:rPr>
                  <a:t>実務</a:t>
                </a:r>
                <a:r>
                  <a:rPr kumimoji="1" lang="en-US" altLang="ja-JP" sz="1000" dirty="0">
                    <a:latin typeface="+mn-ea"/>
                  </a:rPr>
                  <a:t>)</a:t>
                </a:r>
              </a:p>
            </p:txBody>
          </p:sp>
          <p:sp>
            <p:nvSpPr>
              <p:cNvPr id="62" name="テキスト ボックス 61">
                <a:extLst>
                  <a:ext uri="{FF2B5EF4-FFF2-40B4-BE49-F238E27FC236}">
                    <a16:creationId xmlns:a16="http://schemas.microsoft.com/office/drawing/2014/main" id="{B6B8C8F9-D8B7-7B2A-9D6D-B5E859B6B5A5}"/>
                  </a:ext>
                </a:extLst>
              </p:cNvPr>
              <p:cNvSpPr txBox="1"/>
              <p:nvPr/>
            </p:nvSpPr>
            <p:spPr>
              <a:xfrm>
                <a:off x="5669452"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最終決定</a:t>
                </a:r>
              </a:p>
            </p:txBody>
          </p:sp>
          <p:sp>
            <p:nvSpPr>
              <p:cNvPr id="63" name="テキスト ボックス 62">
                <a:extLst>
                  <a:ext uri="{FF2B5EF4-FFF2-40B4-BE49-F238E27FC236}">
                    <a16:creationId xmlns:a16="http://schemas.microsoft.com/office/drawing/2014/main" id="{CF4BE782-96A5-88FC-8B54-3D294F2A595F}"/>
                  </a:ext>
                </a:extLst>
              </p:cNvPr>
              <p:cNvSpPr txBox="1"/>
              <p:nvPr/>
            </p:nvSpPr>
            <p:spPr>
              <a:xfrm>
                <a:off x="7215979"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事前協議</a:t>
                </a:r>
              </a:p>
            </p:txBody>
          </p:sp>
          <p:sp>
            <p:nvSpPr>
              <p:cNvPr id="64" name="テキスト ボックス 63">
                <a:extLst>
                  <a:ext uri="{FF2B5EF4-FFF2-40B4-BE49-F238E27FC236}">
                    <a16:creationId xmlns:a16="http://schemas.microsoft.com/office/drawing/2014/main" id="{3C62A308-60FC-B020-AEA0-F060DE393218}"/>
                  </a:ext>
                </a:extLst>
              </p:cNvPr>
              <p:cNvSpPr txBox="1"/>
              <p:nvPr/>
            </p:nvSpPr>
            <p:spPr>
              <a:xfrm>
                <a:off x="8762506"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主担当</a:t>
                </a:r>
                <a:r>
                  <a:rPr kumimoji="1" lang="en-US" altLang="ja-JP" sz="1000" dirty="0">
                    <a:latin typeface="+mn-ea"/>
                  </a:rPr>
                  <a:t> (</a:t>
                </a:r>
                <a:r>
                  <a:rPr kumimoji="1" lang="ja-JP" altLang="en-US" sz="1000">
                    <a:latin typeface="+mn-ea"/>
                  </a:rPr>
                  <a:t>検収</a:t>
                </a:r>
                <a:r>
                  <a:rPr kumimoji="1" lang="en-US" altLang="ja-JP" sz="1000" dirty="0">
                    <a:latin typeface="+mn-ea"/>
                  </a:rPr>
                  <a:t>)</a:t>
                </a:r>
              </a:p>
            </p:txBody>
          </p:sp>
          <p:sp>
            <p:nvSpPr>
              <p:cNvPr id="65" name="テキスト ボックス 64">
                <a:extLst>
                  <a:ext uri="{FF2B5EF4-FFF2-40B4-BE49-F238E27FC236}">
                    <a16:creationId xmlns:a16="http://schemas.microsoft.com/office/drawing/2014/main" id="{F758F890-8AE3-C390-9C75-01828B85F077}"/>
                  </a:ext>
                </a:extLst>
              </p:cNvPr>
              <p:cNvSpPr txBox="1"/>
              <p:nvPr/>
            </p:nvSpPr>
            <p:spPr>
              <a:xfrm>
                <a:off x="10309035" y="4531759"/>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最終決定</a:t>
                </a:r>
              </a:p>
            </p:txBody>
          </p:sp>
          <p:sp>
            <p:nvSpPr>
              <p:cNvPr id="66" name="テキスト ボックス 65">
                <a:extLst>
                  <a:ext uri="{FF2B5EF4-FFF2-40B4-BE49-F238E27FC236}">
                    <a16:creationId xmlns:a16="http://schemas.microsoft.com/office/drawing/2014/main" id="{FFCD6460-C871-6CBF-68D7-379268592761}"/>
                  </a:ext>
                </a:extLst>
              </p:cNvPr>
              <p:cNvSpPr txBox="1"/>
              <p:nvPr/>
            </p:nvSpPr>
            <p:spPr>
              <a:xfrm>
                <a:off x="2576398" y="4953341"/>
                <a:ext cx="1476000" cy="369332"/>
              </a:xfrm>
              <a:prstGeom prst="rect">
                <a:avLst/>
              </a:prstGeom>
              <a:noFill/>
            </p:spPr>
            <p:txBody>
              <a:bodyPr wrap="square" lIns="0" tIns="36000" rIns="36000" bIns="36000" rtlCol="0" anchor="ctr">
                <a:noAutofit/>
              </a:bodyPr>
              <a:lstStyle/>
              <a:p>
                <a:pPr algn="ctr"/>
                <a:r>
                  <a:rPr lang="ja-JP" altLang="en-US" sz="1000">
                    <a:latin typeface="+mn-ea"/>
                  </a:rPr>
                  <a:t>状況報告</a:t>
                </a:r>
              </a:p>
            </p:txBody>
          </p:sp>
          <p:sp>
            <p:nvSpPr>
              <p:cNvPr id="67" name="テキスト ボックス 66">
                <a:extLst>
                  <a:ext uri="{FF2B5EF4-FFF2-40B4-BE49-F238E27FC236}">
                    <a16:creationId xmlns:a16="http://schemas.microsoft.com/office/drawing/2014/main" id="{018EB998-0070-1F08-E230-F0691361DCAE}"/>
                  </a:ext>
                </a:extLst>
              </p:cNvPr>
              <p:cNvSpPr txBox="1"/>
              <p:nvPr/>
            </p:nvSpPr>
            <p:spPr>
              <a:xfrm>
                <a:off x="4122925" y="4953341"/>
                <a:ext cx="1476000" cy="369332"/>
              </a:xfrm>
              <a:prstGeom prst="rect">
                <a:avLst/>
              </a:prstGeom>
              <a:noFill/>
            </p:spPr>
            <p:txBody>
              <a:bodyPr wrap="square" lIns="0" tIns="36000" rIns="36000" bIns="36000" rtlCol="0" anchor="ctr">
                <a:noAutofit/>
              </a:bodyPr>
              <a:lstStyle/>
              <a:p>
                <a:pPr algn="ctr"/>
                <a:r>
                  <a:rPr lang="en-US" altLang="ja-JP" sz="1000" dirty="0">
                    <a:latin typeface="+mn-ea"/>
                  </a:rPr>
                  <a:t>-</a:t>
                </a:r>
                <a:endParaRPr lang="ja-JP" altLang="en-US" sz="1000">
                  <a:latin typeface="+mn-ea"/>
                </a:endParaRPr>
              </a:p>
            </p:txBody>
          </p:sp>
          <p:sp>
            <p:nvSpPr>
              <p:cNvPr id="68" name="テキスト ボックス 67">
                <a:extLst>
                  <a:ext uri="{FF2B5EF4-FFF2-40B4-BE49-F238E27FC236}">
                    <a16:creationId xmlns:a16="http://schemas.microsoft.com/office/drawing/2014/main" id="{87C1350B-A144-734A-1434-DD50CA9F1D9D}"/>
                  </a:ext>
                </a:extLst>
              </p:cNvPr>
              <p:cNvSpPr txBox="1"/>
              <p:nvPr/>
            </p:nvSpPr>
            <p:spPr>
              <a:xfrm>
                <a:off x="5669452" y="4953341"/>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sp>
            <p:nvSpPr>
              <p:cNvPr id="70" name="テキスト ボックス 69">
                <a:extLst>
                  <a:ext uri="{FF2B5EF4-FFF2-40B4-BE49-F238E27FC236}">
                    <a16:creationId xmlns:a16="http://schemas.microsoft.com/office/drawing/2014/main" id="{4C716945-B11C-0AFC-30AD-5774E2B4644A}"/>
                  </a:ext>
                </a:extLst>
              </p:cNvPr>
              <p:cNvSpPr txBox="1"/>
              <p:nvPr/>
            </p:nvSpPr>
            <p:spPr>
              <a:xfrm>
                <a:off x="8762506" y="4953341"/>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作業支援</a:t>
                </a:r>
              </a:p>
            </p:txBody>
          </p:sp>
          <p:sp>
            <p:nvSpPr>
              <p:cNvPr id="71" name="テキスト ボックス 70">
                <a:extLst>
                  <a:ext uri="{FF2B5EF4-FFF2-40B4-BE49-F238E27FC236}">
                    <a16:creationId xmlns:a16="http://schemas.microsoft.com/office/drawing/2014/main" id="{4CCFB33A-B012-EDB0-22B8-D7EEBEBB6E50}"/>
                  </a:ext>
                </a:extLst>
              </p:cNvPr>
              <p:cNvSpPr txBox="1"/>
              <p:nvPr/>
            </p:nvSpPr>
            <p:spPr>
              <a:xfrm>
                <a:off x="10309035" y="4953341"/>
                <a:ext cx="1476000" cy="369332"/>
              </a:xfrm>
              <a:prstGeom prst="rect">
                <a:avLst/>
              </a:prstGeom>
              <a:noFill/>
            </p:spPr>
            <p:txBody>
              <a:bodyPr wrap="square" lIns="0" tIns="36000" rIns="36000" bIns="36000" rtlCol="0" anchor="ctr">
                <a:noAutofit/>
              </a:bodyPr>
              <a:lstStyle/>
              <a:p>
                <a:pPr algn="ctr"/>
                <a:r>
                  <a:rPr lang="ja-JP" altLang="en-US" sz="1000">
                    <a:latin typeface="+mn-ea"/>
                  </a:rPr>
                  <a:t>作業支援</a:t>
                </a:r>
                <a:r>
                  <a:rPr lang="en-US" altLang="ja-JP" sz="1000" dirty="0">
                    <a:latin typeface="+mn-ea"/>
                  </a:rPr>
                  <a:t> (</a:t>
                </a:r>
                <a:r>
                  <a:rPr lang="ja-JP" altLang="en-US" sz="1000">
                    <a:latin typeface="+mn-ea"/>
                  </a:rPr>
                  <a:t>有償</a:t>
                </a:r>
                <a:r>
                  <a:rPr lang="en-US" altLang="ja-JP" sz="1000" dirty="0">
                    <a:latin typeface="+mn-ea"/>
                  </a:rPr>
                  <a:t>) </a:t>
                </a:r>
                <a:endParaRPr lang="ja-JP" altLang="en-US" sz="1000">
                  <a:latin typeface="+mn-ea"/>
                </a:endParaRPr>
              </a:p>
            </p:txBody>
          </p:sp>
          <p:sp>
            <p:nvSpPr>
              <p:cNvPr id="72" name="テキスト ボックス 71">
                <a:extLst>
                  <a:ext uri="{FF2B5EF4-FFF2-40B4-BE49-F238E27FC236}">
                    <a16:creationId xmlns:a16="http://schemas.microsoft.com/office/drawing/2014/main" id="{2EAE1724-838F-A18A-B8E0-B265B6ECF068}"/>
                  </a:ext>
                </a:extLst>
              </p:cNvPr>
              <p:cNvSpPr txBox="1"/>
              <p:nvPr/>
            </p:nvSpPr>
            <p:spPr>
              <a:xfrm>
                <a:off x="2576398" y="5361854"/>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sp>
            <p:nvSpPr>
              <p:cNvPr id="73" name="テキスト ボックス 72">
                <a:extLst>
                  <a:ext uri="{FF2B5EF4-FFF2-40B4-BE49-F238E27FC236}">
                    <a16:creationId xmlns:a16="http://schemas.microsoft.com/office/drawing/2014/main" id="{E4F31964-217E-3F93-E560-16ABFD521CF7}"/>
                  </a:ext>
                </a:extLst>
              </p:cNvPr>
              <p:cNvSpPr txBox="1"/>
              <p:nvPr/>
            </p:nvSpPr>
            <p:spPr>
              <a:xfrm>
                <a:off x="4122925" y="5361854"/>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事前協議</a:t>
                </a:r>
              </a:p>
            </p:txBody>
          </p:sp>
          <p:sp>
            <p:nvSpPr>
              <p:cNvPr id="74" name="テキスト ボックス 73">
                <a:extLst>
                  <a:ext uri="{FF2B5EF4-FFF2-40B4-BE49-F238E27FC236}">
                    <a16:creationId xmlns:a16="http://schemas.microsoft.com/office/drawing/2014/main" id="{97982BF3-477B-52DD-99BD-7872AFAAB8ED}"/>
                  </a:ext>
                </a:extLst>
              </p:cNvPr>
              <p:cNvSpPr txBox="1"/>
              <p:nvPr/>
            </p:nvSpPr>
            <p:spPr>
              <a:xfrm>
                <a:off x="5669452" y="5361854"/>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sp>
            <p:nvSpPr>
              <p:cNvPr id="75" name="テキスト ボックス 74">
                <a:extLst>
                  <a:ext uri="{FF2B5EF4-FFF2-40B4-BE49-F238E27FC236}">
                    <a16:creationId xmlns:a16="http://schemas.microsoft.com/office/drawing/2014/main" id="{53418BC1-DE0E-15A4-D40F-4E8DE8427217}"/>
                  </a:ext>
                </a:extLst>
              </p:cNvPr>
              <p:cNvSpPr txBox="1"/>
              <p:nvPr/>
            </p:nvSpPr>
            <p:spPr>
              <a:xfrm>
                <a:off x="7215979" y="5361854"/>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sp>
            <p:nvSpPr>
              <p:cNvPr id="76" name="テキスト ボックス 75">
                <a:extLst>
                  <a:ext uri="{FF2B5EF4-FFF2-40B4-BE49-F238E27FC236}">
                    <a16:creationId xmlns:a16="http://schemas.microsoft.com/office/drawing/2014/main" id="{CAC2CDAA-590E-FAF7-371C-E42D0C631D01}"/>
                  </a:ext>
                </a:extLst>
              </p:cNvPr>
              <p:cNvSpPr txBox="1"/>
              <p:nvPr/>
            </p:nvSpPr>
            <p:spPr>
              <a:xfrm>
                <a:off x="8762506" y="5361854"/>
                <a:ext cx="1476000" cy="369332"/>
              </a:xfrm>
              <a:prstGeom prst="rect">
                <a:avLst/>
              </a:prstGeom>
              <a:noFill/>
            </p:spPr>
            <p:txBody>
              <a:bodyPr wrap="square" lIns="0" tIns="36000" rIns="36000" bIns="36000" rtlCol="0" anchor="ctr">
                <a:noAutofit/>
              </a:bodyPr>
              <a:lstStyle/>
              <a:p>
                <a:pPr algn="ctr"/>
                <a:r>
                  <a:rPr kumimoji="1" lang="ja-JP" altLang="en-US" sz="1000">
                    <a:latin typeface="+mn-ea"/>
                  </a:rPr>
                  <a:t>作業支援</a:t>
                </a:r>
              </a:p>
            </p:txBody>
          </p:sp>
          <p:sp>
            <p:nvSpPr>
              <p:cNvPr id="77" name="テキスト ボックス 76">
                <a:extLst>
                  <a:ext uri="{FF2B5EF4-FFF2-40B4-BE49-F238E27FC236}">
                    <a16:creationId xmlns:a16="http://schemas.microsoft.com/office/drawing/2014/main" id="{A13E69D0-9111-32D3-2EB0-EC03E6B4DA4A}"/>
                  </a:ext>
                </a:extLst>
              </p:cNvPr>
              <p:cNvSpPr txBox="1"/>
              <p:nvPr/>
            </p:nvSpPr>
            <p:spPr>
              <a:xfrm>
                <a:off x="10309035" y="5374923"/>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cxnSp>
            <p:nvCxnSpPr>
              <p:cNvPr id="78" name="直線コネクタ 77">
                <a:extLst>
                  <a:ext uri="{FF2B5EF4-FFF2-40B4-BE49-F238E27FC236}">
                    <a16:creationId xmlns:a16="http://schemas.microsoft.com/office/drawing/2014/main" id="{A9BB5159-3093-3D08-F191-247400BAA984}"/>
                  </a:ext>
                </a:extLst>
              </p:cNvPr>
              <p:cNvCxnSpPr>
                <a:cxnSpLocks/>
              </p:cNvCxnSpPr>
              <p:nvPr/>
            </p:nvCxnSpPr>
            <p:spPr>
              <a:xfrm>
                <a:off x="10309035"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88E16833-83ED-6963-CE5E-086CCE4446F4}"/>
                  </a:ext>
                </a:extLst>
              </p:cNvPr>
              <p:cNvCxnSpPr>
                <a:cxnSpLocks/>
              </p:cNvCxnSpPr>
              <p:nvPr/>
            </p:nvCxnSpPr>
            <p:spPr>
              <a:xfrm>
                <a:off x="10309035"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B09088D6-E72D-5CFA-B7D7-3E08AE0B92B2}"/>
                  </a:ext>
                </a:extLst>
              </p:cNvPr>
              <p:cNvCxnSpPr>
                <a:cxnSpLocks/>
              </p:cNvCxnSpPr>
              <p:nvPr/>
            </p:nvCxnSpPr>
            <p:spPr>
              <a:xfrm>
                <a:off x="10309035"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FEA745BA-CC02-3CE5-E3E8-7B27766B3C47}"/>
                  </a:ext>
                </a:extLst>
              </p:cNvPr>
              <p:cNvCxnSpPr>
                <a:cxnSpLocks/>
              </p:cNvCxnSpPr>
              <p:nvPr/>
            </p:nvCxnSpPr>
            <p:spPr>
              <a:xfrm>
                <a:off x="8762506"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AC949E11-59FB-5A50-4734-43C858D04ADB}"/>
                  </a:ext>
                </a:extLst>
              </p:cNvPr>
              <p:cNvCxnSpPr>
                <a:cxnSpLocks/>
              </p:cNvCxnSpPr>
              <p:nvPr/>
            </p:nvCxnSpPr>
            <p:spPr>
              <a:xfrm>
                <a:off x="8762506"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DBAD42A8-3C6A-C03F-B134-41D6CABA22AB}"/>
                  </a:ext>
                </a:extLst>
              </p:cNvPr>
              <p:cNvCxnSpPr>
                <a:cxnSpLocks/>
              </p:cNvCxnSpPr>
              <p:nvPr/>
            </p:nvCxnSpPr>
            <p:spPr>
              <a:xfrm>
                <a:off x="8762506"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98A1EE3E-AFB7-6418-8247-95F01ED77819}"/>
                  </a:ext>
                </a:extLst>
              </p:cNvPr>
              <p:cNvCxnSpPr>
                <a:cxnSpLocks/>
              </p:cNvCxnSpPr>
              <p:nvPr/>
            </p:nvCxnSpPr>
            <p:spPr>
              <a:xfrm>
                <a:off x="7215979"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4F5F6DA3-4577-E93D-CDDA-4EF9745B6FBA}"/>
                  </a:ext>
                </a:extLst>
              </p:cNvPr>
              <p:cNvCxnSpPr>
                <a:cxnSpLocks/>
              </p:cNvCxnSpPr>
              <p:nvPr/>
            </p:nvCxnSpPr>
            <p:spPr>
              <a:xfrm>
                <a:off x="7215979"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2A25C230-2480-7375-41A7-109F35AB3551}"/>
                  </a:ext>
                </a:extLst>
              </p:cNvPr>
              <p:cNvCxnSpPr>
                <a:cxnSpLocks/>
              </p:cNvCxnSpPr>
              <p:nvPr/>
            </p:nvCxnSpPr>
            <p:spPr>
              <a:xfrm>
                <a:off x="7215979"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06A68707-4475-493B-E77A-5481FC1BDF79}"/>
                  </a:ext>
                </a:extLst>
              </p:cNvPr>
              <p:cNvCxnSpPr>
                <a:cxnSpLocks/>
              </p:cNvCxnSpPr>
              <p:nvPr/>
            </p:nvCxnSpPr>
            <p:spPr>
              <a:xfrm>
                <a:off x="4122925"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732D357D-9ABF-C120-4E7E-CAE834ABA53A}"/>
                  </a:ext>
                </a:extLst>
              </p:cNvPr>
              <p:cNvCxnSpPr>
                <a:cxnSpLocks/>
              </p:cNvCxnSpPr>
              <p:nvPr/>
            </p:nvCxnSpPr>
            <p:spPr>
              <a:xfrm>
                <a:off x="4122925"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FAC4E517-DB48-0604-ACE0-C91A6F992D65}"/>
                  </a:ext>
                </a:extLst>
              </p:cNvPr>
              <p:cNvCxnSpPr>
                <a:cxnSpLocks/>
              </p:cNvCxnSpPr>
              <p:nvPr/>
            </p:nvCxnSpPr>
            <p:spPr>
              <a:xfrm>
                <a:off x="4122925"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E78638FA-B8BF-563E-B0FC-FAB6010A79C2}"/>
                  </a:ext>
                </a:extLst>
              </p:cNvPr>
              <p:cNvCxnSpPr>
                <a:cxnSpLocks/>
              </p:cNvCxnSpPr>
              <p:nvPr/>
            </p:nvCxnSpPr>
            <p:spPr>
              <a:xfrm>
                <a:off x="2576398"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CE416D4C-D092-6027-8DB2-B6986813ADFC}"/>
                  </a:ext>
                </a:extLst>
              </p:cNvPr>
              <p:cNvCxnSpPr>
                <a:cxnSpLocks/>
              </p:cNvCxnSpPr>
              <p:nvPr/>
            </p:nvCxnSpPr>
            <p:spPr>
              <a:xfrm>
                <a:off x="2576398"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57A56EFE-608A-3F6D-0762-19C8CF5A7B7A}"/>
                  </a:ext>
                </a:extLst>
              </p:cNvPr>
              <p:cNvCxnSpPr>
                <a:cxnSpLocks/>
              </p:cNvCxnSpPr>
              <p:nvPr/>
            </p:nvCxnSpPr>
            <p:spPr>
              <a:xfrm>
                <a:off x="2576398"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34001DC3-E637-197D-7746-11DCAA520B3B}"/>
                  </a:ext>
                </a:extLst>
              </p:cNvPr>
              <p:cNvCxnSpPr>
                <a:cxnSpLocks/>
              </p:cNvCxnSpPr>
              <p:nvPr/>
            </p:nvCxnSpPr>
            <p:spPr>
              <a:xfrm>
                <a:off x="5669452" y="4505634"/>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35A3F04F-EABE-BD12-E436-1731FBC0D051}"/>
                  </a:ext>
                </a:extLst>
              </p:cNvPr>
              <p:cNvCxnSpPr>
                <a:cxnSpLocks/>
              </p:cNvCxnSpPr>
              <p:nvPr/>
            </p:nvCxnSpPr>
            <p:spPr>
              <a:xfrm>
                <a:off x="5669452" y="4927216"/>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2BB76DD2-6B4D-50A7-0D3D-ED27A8D10E97}"/>
                  </a:ext>
                </a:extLst>
              </p:cNvPr>
              <p:cNvCxnSpPr>
                <a:cxnSpLocks/>
              </p:cNvCxnSpPr>
              <p:nvPr/>
            </p:nvCxnSpPr>
            <p:spPr>
              <a:xfrm>
                <a:off x="5669452" y="5348798"/>
                <a:ext cx="147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4" name="グラフィックス 103" descr="テーブル 単色塗りつぶし">
                <a:extLst>
                  <a:ext uri="{FF2B5EF4-FFF2-40B4-BE49-F238E27FC236}">
                    <a16:creationId xmlns:a16="http://schemas.microsoft.com/office/drawing/2014/main" id="{47A93B23-09D1-7A4E-EA37-8166659672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962" y="5837181"/>
                <a:ext cx="468000" cy="468000"/>
              </a:xfrm>
              <a:prstGeom prst="rect">
                <a:avLst/>
              </a:prstGeom>
            </p:spPr>
          </p:pic>
          <p:sp>
            <p:nvSpPr>
              <p:cNvPr id="109" name="テキスト ボックス 108">
                <a:extLst>
                  <a:ext uri="{FF2B5EF4-FFF2-40B4-BE49-F238E27FC236}">
                    <a16:creationId xmlns:a16="http://schemas.microsoft.com/office/drawing/2014/main" id="{3E441190-1611-7BD3-4A81-411FEA7ECA65}"/>
                  </a:ext>
                </a:extLst>
              </p:cNvPr>
              <p:cNvSpPr txBox="1"/>
              <p:nvPr/>
            </p:nvSpPr>
            <p:spPr>
              <a:xfrm>
                <a:off x="7215979" y="4953341"/>
                <a:ext cx="1476000" cy="369332"/>
              </a:xfrm>
              <a:prstGeom prst="rect">
                <a:avLst/>
              </a:prstGeom>
              <a:noFill/>
            </p:spPr>
            <p:txBody>
              <a:bodyPr wrap="square" lIns="0" tIns="36000" rIns="36000" bIns="36000" rtlCol="0" anchor="ctr">
                <a:noAutofit/>
              </a:bodyPr>
              <a:lstStyle/>
              <a:p>
                <a:pPr algn="ctr"/>
                <a:r>
                  <a:rPr lang="ja-JP" altLang="en-US" sz="1000">
                    <a:latin typeface="+mn-ea"/>
                  </a:rPr>
                  <a:t>主担当</a:t>
                </a:r>
                <a:r>
                  <a:rPr lang="en-US" altLang="ja-JP" sz="1000" dirty="0">
                    <a:latin typeface="+mn-ea"/>
                  </a:rPr>
                  <a:t> (</a:t>
                </a:r>
                <a:r>
                  <a:rPr lang="ja-JP" altLang="en-US" sz="1000">
                    <a:latin typeface="+mn-ea"/>
                  </a:rPr>
                  <a:t>実務</a:t>
                </a:r>
                <a:r>
                  <a:rPr lang="en-US" altLang="ja-JP" sz="1000" dirty="0">
                    <a:latin typeface="+mn-ea"/>
                  </a:rPr>
                  <a:t>)</a:t>
                </a:r>
              </a:p>
            </p:txBody>
          </p:sp>
        </p:grpSp>
      </p:grpSp>
    </p:spTree>
    <p:extLst>
      <p:ext uri="{BB962C8B-B14F-4D97-AF65-F5344CB8AC3E}">
        <p14:creationId xmlns:p14="http://schemas.microsoft.com/office/powerpoint/2010/main" val="327888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9DEE-B9F2-544B-B006-422A63DCE3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C8CFCB-59F2-8AE2-DC45-8F346569D6BB}"/>
              </a:ext>
            </a:extLst>
          </p:cNvPr>
          <p:cNvSpPr>
            <a:spLocks noGrp="1"/>
          </p:cNvSpPr>
          <p:nvPr>
            <p:ph type="title"/>
          </p:nvPr>
        </p:nvSpPr>
        <p:spPr>
          <a:xfrm>
            <a:off x="334963" y="1"/>
            <a:ext cx="11514671" cy="914400"/>
          </a:xfrm>
        </p:spPr>
        <p:txBody>
          <a:bodyPr/>
          <a:lstStyle/>
          <a:p>
            <a:r>
              <a:rPr lang="ja-JP" altLang="en-US" dirty="0"/>
              <a:t>今後の進め方</a:t>
            </a:r>
            <a:br>
              <a:rPr kumimoji="1" lang="ja-JP" altLang="en-US" dirty="0"/>
            </a:br>
            <a:r>
              <a:rPr kumimoji="1" lang="ja-JP" altLang="en-US" dirty="0"/>
              <a:t>一括契約ではなく、意思決定の節目で段階コミット</a:t>
            </a:r>
          </a:p>
        </p:txBody>
      </p:sp>
      <p:sp>
        <p:nvSpPr>
          <p:cNvPr id="3" name="テキスト プレースホルダー 2">
            <a:extLst>
              <a:ext uri="{FF2B5EF4-FFF2-40B4-BE49-F238E27FC236}">
                <a16:creationId xmlns:a16="http://schemas.microsoft.com/office/drawing/2014/main" id="{62CA0BA4-084E-7364-652C-326CC32DF265}"/>
              </a:ext>
            </a:extLst>
          </p:cNvPr>
          <p:cNvSpPr>
            <a:spLocks noGrp="1"/>
          </p:cNvSpPr>
          <p:nvPr>
            <p:ph type="body" sz="quarter" idx="13"/>
          </p:nvPr>
        </p:nvSpPr>
        <p:spPr/>
        <p:txBody>
          <a:bodyPr/>
          <a:lstStyle/>
          <a:p>
            <a:pPr>
              <a:spcBef>
                <a:spcPts val="400"/>
              </a:spcBef>
            </a:pPr>
            <a:r>
              <a:rPr kumimoji="1" lang="ja-JP" altLang="en-US" sz="1800"/>
              <a:t>一括契約によるリスクを排除し、</a:t>
            </a:r>
            <a:r>
              <a:rPr kumimoji="1" lang="en" altLang="ja-JP" sz="1800" dirty="0"/>
              <a:t>フェーズ0</a:t>
            </a:r>
            <a:r>
              <a:rPr kumimoji="1" lang="ja-JP" altLang="en-US" sz="1800"/>
              <a:t>での可視化を起点に全</a:t>
            </a:r>
            <a:r>
              <a:rPr kumimoji="1" lang="en-US" altLang="ja-JP" sz="1800" dirty="0"/>
              <a:t>5</a:t>
            </a:r>
            <a:r>
              <a:rPr kumimoji="1" lang="ja-JP" altLang="en-US" sz="1800"/>
              <a:t>回の意思決定の節目</a:t>
            </a:r>
            <a:r>
              <a:rPr kumimoji="1" lang="en-US" altLang="ja-JP" sz="1800" dirty="0"/>
              <a:t/>
            </a:r>
            <a:r>
              <a:rPr kumimoji="1" lang="en" altLang="ja-JP" sz="1800" dirty="0"/>
              <a:t/>
            </a:r>
            <a:r>
              <a:rPr lang="en-US" altLang="ja-JP" sz="1800" dirty="0"/>
              <a:t/>
            </a:r>
            <a:r>
              <a:rPr lang="en" altLang="ja-JP" sz="1800" dirty="0"/>
              <a:t> </a:t>
            </a:r>
            <a:r>
              <a:rPr kumimoji="1" lang="ja-JP" altLang="en-US" sz="1800"/>
              <a:t>で品質・コストを</a:t>
            </a:r>
            <a:br>
              <a:rPr kumimoji="1" lang="en-US" altLang="ja-JP" sz="1800" dirty="0"/>
            </a:br>
            <a:r>
              <a:rPr kumimoji="1" lang="ja-JP" altLang="en-US" sz="1800"/>
              <a:t>段階検証しながら安全に移管を進める</a:t>
            </a:r>
          </a:p>
        </p:txBody>
      </p:sp>
      <p:grpSp>
        <p:nvGrpSpPr>
          <p:cNvPr id="144" name="グループ化 143">
            <a:extLst>
              <a:ext uri="{FF2B5EF4-FFF2-40B4-BE49-F238E27FC236}">
                <a16:creationId xmlns:a16="http://schemas.microsoft.com/office/drawing/2014/main" id="{94C24A7C-376B-5BAC-C610-29C9947CAC31}"/>
              </a:ext>
            </a:extLst>
          </p:cNvPr>
          <p:cNvGrpSpPr/>
          <p:nvPr/>
        </p:nvGrpSpPr>
        <p:grpSpPr>
          <a:xfrm>
            <a:off x="334962" y="1628775"/>
            <a:ext cx="11521895" cy="4680581"/>
            <a:chOff x="334962" y="1628775"/>
            <a:chExt cx="11521895" cy="4680581"/>
          </a:xfrm>
        </p:grpSpPr>
        <p:grpSp>
          <p:nvGrpSpPr>
            <p:cNvPr id="131" name="グループ化 130">
              <a:extLst>
                <a:ext uri="{FF2B5EF4-FFF2-40B4-BE49-F238E27FC236}">
                  <a16:creationId xmlns:a16="http://schemas.microsoft.com/office/drawing/2014/main" id="{1BFCF9D4-E857-6AFF-EF97-908E06227BFC}"/>
                </a:ext>
              </a:extLst>
            </p:cNvPr>
            <p:cNvGrpSpPr/>
            <p:nvPr/>
          </p:nvGrpSpPr>
          <p:grpSpPr>
            <a:xfrm>
              <a:off x="1596623" y="1633488"/>
              <a:ext cx="2556000" cy="4675868"/>
              <a:chOff x="1569061" y="1633488"/>
              <a:chExt cx="2556000" cy="4675868"/>
            </a:xfrm>
          </p:grpSpPr>
          <p:cxnSp>
            <p:nvCxnSpPr>
              <p:cNvPr id="105" name="直線コネクタ 104">
                <a:extLst>
                  <a:ext uri="{FF2B5EF4-FFF2-40B4-BE49-F238E27FC236}">
                    <a16:creationId xmlns:a16="http://schemas.microsoft.com/office/drawing/2014/main" id="{919DF3C4-A004-DB8B-E2B8-C657E26730C8}"/>
                  </a:ext>
                </a:extLst>
              </p:cNvPr>
              <p:cNvCxnSpPr>
                <a:cxnSpLocks/>
              </p:cNvCxnSpPr>
              <p:nvPr/>
            </p:nvCxnSpPr>
            <p:spPr>
              <a:xfrm>
                <a:off x="1569061" y="1934895"/>
                <a:ext cx="25560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テキスト ボックス 106">
                <a:extLst>
                  <a:ext uri="{FF2B5EF4-FFF2-40B4-BE49-F238E27FC236}">
                    <a16:creationId xmlns:a16="http://schemas.microsoft.com/office/drawing/2014/main" id="{D47E447D-DCD9-DF5F-7A04-8063DADF2947}"/>
                  </a:ext>
                </a:extLst>
              </p:cNvPr>
              <p:cNvSpPr txBox="1"/>
              <p:nvPr/>
            </p:nvSpPr>
            <p:spPr>
              <a:xfrm>
                <a:off x="1569061" y="1633488"/>
                <a:ext cx="2556000" cy="301407"/>
              </a:xfrm>
              <a:prstGeom prst="rect">
                <a:avLst/>
              </a:prstGeom>
              <a:noFill/>
            </p:spPr>
            <p:txBody>
              <a:bodyPr wrap="square" lIns="36000" tIns="36000" rIns="36000" bIns="0" rtlCol="0" anchor="ctr">
                <a:noAutofit/>
              </a:bodyPr>
              <a:lstStyle/>
              <a:p>
                <a:pPr algn="ctr"/>
                <a:r>
                  <a:rPr kumimoji="1" lang="ja-JP" altLang="en-US" sz="1000" dirty="0">
                    <a:latin typeface="+mn-ea"/>
                  </a:rPr>
                  <a:t>主な取り組みと目標</a:t>
                </a:r>
              </a:p>
            </p:txBody>
          </p:sp>
          <p:sp>
            <p:nvSpPr>
              <p:cNvPr id="108" name="正方形/長方形 107">
                <a:extLst>
                  <a:ext uri="{FF2B5EF4-FFF2-40B4-BE49-F238E27FC236}">
                    <a16:creationId xmlns:a16="http://schemas.microsoft.com/office/drawing/2014/main" id="{83F6BD85-CDDF-0CE3-F851-5F69EA4EF106}"/>
                  </a:ext>
                </a:extLst>
              </p:cNvPr>
              <p:cNvSpPr/>
              <p:nvPr/>
            </p:nvSpPr>
            <p:spPr>
              <a:xfrm>
                <a:off x="1569061" y="2024983"/>
                <a:ext cx="2556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en-US" altLang="ja-JP" sz="900" dirty="0">
                    <a:solidFill>
                      <a:schemeClr val="tx1"/>
                    </a:solidFill>
                    <a:latin typeface="+mn-ea"/>
                  </a:rPr>
                  <a:t>4</a:t>
                </a:r>
                <a:r>
                  <a:rPr lang="ja-JP" altLang="en-US" sz="900" dirty="0">
                    <a:solidFill>
                      <a:schemeClr val="tx1"/>
                    </a:solidFill>
                    <a:latin typeface="+mn-ea"/>
                  </a:rPr>
                  <a:t>週間の業務・工数実測による現状把握</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隠れ人件費を含む運用総コスト</a:t>
                </a:r>
                <a:r>
                  <a:rPr lang="en-US" altLang="ja-JP" sz="900" dirty="0">
                    <a:solidFill>
                      <a:schemeClr val="tx1"/>
                    </a:solidFill>
                    <a:latin typeface="+mn-ea"/>
                  </a:rPr>
                  <a:t> </a:t>
                </a:r>
                <a:r>
                  <a:rPr lang="ja-JP" altLang="en-US" sz="900" dirty="0">
                    <a:solidFill>
                      <a:schemeClr val="tx1"/>
                    </a:solidFill>
                    <a:latin typeface="+mn-ea"/>
                  </a:rPr>
                  <a:t/>
                </a:r>
                <a:r>
                  <a:rPr lang="en" altLang="ja-JP" sz="900" dirty="0">
                    <a:solidFill>
                      <a:schemeClr val="tx1"/>
                    </a:solidFill>
                    <a:latin typeface="+mn-ea"/>
                  </a:rPr>
                  <a:t/>
                </a:r>
                <a:r>
                  <a:rPr lang="ja-JP" altLang="en" sz="900" dirty="0">
                    <a:solidFill>
                      <a:schemeClr val="tx1"/>
                    </a:solidFill>
                    <a:latin typeface="+mn-ea"/>
                  </a:rPr>
                  <a:t/>
                </a:r>
                <a:r>
                  <a:rPr lang="en" altLang="ja-JP" sz="900" dirty="0">
                    <a:solidFill>
                      <a:schemeClr val="tx1"/>
                    </a:solidFill>
                    <a:latin typeface="+mn-ea"/>
                  </a:rPr>
                  <a:t> </a:t>
                </a:r>
                <a:r>
                  <a:rPr lang="ja-JP" altLang="en-US" sz="900" dirty="0">
                    <a:solidFill>
                      <a:schemeClr val="tx1"/>
                    </a:solidFill>
                    <a:latin typeface="+mn-ea"/>
                  </a:rPr>
                  <a:t>の確定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データ分類</a:t>
                </a:r>
                <a:r>
                  <a:rPr lang="en-US" altLang="ja-JP" sz="900" dirty="0">
                    <a:solidFill>
                      <a:schemeClr val="tx1"/>
                    </a:solidFill>
                    <a:latin typeface="+mn-ea"/>
                  </a:rPr>
                  <a:t> </a:t>
                </a:r>
                <a:r>
                  <a:rPr lang="ja-JP" altLang="en-US" sz="900" dirty="0">
                    <a:solidFill>
                      <a:schemeClr val="tx1"/>
                    </a:solidFill>
                    <a:latin typeface="+mn-ea"/>
                  </a:rPr>
                  <a:t>(海外拠点委託の可否判定)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統制担当</a:t>
                </a:r>
                <a:r>
                  <a:rPr lang="en-US" altLang="ja-JP" sz="900" dirty="0">
                    <a:solidFill>
                      <a:schemeClr val="tx1"/>
                    </a:solidFill>
                    <a:latin typeface="+mn-ea"/>
                  </a:rPr>
                  <a:t> </a:t>
                </a:r>
                <a:r>
                  <a:rPr lang="ja-JP" altLang="en-US" sz="900" dirty="0">
                    <a:solidFill>
                      <a:schemeClr val="tx1"/>
                    </a:solidFill>
                    <a:latin typeface="+mn-ea"/>
                  </a:rPr>
                  <a:t>(</a:t>
                </a:r>
                <a:r>
                  <a:rPr lang="en" altLang="ja-JP" sz="900" dirty="0">
                    <a:solidFill>
                      <a:schemeClr val="tx1"/>
                    </a:solidFill>
                    <a:latin typeface="+mn-ea"/>
                  </a:rPr>
                  <a:t>LEB</a:t>
                </a:r>
                <a:r>
                  <a:rPr lang="ja-JP" altLang="en" sz="900" dirty="0">
                    <a:solidFill>
                      <a:schemeClr val="tx1"/>
                    </a:solidFill>
                    <a:latin typeface="+mn-ea"/>
                  </a:rPr>
                  <a:t>)</a:t>
                </a:r>
                <a:r>
                  <a:rPr lang="en" altLang="ja-JP" sz="900" dirty="0">
                    <a:solidFill>
                      <a:schemeClr val="tx1"/>
                    </a:solidFill>
                    <a:latin typeface="+mn-ea"/>
                  </a:rPr>
                  <a:t> </a:t>
                </a:r>
                <a:r>
                  <a:rPr lang="ja-JP" altLang="en-US" sz="900" dirty="0">
                    <a:solidFill>
                      <a:schemeClr val="tx1"/>
                    </a:solidFill>
                    <a:latin typeface="+mn-ea"/>
                  </a:rPr>
                  <a:t>の能力評価と立ち上げ準備 </a:t>
                </a:r>
                <a:endParaRPr lang="ja-JP" altLang="en-US" sz="700" dirty="0">
                  <a:solidFill>
                    <a:schemeClr val="tx1"/>
                  </a:solidFill>
                  <a:latin typeface="+mn-ea"/>
                </a:endParaRPr>
              </a:p>
            </p:txBody>
          </p:sp>
          <p:sp>
            <p:nvSpPr>
              <p:cNvPr id="109" name="正方形/長方形 108">
                <a:extLst>
                  <a:ext uri="{FF2B5EF4-FFF2-40B4-BE49-F238E27FC236}">
                    <a16:creationId xmlns:a16="http://schemas.microsoft.com/office/drawing/2014/main" id="{EA2FE9DD-8A20-ADB2-AF59-869425434CD8}"/>
                  </a:ext>
                </a:extLst>
              </p:cNvPr>
              <p:cNvSpPr/>
              <p:nvPr/>
            </p:nvSpPr>
            <p:spPr>
              <a:xfrm>
                <a:off x="1569061" y="2826076"/>
                <a:ext cx="2556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en-US" altLang="ja-JP" sz="900" dirty="0">
                    <a:solidFill>
                      <a:schemeClr val="tx1"/>
                    </a:solidFill>
                    <a:latin typeface="+mn-ea"/>
                  </a:rPr>
                  <a:t>3</a:t>
                </a:r>
                <a:r>
                  <a:rPr lang="ja-JP" altLang="en-US" sz="900" dirty="0">
                    <a:solidFill>
                      <a:schemeClr val="tx1"/>
                    </a:solidFill>
                    <a:latin typeface="+mn-ea"/>
                  </a:rPr>
                  <a:t>階層</a:t>
                </a:r>
                <a:r>
                  <a:rPr lang="en-US" altLang="ja-JP" sz="900" dirty="0">
                    <a:solidFill>
                      <a:schemeClr val="tx1"/>
                    </a:solidFill>
                    <a:latin typeface="+mn-ea"/>
                  </a:rPr>
                  <a:t> </a:t>
                </a:r>
                <a:r>
                  <a:rPr lang="ja-JP" altLang="en-US" sz="900" dirty="0">
                    <a:solidFill>
                      <a:schemeClr val="tx1"/>
                    </a:solidFill>
                    <a:latin typeface="+mn-ea"/>
                  </a:rPr>
                  <a:t>(戦略・統制・実行)</a:t>
                </a:r>
                <a:r>
                  <a:rPr lang="en-US" altLang="ja-JP" sz="900" dirty="0">
                    <a:solidFill>
                      <a:schemeClr val="tx1"/>
                    </a:solidFill>
                    <a:latin typeface="+mn-ea"/>
                  </a:rPr>
                  <a:t> </a:t>
                </a:r>
                <a:r>
                  <a:rPr lang="ja-JP" altLang="en-US" sz="900" dirty="0">
                    <a:solidFill>
                      <a:schemeClr val="tx1"/>
                    </a:solidFill>
                    <a:latin typeface="+mn-ea"/>
                  </a:rPr>
                  <a:t>ガバナンスの詳細設計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サービス品質基準</a:t>
                </a:r>
                <a:r>
                  <a:rPr lang="en-US" altLang="ja-JP" sz="900" dirty="0">
                    <a:solidFill>
                      <a:schemeClr val="tx1"/>
                    </a:solidFill>
                    <a:latin typeface="+mn-ea"/>
                  </a:rPr>
                  <a:t> </a:t>
                </a:r>
                <a:r>
                  <a:rPr lang="ja-JP" altLang="en-US" sz="900" dirty="0">
                    <a:solidFill>
                      <a:schemeClr val="tx1"/>
                    </a:solidFill>
                    <a:latin typeface="+mn-ea"/>
                  </a:rPr>
                  <a:t/>
                </a:r>
                <a:r>
                  <a:rPr lang="en" altLang="ja-JP" sz="900" dirty="0">
                    <a:solidFill>
                      <a:schemeClr val="tx1"/>
                    </a:solidFill>
                    <a:latin typeface="+mn-ea"/>
                  </a:rPr>
                  <a:t/>
                </a:r>
                <a:r>
                  <a:rPr lang="ja-JP" altLang="en" sz="900" dirty="0">
                    <a:solidFill>
                      <a:schemeClr val="tx1"/>
                    </a:solidFill>
                    <a:latin typeface="+mn-ea"/>
                  </a:rPr>
                  <a:t/>
                </a:r>
                <a:r>
                  <a:rPr lang="en" altLang="ja-JP" sz="900" dirty="0">
                    <a:solidFill>
                      <a:schemeClr val="tx1"/>
                    </a:solidFill>
                    <a:latin typeface="+mn-ea"/>
                  </a:rPr>
                  <a:t> </a:t>
                </a:r>
                <a:r>
                  <a:rPr lang="ja-JP" altLang="en-US" sz="900" dirty="0">
                    <a:solidFill>
                      <a:schemeClr val="tx1"/>
                    </a:solidFill>
                    <a:latin typeface="+mn-ea"/>
                  </a:rPr>
                  <a:t>および未達減額</a:t>
                </a:r>
                <a:br>
                  <a:rPr lang="en-US" altLang="ja-JP" sz="900" dirty="0">
                    <a:solidFill>
                      <a:schemeClr val="tx1"/>
                    </a:solidFill>
                    <a:latin typeface="+mn-ea"/>
                  </a:rPr>
                </a:br>
                <a:r>
                  <a:rPr lang="ja-JP" altLang="en-US" sz="900" dirty="0">
                    <a:solidFill>
                      <a:schemeClr val="tx1"/>
                    </a:solidFill>
                    <a:latin typeface="+mn-ea"/>
                  </a:rPr>
                  <a:t>規定の設計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現行手順書・業務フローの棚卸しと標準化方針の</a:t>
                </a:r>
                <a:br>
                  <a:rPr lang="en-US" altLang="ja-JP" sz="900" dirty="0">
                    <a:solidFill>
                      <a:schemeClr val="tx1"/>
                    </a:solidFill>
                    <a:latin typeface="+mn-ea"/>
                  </a:rPr>
                </a:br>
                <a:r>
                  <a:rPr lang="ja-JP" altLang="en-US" sz="900" dirty="0">
                    <a:solidFill>
                      <a:schemeClr val="tx1"/>
                    </a:solidFill>
                    <a:latin typeface="+mn-ea"/>
                  </a:rPr>
                  <a:t>決定 </a:t>
                </a:r>
                <a:endParaRPr lang="ja-JP" altLang="en-US" sz="700" dirty="0">
                  <a:solidFill>
                    <a:schemeClr val="tx1"/>
                  </a:solidFill>
                  <a:latin typeface="+mn-ea"/>
                </a:endParaRPr>
              </a:p>
            </p:txBody>
          </p:sp>
          <p:sp>
            <p:nvSpPr>
              <p:cNvPr id="110" name="正方形/長方形 109">
                <a:extLst>
                  <a:ext uri="{FF2B5EF4-FFF2-40B4-BE49-F238E27FC236}">
                    <a16:creationId xmlns:a16="http://schemas.microsoft.com/office/drawing/2014/main" id="{65D311F4-0FBE-76CC-3DD0-8CBCA0B36453}"/>
                  </a:ext>
                </a:extLst>
              </p:cNvPr>
              <p:cNvSpPr/>
              <p:nvPr/>
            </p:nvSpPr>
            <p:spPr>
              <a:xfrm>
                <a:off x="1569061" y="3627169"/>
                <a:ext cx="2556000" cy="93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US" altLang="ja-JP" sz="900" b="1" dirty="0">
                    <a:solidFill>
                      <a:srgbClr val="008D2E"/>
                    </a:solidFill>
                    <a:latin typeface="+mn-ea"/>
                  </a:rPr>
                  <a:t>【</a:t>
                </a:r>
                <a:r>
                  <a:rPr lang="ja-JP" altLang="en-US" sz="900" b="1" dirty="0">
                    <a:solidFill>
                      <a:srgbClr val="008D2E"/>
                    </a:solidFill>
                    <a:latin typeface="+mn-ea"/>
                  </a:rPr>
                  <a:t>先行領域</a:t>
                </a:r>
                <a:r>
                  <a:rPr lang="en-US" altLang="ja-JP" sz="900" b="1" dirty="0">
                    <a:solidFill>
                      <a:srgbClr val="008D2E"/>
                    </a:solidFill>
                    <a:latin typeface="+mn-ea"/>
                  </a:rPr>
                  <a:t> : </a:t>
                </a:r>
                <a:r>
                  <a:rPr lang="en" altLang="ja-JP" sz="900" b="1" dirty="0">
                    <a:solidFill>
                      <a:srgbClr val="008D2E"/>
                    </a:solidFill>
                    <a:latin typeface="+mn-ea"/>
                  </a:rPr>
                  <a:t>A</a:t>
                </a:r>
                <a:r>
                  <a:rPr lang="ja-JP" altLang="en-US" sz="900" b="1" dirty="0">
                    <a:solidFill>
                      <a:srgbClr val="008D2E"/>
                    </a:solidFill>
                    <a:latin typeface="+mn-ea"/>
                  </a:rPr>
                  <a:t>社＋</a:t>
                </a:r>
                <a:r>
                  <a:rPr lang="en" altLang="ja-JP" sz="900" b="1" dirty="0">
                    <a:solidFill>
                      <a:srgbClr val="008D2E"/>
                    </a:solidFill>
                    <a:latin typeface="+mn-ea"/>
                  </a:rPr>
                  <a:t>LEB</a:t>
                </a:r>
                <a:r>
                  <a:rPr lang="ja-JP" altLang="en-US" sz="900" b="1" dirty="0">
                    <a:solidFill>
                      <a:srgbClr val="008D2E"/>
                    </a:solidFill>
                    <a:latin typeface="+mn-ea"/>
                  </a:rPr>
                  <a:t>端末管理領域</a:t>
                </a:r>
                <a:r>
                  <a:rPr lang="en-US" altLang="ja-JP" sz="900" b="1" dirty="0">
                    <a:solidFill>
                      <a:srgbClr val="008D2E"/>
                    </a:solidFill>
                    <a:latin typeface="+mn-ea"/>
                  </a:rPr>
                  <a:t>】</a:t>
                </a: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システム学習</a:t>
                </a:r>
                <a:r>
                  <a:rPr lang="en-US" altLang="ja-JP" sz="900" dirty="0">
                    <a:solidFill>
                      <a:schemeClr val="tx1"/>
                    </a:solidFill>
                    <a:latin typeface="+mn-ea"/>
                  </a:rPr>
                  <a:t> (</a:t>
                </a:r>
                <a:r>
                  <a:rPr lang="ja-JP" altLang="en-US" sz="900" dirty="0">
                    <a:solidFill>
                      <a:schemeClr val="tx1"/>
                    </a:solidFill>
                    <a:latin typeface="+mn-ea"/>
                  </a:rPr>
                  <a:t>机上理解・未文書化業務のリスト化</a:t>
                </a:r>
                <a:r>
                  <a:rPr lang="en-US" altLang="ja-JP" sz="900" dirty="0">
                    <a:solidFill>
                      <a:schemeClr val="tx1"/>
                    </a:solidFill>
                    <a:latin typeface="+mn-ea"/>
                  </a:rPr>
                  <a:t>) </a:t>
                </a: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作業同席</a:t>
                </a:r>
                <a:r>
                  <a:rPr lang="en-US" altLang="ja-JP" sz="900" dirty="0">
                    <a:solidFill>
                      <a:schemeClr val="tx1"/>
                    </a:solidFill>
                    <a:latin typeface="+mn-ea"/>
                  </a:rPr>
                  <a:t> (</a:t>
                </a:r>
                <a:r>
                  <a:rPr lang="ja-JP" altLang="en-US" sz="900" dirty="0">
                    <a:solidFill>
                      <a:schemeClr val="tx1"/>
                    </a:solidFill>
                    <a:latin typeface="+mn-ea"/>
                  </a:rPr>
                  <a:t>現行委託先の作業観察・暗黙知の抽出</a:t>
                </a:r>
                <a:r>
                  <a:rPr lang="en-US" altLang="ja-JP" sz="900" dirty="0">
                    <a:solidFill>
                      <a:schemeClr val="tx1"/>
                    </a:solidFill>
                    <a:latin typeface="+mn-ea"/>
                  </a:rPr>
                  <a:t>) </a:t>
                </a: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実践確認</a:t>
                </a:r>
                <a:r>
                  <a:rPr lang="en-US" altLang="ja-JP" sz="900" dirty="0">
                    <a:solidFill>
                      <a:schemeClr val="tx1"/>
                    </a:solidFill>
                    <a:latin typeface="+mn-ea"/>
                  </a:rPr>
                  <a:t> (</a:t>
                </a:r>
                <a:r>
                  <a:rPr lang="ja-JP" altLang="en-US" sz="900" dirty="0">
                    <a:solidFill>
                      <a:schemeClr val="tx1"/>
                    </a:solidFill>
                    <a:latin typeface="+mn-ea"/>
                  </a:rPr>
                  <a:t>新規委託先主体での作業＋現行監修</a:t>
                </a:r>
                <a:r>
                  <a:rPr lang="en-US" altLang="ja-JP" sz="900" dirty="0">
                    <a:solidFill>
                      <a:schemeClr val="tx1"/>
                    </a:solidFill>
                    <a:latin typeface="+mn-ea"/>
                  </a:rPr>
                  <a:t>) </a:t>
                </a: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高度業務</a:t>
                </a:r>
                <a:r>
                  <a:rPr lang="en-US" altLang="ja-JP" sz="900" dirty="0">
                    <a:solidFill>
                      <a:schemeClr val="tx1"/>
                    </a:solidFill>
                    <a:latin typeface="+mn-ea"/>
                  </a:rPr>
                  <a:t> (</a:t>
                </a:r>
                <a:r>
                  <a:rPr lang="en" altLang="ja-JP" sz="900" dirty="0">
                    <a:solidFill>
                      <a:schemeClr val="tx1"/>
                    </a:solidFill>
                    <a:latin typeface="+mn-ea"/>
                  </a:rPr>
                  <a:t>L3) </a:t>
                </a:r>
                <a:r>
                  <a:rPr lang="ja-JP" altLang="en-US" sz="900" dirty="0">
                    <a:solidFill>
                      <a:schemeClr val="tx1"/>
                    </a:solidFill>
                    <a:latin typeface="+mn-ea"/>
                  </a:rPr>
                  <a:t>から定型業務</a:t>
                </a:r>
                <a:r>
                  <a:rPr lang="en-US" altLang="ja-JP" sz="900" dirty="0">
                    <a:solidFill>
                      <a:schemeClr val="tx1"/>
                    </a:solidFill>
                    <a:latin typeface="+mn-ea"/>
                  </a:rPr>
                  <a:t> (</a:t>
                </a:r>
                <a:r>
                  <a:rPr lang="en" altLang="ja-JP" sz="900" dirty="0">
                    <a:solidFill>
                      <a:schemeClr val="tx1"/>
                    </a:solidFill>
                    <a:latin typeface="+mn-ea"/>
                  </a:rPr>
                  <a:t>L1 / L2) </a:t>
                </a:r>
                <a:r>
                  <a:rPr lang="ja-JP" altLang="en-US" sz="900" dirty="0">
                    <a:solidFill>
                      <a:schemeClr val="tx1"/>
                    </a:solidFill>
                    <a:latin typeface="+mn-ea"/>
                  </a:rPr>
                  <a:t>への</a:t>
                </a:r>
                <a:br>
                  <a:rPr lang="en-US" altLang="ja-JP" sz="900" dirty="0">
                    <a:solidFill>
                      <a:schemeClr val="tx1"/>
                    </a:solidFill>
                    <a:latin typeface="+mn-ea"/>
                  </a:rPr>
                </a:br>
                <a:r>
                  <a:rPr lang="ja-JP" altLang="en-US" sz="900" dirty="0">
                    <a:solidFill>
                      <a:schemeClr val="tx1"/>
                    </a:solidFill>
                    <a:latin typeface="+mn-ea"/>
                  </a:rPr>
                  <a:t>作業移管 </a:t>
                </a:r>
              </a:p>
            </p:txBody>
          </p:sp>
          <p:sp>
            <p:nvSpPr>
              <p:cNvPr id="111" name="正方形/長方形 110">
                <a:extLst>
                  <a:ext uri="{FF2B5EF4-FFF2-40B4-BE49-F238E27FC236}">
                    <a16:creationId xmlns:a16="http://schemas.microsoft.com/office/drawing/2014/main" id="{D2CFAABA-FF7E-E48E-5595-78D1C6FCA33E}"/>
                  </a:ext>
                </a:extLst>
              </p:cNvPr>
              <p:cNvSpPr/>
              <p:nvPr/>
            </p:nvSpPr>
            <p:spPr>
              <a:xfrm>
                <a:off x="1569061" y="4644262"/>
                <a:ext cx="2556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en" altLang="ja-JP" sz="900" dirty="0">
                    <a:solidFill>
                      <a:schemeClr val="tx1"/>
                    </a:solidFill>
                    <a:latin typeface="+mn-ea"/>
                  </a:rPr>
                  <a:t>第1段階</a:t>
                </a:r>
                <a:r>
                  <a:rPr lang="ja-JP" altLang="en-US" sz="900">
                    <a:solidFill>
                      <a:schemeClr val="tx1"/>
                    </a:solidFill>
                    <a:latin typeface="+mn-ea"/>
                  </a:rPr>
                  <a:t>本格運用開始</a:t>
                </a:r>
                <a:r>
                  <a:rPr lang="en-US" altLang="ja-JP" sz="900" dirty="0">
                    <a:solidFill>
                      <a:schemeClr val="tx1"/>
                    </a:solidFill>
                    <a:latin typeface="+mn-ea"/>
                  </a:rPr>
                  <a:t> (24</a:t>
                </a:r>
                <a:r>
                  <a:rPr lang="ja-JP" altLang="en-US" sz="900">
                    <a:solidFill>
                      <a:schemeClr val="tx1"/>
                    </a:solidFill>
                    <a:latin typeface="+mn-ea"/>
                  </a:rPr>
                  <a:t>時間</a:t>
                </a:r>
                <a:r>
                  <a:rPr lang="en-US" altLang="ja-JP" sz="900" dirty="0">
                    <a:solidFill>
                      <a:schemeClr val="tx1"/>
                    </a:solidFill>
                    <a:latin typeface="+mn-ea"/>
                  </a:rPr>
                  <a:t>365</a:t>
                </a:r>
                <a:r>
                  <a:rPr lang="ja-JP" altLang="en-US" sz="900">
                    <a:solidFill>
                      <a:schemeClr val="tx1"/>
                    </a:solidFill>
                    <a:latin typeface="+mn-ea"/>
                  </a:rPr>
                  <a:t>日体制</a:t>
                </a:r>
                <a:r>
                  <a:rPr lang="en-US" altLang="ja-JP" sz="900" dirty="0">
                    <a:solidFill>
                      <a:schemeClr val="tx1"/>
                    </a:solidFill>
                    <a:latin typeface="+mn-ea"/>
                  </a:rPr>
                  <a:t>) </a:t>
                </a: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現行委託先の特別伴走</a:t>
                </a:r>
                <a:r>
                  <a:rPr lang="en-US" altLang="ja-JP" sz="900" dirty="0">
                    <a:solidFill>
                      <a:schemeClr val="tx1"/>
                    </a:solidFill>
                    <a:latin typeface="+mn-ea"/>
                  </a:rPr>
                  <a:t> (1〜2</a:t>
                </a:r>
                <a:r>
                  <a:rPr lang="ja-JP" altLang="en-US" sz="900">
                    <a:solidFill>
                      <a:schemeClr val="tx1"/>
                    </a:solidFill>
                    <a:latin typeface="+mn-ea"/>
                  </a:rPr>
                  <a:t>ヶ月</a:t>
                </a:r>
                <a:r>
                  <a:rPr lang="en-US" altLang="ja-JP" sz="900" dirty="0">
                    <a:solidFill>
                      <a:schemeClr val="tx1"/>
                    </a:solidFill>
                    <a:latin typeface="+mn-ea"/>
                  </a:rPr>
                  <a:t>) </a:t>
                </a: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生成</a:t>
                </a:r>
                <a:r>
                  <a:rPr lang="en" altLang="ja-JP" sz="900" dirty="0">
                    <a:solidFill>
                      <a:schemeClr val="tx1"/>
                    </a:solidFill>
                    <a:latin typeface="+mn-ea"/>
                  </a:rPr>
                  <a:t>AI</a:t>
                </a:r>
                <a:r>
                  <a:rPr lang="ja-JP" altLang="en" sz="900">
                    <a:solidFill>
                      <a:schemeClr val="tx1"/>
                    </a:solidFill>
                    <a:latin typeface="+mn-ea"/>
                  </a:rPr>
                  <a:t>・</a:t>
                </a:r>
                <a:r>
                  <a:rPr lang="en" altLang="ja-JP" sz="900" dirty="0">
                    <a:solidFill>
                      <a:schemeClr val="tx1"/>
                    </a:solidFill>
                    <a:latin typeface="+mn-ea"/>
                  </a:rPr>
                  <a:t>RPA</a:t>
                </a:r>
                <a:r>
                  <a:rPr lang="ja-JP" altLang="en-US" sz="900">
                    <a:solidFill>
                      <a:schemeClr val="tx1"/>
                    </a:solidFill>
                    <a:latin typeface="+mn-ea"/>
                  </a:rPr>
                  <a:t>を活用した自動化</a:t>
                </a:r>
                <a:r>
                  <a:rPr lang="en-US" altLang="ja-JP" sz="900" dirty="0">
                    <a:solidFill>
                      <a:schemeClr val="tx1"/>
                    </a:solidFill>
                    <a:latin typeface="+mn-ea"/>
                  </a:rPr>
                  <a:t> (</a:t>
                </a:r>
                <a:r>
                  <a:rPr lang="ja-JP" altLang="en-US" sz="900">
                    <a:solidFill>
                      <a:schemeClr val="tx1"/>
                    </a:solidFill>
                    <a:latin typeface="+mn-ea"/>
                  </a:rPr>
                  <a:t>省人化</a:t>
                </a:r>
                <a:r>
                  <a:rPr lang="en-US" altLang="ja-JP" sz="900" dirty="0">
                    <a:solidFill>
                      <a:schemeClr val="tx1"/>
                    </a:solidFill>
                    <a:latin typeface="+mn-ea"/>
                  </a:rPr>
                  <a:t>) </a:t>
                </a:r>
                <a:r>
                  <a:rPr lang="ja-JP" altLang="en-US" sz="900">
                    <a:solidFill>
                      <a:schemeClr val="tx1"/>
                    </a:solidFill>
                    <a:latin typeface="+mn-ea"/>
                  </a:rPr>
                  <a:t>の適用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社員工数削減</a:t>
                </a:r>
                <a:r>
                  <a:rPr lang="en-US" altLang="ja-JP" sz="900" dirty="0">
                    <a:solidFill>
                      <a:schemeClr val="tx1"/>
                    </a:solidFill>
                    <a:latin typeface="+mn-ea"/>
                  </a:rPr>
                  <a:t> (6〜7</a:t>
                </a:r>
                <a:r>
                  <a:rPr lang="ja-JP" altLang="en-US" sz="900">
                    <a:solidFill>
                      <a:schemeClr val="tx1"/>
                    </a:solidFill>
                    <a:latin typeface="+mn-ea"/>
                  </a:rPr>
                  <a:t>人分</a:t>
                </a:r>
                <a:r>
                  <a:rPr lang="en-US" altLang="ja-JP" sz="900" dirty="0">
                    <a:solidFill>
                      <a:schemeClr val="tx1"/>
                    </a:solidFill>
                    <a:latin typeface="+mn-ea"/>
                  </a:rPr>
                  <a:t>) </a:t>
                </a:r>
                <a:r>
                  <a:rPr lang="ja-JP" altLang="en-US" sz="900">
                    <a:solidFill>
                      <a:schemeClr val="tx1"/>
                    </a:solidFill>
                    <a:latin typeface="+mn-ea"/>
                  </a:rPr>
                  <a:t>の先行創出と</a:t>
                </a:r>
                <a:br>
                  <a:rPr lang="en-US" altLang="ja-JP" sz="900" dirty="0">
                    <a:solidFill>
                      <a:schemeClr val="tx1"/>
                    </a:solidFill>
                    <a:latin typeface="+mn-ea"/>
                  </a:rPr>
                </a:br>
                <a:r>
                  <a:rPr lang="ja-JP" altLang="en-US" sz="900">
                    <a:solidFill>
                      <a:schemeClr val="tx1"/>
                    </a:solidFill>
                    <a:latin typeface="+mn-ea"/>
                  </a:rPr>
                  <a:t>企画シフト</a:t>
                </a:r>
                <a:endParaRPr lang="ja-JP" altLang="en-US" sz="700">
                  <a:solidFill>
                    <a:schemeClr val="tx1"/>
                  </a:solidFill>
                  <a:latin typeface="+mn-ea"/>
                </a:endParaRPr>
              </a:p>
            </p:txBody>
          </p:sp>
          <p:sp>
            <p:nvSpPr>
              <p:cNvPr id="112" name="正方形/長方形 111">
                <a:extLst>
                  <a:ext uri="{FF2B5EF4-FFF2-40B4-BE49-F238E27FC236}">
                    <a16:creationId xmlns:a16="http://schemas.microsoft.com/office/drawing/2014/main" id="{0189569C-E5F8-3B26-E234-5C91AD099CC0}"/>
                  </a:ext>
                </a:extLst>
              </p:cNvPr>
              <p:cNvSpPr/>
              <p:nvPr/>
            </p:nvSpPr>
            <p:spPr>
              <a:xfrm>
                <a:off x="1569061" y="5517356"/>
                <a:ext cx="2556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US" altLang="ja-JP" sz="900" b="1" dirty="0">
                    <a:solidFill>
                      <a:srgbClr val="008D2E"/>
                    </a:solidFill>
                    <a:latin typeface="+mn-ea"/>
                  </a:rPr>
                  <a:t>【</a:t>
                </a:r>
                <a:r>
                  <a:rPr lang="ja-JP" altLang="en-US" sz="900" b="1">
                    <a:solidFill>
                      <a:srgbClr val="008D2E"/>
                    </a:solidFill>
                    <a:latin typeface="+mn-ea"/>
                  </a:rPr>
                  <a:t>残り領域</a:t>
                </a:r>
                <a:r>
                  <a:rPr lang="en-US" altLang="ja-JP" sz="900" b="1" dirty="0">
                    <a:solidFill>
                      <a:srgbClr val="008D2E"/>
                    </a:solidFill>
                    <a:latin typeface="+mn-ea"/>
                  </a:rPr>
                  <a:t> : </a:t>
                </a:r>
                <a:r>
                  <a:rPr lang="en" altLang="ja-JP" sz="900" b="1" dirty="0">
                    <a:solidFill>
                      <a:srgbClr val="008D2E"/>
                    </a:solidFill>
                    <a:latin typeface="+mn-ea"/>
                  </a:rPr>
                  <a:t>B〜F</a:t>
                </a:r>
                <a:r>
                  <a:rPr lang="ja-JP" altLang="en-US" sz="900" b="1">
                    <a:solidFill>
                      <a:srgbClr val="008D2E"/>
                    </a:solidFill>
                    <a:latin typeface="+mn-ea"/>
                  </a:rPr>
                  <a:t>社領域へ拡大</a:t>
                </a:r>
                <a:r>
                  <a:rPr lang="en-US" altLang="ja-JP" sz="900" b="1" dirty="0">
                    <a:solidFill>
                      <a:srgbClr val="008D2E"/>
                    </a:solidFill>
                    <a:latin typeface="+mn-ea"/>
                  </a:rPr>
                  <a:t>】</a:t>
                </a:r>
              </a:p>
              <a:p>
                <a:pPr marL="99450" indent="-99450">
                  <a:spcAft>
                    <a:spcPts val="100"/>
                  </a:spcAft>
                  <a:buClr>
                    <a:srgbClr val="008D2E"/>
                  </a:buClr>
                  <a:buFont typeface="Arial" panose="020B0604020202020204" pitchFamily="34" charset="0"/>
                  <a:buChar char="•"/>
                </a:pPr>
                <a:r>
                  <a:rPr lang="en" altLang="ja-JP" sz="900" dirty="0">
                    <a:solidFill>
                      <a:schemeClr val="tx1"/>
                    </a:solidFill>
                    <a:latin typeface="+mn-ea"/>
                  </a:rPr>
                  <a:t>第1段階</a:t>
                </a:r>
                <a:r>
                  <a:rPr lang="ja-JP" altLang="en-US" sz="900">
                    <a:solidFill>
                      <a:schemeClr val="tx1"/>
                    </a:solidFill>
                    <a:latin typeface="+mn-ea"/>
                  </a:rPr>
                  <a:t>で確立した仕組み・資産の再利用展開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必要に応じた他社競合入札オプションの検証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全社の運用の仕組みの転換完了と社員</a:t>
                </a:r>
                <a:r>
                  <a:rPr lang="en-US" altLang="ja-JP" sz="900" dirty="0">
                    <a:solidFill>
                      <a:schemeClr val="tx1"/>
                    </a:solidFill>
                    <a:latin typeface="+mn-ea"/>
                  </a:rPr>
                  <a:t>12</a:t>
                </a:r>
                <a:r>
                  <a:rPr lang="ja-JP" altLang="en-US" sz="900">
                    <a:solidFill>
                      <a:schemeClr val="tx1"/>
                    </a:solidFill>
                    <a:latin typeface="+mn-ea"/>
                  </a:rPr>
                  <a:t>人分の</a:t>
                </a:r>
                <a:br>
                  <a:rPr lang="en-US" altLang="ja-JP" sz="900" dirty="0">
                    <a:solidFill>
                      <a:schemeClr val="tx1"/>
                    </a:solidFill>
                    <a:latin typeface="+mn-ea"/>
                  </a:rPr>
                </a:br>
                <a:r>
                  <a:rPr lang="ja-JP" altLang="en-US" sz="900">
                    <a:solidFill>
                      <a:schemeClr val="tx1"/>
                    </a:solidFill>
                    <a:latin typeface="+mn-ea"/>
                  </a:rPr>
                  <a:t>企画シフト完了 </a:t>
                </a:r>
              </a:p>
            </p:txBody>
          </p:sp>
          <p:cxnSp>
            <p:nvCxnSpPr>
              <p:cNvPr id="24" name="直線コネクタ 23">
                <a:extLst>
                  <a:ext uri="{FF2B5EF4-FFF2-40B4-BE49-F238E27FC236}">
                    <a16:creationId xmlns:a16="http://schemas.microsoft.com/office/drawing/2014/main" id="{EAE3A061-9CB3-0911-FC8E-456AD910D1B8}"/>
                  </a:ext>
                </a:extLst>
              </p:cNvPr>
              <p:cNvCxnSpPr>
                <a:cxnSpLocks/>
              </p:cNvCxnSpPr>
              <p:nvPr/>
            </p:nvCxnSpPr>
            <p:spPr>
              <a:xfrm>
                <a:off x="1569061" y="2785529"/>
                <a:ext cx="25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B59CF83D-06A8-F0F2-EA58-2F4A418C1F96}"/>
                  </a:ext>
                </a:extLst>
              </p:cNvPr>
              <p:cNvCxnSpPr>
                <a:cxnSpLocks/>
              </p:cNvCxnSpPr>
              <p:nvPr/>
            </p:nvCxnSpPr>
            <p:spPr>
              <a:xfrm>
                <a:off x="1569061" y="3586622"/>
                <a:ext cx="25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CB74DBAC-9C83-D839-F89F-BB2251445ACA}"/>
                  </a:ext>
                </a:extLst>
              </p:cNvPr>
              <p:cNvCxnSpPr>
                <a:cxnSpLocks/>
              </p:cNvCxnSpPr>
              <p:nvPr/>
            </p:nvCxnSpPr>
            <p:spPr>
              <a:xfrm>
                <a:off x="1569061" y="4603716"/>
                <a:ext cx="25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77F61705-185E-4CE0-018B-33A15548C474}"/>
                  </a:ext>
                </a:extLst>
              </p:cNvPr>
              <p:cNvCxnSpPr>
                <a:cxnSpLocks/>
              </p:cNvCxnSpPr>
              <p:nvPr/>
            </p:nvCxnSpPr>
            <p:spPr>
              <a:xfrm>
                <a:off x="1569061" y="5476809"/>
                <a:ext cx="2556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30" name="グループ化 129">
              <a:extLst>
                <a:ext uri="{FF2B5EF4-FFF2-40B4-BE49-F238E27FC236}">
                  <a16:creationId xmlns:a16="http://schemas.microsoft.com/office/drawing/2014/main" id="{D9EC9B53-107E-1392-AF05-2B7ABBE0AB9C}"/>
                </a:ext>
              </a:extLst>
            </p:cNvPr>
            <p:cNvGrpSpPr/>
            <p:nvPr/>
          </p:nvGrpSpPr>
          <p:grpSpPr>
            <a:xfrm>
              <a:off x="4224571" y="1633488"/>
              <a:ext cx="1440001" cy="4675868"/>
              <a:chOff x="4169785" y="1633488"/>
              <a:chExt cx="1440001" cy="4675868"/>
            </a:xfrm>
          </p:grpSpPr>
          <p:cxnSp>
            <p:nvCxnSpPr>
              <p:cNvPr id="9" name="直線コネクタ 8">
                <a:extLst>
                  <a:ext uri="{FF2B5EF4-FFF2-40B4-BE49-F238E27FC236}">
                    <a16:creationId xmlns:a16="http://schemas.microsoft.com/office/drawing/2014/main" id="{A70803C4-479A-0C1D-4333-0D964436B48B}"/>
                  </a:ext>
                </a:extLst>
              </p:cNvPr>
              <p:cNvCxnSpPr>
                <a:cxnSpLocks/>
              </p:cNvCxnSpPr>
              <p:nvPr/>
            </p:nvCxnSpPr>
            <p:spPr>
              <a:xfrm>
                <a:off x="4169785" y="1934895"/>
                <a:ext cx="14400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F9595696-318C-6F27-52F3-87B2662A6578}"/>
                  </a:ext>
                </a:extLst>
              </p:cNvPr>
              <p:cNvSpPr txBox="1"/>
              <p:nvPr/>
            </p:nvSpPr>
            <p:spPr>
              <a:xfrm>
                <a:off x="4169786" y="1633488"/>
                <a:ext cx="1440000" cy="301407"/>
              </a:xfrm>
              <a:prstGeom prst="rect">
                <a:avLst/>
              </a:prstGeom>
              <a:noFill/>
            </p:spPr>
            <p:txBody>
              <a:bodyPr wrap="square" lIns="36000" tIns="36000" rIns="36000" bIns="0" rtlCol="0" anchor="ctr">
                <a:noAutofit/>
              </a:bodyPr>
              <a:lstStyle/>
              <a:p>
                <a:pPr algn="ctr"/>
                <a:r>
                  <a:rPr kumimoji="1" lang="ja-JP" altLang="en-US" sz="1000">
                    <a:latin typeface="+mn-ea"/>
                  </a:rPr>
                  <a:t>主な作成成果物</a:t>
                </a:r>
              </a:p>
            </p:txBody>
          </p:sp>
          <p:sp>
            <p:nvSpPr>
              <p:cNvPr id="12" name="正方形/長方形 11">
                <a:extLst>
                  <a:ext uri="{FF2B5EF4-FFF2-40B4-BE49-F238E27FC236}">
                    <a16:creationId xmlns:a16="http://schemas.microsoft.com/office/drawing/2014/main" id="{D6FB20B4-D89E-D5C7-C8D1-A1D1B4286D07}"/>
                  </a:ext>
                </a:extLst>
              </p:cNvPr>
              <p:cNvSpPr/>
              <p:nvPr/>
            </p:nvSpPr>
            <p:spPr>
              <a:xfrm>
                <a:off x="4169785" y="2024985"/>
                <a:ext cx="1440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業務実態可視化レポート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ベースライン合意書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データセキュリティ分類定義書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正式見積書 </a:t>
                </a:r>
              </a:p>
            </p:txBody>
          </p:sp>
          <p:sp>
            <p:nvSpPr>
              <p:cNvPr id="13" name="正方形/長方形 12">
                <a:extLst>
                  <a:ext uri="{FF2B5EF4-FFF2-40B4-BE49-F238E27FC236}">
                    <a16:creationId xmlns:a16="http://schemas.microsoft.com/office/drawing/2014/main" id="{5F098FE4-16D1-53DB-1951-D94E9C61B750}"/>
                  </a:ext>
                </a:extLst>
              </p:cNvPr>
              <p:cNvSpPr/>
              <p:nvPr/>
            </p:nvSpPr>
            <p:spPr>
              <a:xfrm>
                <a:off x="4169786" y="2826077"/>
                <a:ext cx="1440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運用統制マニュアル</a:t>
                </a:r>
                <a:r>
                  <a:rPr lang="en-US" altLang="ja-JP" sz="900" dirty="0">
                    <a:solidFill>
                      <a:schemeClr val="tx1"/>
                    </a:solidFill>
                    <a:latin typeface="+mn-ea"/>
                  </a:rPr>
                  <a:t> </a:t>
                </a:r>
                <a:br>
                  <a:rPr lang="en-US" altLang="ja-JP" sz="900" dirty="0">
                    <a:solidFill>
                      <a:schemeClr val="tx1"/>
                    </a:solidFill>
                    <a:latin typeface="+mn-ea"/>
                  </a:rPr>
                </a:br>
                <a:r>
                  <a:rPr lang="ja-JP" altLang="en-US" sz="900" dirty="0">
                    <a:solidFill>
                      <a:schemeClr val="tx1"/>
                    </a:solidFill>
                    <a:latin typeface="+mn-ea"/>
                  </a:rPr>
                  <a:t>(</a:t>
                </a:r>
                <a:r>
                  <a:rPr lang="en-US" altLang="ja-JP" sz="900" dirty="0">
                    <a:solidFill>
                      <a:schemeClr val="tx1"/>
                    </a:solidFill>
                    <a:latin typeface="+mn-ea"/>
                  </a:rPr>
                  <a:t>LEB</a:t>
                </a:r>
                <a:r>
                  <a:rPr lang="ja-JP" altLang="en-US" sz="900" dirty="0">
                    <a:solidFill>
                      <a:schemeClr val="tx1"/>
                    </a:solidFill>
                    <a:latin typeface="+mn-ea"/>
                  </a:rPr>
                  <a:t>用)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サービス品質基準</a:t>
                </a:r>
                <a:r>
                  <a:rPr lang="en-US" altLang="ja-JP" sz="900" dirty="0">
                    <a:solidFill>
                      <a:schemeClr val="tx1"/>
                    </a:solidFill>
                    <a:latin typeface="+mn-ea"/>
                  </a:rPr>
                  <a:t> </a:t>
                </a:r>
                <a:r>
                  <a:rPr lang="ja-JP" altLang="en-US" sz="900" dirty="0">
                    <a:solidFill>
                      <a:schemeClr val="tx1"/>
                    </a:solidFill>
                    <a:latin typeface="+mn-ea"/>
                  </a:rPr>
                  <a:t/>
                </a:r>
                <a:r>
                  <a:rPr lang="en-US" altLang="ja-JP" sz="900" dirty="0">
                    <a:solidFill>
                      <a:schemeClr val="tx1"/>
                    </a:solidFill>
                    <a:latin typeface="+mn-ea"/>
                  </a:rPr>
                  <a:t/>
                </a:r>
                <a:r>
                  <a:rPr lang="ja-JP" altLang="en-US" sz="900" dirty="0">
                    <a:solidFill>
                      <a:schemeClr val="tx1"/>
                    </a:solidFill>
                    <a:latin typeface="+mn-ea"/>
                  </a:rPr>
                  <a:t/>
                </a:r>
                <a:r>
                  <a:rPr lang="en-US" altLang="ja-JP" sz="900" dirty="0">
                    <a:solidFill>
                      <a:schemeClr val="tx1"/>
                    </a:solidFill>
                    <a:latin typeface="+mn-ea"/>
                  </a:rPr>
                  <a:t> </a:t>
                </a:r>
                <a:br>
                  <a:rPr lang="en-US" altLang="ja-JP" sz="900" dirty="0">
                    <a:solidFill>
                      <a:schemeClr val="tx1"/>
                    </a:solidFill>
                    <a:latin typeface="+mn-ea"/>
                  </a:rPr>
                </a:br>
                <a:r>
                  <a:rPr lang="ja-JP" altLang="en-US" sz="900" dirty="0">
                    <a:solidFill>
                      <a:schemeClr val="tx1"/>
                    </a:solidFill>
                    <a:latin typeface="+mn-ea"/>
                  </a:rPr>
                  <a:t>合意書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標準業務手順書</a:t>
                </a:r>
                <a:r>
                  <a:rPr lang="en-US" altLang="ja-JP" sz="900" dirty="0">
                    <a:solidFill>
                      <a:schemeClr val="tx1"/>
                    </a:solidFill>
                    <a:latin typeface="+mn-ea"/>
                  </a:rPr>
                  <a:t> </a:t>
                </a:r>
                <a:r>
                  <a:rPr lang="ja-JP" altLang="en-US" sz="900" dirty="0">
                    <a:solidFill>
                      <a:schemeClr val="tx1"/>
                    </a:solidFill>
                    <a:latin typeface="+mn-ea"/>
                  </a:rPr>
                  <a:t>(初版</a:t>
                </a:r>
                <a:r>
                  <a:rPr lang="en-US" altLang="ja-JP" sz="900" dirty="0">
                    <a:solidFill>
                      <a:schemeClr val="tx1"/>
                    </a:solidFill>
                    <a:latin typeface="+mn-ea"/>
                  </a:rPr>
                  <a:t>)</a:t>
                </a:r>
                <a:endParaRPr lang="ja-JP" altLang="en-US" sz="700" dirty="0">
                  <a:solidFill>
                    <a:schemeClr val="tx1"/>
                  </a:solidFill>
                  <a:latin typeface="+mn-ea"/>
                </a:endParaRPr>
              </a:p>
            </p:txBody>
          </p:sp>
          <p:sp>
            <p:nvSpPr>
              <p:cNvPr id="14" name="正方形/長方形 13">
                <a:extLst>
                  <a:ext uri="{FF2B5EF4-FFF2-40B4-BE49-F238E27FC236}">
                    <a16:creationId xmlns:a16="http://schemas.microsoft.com/office/drawing/2014/main" id="{AEE18D2D-3F84-7A5A-8957-19098EAD7E34}"/>
                  </a:ext>
                </a:extLst>
              </p:cNvPr>
              <p:cNvSpPr/>
              <p:nvPr/>
            </p:nvSpPr>
            <p:spPr>
              <a:xfrm>
                <a:off x="4169786" y="3627170"/>
                <a:ext cx="1440000" cy="93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最新化業務手順書</a:t>
                </a:r>
                <a:br>
                  <a:rPr lang="en-US" altLang="ja-JP" sz="900" dirty="0">
                    <a:solidFill>
                      <a:schemeClr val="tx1"/>
                    </a:solidFill>
                    <a:latin typeface="+mn-ea"/>
                  </a:rPr>
                </a:br>
                <a:r>
                  <a:rPr lang="en-US" altLang="ja-JP" sz="900" dirty="0">
                    <a:solidFill>
                      <a:schemeClr val="tx1"/>
                    </a:solidFill>
                    <a:latin typeface="+mn-ea"/>
                  </a:rPr>
                  <a:t> (</a:t>
                </a:r>
                <a:r>
                  <a:rPr lang="ja-JP" altLang="en-US" sz="900">
                    <a:solidFill>
                      <a:schemeClr val="tx1"/>
                    </a:solidFill>
                    <a:latin typeface="+mn-ea"/>
                  </a:rPr>
                  <a:t>完成率</a:t>
                </a:r>
                <a:r>
                  <a:rPr lang="en-US" altLang="ja-JP" sz="900" dirty="0">
                    <a:solidFill>
                      <a:schemeClr val="tx1"/>
                    </a:solidFill>
                    <a:latin typeface="+mn-ea"/>
                  </a:rPr>
                  <a:t>100%) </a:t>
                </a: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引き継ぎ理解度テスト結果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単独運転試験計画書 </a:t>
                </a:r>
              </a:p>
            </p:txBody>
          </p:sp>
          <p:sp>
            <p:nvSpPr>
              <p:cNvPr id="15" name="正方形/長方形 14">
                <a:extLst>
                  <a:ext uri="{FF2B5EF4-FFF2-40B4-BE49-F238E27FC236}">
                    <a16:creationId xmlns:a16="http://schemas.microsoft.com/office/drawing/2014/main" id="{8F30C394-0F5D-B058-56B3-A00E0BCA7329}"/>
                  </a:ext>
                </a:extLst>
              </p:cNvPr>
              <p:cNvSpPr/>
              <p:nvPr/>
            </p:nvSpPr>
            <p:spPr>
              <a:xfrm>
                <a:off x="4169786" y="4644263"/>
                <a:ext cx="144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月次運用品質報告書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自動化適用・コスト削減</a:t>
                </a:r>
                <a:br>
                  <a:rPr lang="en-US" altLang="ja-JP" sz="900" dirty="0">
                    <a:solidFill>
                      <a:schemeClr val="tx1"/>
                    </a:solidFill>
                    <a:latin typeface="+mn-ea"/>
                  </a:rPr>
                </a:br>
                <a:r>
                  <a:rPr lang="ja-JP" altLang="en-US" sz="900">
                    <a:solidFill>
                      <a:schemeClr val="tx1"/>
                    </a:solidFill>
                    <a:latin typeface="+mn-ea"/>
                  </a:rPr>
                  <a:t>実績書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ja-JP" altLang="en-US" sz="900">
                    <a:solidFill>
                      <a:schemeClr val="tx1"/>
                    </a:solidFill>
                    <a:latin typeface="+mn-ea"/>
                  </a:rPr>
                  <a:t>社員企画シフト達成状況</a:t>
                </a:r>
                <a:br>
                  <a:rPr lang="en-US" altLang="ja-JP" sz="900" dirty="0">
                    <a:solidFill>
                      <a:schemeClr val="tx1"/>
                    </a:solidFill>
                    <a:latin typeface="+mn-ea"/>
                  </a:rPr>
                </a:br>
                <a:r>
                  <a:rPr lang="ja-JP" altLang="en-US" sz="900">
                    <a:solidFill>
                      <a:schemeClr val="tx1"/>
                    </a:solidFill>
                    <a:latin typeface="+mn-ea"/>
                  </a:rPr>
                  <a:t>報告書 </a:t>
                </a:r>
                <a:endParaRPr lang="ja-JP" altLang="en-US" sz="700">
                  <a:solidFill>
                    <a:schemeClr val="tx1"/>
                  </a:solidFill>
                  <a:latin typeface="+mn-ea"/>
                </a:endParaRPr>
              </a:p>
            </p:txBody>
          </p:sp>
          <p:sp>
            <p:nvSpPr>
              <p:cNvPr id="16" name="正方形/長方形 15">
                <a:extLst>
                  <a:ext uri="{FF2B5EF4-FFF2-40B4-BE49-F238E27FC236}">
                    <a16:creationId xmlns:a16="http://schemas.microsoft.com/office/drawing/2014/main" id="{3642C4F0-C3D1-7AE9-B05D-03EDAF794291}"/>
                  </a:ext>
                </a:extLst>
              </p:cNvPr>
              <p:cNvSpPr/>
              <p:nvPr/>
            </p:nvSpPr>
            <p:spPr>
              <a:xfrm>
                <a:off x="4169786" y="5517356"/>
                <a:ext cx="1440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marL="99450" indent="-99450">
                  <a:spcAft>
                    <a:spcPts val="100"/>
                  </a:spcAft>
                  <a:buClr>
                    <a:srgbClr val="008D2E"/>
                  </a:buClr>
                  <a:buFont typeface="Arial" panose="020B0604020202020204" pitchFamily="34" charset="0"/>
                  <a:buChar char="•"/>
                </a:pPr>
                <a:r>
                  <a:rPr lang="ja-JP" altLang="en-US" sz="900" dirty="0">
                    <a:solidFill>
                      <a:schemeClr val="tx1"/>
                    </a:solidFill>
                    <a:latin typeface="+mn-ea"/>
                  </a:rPr>
                  <a:t>全社統合運用パフォーマンス</a:t>
                </a:r>
                <a:br>
                  <a:rPr lang="en-US" altLang="ja-JP" sz="900" dirty="0">
                    <a:solidFill>
                      <a:schemeClr val="tx1"/>
                    </a:solidFill>
                    <a:latin typeface="+mn-ea"/>
                  </a:rPr>
                </a:br>
                <a:r>
                  <a:rPr lang="ja-JP" altLang="en-US" sz="900" dirty="0">
                    <a:solidFill>
                      <a:schemeClr val="tx1"/>
                    </a:solidFill>
                    <a:latin typeface="+mn-ea"/>
                  </a:rPr>
                  <a:t>報告書 </a:t>
                </a:r>
                <a:endParaRPr lang="en-US" altLang="ja-JP" sz="900" dirty="0">
                  <a:solidFill>
                    <a:schemeClr val="tx1"/>
                  </a:solidFill>
                  <a:latin typeface="+mn-ea"/>
                </a:endParaRPr>
              </a:p>
              <a:p>
                <a:pPr marL="99450" indent="-99450">
                  <a:spcAft>
                    <a:spcPts val="100"/>
                  </a:spcAft>
                  <a:buClr>
                    <a:srgbClr val="008D2E"/>
                  </a:buClr>
                  <a:buFont typeface="Arial" panose="020B0604020202020204" pitchFamily="34" charset="0"/>
                  <a:buChar char="•"/>
                </a:pPr>
                <a:r>
                  <a:rPr lang="en" altLang="ja-JP" sz="900" dirty="0">
                    <a:solidFill>
                      <a:schemeClr val="tx1"/>
                    </a:solidFill>
                    <a:latin typeface="+mn-ea"/>
                  </a:rPr>
                  <a:t>総コスト</a:t>
                </a:r>
                <a:r>
                  <a:rPr lang="ja-JP" altLang="en-US" sz="900" dirty="0">
                    <a:solidFill>
                      <a:schemeClr val="tx1"/>
                    </a:solidFill>
                    <a:latin typeface="+mn-ea"/>
                  </a:rPr>
                  <a:t>削減実績書</a:t>
                </a:r>
                <a:br>
                  <a:rPr lang="en-US" altLang="ja-JP" sz="900" dirty="0">
                    <a:solidFill>
                      <a:schemeClr val="tx1"/>
                    </a:solidFill>
                    <a:latin typeface="+mn-ea"/>
                  </a:rPr>
                </a:br>
                <a:r>
                  <a:rPr lang="en-US" altLang="ja-JP" sz="900" dirty="0">
                    <a:solidFill>
                      <a:schemeClr val="tx1"/>
                    </a:solidFill>
                    <a:latin typeface="+mn-ea"/>
                  </a:rPr>
                  <a:t>(</a:t>
                </a:r>
                <a:r>
                  <a:rPr lang="ja-JP" altLang="en-US" sz="900" dirty="0">
                    <a:solidFill>
                      <a:schemeClr val="tx1"/>
                    </a:solidFill>
                    <a:latin typeface="+mn-ea"/>
                  </a:rPr>
                  <a:t>ベースライン比</a:t>
                </a:r>
                <a:br>
                  <a:rPr lang="en-US" altLang="ja-JP" sz="900" dirty="0">
                    <a:solidFill>
                      <a:schemeClr val="tx1"/>
                    </a:solidFill>
                    <a:latin typeface="+mn-ea"/>
                  </a:rPr>
                </a:br>
                <a:r>
                  <a:rPr lang="ja-JP" altLang="en-US" sz="900" dirty="0">
                    <a:solidFill>
                      <a:srgbClr val="008D2E"/>
                    </a:solidFill>
                    <a:latin typeface="+mn-ea"/>
                  </a:rPr>
                  <a:t>▲</a:t>
                </a:r>
                <a:r>
                  <a:rPr lang="en-US" altLang="ja-JP" sz="900" dirty="0">
                    <a:solidFill>
                      <a:schemeClr val="tx1"/>
                    </a:solidFill>
                    <a:latin typeface="+mn-ea"/>
                  </a:rPr>
                  <a:t>10〜20%) </a:t>
                </a:r>
              </a:p>
            </p:txBody>
          </p:sp>
          <p:cxnSp>
            <p:nvCxnSpPr>
              <p:cNvPr id="28" name="直線コネクタ 27">
                <a:extLst>
                  <a:ext uri="{FF2B5EF4-FFF2-40B4-BE49-F238E27FC236}">
                    <a16:creationId xmlns:a16="http://schemas.microsoft.com/office/drawing/2014/main" id="{E7446CE9-1018-AD06-4494-DC8C03CE7638}"/>
                  </a:ext>
                </a:extLst>
              </p:cNvPr>
              <p:cNvCxnSpPr>
                <a:cxnSpLocks/>
              </p:cNvCxnSpPr>
              <p:nvPr/>
            </p:nvCxnSpPr>
            <p:spPr>
              <a:xfrm>
                <a:off x="4169785" y="2785531"/>
                <a:ext cx="144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57C4AB2-5852-5F3C-5004-5562C938C060}"/>
                  </a:ext>
                </a:extLst>
              </p:cNvPr>
              <p:cNvCxnSpPr>
                <a:cxnSpLocks/>
              </p:cNvCxnSpPr>
              <p:nvPr/>
            </p:nvCxnSpPr>
            <p:spPr>
              <a:xfrm>
                <a:off x="4169785" y="3586624"/>
                <a:ext cx="144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13F695C-C688-540F-B629-F28922CAD3E7}"/>
                  </a:ext>
                </a:extLst>
              </p:cNvPr>
              <p:cNvCxnSpPr>
                <a:cxnSpLocks/>
              </p:cNvCxnSpPr>
              <p:nvPr/>
            </p:nvCxnSpPr>
            <p:spPr>
              <a:xfrm>
                <a:off x="4169785" y="4603716"/>
                <a:ext cx="144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4A2F2160-9B8E-7821-59A1-881EADC3356C}"/>
                  </a:ext>
                </a:extLst>
              </p:cNvPr>
              <p:cNvCxnSpPr>
                <a:cxnSpLocks/>
              </p:cNvCxnSpPr>
              <p:nvPr/>
            </p:nvCxnSpPr>
            <p:spPr>
              <a:xfrm>
                <a:off x="4169785" y="5476809"/>
                <a:ext cx="1440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29" name="グループ化 128">
              <a:extLst>
                <a:ext uri="{FF2B5EF4-FFF2-40B4-BE49-F238E27FC236}">
                  <a16:creationId xmlns:a16="http://schemas.microsoft.com/office/drawing/2014/main" id="{AD19580D-60C6-BBDA-EAE9-8A4E9863F81B}"/>
                </a:ext>
              </a:extLst>
            </p:cNvPr>
            <p:cNvGrpSpPr/>
            <p:nvPr/>
          </p:nvGrpSpPr>
          <p:grpSpPr>
            <a:xfrm>
              <a:off x="5736520" y="1633488"/>
              <a:ext cx="1404002" cy="4675868"/>
              <a:chOff x="5673267" y="1633488"/>
              <a:chExt cx="1404002" cy="4675868"/>
            </a:xfrm>
          </p:grpSpPr>
          <p:cxnSp>
            <p:nvCxnSpPr>
              <p:cNvPr id="5" name="直線コネクタ 4">
                <a:extLst>
                  <a:ext uri="{FF2B5EF4-FFF2-40B4-BE49-F238E27FC236}">
                    <a16:creationId xmlns:a16="http://schemas.microsoft.com/office/drawing/2014/main" id="{B2647F2D-60D6-CAB0-9942-91770D89A99C}"/>
                  </a:ext>
                </a:extLst>
              </p:cNvPr>
              <p:cNvCxnSpPr>
                <a:cxnSpLocks/>
              </p:cNvCxnSpPr>
              <p:nvPr/>
            </p:nvCxnSpPr>
            <p:spPr>
              <a:xfrm>
                <a:off x="5673269" y="1934895"/>
                <a:ext cx="14040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BC1C43DA-D001-7E32-7890-351BF4AD004E}"/>
                  </a:ext>
                </a:extLst>
              </p:cNvPr>
              <p:cNvSpPr txBox="1"/>
              <p:nvPr/>
            </p:nvSpPr>
            <p:spPr>
              <a:xfrm>
                <a:off x="5673269" y="1633488"/>
                <a:ext cx="1404000" cy="301407"/>
              </a:xfrm>
              <a:prstGeom prst="rect">
                <a:avLst/>
              </a:prstGeom>
              <a:noFill/>
            </p:spPr>
            <p:txBody>
              <a:bodyPr wrap="square" lIns="36000" tIns="36000" rIns="36000" bIns="0" rtlCol="0" anchor="ctr">
                <a:noAutofit/>
              </a:bodyPr>
              <a:lstStyle/>
              <a:p>
                <a:pPr algn="ctr"/>
                <a:r>
                  <a:rPr kumimoji="1" lang="ja-JP" altLang="en-US" sz="1000">
                    <a:latin typeface="+mn-ea"/>
                  </a:rPr>
                  <a:t>意思決定・判定の節目</a:t>
                </a:r>
              </a:p>
            </p:txBody>
          </p:sp>
          <p:sp>
            <p:nvSpPr>
              <p:cNvPr id="7" name="正方形/長方形 6">
                <a:extLst>
                  <a:ext uri="{FF2B5EF4-FFF2-40B4-BE49-F238E27FC236}">
                    <a16:creationId xmlns:a16="http://schemas.microsoft.com/office/drawing/2014/main" id="{CEA16CA5-0B26-C7DE-39A5-548C0B2A5A95}"/>
                  </a:ext>
                </a:extLst>
              </p:cNvPr>
              <p:cNvSpPr/>
              <p:nvPr/>
            </p:nvSpPr>
            <p:spPr>
              <a:xfrm>
                <a:off x="5673268" y="2024985"/>
                <a:ext cx="1404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 altLang="ja-JP" sz="900" b="1" dirty="0">
                    <a:solidFill>
                      <a:srgbClr val="008D2E"/>
                    </a:solidFill>
                    <a:latin typeface="+mn-ea"/>
                  </a:rPr>
                  <a:t>判断ポイント1 (9</a:t>
                </a:r>
                <a:r>
                  <a:rPr lang="ja-JP" altLang="en-US" sz="900" b="1" dirty="0">
                    <a:solidFill>
                      <a:srgbClr val="008D2E"/>
                    </a:solidFill>
                    <a:latin typeface="+mn-ea"/>
                  </a:rPr>
                  <a:t>月</a:t>
                </a:r>
                <a:r>
                  <a:rPr lang="en-US" altLang="ja-JP" sz="900" b="1" dirty="0">
                    <a:solidFill>
                      <a:srgbClr val="008D2E"/>
                    </a:solidFill>
                    <a:latin typeface="+mn-ea"/>
                  </a:rPr>
                  <a:t>)</a:t>
                </a:r>
                <a:r>
                  <a:rPr lang="en-US" altLang="ja-JP" sz="900" b="1" dirty="0">
                    <a:solidFill>
                      <a:schemeClr val="tx1"/>
                    </a:solidFill>
                    <a:latin typeface="+mn-ea"/>
                  </a:rPr>
                  <a:t> </a:t>
                </a:r>
                <a:r>
                  <a:rPr lang="en-US" altLang="ja-JP" sz="900" dirty="0">
                    <a:solidFill>
                      <a:schemeClr val="tx1"/>
                    </a:solidFill>
                    <a:latin typeface="+mn-ea"/>
                  </a:rPr>
                  <a:t>: </a:t>
                </a:r>
              </a:p>
              <a:p>
                <a:pPr>
                  <a:spcAft>
                    <a:spcPts val="100"/>
                  </a:spcAft>
                  <a:buClr>
                    <a:srgbClr val="008D2E"/>
                  </a:buClr>
                </a:pPr>
                <a:r>
                  <a:rPr lang="ja-JP" altLang="en-US" sz="900" dirty="0">
                    <a:solidFill>
                      <a:schemeClr val="tx1"/>
                    </a:solidFill>
                    <a:latin typeface="+mn-ea"/>
                  </a:rPr>
                  <a:t>部内合意</a:t>
                </a:r>
                <a:r>
                  <a:rPr lang="en-US" altLang="ja-JP" sz="900" dirty="0">
                    <a:solidFill>
                      <a:schemeClr val="tx1"/>
                    </a:solidFill>
                    <a:latin typeface="+mn-ea"/>
                  </a:rPr>
                  <a:t> (</a:t>
                </a:r>
                <a:r>
                  <a:rPr lang="ja-JP" altLang="en-US" sz="900" dirty="0">
                    <a:solidFill>
                      <a:schemeClr val="tx1"/>
                    </a:solidFill>
                    <a:latin typeface="+mn-ea"/>
                  </a:rPr>
                  <a:t>基本方針の承認</a:t>
                </a:r>
                <a:r>
                  <a:rPr lang="en-US" altLang="ja-JP" sz="900" dirty="0">
                    <a:solidFill>
                      <a:schemeClr val="tx1"/>
                    </a:solidFill>
                    <a:latin typeface="+mn-ea"/>
                  </a:rPr>
                  <a:t>) </a:t>
                </a:r>
                <a:br>
                  <a:rPr lang="en-US" altLang="ja-JP" sz="900" dirty="0">
                    <a:solidFill>
                      <a:schemeClr val="tx1"/>
                    </a:solidFill>
                    <a:latin typeface="+mn-ea"/>
                  </a:rPr>
                </a:br>
                <a:r>
                  <a:rPr lang="en" altLang="ja-JP" sz="900" b="1" dirty="0">
                    <a:solidFill>
                      <a:srgbClr val="008D2E"/>
                    </a:solidFill>
                    <a:latin typeface="+mn-ea"/>
                  </a:rPr>
                  <a:t>判断ポイント2 (10</a:t>
                </a:r>
                <a:r>
                  <a:rPr lang="ja-JP" altLang="en-US" sz="900" b="1" dirty="0">
                    <a:solidFill>
                      <a:srgbClr val="008D2E"/>
                    </a:solidFill>
                    <a:latin typeface="+mn-ea"/>
                  </a:rPr>
                  <a:t>月</a:t>
                </a:r>
                <a:r>
                  <a:rPr lang="en-US" altLang="ja-JP" sz="900" b="1" dirty="0">
                    <a:solidFill>
                      <a:srgbClr val="008D2E"/>
                    </a:solidFill>
                    <a:latin typeface="+mn-ea"/>
                  </a:rPr>
                  <a:t>) </a:t>
                </a:r>
                <a:r>
                  <a:rPr lang="en-US" altLang="ja-JP" sz="900" dirty="0">
                    <a:solidFill>
                      <a:schemeClr val="tx1"/>
                    </a:solidFill>
                    <a:latin typeface="+mn-ea"/>
                  </a:rPr>
                  <a:t>: </a:t>
                </a:r>
                <a:br>
                  <a:rPr lang="en-US" altLang="ja-JP" sz="900" dirty="0">
                    <a:solidFill>
                      <a:schemeClr val="tx1"/>
                    </a:solidFill>
                    <a:latin typeface="+mn-ea"/>
                  </a:rPr>
                </a:br>
                <a:r>
                  <a:rPr lang="ja-JP" altLang="en-US" sz="900" dirty="0">
                    <a:solidFill>
                      <a:schemeClr val="tx1"/>
                    </a:solidFill>
                    <a:latin typeface="+mn-ea"/>
                  </a:rPr>
                  <a:t>投資委員会</a:t>
                </a:r>
                <a:br>
                  <a:rPr lang="en-US" altLang="ja-JP" sz="900" dirty="0">
                    <a:solidFill>
                      <a:schemeClr val="tx1"/>
                    </a:solidFill>
                    <a:latin typeface="+mn-ea"/>
                  </a:rPr>
                </a:br>
                <a:r>
                  <a:rPr lang="en-US" altLang="ja-JP" sz="900" dirty="0">
                    <a:solidFill>
                      <a:schemeClr val="tx1"/>
                    </a:solidFill>
                    <a:latin typeface="+mn-ea"/>
                  </a:rPr>
                  <a:t>(</a:t>
                </a:r>
                <a:r>
                  <a:rPr lang="ja-JP" altLang="en-US" sz="900" dirty="0">
                    <a:solidFill>
                      <a:schemeClr val="tx1"/>
                    </a:solidFill>
                    <a:latin typeface="+mn-ea"/>
                  </a:rPr>
                  <a:t>投資・費用承認</a:t>
                </a:r>
                <a:r>
                  <a:rPr lang="en-US" altLang="ja-JP" sz="900" dirty="0">
                    <a:solidFill>
                      <a:schemeClr val="tx1"/>
                    </a:solidFill>
                    <a:latin typeface="+mn-ea"/>
                  </a:rPr>
                  <a:t>) </a:t>
                </a:r>
              </a:p>
            </p:txBody>
          </p:sp>
          <p:sp>
            <p:nvSpPr>
              <p:cNvPr id="8" name="正方形/長方形 7">
                <a:extLst>
                  <a:ext uri="{FF2B5EF4-FFF2-40B4-BE49-F238E27FC236}">
                    <a16:creationId xmlns:a16="http://schemas.microsoft.com/office/drawing/2014/main" id="{A0655A8F-89D6-16C9-5C1D-E63C157102BC}"/>
                  </a:ext>
                </a:extLst>
              </p:cNvPr>
              <p:cNvSpPr/>
              <p:nvPr/>
            </p:nvSpPr>
            <p:spPr>
              <a:xfrm>
                <a:off x="5673269" y="2826077"/>
                <a:ext cx="1404000" cy="720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buClr>
                    <a:srgbClr val="008D2E"/>
                  </a:buClr>
                </a:pPr>
                <a:r>
                  <a:rPr lang="en-US" altLang="ja-JP" sz="900" b="1" dirty="0">
                    <a:solidFill>
                      <a:srgbClr val="008D2E"/>
                    </a:solidFill>
                    <a:latin typeface="+mn-ea"/>
                  </a:rPr>
                  <a:t>10</a:t>
                </a:r>
                <a:r>
                  <a:rPr lang="ja-JP" altLang="en-US" sz="900" b="1" dirty="0">
                    <a:solidFill>
                      <a:srgbClr val="008D2E"/>
                    </a:solidFill>
                    <a:latin typeface="+mn-ea"/>
                  </a:rPr>
                  <a:t>月末</a:t>
                </a:r>
                <a:r>
                  <a:rPr lang="en-US" altLang="ja-JP" sz="900" b="1" dirty="0">
                    <a:solidFill>
                      <a:srgbClr val="008D2E"/>
                    </a:solidFill>
                    <a:latin typeface="+mn-ea"/>
                  </a:rPr>
                  <a:t> : </a:t>
                </a:r>
                <a:r>
                  <a:rPr lang="ja-JP" altLang="en-US" sz="900" b="1" dirty="0">
                    <a:solidFill>
                      <a:srgbClr val="008D2E"/>
                    </a:solidFill>
                    <a:latin typeface="+mn-ea"/>
                  </a:rPr>
                  <a:t>契約締結</a:t>
                </a:r>
                <a:r>
                  <a:rPr lang="en-US" altLang="ja-JP" sz="900" b="1" dirty="0">
                    <a:solidFill>
                      <a:schemeClr val="tx1"/>
                    </a:solidFill>
                    <a:latin typeface="+mn-ea"/>
                  </a:rPr>
                  <a:t> </a:t>
                </a:r>
                <a:br>
                  <a:rPr lang="en-US" altLang="ja-JP" sz="900" dirty="0">
                    <a:solidFill>
                      <a:schemeClr val="tx1"/>
                    </a:solidFill>
                    <a:latin typeface="+mn-ea"/>
                  </a:rPr>
                </a:br>
                <a:r>
                  <a:rPr lang="en-US" altLang="ja-JP" sz="900" dirty="0">
                    <a:solidFill>
                      <a:schemeClr val="tx1"/>
                    </a:solidFill>
                    <a:latin typeface="+mn-ea"/>
                  </a:rPr>
                  <a:t>(</a:t>
                </a:r>
                <a:r>
                  <a:rPr lang="ja-JP" altLang="en-US" sz="900" dirty="0">
                    <a:solidFill>
                      <a:schemeClr val="tx1"/>
                    </a:solidFill>
                    <a:latin typeface="+mn-ea"/>
                  </a:rPr>
                  <a:t>必須契約条件・</a:t>
                </a:r>
                <a:r>
                  <a:rPr lang="en" altLang="ja-JP" sz="900" dirty="0">
                    <a:solidFill>
                      <a:schemeClr val="tx1"/>
                    </a:solidFill>
                    <a:latin typeface="+mn-ea"/>
                  </a:rPr>
                  <a:t>品質基準</a:t>
                </a:r>
                <a:r>
                  <a:rPr lang="ja-JP" altLang="en" sz="900" dirty="0">
                    <a:solidFill>
                      <a:schemeClr val="tx1"/>
                    </a:solidFill>
                    <a:latin typeface="+mn-ea"/>
                  </a:rPr>
                  <a:t>・</a:t>
                </a:r>
                <a:br>
                  <a:rPr lang="en-US" altLang="ja-JP" sz="900" dirty="0">
                    <a:solidFill>
                      <a:schemeClr val="tx1"/>
                    </a:solidFill>
                    <a:latin typeface="+mn-ea"/>
                  </a:rPr>
                </a:br>
                <a:r>
                  <a:rPr lang="ja-JP" altLang="en-US" sz="900" dirty="0">
                    <a:solidFill>
                      <a:schemeClr val="tx1"/>
                    </a:solidFill>
                    <a:latin typeface="+mn-ea"/>
                  </a:rPr>
                  <a:t>知的財産権帰属の合意</a:t>
                </a:r>
                <a:r>
                  <a:rPr lang="en-US" altLang="ja-JP" sz="900" dirty="0">
                    <a:solidFill>
                      <a:schemeClr val="tx1"/>
                    </a:solidFill>
                    <a:latin typeface="+mn-ea"/>
                  </a:rPr>
                  <a:t>) </a:t>
                </a:r>
              </a:p>
            </p:txBody>
          </p:sp>
          <p:sp>
            <p:nvSpPr>
              <p:cNvPr id="11" name="正方形/長方形 10">
                <a:extLst>
                  <a:ext uri="{FF2B5EF4-FFF2-40B4-BE49-F238E27FC236}">
                    <a16:creationId xmlns:a16="http://schemas.microsoft.com/office/drawing/2014/main" id="{E9108B30-1606-7066-7A05-A16548CF528C}"/>
                  </a:ext>
                </a:extLst>
              </p:cNvPr>
              <p:cNvSpPr/>
              <p:nvPr/>
            </p:nvSpPr>
            <p:spPr>
              <a:xfrm>
                <a:off x="5673269" y="3627170"/>
                <a:ext cx="1404000" cy="936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 altLang="ja-JP" sz="900" b="1" dirty="0">
                    <a:solidFill>
                      <a:srgbClr val="008D2E"/>
                    </a:solidFill>
                    <a:latin typeface="+mn-ea"/>
                  </a:rPr>
                  <a:t>判断ポイント3 (2027</a:t>
                </a:r>
                <a:r>
                  <a:rPr lang="ja-JP" altLang="en-US" sz="900" b="1" dirty="0">
                    <a:solidFill>
                      <a:srgbClr val="008D2E"/>
                    </a:solidFill>
                    <a:latin typeface="+mn-ea"/>
                  </a:rPr>
                  <a:t>年</a:t>
                </a:r>
                <a:r>
                  <a:rPr lang="en-US" altLang="ja-JP" sz="900" b="1" dirty="0">
                    <a:solidFill>
                      <a:srgbClr val="008D2E"/>
                    </a:solidFill>
                    <a:latin typeface="+mn-ea"/>
                  </a:rPr>
                  <a:t>1</a:t>
                </a:r>
                <a:r>
                  <a:rPr lang="ja-JP" altLang="en-US" sz="900" b="1" dirty="0">
                    <a:solidFill>
                      <a:srgbClr val="008D2E"/>
                    </a:solidFill>
                    <a:latin typeface="+mn-ea"/>
                  </a:rPr>
                  <a:t>月末</a:t>
                </a:r>
                <a:r>
                  <a:rPr lang="en-US" altLang="ja-JP" sz="900" b="1" dirty="0">
                    <a:solidFill>
                      <a:srgbClr val="008D2E"/>
                    </a:solidFill>
                    <a:latin typeface="+mn-ea"/>
                  </a:rPr>
                  <a:t>) </a:t>
                </a:r>
                <a:r>
                  <a:rPr lang="en-US" altLang="ja-JP" sz="900" dirty="0">
                    <a:solidFill>
                      <a:schemeClr val="tx1"/>
                    </a:solidFill>
                    <a:latin typeface="+mn-ea"/>
                  </a:rPr>
                  <a:t>:</a:t>
                </a:r>
                <a:br>
                  <a:rPr lang="en-US" altLang="ja-JP" sz="900" dirty="0">
                    <a:solidFill>
                      <a:schemeClr val="tx1"/>
                    </a:solidFill>
                    <a:latin typeface="+mn-ea"/>
                  </a:rPr>
                </a:br>
                <a:r>
                  <a:rPr lang="ja-JP" altLang="en-US" sz="900" dirty="0">
                    <a:solidFill>
                      <a:schemeClr val="tx1"/>
                    </a:solidFill>
                    <a:latin typeface="+mn-ea"/>
                  </a:rPr>
                  <a:t>切替判定</a:t>
                </a:r>
                <a:r>
                  <a:rPr lang="en-US" altLang="ja-JP" sz="900" dirty="0">
                    <a:solidFill>
                      <a:schemeClr val="tx1"/>
                    </a:solidFill>
                    <a:latin typeface="+mn-ea"/>
                  </a:rPr>
                  <a:t> (</a:t>
                </a:r>
                <a:r>
                  <a:rPr lang="ja-JP" altLang="en-US" sz="900" dirty="0">
                    <a:solidFill>
                      <a:schemeClr val="tx1"/>
                    </a:solidFill>
                    <a:latin typeface="+mn-ea"/>
                  </a:rPr>
                  <a:t>当社および</a:t>
                </a:r>
                <a:r>
                  <a:rPr lang="en" altLang="ja-JP" sz="900" dirty="0">
                    <a:solidFill>
                      <a:schemeClr val="tx1"/>
                    </a:solidFill>
                    <a:latin typeface="+mn-ea"/>
                  </a:rPr>
                  <a:t>LEB</a:t>
                </a:r>
                <a:r>
                  <a:rPr lang="ja-JP" altLang="en-US" sz="900" dirty="0">
                    <a:solidFill>
                      <a:schemeClr val="tx1"/>
                    </a:solidFill>
                    <a:latin typeface="+mn-ea"/>
                  </a:rPr>
                  <a:t>が単独運転試験</a:t>
                </a:r>
                <a:r>
                  <a:rPr lang="en-US" altLang="ja-JP" sz="900" dirty="0">
                    <a:solidFill>
                      <a:schemeClr val="tx1"/>
                    </a:solidFill>
                    <a:latin typeface="+mn-ea"/>
                  </a:rPr>
                  <a:t>2</a:t>
                </a:r>
                <a:r>
                  <a:rPr lang="ja-JP" altLang="en-US" sz="900" dirty="0">
                    <a:solidFill>
                      <a:schemeClr val="tx1"/>
                    </a:solidFill>
                    <a:latin typeface="+mn-ea"/>
                  </a:rPr>
                  <a:t>週間の合格をもって切替認可</a:t>
                </a:r>
                <a:r>
                  <a:rPr lang="en-US" altLang="ja-JP" sz="900" dirty="0">
                    <a:solidFill>
                      <a:schemeClr val="tx1"/>
                    </a:solidFill>
                    <a:latin typeface="+mn-ea"/>
                  </a:rPr>
                  <a:t>) </a:t>
                </a:r>
              </a:p>
            </p:txBody>
          </p:sp>
          <p:sp>
            <p:nvSpPr>
              <p:cNvPr id="18" name="正方形/長方形 17">
                <a:extLst>
                  <a:ext uri="{FF2B5EF4-FFF2-40B4-BE49-F238E27FC236}">
                    <a16:creationId xmlns:a16="http://schemas.microsoft.com/office/drawing/2014/main" id="{DE30571F-01E4-F7A8-D796-43F2803CF575}"/>
                  </a:ext>
                </a:extLst>
              </p:cNvPr>
              <p:cNvSpPr/>
              <p:nvPr/>
            </p:nvSpPr>
            <p:spPr>
              <a:xfrm>
                <a:off x="5673269" y="4644263"/>
                <a:ext cx="1404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 altLang="ja-JP" sz="900" b="1" dirty="0">
                    <a:solidFill>
                      <a:srgbClr val="008D2E"/>
                    </a:solidFill>
                    <a:latin typeface="+mn-ea"/>
                  </a:rPr>
                  <a:t>判断ポイント4 (2027</a:t>
                </a:r>
                <a:r>
                  <a:rPr lang="ja-JP" altLang="en-US" sz="900" b="1" dirty="0">
                    <a:solidFill>
                      <a:srgbClr val="008D2E"/>
                    </a:solidFill>
                    <a:latin typeface="+mn-ea"/>
                  </a:rPr>
                  <a:t>年</a:t>
                </a:r>
                <a:r>
                  <a:rPr lang="en-US" altLang="ja-JP" sz="900" b="1" dirty="0">
                    <a:solidFill>
                      <a:srgbClr val="008D2E"/>
                    </a:solidFill>
                    <a:latin typeface="+mn-ea"/>
                  </a:rPr>
                  <a:t>4</a:t>
                </a:r>
                <a:r>
                  <a:rPr lang="en" altLang="ja-JP" sz="900" b="1" dirty="0">
                    <a:solidFill>
                      <a:srgbClr val="008D2E"/>
                    </a:solidFill>
                    <a:latin typeface="+mn-ea"/>
                  </a:rPr>
                  <a:t>Q)</a:t>
                </a:r>
                <a:r>
                  <a:rPr lang="en" altLang="ja-JP" sz="900" b="1" dirty="0">
                    <a:solidFill>
                      <a:schemeClr val="tx1"/>
                    </a:solidFill>
                    <a:latin typeface="+mn-ea"/>
                  </a:rPr>
                  <a:t> </a:t>
                </a:r>
                <a:r>
                  <a:rPr lang="en" altLang="ja-JP" sz="900" dirty="0">
                    <a:solidFill>
                      <a:schemeClr val="tx1"/>
                    </a:solidFill>
                    <a:latin typeface="+mn-ea"/>
                  </a:rPr>
                  <a:t>: </a:t>
                </a:r>
              </a:p>
              <a:p>
                <a:pPr>
                  <a:spcAft>
                    <a:spcPts val="100"/>
                  </a:spcAft>
                  <a:buClr>
                    <a:srgbClr val="008D2E"/>
                  </a:buClr>
                </a:pPr>
                <a:r>
                  <a:rPr lang="ja-JP" altLang="en-US" sz="900" dirty="0">
                    <a:solidFill>
                      <a:schemeClr val="tx1"/>
                    </a:solidFill>
                    <a:latin typeface="+mn-ea"/>
                  </a:rPr>
                  <a:t>横展開判定</a:t>
                </a:r>
                <a:r>
                  <a:rPr lang="en-US" altLang="ja-JP" sz="900" dirty="0">
                    <a:solidFill>
                      <a:schemeClr val="tx1"/>
                    </a:solidFill>
                    <a:latin typeface="+mn-ea"/>
                  </a:rPr>
                  <a:t>(</a:t>
                </a:r>
                <a:r>
                  <a:rPr lang="en" altLang="ja-JP" sz="900" dirty="0">
                    <a:solidFill>
                      <a:schemeClr val="tx1"/>
                    </a:solidFill>
                    <a:latin typeface="+mn-ea"/>
                  </a:rPr>
                  <a:t>第1段階</a:t>
                </a:r>
                <a:r>
                  <a:rPr lang="ja-JP" altLang="en-US" sz="900" dirty="0">
                    <a:solidFill>
                      <a:schemeClr val="tx1"/>
                    </a:solidFill>
                    <a:latin typeface="+mn-ea"/>
                  </a:rPr>
                  <a:t>の</a:t>
                </a:r>
                <a:br>
                  <a:rPr lang="en-US" altLang="ja-JP" sz="900" dirty="0">
                    <a:solidFill>
                      <a:schemeClr val="tx1"/>
                    </a:solidFill>
                    <a:latin typeface="+mn-ea"/>
                  </a:rPr>
                </a:br>
                <a:r>
                  <a:rPr lang="ja-JP" altLang="en-US" sz="900" dirty="0">
                    <a:solidFill>
                      <a:schemeClr val="tx1"/>
                    </a:solidFill>
                    <a:latin typeface="+mn-ea"/>
                  </a:rPr>
                  <a:t>実測費用対効果・品質の</a:t>
                </a:r>
                <a:br>
                  <a:rPr lang="en-US" altLang="ja-JP" sz="900" dirty="0">
                    <a:solidFill>
                      <a:schemeClr val="tx1"/>
                    </a:solidFill>
                    <a:latin typeface="+mn-ea"/>
                  </a:rPr>
                </a:br>
                <a:r>
                  <a:rPr lang="ja-JP" altLang="en-US" sz="900" dirty="0">
                    <a:solidFill>
                      <a:schemeClr val="tx1"/>
                    </a:solidFill>
                    <a:latin typeface="+mn-ea"/>
                  </a:rPr>
                  <a:t>検証</a:t>
                </a:r>
                <a:r>
                  <a:rPr lang="en-US" altLang="ja-JP" sz="900" dirty="0">
                    <a:solidFill>
                      <a:schemeClr val="tx1"/>
                    </a:solidFill>
                    <a:latin typeface="+mn-ea"/>
                  </a:rPr>
                  <a:t>) </a:t>
                </a:r>
              </a:p>
            </p:txBody>
          </p:sp>
          <p:sp>
            <p:nvSpPr>
              <p:cNvPr id="19" name="正方形/長方形 18">
                <a:extLst>
                  <a:ext uri="{FF2B5EF4-FFF2-40B4-BE49-F238E27FC236}">
                    <a16:creationId xmlns:a16="http://schemas.microsoft.com/office/drawing/2014/main" id="{C9D0EBB3-77C2-B653-4631-15172F585853}"/>
                  </a:ext>
                </a:extLst>
              </p:cNvPr>
              <p:cNvSpPr/>
              <p:nvPr/>
            </p:nvSpPr>
            <p:spPr>
              <a:xfrm>
                <a:off x="5673269" y="5517356"/>
                <a:ext cx="1404000" cy="792000"/>
              </a:xfrm>
              <a:prstGeom prst="rect">
                <a:avLst/>
              </a:prstGeom>
              <a:no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a:spcAft>
                    <a:spcPts val="100"/>
                  </a:spcAft>
                  <a:buClr>
                    <a:srgbClr val="008D2E"/>
                  </a:buClr>
                </a:pPr>
                <a:r>
                  <a:rPr lang="en" altLang="ja-JP" sz="900" b="1" dirty="0">
                    <a:solidFill>
                      <a:srgbClr val="008D2E"/>
                    </a:solidFill>
                    <a:latin typeface="+mn-ea"/>
                  </a:rPr>
                  <a:t>判断ポイント5 (2028</a:t>
                </a:r>
                <a:r>
                  <a:rPr lang="ja-JP" altLang="en-US" sz="900" b="1" dirty="0">
                    <a:solidFill>
                      <a:srgbClr val="008D2E"/>
                    </a:solidFill>
                    <a:latin typeface="+mn-ea"/>
                  </a:rPr>
                  <a:t>年</a:t>
                </a:r>
                <a:r>
                  <a:rPr lang="en-US" altLang="ja-JP" sz="900" b="1" dirty="0">
                    <a:solidFill>
                      <a:srgbClr val="008D2E"/>
                    </a:solidFill>
                    <a:latin typeface="+mn-ea"/>
                  </a:rPr>
                  <a:t>1</a:t>
                </a:r>
                <a:r>
                  <a:rPr lang="ja-JP" altLang="en-US" sz="900" b="1" dirty="0">
                    <a:solidFill>
                      <a:srgbClr val="008D2E"/>
                    </a:solidFill>
                    <a:latin typeface="+mn-ea"/>
                  </a:rPr>
                  <a:t>月末</a:t>
                </a:r>
                <a:r>
                  <a:rPr lang="en-US" altLang="ja-JP" sz="900" b="1" dirty="0">
                    <a:solidFill>
                      <a:srgbClr val="008D2E"/>
                    </a:solidFill>
                    <a:latin typeface="+mn-ea"/>
                  </a:rPr>
                  <a:t>)</a:t>
                </a:r>
                <a:r>
                  <a:rPr lang="en-US" altLang="ja-JP" sz="900" b="1" dirty="0">
                    <a:solidFill>
                      <a:schemeClr val="tx1"/>
                    </a:solidFill>
                    <a:latin typeface="+mn-ea"/>
                  </a:rPr>
                  <a:t> </a:t>
                </a:r>
                <a:r>
                  <a:rPr lang="en-US" altLang="ja-JP" sz="900" dirty="0">
                    <a:solidFill>
                      <a:schemeClr val="tx1"/>
                    </a:solidFill>
                    <a:latin typeface="+mn-ea"/>
                  </a:rPr>
                  <a:t>:</a:t>
                </a:r>
              </a:p>
              <a:p>
                <a:pPr>
                  <a:spcAft>
                    <a:spcPts val="100"/>
                  </a:spcAft>
                  <a:buClr>
                    <a:srgbClr val="008D2E"/>
                  </a:buClr>
                </a:pPr>
                <a:r>
                  <a:rPr lang="en" altLang="ja-JP" sz="900" dirty="0">
                    <a:solidFill>
                      <a:schemeClr val="tx1"/>
                    </a:solidFill>
                    <a:latin typeface="+mn-ea"/>
                  </a:rPr>
                  <a:t>第2段階</a:t>
                </a:r>
                <a:r>
                  <a:rPr lang="ja-JP" altLang="en-US" sz="900" dirty="0">
                    <a:solidFill>
                      <a:schemeClr val="tx1"/>
                    </a:solidFill>
                    <a:latin typeface="+mn-ea"/>
                  </a:rPr>
                  <a:t>切替判定</a:t>
                </a:r>
                <a:r>
                  <a:rPr lang="en-US" altLang="ja-JP" sz="900" dirty="0">
                    <a:solidFill>
                      <a:schemeClr val="tx1"/>
                    </a:solidFill>
                    <a:latin typeface="+mn-ea"/>
                  </a:rPr>
                  <a:t> (</a:t>
                </a:r>
                <a:r>
                  <a:rPr lang="ja-JP" altLang="en-US" sz="900" dirty="0">
                    <a:solidFill>
                      <a:schemeClr val="tx1"/>
                    </a:solidFill>
                    <a:latin typeface="+mn-ea"/>
                  </a:rPr>
                  <a:t>全領域の引き継ぎ・単独運転完了</a:t>
                </a:r>
                <a:r>
                  <a:rPr lang="en-US" altLang="ja-JP" sz="900" dirty="0">
                    <a:solidFill>
                      <a:schemeClr val="tx1"/>
                    </a:solidFill>
                    <a:latin typeface="+mn-ea"/>
                  </a:rPr>
                  <a:t>)</a:t>
                </a:r>
              </a:p>
            </p:txBody>
          </p:sp>
          <p:cxnSp>
            <p:nvCxnSpPr>
              <p:cNvPr id="33" name="直線コネクタ 32">
                <a:extLst>
                  <a:ext uri="{FF2B5EF4-FFF2-40B4-BE49-F238E27FC236}">
                    <a16:creationId xmlns:a16="http://schemas.microsoft.com/office/drawing/2014/main" id="{E09E187B-0725-A307-5EDA-D81C3B559676}"/>
                  </a:ext>
                </a:extLst>
              </p:cNvPr>
              <p:cNvCxnSpPr>
                <a:cxnSpLocks/>
              </p:cNvCxnSpPr>
              <p:nvPr/>
            </p:nvCxnSpPr>
            <p:spPr>
              <a:xfrm>
                <a:off x="5673267" y="2785531"/>
                <a:ext cx="1404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9BFDD915-5FD9-8664-BFC8-6E6E740024A3}"/>
                  </a:ext>
                </a:extLst>
              </p:cNvPr>
              <p:cNvCxnSpPr>
                <a:cxnSpLocks/>
              </p:cNvCxnSpPr>
              <p:nvPr/>
            </p:nvCxnSpPr>
            <p:spPr>
              <a:xfrm>
                <a:off x="5673267" y="3586624"/>
                <a:ext cx="1404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65CF0474-8C93-9331-B9C6-A1F44D5A3416}"/>
                  </a:ext>
                </a:extLst>
              </p:cNvPr>
              <p:cNvCxnSpPr>
                <a:cxnSpLocks/>
              </p:cNvCxnSpPr>
              <p:nvPr/>
            </p:nvCxnSpPr>
            <p:spPr>
              <a:xfrm>
                <a:off x="5673267" y="4603716"/>
                <a:ext cx="1404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D568A777-97E7-43D9-7CC9-DFFF26D5204C}"/>
                  </a:ext>
                </a:extLst>
              </p:cNvPr>
              <p:cNvCxnSpPr>
                <a:cxnSpLocks/>
              </p:cNvCxnSpPr>
              <p:nvPr/>
            </p:nvCxnSpPr>
            <p:spPr>
              <a:xfrm>
                <a:off x="5673267" y="5476809"/>
                <a:ext cx="1404000"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28" name="グループ化 127">
              <a:extLst>
                <a:ext uri="{FF2B5EF4-FFF2-40B4-BE49-F238E27FC236}">
                  <a16:creationId xmlns:a16="http://schemas.microsoft.com/office/drawing/2014/main" id="{7BD4A2E3-FBB9-B2A7-EC2F-FB9E383A2CFB}"/>
                </a:ext>
              </a:extLst>
            </p:cNvPr>
            <p:cNvGrpSpPr/>
            <p:nvPr/>
          </p:nvGrpSpPr>
          <p:grpSpPr>
            <a:xfrm>
              <a:off x="7212471" y="1628775"/>
              <a:ext cx="4644386" cy="4680580"/>
              <a:chOff x="7212471" y="1628775"/>
              <a:chExt cx="4644386" cy="4680580"/>
            </a:xfrm>
          </p:grpSpPr>
          <p:sp>
            <p:nvSpPr>
              <p:cNvPr id="38" name="テキスト ボックス 37">
                <a:extLst>
                  <a:ext uri="{FF2B5EF4-FFF2-40B4-BE49-F238E27FC236}">
                    <a16:creationId xmlns:a16="http://schemas.microsoft.com/office/drawing/2014/main" id="{7ED3A34E-5F95-DC97-BA8B-FAEC534E211E}"/>
                  </a:ext>
                </a:extLst>
              </p:cNvPr>
              <p:cNvSpPr txBox="1"/>
              <p:nvPr/>
            </p:nvSpPr>
            <p:spPr>
              <a:xfrm>
                <a:off x="7212471" y="1790894"/>
                <a:ext cx="216000" cy="144000"/>
              </a:xfrm>
              <a:prstGeom prst="rect">
                <a:avLst/>
              </a:prstGeom>
              <a:solidFill>
                <a:schemeClr val="bg1">
                  <a:lumMod val="95000"/>
                </a:schemeClr>
              </a:solidFill>
            </p:spPr>
            <p:txBody>
              <a:bodyPr wrap="square" lIns="0" tIns="36000" rIns="0" bIns="36000" rtlCol="0" anchor="ctr">
                <a:noAutofit/>
              </a:bodyPr>
              <a:lstStyle/>
              <a:p>
                <a:pPr algn="ctr"/>
                <a:r>
                  <a:rPr kumimoji="1" lang="en-US" altLang="ja-JP" sz="600" dirty="0">
                    <a:latin typeface="+mn-ea"/>
                  </a:rPr>
                  <a:t>8</a:t>
                </a:r>
                <a:r>
                  <a:rPr kumimoji="1" lang="ja-JP" altLang="en-US" sz="600" dirty="0">
                    <a:latin typeface="+mn-ea"/>
                  </a:rPr>
                  <a:t>月</a:t>
                </a:r>
                <a:endParaRPr kumimoji="1" lang="en" altLang="ja-JP" sz="600" dirty="0">
                  <a:latin typeface="+mn-ea"/>
                </a:endParaRPr>
              </a:p>
            </p:txBody>
          </p:sp>
          <p:sp>
            <p:nvSpPr>
              <p:cNvPr id="39" name="テキスト ボックス 38">
                <a:extLst>
                  <a:ext uri="{FF2B5EF4-FFF2-40B4-BE49-F238E27FC236}">
                    <a16:creationId xmlns:a16="http://schemas.microsoft.com/office/drawing/2014/main" id="{17A264E6-82A2-65A1-E9D6-8D8439808B6F}"/>
                  </a:ext>
                </a:extLst>
              </p:cNvPr>
              <p:cNvSpPr txBox="1"/>
              <p:nvPr/>
            </p:nvSpPr>
            <p:spPr>
              <a:xfrm>
                <a:off x="7472964" y="1790894"/>
                <a:ext cx="216000" cy="144000"/>
              </a:xfrm>
              <a:prstGeom prst="rect">
                <a:avLst/>
              </a:prstGeom>
              <a:solidFill>
                <a:schemeClr val="bg1">
                  <a:lumMod val="95000"/>
                </a:schemeClr>
              </a:solidFill>
            </p:spPr>
            <p:txBody>
              <a:bodyPr wrap="square" lIns="0" tIns="36000" rIns="0" bIns="36000" rtlCol="0" anchor="ctr">
                <a:noAutofit/>
              </a:bodyPr>
              <a:lstStyle/>
              <a:p>
                <a:pPr algn="ctr"/>
                <a:r>
                  <a:rPr kumimoji="1" lang="en-US" altLang="ja-JP" sz="600" dirty="0">
                    <a:latin typeface="+mn-ea"/>
                  </a:rPr>
                  <a:t>9</a:t>
                </a:r>
                <a:r>
                  <a:rPr kumimoji="1" lang="ja-JP" altLang="en-US" sz="600" dirty="0">
                    <a:latin typeface="+mn-ea"/>
                  </a:rPr>
                  <a:t>月</a:t>
                </a:r>
                <a:endParaRPr kumimoji="1" lang="en" altLang="ja-JP" sz="600" dirty="0">
                  <a:latin typeface="+mn-ea"/>
                </a:endParaRPr>
              </a:p>
            </p:txBody>
          </p:sp>
          <p:sp>
            <p:nvSpPr>
              <p:cNvPr id="40" name="テキスト ボックス 39">
                <a:extLst>
                  <a:ext uri="{FF2B5EF4-FFF2-40B4-BE49-F238E27FC236}">
                    <a16:creationId xmlns:a16="http://schemas.microsoft.com/office/drawing/2014/main" id="{8A5FCAD8-DF7D-1FD7-1781-3C7D1BD4485F}"/>
                  </a:ext>
                </a:extLst>
              </p:cNvPr>
              <p:cNvSpPr txBox="1"/>
              <p:nvPr/>
            </p:nvSpPr>
            <p:spPr>
              <a:xfrm>
                <a:off x="773345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10</a:t>
                </a:r>
                <a:r>
                  <a:rPr kumimoji="1" lang="ja-JP" altLang="en-US" sz="600">
                    <a:latin typeface="+mn-ea"/>
                  </a:rPr>
                  <a:t>月</a:t>
                </a:r>
                <a:endParaRPr kumimoji="1" lang="en" altLang="ja-JP" sz="600" dirty="0">
                  <a:latin typeface="+mn-ea"/>
                </a:endParaRPr>
              </a:p>
            </p:txBody>
          </p:sp>
          <p:sp>
            <p:nvSpPr>
              <p:cNvPr id="41" name="テキスト ボックス 40">
                <a:extLst>
                  <a:ext uri="{FF2B5EF4-FFF2-40B4-BE49-F238E27FC236}">
                    <a16:creationId xmlns:a16="http://schemas.microsoft.com/office/drawing/2014/main" id="{0D3CCB89-8787-BD69-7E31-2863F63CE951}"/>
                  </a:ext>
                </a:extLst>
              </p:cNvPr>
              <p:cNvSpPr txBox="1"/>
              <p:nvPr/>
            </p:nvSpPr>
            <p:spPr>
              <a:xfrm>
                <a:off x="7993950"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11</a:t>
                </a:r>
                <a:r>
                  <a:rPr kumimoji="1" lang="ja-JP" altLang="en-US" sz="600">
                    <a:latin typeface="+mn-ea"/>
                  </a:rPr>
                  <a:t>月</a:t>
                </a:r>
                <a:endParaRPr kumimoji="1" lang="en" altLang="ja-JP" sz="600" dirty="0">
                  <a:latin typeface="+mn-ea"/>
                </a:endParaRPr>
              </a:p>
            </p:txBody>
          </p:sp>
          <p:sp>
            <p:nvSpPr>
              <p:cNvPr id="45" name="テキスト ボックス 44">
                <a:extLst>
                  <a:ext uri="{FF2B5EF4-FFF2-40B4-BE49-F238E27FC236}">
                    <a16:creationId xmlns:a16="http://schemas.microsoft.com/office/drawing/2014/main" id="{A6D0F851-39E7-DB90-45F4-FDA2FE2A0F2F}"/>
                  </a:ext>
                </a:extLst>
              </p:cNvPr>
              <p:cNvSpPr txBox="1"/>
              <p:nvPr/>
            </p:nvSpPr>
            <p:spPr>
              <a:xfrm>
                <a:off x="8254444"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12</a:t>
                </a:r>
                <a:r>
                  <a:rPr kumimoji="1" lang="ja-JP" altLang="en-US" sz="600">
                    <a:latin typeface="+mn-ea"/>
                  </a:rPr>
                  <a:t>月</a:t>
                </a:r>
                <a:endParaRPr kumimoji="1" lang="en" altLang="ja-JP" sz="600" dirty="0">
                  <a:latin typeface="+mn-ea"/>
                </a:endParaRPr>
              </a:p>
            </p:txBody>
          </p:sp>
          <p:sp>
            <p:nvSpPr>
              <p:cNvPr id="46" name="テキスト ボックス 45">
                <a:extLst>
                  <a:ext uri="{FF2B5EF4-FFF2-40B4-BE49-F238E27FC236}">
                    <a16:creationId xmlns:a16="http://schemas.microsoft.com/office/drawing/2014/main" id="{9DDF81A9-D733-3C42-DA43-10E31F163196}"/>
                  </a:ext>
                </a:extLst>
              </p:cNvPr>
              <p:cNvSpPr txBox="1"/>
              <p:nvPr/>
            </p:nvSpPr>
            <p:spPr>
              <a:xfrm>
                <a:off x="851493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a:t>
                </a:r>
                <a:r>
                  <a:rPr kumimoji="1" lang="ja-JP" altLang="en-US" sz="600">
                    <a:latin typeface="+mn-ea"/>
                  </a:rPr>
                  <a:t>月</a:t>
                </a:r>
                <a:endParaRPr kumimoji="1" lang="en" altLang="ja-JP" sz="600" dirty="0">
                  <a:latin typeface="+mn-ea"/>
                </a:endParaRPr>
              </a:p>
            </p:txBody>
          </p:sp>
          <p:sp>
            <p:nvSpPr>
              <p:cNvPr id="50" name="テキスト ボックス 49">
                <a:extLst>
                  <a:ext uri="{FF2B5EF4-FFF2-40B4-BE49-F238E27FC236}">
                    <a16:creationId xmlns:a16="http://schemas.microsoft.com/office/drawing/2014/main" id="{BCCA9F49-F01D-BA0C-544A-E2E5CED607E3}"/>
                  </a:ext>
                </a:extLst>
              </p:cNvPr>
              <p:cNvSpPr txBox="1"/>
              <p:nvPr/>
            </p:nvSpPr>
            <p:spPr>
              <a:xfrm>
                <a:off x="8775430"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2</a:t>
                </a:r>
                <a:r>
                  <a:rPr kumimoji="1" lang="ja-JP" altLang="en-US" sz="600">
                    <a:latin typeface="+mn-ea"/>
                  </a:rPr>
                  <a:t>月</a:t>
                </a:r>
                <a:endParaRPr kumimoji="1" lang="en" altLang="ja-JP" sz="600" dirty="0">
                  <a:latin typeface="+mn-ea"/>
                </a:endParaRPr>
              </a:p>
            </p:txBody>
          </p:sp>
          <p:sp>
            <p:nvSpPr>
              <p:cNvPr id="51" name="テキスト ボックス 50">
                <a:extLst>
                  <a:ext uri="{FF2B5EF4-FFF2-40B4-BE49-F238E27FC236}">
                    <a16:creationId xmlns:a16="http://schemas.microsoft.com/office/drawing/2014/main" id="{13CBDEC7-F88E-8CDE-0ACF-5508C4DBFB2C}"/>
                  </a:ext>
                </a:extLst>
              </p:cNvPr>
              <p:cNvSpPr txBox="1"/>
              <p:nvPr/>
            </p:nvSpPr>
            <p:spPr>
              <a:xfrm>
                <a:off x="9035924"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3</a:t>
                </a:r>
                <a:r>
                  <a:rPr kumimoji="1" lang="ja-JP" altLang="en-US" sz="600">
                    <a:latin typeface="+mn-ea"/>
                  </a:rPr>
                  <a:t>月</a:t>
                </a:r>
                <a:endParaRPr kumimoji="1" lang="en" altLang="ja-JP" sz="600" dirty="0">
                  <a:latin typeface="+mn-ea"/>
                </a:endParaRPr>
              </a:p>
            </p:txBody>
          </p:sp>
          <p:sp>
            <p:nvSpPr>
              <p:cNvPr id="52" name="テキスト ボックス 51">
                <a:extLst>
                  <a:ext uri="{FF2B5EF4-FFF2-40B4-BE49-F238E27FC236}">
                    <a16:creationId xmlns:a16="http://schemas.microsoft.com/office/drawing/2014/main" id="{FF5BFC8C-8762-FF35-A053-C9C3466C4588}"/>
                  </a:ext>
                </a:extLst>
              </p:cNvPr>
              <p:cNvSpPr txBox="1"/>
              <p:nvPr/>
            </p:nvSpPr>
            <p:spPr>
              <a:xfrm>
                <a:off x="929641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4</a:t>
                </a:r>
                <a:r>
                  <a:rPr kumimoji="1" lang="ja-JP" altLang="en-US" sz="600">
                    <a:latin typeface="+mn-ea"/>
                  </a:rPr>
                  <a:t>月</a:t>
                </a:r>
                <a:endParaRPr kumimoji="1" lang="en" altLang="ja-JP" sz="600" dirty="0">
                  <a:latin typeface="+mn-ea"/>
                </a:endParaRPr>
              </a:p>
            </p:txBody>
          </p:sp>
          <p:sp>
            <p:nvSpPr>
              <p:cNvPr id="53" name="テキスト ボックス 52">
                <a:extLst>
                  <a:ext uri="{FF2B5EF4-FFF2-40B4-BE49-F238E27FC236}">
                    <a16:creationId xmlns:a16="http://schemas.microsoft.com/office/drawing/2014/main" id="{4348737D-A5F0-D008-21A5-7300DD42F64C}"/>
                  </a:ext>
                </a:extLst>
              </p:cNvPr>
              <p:cNvSpPr txBox="1"/>
              <p:nvPr/>
            </p:nvSpPr>
            <p:spPr>
              <a:xfrm>
                <a:off x="9556910"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5</a:t>
                </a:r>
                <a:r>
                  <a:rPr kumimoji="1" lang="ja-JP" altLang="en-US" sz="600">
                    <a:latin typeface="+mn-ea"/>
                  </a:rPr>
                  <a:t>月</a:t>
                </a:r>
                <a:endParaRPr kumimoji="1" lang="en" altLang="ja-JP" sz="600" dirty="0">
                  <a:latin typeface="+mn-ea"/>
                </a:endParaRPr>
              </a:p>
            </p:txBody>
          </p:sp>
          <p:sp>
            <p:nvSpPr>
              <p:cNvPr id="54" name="テキスト ボックス 53">
                <a:extLst>
                  <a:ext uri="{FF2B5EF4-FFF2-40B4-BE49-F238E27FC236}">
                    <a16:creationId xmlns:a16="http://schemas.microsoft.com/office/drawing/2014/main" id="{B343F8C9-686C-405E-A8CF-A8AE40A10D9B}"/>
                  </a:ext>
                </a:extLst>
              </p:cNvPr>
              <p:cNvSpPr txBox="1"/>
              <p:nvPr/>
            </p:nvSpPr>
            <p:spPr>
              <a:xfrm>
                <a:off x="9817403"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6</a:t>
                </a:r>
                <a:r>
                  <a:rPr kumimoji="1" lang="ja-JP" altLang="en-US" sz="600">
                    <a:latin typeface="+mn-ea"/>
                  </a:rPr>
                  <a:t>月</a:t>
                </a:r>
                <a:endParaRPr kumimoji="1" lang="en" altLang="ja-JP" sz="600" dirty="0">
                  <a:latin typeface="+mn-ea"/>
                </a:endParaRPr>
              </a:p>
            </p:txBody>
          </p:sp>
          <p:sp>
            <p:nvSpPr>
              <p:cNvPr id="55" name="テキスト ボックス 54">
                <a:extLst>
                  <a:ext uri="{FF2B5EF4-FFF2-40B4-BE49-F238E27FC236}">
                    <a16:creationId xmlns:a16="http://schemas.microsoft.com/office/drawing/2014/main" id="{4A21C00E-3154-2B92-56F9-15AAED8267E6}"/>
                  </a:ext>
                </a:extLst>
              </p:cNvPr>
              <p:cNvSpPr txBox="1"/>
              <p:nvPr/>
            </p:nvSpPr>
            <p:spPr>
              <a:xfrm>
                <a:off x="1007789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7</a:t>
                </a:r>
                <a:r>
                  <a:rPr kumimoji="1" lang="ja-JP" altLang="en-US" sz="600">
                    <a:latin typeface="+mn-ea"/>
                  </a:rPr>
                  <a:t>月</a:t>
                </a:r>
                <a:endParaRPr kumimoji="1" lang="en" altLang="ja-JP" sz="600" dirty="0">
                  <a:latin typeface="+mn-ea"/>
                </a:endParaRPr>
              </a:p>
            </p:txBody>
          </p:sp>
          <p:sp>
            <p:nvSpPr>
              <p:cNvPr id="56" name="テキスト ボックス 55">
                <a:extLst>
                  <a:ext uri="{FF2B5EF4-FFF2-40B4-BE49-F238E27FC236}">
                    <a16:creationId xmlns:a16="http://schemas.microsoft.com/office/drawing/2014/main" id="{8BBCEDA8-A499-E552-B138-8105E8C17557}"/>
                  </a:ext>
                </a:extLst>
              </p:cNvPr>
              <p:cNvSpPr txBox="1"/>
              <p:nvPr/>
            </p:nvSpPr>
            <p:spPr>
              <a:xfrm>
                <a:off x="10338390"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8</a:t>
                </a:r>
                <a:r>
                  <a:rPr kumimoji="1" lang="ja-JP" altLang="en-US" sz="600">
                    <a:latin typeface="+mn-ea"/>
                  </a:rPr>
                  <a:t>月</a:t>
                </a:r>
                <a:endParaRPr kumimoji="1" lang="en" altLang="ja-JP" sz="600" dirty="0">
                  <a:latin typeface="+mn-ea"/>
                </a:endParaRPr>
              </a:p>
            </p:txBody>
          </p:sp>
          <p:sp>
            <p:nvSpPr>
              <p:cNvPr id="57" name="テキスト ボックス 56">
                <a:extLst>
                  <a:ext uri="{FF2B5EF4-FFF2-40B4-BE49-F238E27FC236}">
                    <a16:creationId xmlns:a16="http://schemas.microsoft.com/office/drawing/2014/main" id="{57BF15DE-4ABD-FB4F-8921-E63006F89D19}"/>
                  </a:ext>
                </a:extLst>
              </p:cNvPr>
              <p:cNvSpPr txBox="1"/>
              <p:nvPr/>
            </p:nvSpPr>
            <p:spPr>
              <a:xfrm>
                <a:off x="10598883"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9</a:t>
                </a:r>
                <a:r>
                  <a:rPr kumimoji="1" lang="ja-JP" altLang="en-US" sz="600">
                    <a:latin typeface="+mn-ea"/>
                  </a:rPr>
                  <a:t>月</a:t>
                </a:r>
                <a:endParaRPr kumimoji="1" lang="en" altLang="ja-JP" sz="600" dirty="0">
                  <a:latin typeface="+mn-ea"/>
                </a:endParaRPr>
              </a:p>
            </p:txBody>
          </p:sp>
          <p:sp>
            <p:nvSpPr>
              <p:cNvPr id="63" name="テキスト ボックス 62">
                <a:extLst>
                  <a:ext uri="{FF2B5EF4-FFF2-40B4-BE49-F238E27FC236}">
                    <a16:creationId xmlns:a16="http://schemas.microsoft.com/office/drawing/2014/main" id="{669F156B-CBE7-0C80-80CF-C19880847AAF}"/>
                  </a:ext>
                </a:extLst>
              </p:cNvPr>
              <p:cNvSpPr txBox="1"/>
              <p:nvPr/>
            </p:nvSpPr>
            <p:spPr>
              <a:xfrm>
                <a:off x="1085937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10</a:t>
                </a:r>
                <a:r>
                  <a:rPr kumimoji="1" lang="ja-JP" altLang="en-US" sz="600">
                    <a:latin typeface="+mn-ea"/>
                  </a:rPr>
                  <a:t>月</a:t>
                </a:r>
                <a:endParaRPr kumimoji="1" lang="en" altLang="ja-JP" sz="600" dirty="0">
                  <a:latin typeface="+mn-ea"/>
                </a:endParaRPr>
              </a:p>
            </p:txBody>
          </p:sp>
          <p:sp>
            <p:nvSpPr>
              <p:cNvPr id="64" name="テキスト ボックス 63">
                <a:extLst>
                  <a:ext uri="{FF2B5EF4-FFF2-40B4-BE49-F238E27FC236}">
                    <a16:creationId xmlns:a16="http://schemas.microsoft.com/office/drawing/2014/main" id="{F75AE65A-3F5B-B157-A580-990DBAE5B804}"/>
                  </a:ext>
                </a:extLst>
              </p:cNvPr>
              <p:cNvSpPr txBox="1"/>
              <p:nvPr/>
            </p:nvSpPr>
            <p:spPr>
              <a:xfrm>
                <a:off x="11119870"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11</a:t>
                </a:r>
                <a:r>
                  <a:rPr kumimoji="1" lang="ja-JP" altLang="en-US" sz="600">
                    <a:latin typeface="+mn-ea"/>
                  </a:rPr>
                  <a:t>月</a:t>
                </a:r>
                <a:endParaRPr kumimoji="1" lang="en" altLang="ja-JP" sz="600" dirty="0">
                  <a:latin typeface="+mn-ea"/>
                </a:endParaRPr>
              </a:p>
            </p:txBody>
          </p:sp>
          <p:sp>
            <p:nvSpPr>
              <p:cNvPr id="65" name="テキスト ボックス 64">
                <a:extLst>
                  <a:ext uri="{FF2B5EF4-FFF2-40B4-BE49-F238E27FC236}">
                    <a16:creationId xmlns:a16="http://schemas.microsoft.com/office/drawing/2014/main" id="{F7595868-28B1-678D-3E57-FA348BE048F7}"/>
                  </a:ext>
                </a:extLst>
              </p:cNvPr>
              <p:cNvSpPr txBox="1"/>
              <p:nvPr/>
            </p:nvSpPr>
            <p:spPr>
              <a:xfrm>
                <a:off x="11380363"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12</a:t>
                </a:r>
                <a:r>
                  <a:rPr kumimoji="1" lang="ja-JP" altLang="en-US" sz="600">
                    <a:latin typeface="+mn-ea"/>
                  </a:rPr>
                  <a:t>月</a:t>
                </a:r>
                <a:endParaRPr kumimoji="1" lang="en" altLang="ja-JP" sz="600" dirty="0">
                  <a:latin typeface="+mn-ea"/>
                </a:endParaRPr>
              </a:p>
            </p:txBody>
          </p:sp>
          <p:sp>
            <p:nvSpPr>
              <p:cNvPr id="66" name="テキスト ボックス 65">
                <a:extLst>
                  <a:ext uri="{FF2B5EF4-FFF2-40B4-BE49-F238E27FC236}">
                    <a16:creationId xmlns:a16="http://schemas.microsoft.com/office/drawing/2014/main" id="{CFD04564-2EED-5407-FCAB-534E1AD2CAD3}"/>
                  </a:ext>
                </a:extLst>
              </p:cNvPr>
              <p:cNvSpPr txBox="1"/>
              <p:nvPr/>
            </p:nvSpPr>
            <p:spPr>
              <a:xfrm>
                <a:off x="11640857" y="1790894"/>
                <a:ext cx="216000" cy="144000"/>
              </a:xfrm>
              <a:prstGeom prst="rect">
                <a:avLst/>
              </a:prstGeom>
              <a:solidFill>
                <a:schemeClr val="bg1">
                  <a:lumMod val="95000"/>
                </a:schemeClr>
              </a:solidFill>
            </p:spPr>
            <p:txBody>
              <a:bodyPr wrap="square" lIns="0" tIns="36000" rIns="0" bIns="36000" rtlCol="0" anchor="ctr">
                <a:noAutofit/>
              </a:bodyPr>
              <a:lstStyle/>
              <a:p>
                <a:pPr algn="ctr"/>
                <a:r>
                  <a:rPr lang="en-US" altLang="ja-JP" sz="600" dirty="0">
                    <a:latin typeface="+mn-ea"/>
                  </a:rPr>
                  <a:t>1</a:t>
                </a:r>
                <a:r>
                  <a:rPr kumimoji="1" lang="ja-JP" altLang="en-US" sz="600">
                    <a:latin typeface="+mn-ea"/>
                  </a:rPr>
                  <a:t>月</a:t>
                </a:r>
                <a:endParaRPr kumimoji="1" lang="en" altLang="ja-JP" sz="600" dirty="0">
                  <a:latin typeface="+mn-ea"/>
                </a:endParaRPr>
              </a:p>
            </p:txBody>
          </p:sp>
          <p:sp>
            <p:nvSpPr>
              <p:cNvPr id="77" name="テキスト ボックス 76">
                <a:extLst>
                  <a:ext uri="{FF2B5EF4-FFF2-40B4-BE49-F238E27FC236}">
                    <a16:creationId xmlns:a16="http://schemas.microsoft.com/office/drawing/2014/main" id="{3C61D037-7633-8A7B-6AC5-CB19C9C4A8C4}"/>
                  </a:ext>
                </a:extLst>
              </p:cNvPr>
              <p:cNvSpPr txBox="1"/>
              <p:nvPr/>
            </p:nvSpPr>
            <p:spPr>
              <a:xfrm>
                <a:off x="7212471" y="1628775"/>
                <a:ext cx="1257972" cy="144000"/>
              </a:xfrm>
              <a:prstGeom prst="rect">
                <a:avLst/>
              </a:prstGeom>
              <a:solidFill>
                <a:srgbClr val="C5E0B4"/>
              </a:solidFill>
            </p:spPr>
            <p:txBody>
              <a:bodyPr wrap="square" lIns="0" tIns="36000" rIns="0" bIns="36000" rtlCol="0" anchor="ctr">
                <a:noAutofit/>
              </a:bodyPr>
              <a:lstStyle/>
              <a:p>
                <a:pPr algn="ctr"/>
                <a:r>
                  <a:rPr kumimoji="1" lang="en-US" altLang="ja-JP" sz="600" dirty="0">
                    <a:latin typeface="+mn-ea"/>
                  </a:rPr>
                  <a:t>2026</a:t>
                </a:r>
                <a:endParaRPr kumimoji="1" lang="en" altLang="ja-JP" sz="600" dirty="0">
                  <a:latin typeface="+mn-ea"/>
                </a:endParaRPr>
              </a:p>
            </p:txBody>
          </p:sp>
          <p:sp>
            <p:nvSpPr>
              <p:cNvPr id="78" name="テキスト ボックス 77">
                <a:extLst>
                  <a:ext uri="{FF2B5EF4-FFF2-40B4-BE49-F238E27FC236}">
                    <a16:creationId xmlns:a16="http://schemas.microsoft.com/office/drawing/2014/main" id="{675F56C4-EFCC-234D-F277-6CEB0555A99B}"/>
                  </a:ext>
                </a:extLst>
              </p:cNvPr>
              <p:cNvSpPr txBox="1"/>
              <p:nvPr/>
            </p:nvSpPr>
            <p:spPr>
              <a:xfrm>
                <a:off x="8514937" y="1628775"/>
                <a:ext cx="3081426" cy="144000"/>
              </a:xfrm>
              <a:prstGeom prst="rect">
                <a:avLst/>
              </a:prstGeom>
              <a:solidFill>
                <a:srgbClr val="C5E0B4"/>
              </a:solidFill>
            </p:spPr>
            <p:txBody>
              <a:bodyPr wrap="square" lIns="0" tIns="36000" rIns="0" bIns="36000" rtlCol="0" anchor="ctr">
                <a:noAutofit/>
              </a:bodyPr>
              <a:lstStyle/>
              <a:p>
                <a:pPr algn="ctr"/>
                <a:r>
                  <a:rPr kumimoji="1" lang="en-US" altLang="ja-JP" sz="600" dirty="0">
                    <a:latin typeface="+mn-ea"/>
                  </a:rPr>
                  <a:t>2027</a:t>
                </a:r>
                <a:endParaRPr kumimoji="1" lang="en" altLang="ja-JP" sz="600" dirty="0">
                  <a:latin typeface="+mn-ea"/>
                </a:endParaRPr>
              </a:p>
            </p:txBody>
          </p:sp>
          <p:sp>
            <p:nvSpPr>
              <p:cNvPr id="80" name="テキスト ボックス 79">
                <a:extLst>
                  <a:ext uri="{FF2B5EF4-FFF2-40B4-BE49-F238E27FC236}">
                    <a16:creationId xmlns:a16="http://schemas.microsoft.com/office/drawing/2014/main" id="{35891930-EDF4-F9FC-DC5F-100573257183}"/>
                  </a:ext>
                </a:extLst>
              </p:cNvPr>
              <p:cNvSpPr txBox="1"/>
              <p:nvPr/>
            </p:nvSpPr>
            <p:spPr>
              <a:xfrm>
                <a:off x="11640857" y="1628775"/>
                <a:ext cx="215999" cy="144000"/>
              </a:xfrm>
              <a:prstGeom prst="rect">
                <a:avLst/>
              </a:prstGeom>
              <a:solidFill>
                <a:srgbClr val="C5E0B4"/>
              </a:solidFill>
            </p:spPr>
            <p:txBody>
              <a:bodyPr wrap="square" lIns="0" tIns="36000" rIns="0" bIns="36000" rtlCol="0" anchor="ctr">
                <a:noAutofit/>
              </a:bodyPr>
              <a:lstStyle/>
              <a:p>
                <a:pPr algn="ctr"/>
                <a:r>
                  <a:rPr lang="en-US" altLang="ja-JP" sz="600" dirty="0">
                    <a:latin typeface="+mn-ea"/>
                  </a:rPr>
                  <a:t>2028</a:t>
                </a:r>
                <a:endParaRPr kumimoji="1" lang="en" altLang="ja-JP" sz="600" dirty="0">
                  <a:latin typeface="+mn-ea"/>
                </a:endParaRPr>
              </a:p>
            </p:txBody>
          </p:sp>
          <p:cxnSp>
            <p:nvCxnSpPr>
              <p:cNvPr id="81" name="直線コネクタ 80">
                <a:extLst>
                  <a:ext uri="{FF2B5EF4-FFF2-40B4-BE49-F238E27FC236}">
                    <a16:creationId xmlns:a16="http://schemas.microsoft.com/office/drawing/2014/main" id="{8EDAE387-390C-1BEE-F295-31BE0981BB2D}"/>
                  </a:ext>
                </a:extLst>
              </p:cNvPr>
              <p:cNvCxnSpPr>
                <a:cxnSpLocks/>
              </p:cNvCxnSpPr>
              <p:nvPr/>
            </p:nvCxnSpPr>
            <p:spPr>
              <a:xfrm>
                <a:off x="7212471" y="2785531"/>
                <a:ext cx="4637161"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3411D6FE-ED9A-936A-8A22-7E1A1525E54D}"/>
                  </a:ext>
                </a:extLst>
              </p:cNvPr>
              <p:cNvCxnSpPr>
                <a:cxnSpLocks/>
              </p:cNvCxnSpPr>
              <p:nvPr/>
            </p:nvCxnSpPr>
            <p:spPr>
              <a:xfrm>
                <a:off x="7212471" y="3586624"/>
                <a:ext cx="4637161"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2364139-15D9-46D4-0514-33E726BD5732}"/>
                  </a:ext>
                </a:extLst>
              </p:cNvPr>
              <p:cNvCxnSpPr>
                <a:cxnSpLocks/>
              </p:cNvCxnSpPr>
              <p:nvPr/>
            </p:nvCxnSpPr>
            <p:spPr>
              <a:xfrm>
                <a:off x="7212471" y="4603716"/>
                <a:ext cx="4637161"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A8B61D16-960B-2035-05F1-297974C7EDD9}"/>
                  </a:ext>
                </a:extLst>
              </p:cNvPr>
              <p:cNvCxnSpPr>
                <a:cxnSpLocks/>
              </p:cNvCxnSpPr>
              <p:nvPr/>
            </p:nvCxnSpPr>
            <p:spPr>
              <a:xfrm>
                <a:off x="7212471" y="5476809"/>
                <a:ext cx="4637161" cy="0"/>
              </a:xfrm>
              <a:prstGeom prst="line">
                <a:avLst/>
              </a:prstGeom>
              <a:ln w="9525">
                <a:solidFill>
                  <a:schemeClr val="tx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550AFB67-F5AB-E0AE-9F18-EB9EBC29C5C6}"/>
                  </a:ext>
                </a:extLst>
              </p:cNvPr>
              <p:cNvCxnSpPr/>
              <p:nvPr/>
            </p:nvCxnSpPr>
            <p:spPr>
              <a:xfrm>
                <a:off x="7212471" y="2384985"/>
                <a:ext cx="736985" cy="0"/>
              </a:xfrm>
              <a:prstGeom prst="straightConnector1">
                <a:avLst/>
              </a:prstGeom>
              <a:ln w="19050">
                <a:solidFill>
                  <a:srgbClr val="008D2E"/>
                </a:soli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41034066-2B87-2D47-C297-DF55755D11D5}"/>
                  </a:ext>
                </a:extLst>
              </p:cNvPr>
              <p:cNvCxnSpPr>
                <a:cxnSpLocks/>
              </p:cNvCxnSpPr>
              <p:nvPr/>
            </p:nvCxnSpPr>
            <p:spPr>
              <a:xfrm>
                <a:off x="7733457" y="3186076"/>
                <a:ext cx="215999" cy="0"/>
              </a:xfrm>
              <a:prstGeom prst="straightConnector1">
                <a:avLst/>
              </a:prstGeom>
              <a:ln w="19050">
                <a:solidFill>
                  <a:srgbClr val="008D2E"/>
                </a:soli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5F8A3738-B802-8F6C-B282-AB4BBA6188A3}"/>
                  </a:ext>
                </a:extLst>
              </p:cNvPr>
              <p:cNvCxnSpPr>
                <a:cxnSpLocks/>
              </p:cNvCxnSpPr>
              <p:nvPr/>
            </p:nvCxnSpPr>
            <p:spPr>
              <a:xfrm>
                <a:off x="8775429" y="5040263"/>
                <a:ext cx="2018874" cy="0"/>
              </a:xfrm>
              <a:prstGeom prst="straightConnector1">
                <a:avLst/>
              </a:prstGeom>
              <a:ln w="19050">
                <a:solidFill>
                  <a:srgbClr val="008D2E"/>
                </a:soli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DFA16EE3-AF3D-5189-A1CE-0E2C5567E82A}"/>
                  </a:ext>
                </a:extLst>
              </p:cNvPr>
              <p:cNvCxnSpPr>
                <a:cxnSpLocks/>
              </p:cNvCxnSpPr>
              <p:nvPr/>
            </p:nvCxnSpPr>
            <p:spPr>
              <a:xfrm>
                <a:off x="10859376" y="5898516"/>
                <a:ext cx="990254" cy="0"/>
              </a:xfrm>
              <a:prstGeom prst="straightConnector1">
                <a:avLst/>
              </a:prstGeom>
              <a:ln w="19050">
                <a:solidFill>
                  <a:srgbClr val="008D2E"/>
                </a:soli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2FFA4E6A-F0A0-A386-2D69-022D77EE1EB0}"/>
                  </a:ext>
                </a:extLst>
              </p:cNvPr>
              <p:cNvCxnSpPr>
                <a:cxnSpLocks/>
              </p:cNvCxnSpPr>
              <p:nvPr/>
            </p:nvCxnSpPr>
            <p:spPr>
              <a:xfrm>
                <a:off x="7993950" y="4104842"/>
                <a:ext cx="736987" cy="0"/>
              </a:xfrm>
              <a:prstGeom prst="straightConnector1">
                <a:avLst/>
              </a:prstGeom>
              <a:ln w="19050">
                <a:solidFill>
                  <a:srgbClr val="008D2E"/>
                </a:soli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2BE34E1D-9830-2DBB-173E-44A26435ABC1}"/>
                  </a:ext>
                </a:extLst>
              </p:cNvPr>
              <p:cNvCxnSpPr>
                <a:stCxn id="39" idx="1"/>
              </p:cNvCxnSpPr>
              <p:nvPr/>
            </p:nvCxnSpPr>
            <p:spPr>
              <a:xfrm flipH="1">
                <a:off x="7450717" y="1862894"/>
                <a:ext cx="22247" cy="4446461"/>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A4313580-8A12-AE63-9D5A-B449FA0645A1}"/>
                  </a:ext>
                </a:extLst>
              </p:cNvPr>
              <p:cNvCxnSpPr/>
              <p:nvPr/>
            </p:nvCxnSpPr>
            <p:spPr>
              <a:xfrm>
                <a:off x="771121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1F5CD8BC-335D-F451-B3DF-C826477D45F2}"/>
                  </a:ext>
                </a:extLst>
              </p:cNvPr>
              <p:cNvCxnSpPr/>
              <p:nvPr/>
            </p:nvCxnSpPr>
            <p:spPr>
              <a:xfrm>
                <a:off x="7971704"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8BC68E4A-8091-14E8-C73B-B8BF90691C0C}"/>
                  </a:ext>
                </a:extLst>
              </p:cNvPr>
              <p:cNvCxnSpPr/>
              <p:nvPr/>
            </p:nvCxnSpPr>
            <p:spPr>
              <a:xfrm>
                <a:off x="8232197"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D0BA37F0-ED7A-AC8F-8429-968846B31AD7}"/>
                  </a:ext>
                </a:extLst>
              </p:cNvPr>
              <p:cNvCxnSpPr/>
              <p:nvPr/>
            </p:nvCxnSpPr>
            <p:spPr>
              <a:xfrm>
                <a:off x="849269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7B489C34-FB18-1FC2-BEDE-00D61CEAC34E}"/>
                  </a:ext>
                </a:extLst>
              </p:cNvPr>
              <p:cNvCxnSpPr/>
              <p:nvPr/>
            </p:nvCxnSpPr>
            <p:spPr>
              <a:xfrm>
                <a:off x="8753184"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B4D44D16-1752-9183-3A9D-7E57E838A5E2}"/>
                  </a:ext>
                </a:extLst>
              </p:cNvPr>
              <p:cNvCxnSpPr/>
              <p:nvPr/>
            </p:nvCxnSpPr>
            <p:spPr>
              <a:xfrm>
                <a:off x="9013677"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2FE8098E-A5BE-FB61-E8C1-281504F8C243}"/>
                  </a:ext>
                </a:extLst>
              </p:cNvPr>
              <p:cNvCxnSpPr/>
              <p:nvPr/>
            </p:nvCxnSpPr>
            <p:spPr>
              <a:xfrm>
                <a:off x="9534664"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C1ABA5A7-B8C2-6BD8-AB55-8FEF3A132F4F}"/>
                  </a:ext>
                </a:extLst>
              </p:cNvPr>
              <p:cNvCxnSpPr/>
              <p:nvPr/>
            </p:nvCxnSpPr>
            <p:spPr>
              <a:xfrm>
                <a:off x="9795157"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48BD9944-6BCF-8ADD-D25E-2407EF17C636}"/>
                  </a:ext>
                </a:extLst>
              </p:cNvPr>
              <p:cNvCxnSpPr/>
              <p:nvPr/>
            </p:nvCxnSpPr>
            <p:spPr>
              <a:xfrm>
                <a:off x="1005565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AC9B176E-1A32-74CB-5D19-8A2797B0E24E}"/>
                  </a:ext>
                </a:extLst>
              </p:cNvPr>
              <p:cNvCxnSpPr/>
              <p:nvPr/>
            </p:nvCxnSpPr>
            <p:spPr>
              <a:xfrm>
                <a:off x="10316143"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02634079-7F2C-F135-EF96-85F9C414104D}"/>
                  </a:ext>
                </a:extLst>
              </p:cNvPr>
              <p:cNvCxnSpPr/>
              <p:nvPr/>
            </p:nvCxnSpPr>
            <p:spPr>
              <a:xfrm>
                <a:off x="10576637"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A6436D01-74B3-FB8D-0833-DDC7D9F5733E}"/>
                  </a:ext>
                </a:extLst>
              </p:cNvPr>
              <p:cNvCxnSpPr/>
              <p:nvPr/>
            </p:nvCxnSpPr>
            <p:spPr>
              <a:xfrm>
                <a:off x="1083713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E331D8F-1BD9-8028-D939-93B58A299549}"/>
                  </a:ext>
                </a:extLst>
              </p:cNvPr>
              <p:cNvCxnSpPr/>
              <p:nvPr/>
            </p:nvCxnSpPr>
            <p:spPr>
              <a:xfrm>
                <a:off x="11097623"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14ECD902-27F5-4773-D9D0-B74DABA79ABD}"/>
                  </a:ext>
                </a:extLst>
              </p:cNvPr>
              <p:cNvCxnSpPr/>
              <p:nvPr/>
            </p:nvCxnSpPr>
            <p:spPr>
              <a:xfrm>
                <a:off x="11358117"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D9BEECB6-6466-B082-3505-C41066C2506A}"/>
                  </a:ext>
                </a:extLst>
              </p:cNvPr>
              <p:cNvCxnSpPr/>
              <p:nvPr/>
            </p:nvCxnSpPr>
            <p:spPr>
              <a:xfrm>
                <a:off x="1161861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F05AE74C-BB8E-7C8C-EA07-9CA72D74230F}"/>
                  </a:ext>
                </a:extLst>
              </p:cNvPr>
              <p:cNvCxnSpPr/>
              <p:nvPr/>
            </p:nvCxnSpPr>
            <p:spPr>
              <a:xfrm>
                <a:off x="9274170" y="2024985"/>
                <a:ext cx="0" cy="4284370"/>
              </a:xfrm>
              <a:prstGeom prst="line">
                <a:avLst/>
              </a:prstGeom>
              <a:ln w="9525">
                <a:solidFill>
                  <a:schemeClr val="bg1">
                    <a:lumMod val="8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テキスト ボックス 123">
                <a:extLst>
                  <a:ext uri="{FF2B5EF4-FFF2-40B4-BE49-F238E27FC236}">
                    <a16:creationId xmlns:a16="http://schemas.microsoft.com/office/drawing/2014/main" id="{26B5DD10-3E4C-7BC7-BB13-65C821CB6F13}"/>
                  </a:ext>
                </a:extLst>
              </p:cNvPr>
              <p:cNvSpPr txBox="1"/>
              <p:nvPr/>
            </p:nvSpPr>
            <p:spPr>
              <a:xfrm>
                <a:off x="7212471" y="2192072"/>
                <a:ext cx="736984" cy="190685"/>
              </a:xfrm>
              <a:prstGeom prst="rect">
                <a:avLst/>
              </a:prstGeom>
              <a:noFill/>
            </p:spPr>
            <p:txBody>
              <a:bodyPr wrap="square" lIns="0" tIns="36000" rIns="36000" bIns="36000" rtlCol="0" anchor="ctr">
                <a:noAutofit/>
              </a:bodyPr>
              <a:lstStyle/>
              <a:p>
                <a:pPr algn="ctr"/>
                <a:r>
                  <a:rPr kumimoji="1" lang="en" altLang="ja-JP" sz="1000" dirty="0">
                    <a:solidFill>
                      <a:srgbClr val="008D2E"/>
                    </a:solidFill>
                    <a:latin typeface="+mn-ea"/>
                  </a:rPr>
                  <a:t>フェーズ0</a:t>
                </a:r>
                <a:endParaRPr kumimoji="1" lang="ja-JP" altLang="en-US" sz="1000">
                  <a:solidFill>
                    <a:srgbClr val="008D2E"/>
                  </a:solidFill>
                  <a:latin typeface="+mn-ea"/>
                </a:endParaRPr>
              </a:p>
            </p:txBody>
          </p:sp>
          <p:sp>
            <p:nvSpPr>
              <p:cNvPr id="125" name="テキスト ボックス 124">
                <a:extLst>
                  <a:ext uri="{FF2B5EF4-FFF2-40B4-BE49-F238E27FC236}">
                    <a16:creationId xmlns:a16="http://schemas.microsoft.com/office/drawing/2014/main" id="{E3E64F20-DE40-D178-1139-1384C661BAA1}"/>
                  </a:ext>
                </a:extLst>
              </p:cNvPr>
              <p:cNvSpPr txBox="1"/>
              <p:nvPr/>
            </p:nvSpPr>
            <p:spPr>
              <a:xfrm>
                <a:off x="7472964" y="2965182"/>
                <a:ext cx="931734" cy="157397"/>
              </a:xfrm>
              <a:prstGeom prst="rect">
                <a:avLst/>
              </a:prstGeom>
              <a:noFill/>
            </p:spPr>
            <p:txBody>
              <a:bodyPr wrap="square" lIns="0" tIns="36000" rIns="36000" bIns="36000" rtlCol="0" anchor="ctr">
                <a:noAutofit/>
              </a:bodyPr>
              <a:lstStyle/>
              <a:p>
                <a:pPr algn="ctr"/>
                <a:r>
                  <a:rPr kumimoji="1" lang="ja-JP" altLang="en-US" sz="1000" dirty="0">
                    <a:solidFill>
                      <a:srgbClr val="008D2E"/>
                    </a:solidFill>
                    <a:latin typeface="+mn-ea"/>
                  </a:rPr>
                  <a:t>契約締結期</a:t>
                </a:r>
                <a:r>
                  <a:rPr kumimoji="1" lang="en-US" altLang="ja-JP" sz="1000" dirty="0">
                    <a:solidFill>
                      <a:srgbClr val="008D2E"/>
                    </a:solidFill>
                    <a:latin typeface="+mn-ea"/>
                  </a:rPr>
                  <a:t>(</a:t>
                </a:r>
                <a:r>
                  <a:rPr kumimoji="1" lang="ja-JP" altLang="en-US" sz="1000" dirty="0">
                    <a:solidFill>
                      <a:srgbClr val="008D2E"/>
                    </a:solidFill>
                    <a:latin typeface="+mn-ea"/>
                  </a:rPr>
                  <a:t>仮</a:t>
                </a:r>
                <a:r>
                  <a:rPr kumimoji="1" lang="en-US" altLang="ja-JP" sz="1000" dirty="0">
                    <a:solidFill>
                      <a:srgbClr val="008D2E"/>
                    </a:solidFill>
                    <a:latin typeface="+mn-ea"/>
                  </a:rPr>
                  <a:t>)</a:t>
                </a:r>
                <a:endParaRPr kumimoji="1" lang="ja-JP" altLang="en-US" sz="1000" dirty="0">
                  <a:solidFill>
                    <a:srgbClr val="008D2E"/>
                  </a:solidFill>
                  <a:latin typeface="+mn-ea"/>
                </a:endParaRPr>
              </a:p>
            </p:txBody>
          </p:sp>
          <p:sp>
            <p:nvSpPr>
              <p:cNvPr id="126" name="テキスト ボックス 125">
                <a:extLst>
                  <a:ext uri="{FF2B5EF4-FFF2-40B4-BE49-F238E27FC236}">
                    <a16:creationId xmlns:a16="http://schemas.microsoft.com/office/drawing/2014/main" id="{E5F191A7-5C10-1AF0-3545-1985A70050C8}"/>
                  </a:ext>
                </a:extLst>
              </p:cNvPr>
              <p:cNvSpPr txBox="1"/>
              <p:nvPr/>
            </p:nvSpPr>
            <p:spPr>
              <a:xfrm>
                <a:off x="10824137" y="5559952"/>
                <a:ext cx="1025493" cy="281919"/>
              </a:xfrm>
              <a:prstGeom prst="rect">
                <a:avLst/>
              </a:prstGeom>
              <a:noFill/>
            </p:spPr>
            <p:txBody>
              <a:bodyPr wrap="square" lIns="0" tIns="36000" rIns="36000" bIns="36000" rtlCol="0" anchor="ctr">
                <a:noAutofit/>
              </a:bodyPr>
              <a:lstStyle/>
              <a:p>
                <a:pPr algn="ctr"/>
                <a:r>
                  <a:rPr kumimoji="1" lang="en-US" altLang="ja-JP" sz="1000" dirty="0">
                    <a:solidFill>
                      <a:srgbClr val="008D2E"/>
                    </a:solidFill>
                    <a:latin typeface="+mn-ea"/>
                  </a:rPr>
                  <a:t>(2028</a:t>
                </a:r>
                <a:r>
                  <a:rPr kumimoji="1" lang="ja-JP" altLang="en-US" sz="1000">
                    <a:solidFill>
                      <a:srgbClr val="008D2E"/>
                    </a:solidFill>
                    <a:latin typeface="+mn-ea"/>
                  </a:rPr>
                  <a:t>年</a:t>
                </a:r>
                <a:r>
                  <a:rPr kumimoji="1" lang="en-US" altLang="ja-JP" sz="1000" dirty="0">
                    <a:solidFill>
                      <a:srgbClr val="008D2E"/>
                    </a:solidFill>
                    <a:latin typeface="+mn-ea"/>
                  </a:rPr>
                  <a:t>2</a:t>
                </a:r>
                <a:r>
                  <a:rPr kumimoji="1" lang="ja-JP" altLang="en-US" sz="1000">
                    <a:solidFill>
                      <a:srgbClr val="008D2E"/>
                    </a:solidFill>
                    <a:latin typeface="+mn-ea"/>
                  </a:rPr>
                  <a:t>月</a:t>
                </a:r>
                <a:r>
                  <a:rPr kumimoji="1" lang="en-US" altLang="ja-JP" sz="1000" dirty="0">
                    <a:solidFill>
                      <a:srgbClr val="008D2E"/>
                    </a:solidFill>
                    <a:latin typeface="+mn-ea"/>
                  </a:rPr>
                  <a:t>〜</a:t>
                </a:r>
                <a:br>
                  <a:rPr kumimoji="1" lang="en-US" altLang="ja-JP" sz="1000" dirty="0">
                    <a:solidFill>
                      <a:srgbClr val="008D2E"/>
                    </a:solidFill>
                    <a:latin typeface="+mn-ea"/>
                  </a:rPr>
                </a:br>
                <a:r>
                  <a:rPr kumimoji="1" lang="ja-JP" altLang="en-US" sz="1000">
                    <a:solidFill>
                      <a:srgbClr val="008D2E"/>
                    </a:solidFill>
                    <a:latin typeface="+mn-ea"/>
                  </a:rPr>
                  <a:t>全社運用</a:t>
                </a:r>
                <a:r>
                  <a:rPr kumimoji="1" lang="en-US" altLang="ja-JP" sz="1000" dirty="0">
                    <a:solidFill>
                      <a:srgbClr val="008D2E"/>
                    </a:solidFill>
                    <a:latin typeface="+mn-ea"/>
                  </a:rPr>
                  <a:t>) </a:t>
                </a:r>
                <a:endParaRPr kumimoji="1" lang="ja-JP" altLang="en-US" sz="1000">
                  <a:solidFill>
                    <a:srgbClr val="008D2E"/>
                  </a:solidFill>
                  <a:latin typeface="+mn-ea"/>
                </a:endParaRPr>
              </a:p>
            </p:txBody>
          </p:sp>
          <p:sp>
            <p:nvSpPr>
              <p:cNvPr id="127" name="テキスト ボックス 126">
                <a:extLst>
                  <a:ext uri="{FF2B5EF4-FFF2-40B4-BE49-F238E27FC236}">
                    <a16:creationId xmlns:a16="http://schemas.microsoft.com/office/drawing/2014/main" id="{48D87AB6-98AF-C02E-9D4A-68AA4406AF0F}"/>
                  </a:ext>
                </a:extLst>
              </p:cNvPr>
              <p:cNvSpPr txBox="1"/>
              <p:nvPr/>
            </p:nvSpPr>
            <p:spPr>
              <a:xfrm>
                <a:off x="7993950" y="3869107"/>
                <a:ext cx="736987" cy="190685"/>
              </a:xfrm>
              <a:prstGeom prst="rect">
                <a:avLst/>
              </a:prstGeom>
              <a:noFill/>
            </p:spPr>
            <p:txBody>
              <a:bodyPr wrap="square" lIns="0" tIns="36000" rIns="36000" bIns="36000" rtlCol="0" anchor="ctr">
                <a:noAutofit/>
              </a:bodyPr>
              <a:lstStyle/>
              <a:p>
                <a:pPr algn="ctr"/>
                <a:r>
                  <a:rPr kumimoji="1" lang="en-US" altLang="ja-JP" sz="1000" dirty="0">
                    <a:solidFill>
                      <a:srgbClr val="008D2E"/>
                    </a:solidFill>
                    <a:latin typeface="+mn-ea"/>
                  </a:rPr>
                  <a:t>3</a:t>
                </a:r>
                <a:r>
                  <a:rPr kumimoji="1" lang="ja-JP" altLang="en-US" sz="1000">
                    <a:solidFill>
                      <a:srgbClr val="008D2E"/>
                    </a:solidFill>
                    <a:latin typeface="+mn-ea"/>
                  </a:rPr>
                  <a:t>ヶ月間</a:t>
                </a:r>
              </a:p>
            </p:txBody>
          </p:sp>
        </p:grpSp>
        <p:grpSp>
          <p:nvGrpSpPr>
            <p:cNvPr id="143" name="グループ化 142">
              <a:extLst>
                <a:ext uri="{FF2B5EF4-FFF2-40B4-BE49-F238E27FC236}">
                  <a16:creationId xmlns:a16="http://schemas.microsoft.com/office/drawing/2014/main" id="{70080686-C10B-F3AF-2AE4-6850A9596E4C}"/>
                </a:ext>
              </a:extLst>
            </p:cNvPr>
            <p:cNvGrpSpPr/>
            <p:nvPr/>
          </p:nvGrpSpPr>
          <p:grpSpPr>
            <a:xfrm>
              <a:off x="334962" y="1633488"/>
              <a:ext cx="1189712" cy="4675868"/>
              <a:chOff x="334962" y="1633488"/>
              <a:chExt cx="1189712" cy="4675868"/>
            </a:xfrm>
          </p:grpSpPr>
          <p:cxnSp>
            <p:nvCxnSpPr>
              <p:cNvPr id="23" name="直線コネクタ 22">
                <a:extLst>
                  <a:ext uri="{FF2B5EF4-FFF2-40B4-BE49-F238E27FC236}">
                    <a16:creationId xmlns:a16="http://schemas.microsoft.com/office/drawing/2014/main" id="{F6DDB3AC-C840-9D32-7CE5-D9251555760B}"/>
                  </a:ext>
                </a:extLst>
              </p:cNvPr>
              <p:cNvCxnSpPr>
                <a:cxnSpLocks/>
              </p:cNvCxnSpPr>
              <p:nvPr/>
            </p:nvCxnSpPr>
            <p:spPr>
              <a:xfrm>
                <a:off x="334962" y="1934895"/>
                <a:ext cx="1189712"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C6A77D88-B11F-A0FA-D1AB-85720F8F41AE}"/>
                  </a:ext>
                </a:extLst>
              </p:cNvPr>
              <p:cNvSpPr txBox="1"/>
              <p:nvPr/>
            </p:nvSpPr>
            <p:spPr>
              <a:xfrm>
                <a:off x="334962" y="1633488"/>
                <a:ext cx="1189712" cy="301407"/>
              </a:xfrm>
              <a:prstGeom prst="rect">
                <a:avLst/>
              </a:prstGeom>
              <a:noFill/>
            </p:spPr>
            <p:txBody>
              <a:bodyPr wrap="square" lIns="36000" tIns="36000" rIns="36000" bIns="0" rtlCol="0" anchor="ctr">
                <a:noAutofit/>
              </a:bodyPr>
              <a:lstStyle/>
              <a:p>
                <a:pPr algn="ctr"/>
                <a:r>
                  <a:rPr kumimoji="1" lang="ja-JP" altLang="en-US" sz="1000">
                    <a:latin typeface="+mn-ea"/>
                  </a:rPr>
                  <a:t>フェーズ</a:t>
                </a:r>
                <a:endParaRPr kumimoji="1" lang="en-US" altLang="ja-JP" sz="1000" dirty="0">
                  <a:latin typeface="+mn-ea"/>
                </a:endParaRPr>
              </a:p>
            </p:txBody>
          </p:sp>
          <p:sp>
            <p:nvSpPr>
              <p:cNvPr id="37" name="正方形/長方形 36">
                <a:extLst>
                  <a:ext uri="{FF2B5EF4-FFF2-40B4-BE49-F238E27FC236}">
                    <a16:creationId xmlns:a16="http://schemas.microsoft.com/office/drawing/2014/main" id="{12BE285F-0F3B-79DB-D1BD-FBB3711FD84A}"/>
                  </a:ext>
                </a:extLst>
              </p:cNvPr>
              <p:cNvSpPr/>
              <p:nvPr/>
            </p:nvSpPr>
            <p:spPr>
              <a:xfrm>
                <a:off x="408674" y="2024983"/>
                <a:ext cx="1116000" cy="720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950" dirty="0">
                    <a:solidFill>
                      <a:srgbClr val="008D2E"/>
                    </a:solidFill>
                    <a:latin typeface="+mn-ea"/>
                  </a:rPr>
                  <a:t>事前準備・可視化</a:t>
                </a:r>
                <a:br>
                  <a:rPr lang="en-US" altLang="ja-JP" sz="950" dirty="0">
                    <a:solidFill>
                      <a:srgbClr val="008D2E"/>
                    </a:solidFill>
                    <a:latin typeface="+mn-ea"/>
                  </a:rPr>
                </a:br>
                <a:r>
                  <a:rPr lang="ja-JP" altLang="en-US" sz="950" dirty="0">
                    <a:solidFill>
                      <a:srgbClr val="008D2E"/>
                    </a:solidFill>
                    <a:latin typeface="+mn-ea"/>
                  </a:rPr>
                  <a:t>(現状把握・調査)</a:t>
                </a:r>
                <a:endParaRPr lang="ja-JP" altLang="en-US" sz="950" dirty="0">
                  <a:solidFill>
                    <a:schemeClr val="tx1"/>
                  </a:solidFill>
                  <a:latin typeface="+mn-ea"/>
                </a:endParaRPr>
              </a:p>
            </p:txBody>
          </p:sp>
          <p:sp>
            <p:nvSpPr>
              <p:cNvPr id="42" name="円/楕円 41">
                <a:extLst>
                  <a:ext uri="{FF2B5EF4-FFF2-40B4-BE49-F238E27FC236}">
                    <a16:creationId xmlns:a16="http://schemas.microsoft.com/office/drawing/2014/main" id="{5356F4D7-F367-B5E5-0DC8-72B550150C1F}"/>
                  </a:ext>
                </a:extLst>
              </p:cNvPr>
              <p:cNvSpPr>
                <a:spLocks noChangeAspect="1"/>
              </p:cNvSpPr>
              <p:nvPr/>
            </p:nvSpPr>
            <p:spPr>
              <a:xfrm>
                <a:off x="336624" y="1966430"/>
                <a:ext cx="144000" cy="144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800" b="0" i="0" u="none" strike="noStrike" kern="1200" cap="none" spc="0" normalizeH="0" baseline="0" noProof="0" dirty="0">
                    <a:ln>
                      <a:noFill/>
                    </a:ln>
                    <a:solidFill>
                      <a:srgbClr val="FFFFFF"/>
                    </a:solidFill>
                    <a:effectLst/>
                    <a:uLnTx/>
                    <a:uFillTx/>
                    <a:latin typeface="+mn-ea"/>
                    <a:cs typeface="+mn-cs"/>
                  </a:rPr>
                  <a:t>1</a:t>
                </a:r>
                <a:endParaRPr kumimoji="1" lang="ja-JP" altLang="en-US" sz="800" b="0" i="0" u="none" strike="noStrike" kern="1200" cap="none" spc="0" normalizeH="0" baseline="0" noProof="0">
                  <a:ln>
                    <a:noFill/>
                  </a:ln>
                  <a:solidFill>
                    <a:srgbClr val="FFFFFF"/>
                  </a:solidFill>
                  <a:effectLst/>
                  <a:uLnTx/>
                  <a:uFillTx/>
                  <a:latin typeface="+mn-ea"/>
                  <a:cs typeface="+mn-cs"/>
                </a:endParaRPr>
              </a:p>
            </p:txBody>
          </p:sp>
          <p:sp>
            <p:nvSpPr>
              <p:cNvPr id="43" name="正方形/長方形 42">
                <a:extLst>
                  <a:ext uri="{FF2B5EF4-FFF2-40B4-BE49-F238E27FC236}">
                    <a16:creationId xmlns:a16="http://schemas.microsoft.com/office/drawing/2014/main" id="{2C7D6A6E-B453-FAB4-916D-ADD2E8CC0B8A}"/>
                  </a:ext>
                </a:extLst>
              </p:cNvPr>
              <p:cNvSpPr/>
              <p:nvPr/>
            </p:nvSpPr>
            <p:spPr>
              <a:xfrm>
                <a:off x="408674" y="2826076"/>
                <a:ext cx="1116000" cy="720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950" dirty="0">
                    <a:solidFill>
                      <a:srgbClr val="008D2E"/>
                    </a:solidFill>
                    <a:latin typeface="+mn-ea"/>
                  </a:rPr>
                  <a:t>設計・標準化</a:t>
                </a:r>
                <a:br>
                  <a:rPr lang="en-US" altLang="ja-JP" sz="950" dirty="0">
                    <a:solidFill>
                      <a:srgbClr val="008D2E"/>
                    </a:solidFill>
                    <a:latin typeface="+mn-ea"/>
                  </a:rPr>
                </a:br>
                <a:r>
                  <a:rPr lang="ja-JP" altLang="en-US" sz="950" dirty="0">
                    <a:solidFill>
                      <a:srgbClr val="008D2E"/>
                    </a:solidFill>
                    <a:latin typeface="+mn-ea"/>
                  </a:rPr>
                  <a:t>(統制基盤の構築)</a:t>
                </a:r>
                <a:endParaRPr lang="ja-JP" altLang="en-US" sz="950" dirty="0">
                  <a:solidFill>
                    <a:schemeClr val="tx1"/>
                  </a:solidFill>
                  <a:latin typeface="+mn-ea"/>
                </a:endParaRPr>
              </a:p>
            </p:txBody>
          </p:sp>
          <p:sp>
            <p:nvSpPr>
              <p:cNvPr id="44" name="円/楕円 43">
                <a:extLst>
                  <a:ext uri="{FF2B5EF4-FFF2-40B4-BE49-F238E27FC236}">
                    <a16:creationId xmlns:a16="http://schemas.microsoft.com/office/drawing/2014/main" id="{26E6F48F-3075-BD85-89FA-8B4DCBA02AC8}"/>
                  </a:ext>
                </a:extLst>
              </p:cNvPr>
              <p:cNvSpPr>
                <a:spLocks noChangeAspect="1"/>
              </p:cNvSpPr>
              <p:nvPr/>
            </p:nvSpPr>
            <p:spPr>
              <a:xfrm>
                <a:off x="336624" y="2791624"/>
                <a:ext cx="144000" cy="144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800" b="0" i="0" u="none" strike="noStrike" kern="1200" cap="none" spc="0" normalizeH="0" baseline="0" noProof="0" dirty="0">
                    <a:ln>
                      <a:noFill/>
                    </a:ln>
                    <a:solidFill>
                      <a:srgbClr val="FFFFFF"/>
                    </a:solidFill>
                    <a:effectLst/>
                    <a:uLnTx/>
                    <a:uFillTx/>
                    <a:latin typeface="+mn-ea"/>
                    <a:cs typeface="+mn-cs"/>
                  </a:rPr>
                  <a:t>2</a:t>
                </a:r>
                <a:endParaRPr kumimoji="1" lang="ja-JP" altLang="en-US" sz="800" b="0" i="0" u="none" strike="noStrike" kern="1200" cap="none" spc="0" normalizeH="0" baseline="0" noProof="0">
                  <a:ln>
                    <a:noFill/>
                  </a:ln>
                  <a:solidFill>
                    <a:srgbClr val="FFFFFF"/>
                  </a:solidFill>
                  <a:effectLst/>
                  <a:uLnTx/>
                  <a:uFillTx/>
                  <a:latin typeface="+mn-ea"/>
                  <a:cs typeface="+mn-cs"/>
                </a:endParaRPr>
              </a:p>
            </p:txBody>
          </p:sp>
          <p:sp>
            <p:nvSpPr>
              <p:cNvPr id="47" name="正方形/長方形 46">
                <a:extLst>
                  <a:ext uri="{FF2B5EF4-FFF2-40B4-BE49-F238E27FC236}">
                    <a16:creationId xmlns:a16="http://schemas.microsoft.com/office/drawing/2014/main" id="{634240C8-292E-1299-21A1-4E8E13866ED8}"/>
                  </a:ext>
                </a:extLst>
              </p:cNvPr>
              <p:cNvSpPr/>
              <p:nvPr/>
            </p:nvSpPr>
            <p:spPr>
              <a:xfrm>
                <a:off x="408674" y="3627169"/>
                <a:ext cx="1116000" cy="936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950">
                    <a:solidFill>
                      <a:srgbClr val="008D2E"/>
                    </a:solidFill>
                    <a:latin typeface="+mn-ea"/>
                  </a:rPr>
                  <a:t>業務引き継ぎ</a:t>
                </a:r>
                <a:br>
                  <a:rPr lang="ja-JP" altLang="en-US" sz="950">
                    <a:solidFill>
                      <a:srgbClr val="008D2E"/>
                    </a:solidFill>
                    <a:latin typeface="+mn-ea"/>
                  </a:rPr>
                </a:br>
                <a:r>
                  <a:rPr lang="ja-JP" altLang="en-US" sz="950">
                    <a:solidFill>
                      <a:srgbClr val="008D2E"/>
                    </a:solidFill>
                    <a:latin typeface="+mn-ea"/>
                  </a:rPr>
                  <a:t>(</a:t>
                </a:r>
                <a:r>
                  <a:rPr lang="en" altLang="ja-JP" sz="950" dirty="0">
                    <a:solidFill>
                      <a:srgbClr val="008D2E"/>
                    </a:solidFill>
                    <a:latin typeface="+mn-ea"/>
                  </a:rPr>
                  <a:t>第1段階 </a:t>
                </a:r>
                <a:r>
                  <a:rPr lang="ja-JP" altLang="en-US" sz="950">
                    <a:solidFill>
                      <a:srgbClr val="008D2E"/>
                    </a:solidFill>
                    <a:latin typeface="+mn-ea"/>
                  </a:rPr>
                  <a:t>移管期)</a:t>
                </a:r>
                <a:endParaRPr lang="ja-JP" altLang="en-US" sz="950">
                  <a:solidFill>
                    <a:schemeClr val="tx1"/>
                  </a:solidFill>
                  <a:latin typeface="+mn-ea"/>
                </a:endParaRPr>
              </a:p>
            </p:txBody>
          </p:sp>
          <p:sp>
            <p:nvSpPr>
              <p:cNvPr id="48" name="円/楕円 47">
                <a:extLst>
                  <a:ext uri="{FF2B5EF4-FFF2-40B4-BE49-F238E27FC236}">
                    <a16:creationId xmlns:a16="http://schemas.microsoft.com/office/drawing/2014/main" id="{344DEC34-B71A-C145-CC4B-DB3D5CF5D1BC}"/>
                  </a:ext>
                </a:extLst>
              </p:cNvPr>
              <p:cNvSpPr>
                <a:spLocks noChangeAspect="1"/>
              </p:cNvSpPr>
              <p:nvPr/>
            </p:nvSpPr>
            <p:spPr>
              <a:xfrm>
                <a:off x="336624" y="3592717"/>
                <a:ext cx="144000" cy="144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800" b="0" i="0" u="none" strike="noStrike" kern="1200" cap="none" spc="0" normalizeH="0" baseline="0" noProof="0" dirty="0">
                    <a:ln>
                      <a:noFill/>
                    </a:ln>
                    <a:solidFill>
                      <a:srgbClr val="FFFFFF"/>
                    </a:solidFill>
                    <a:effectLst/>
                    <a:uLnTx/>
                    <a:uFillTx/>
                    <a:latin typeface="+mn-ea"/>
                    <a:cs typeface="+mn-cs"/>
                  </a:rPr>
                  <a:t>3</a:t>
                </a:r>
                <a:endParaRPr kumimoji="1" lang="ja-JP" altLang="en-US" sz="800" b="0" i="0" u="none" strike="noStrike" kern="1200" cap="none" spc="0" normalizeH="0" baseline="0" noProof="0">
                  <a:ln>
                    <a:noFill/>
                  </a:ln>
                  <a:solidFill>
                    <a:srgbClr val="FFFFFF"/>
                  </a:solidFill>
                  <a:effectLst/>
                  <a:uLnTx/>
                  <a:uFillTx/>
                  <a:latin typeface="+mn-ea"/>
                  <a:cs typeface="+mn-cs"/>
                </a:endParaRPr>
              </a:p>
            </p:txBody>
          </p:sp>
          <p:sp>
            <p:nvSpPr>
              <p:cNvPr id="49" name="正方形/長方形 48">
                <a:extLst>
                  <a:ext uri="{FF2B5EF4-FFF2-40B4-BE49-F238E27FC236}">
                    <a16:creationId xmlns:a16="http://schemas.microsoft.com/office/drawing/2014/main" id="{B88BECD3-9A2A-D6DD-9A8C-B23251045D5C}"/>
                  </a:ext>
                </a:extLst>
              </p:cNvPr>
              <p:cNvSpPr/>
              <p:nvPr/>
            </p:nvSpPr>
            <p:spPr>
              <a:xfrm>
                <a:off x="408674" y="4644261"/>
                <a:ext cx="1116000" cy="792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950" dirty="0">
                    <a:solidFill>
                      <a:srgbClr val="008D2E"/>
                    </a:solidFill>
                    <a:latin typeface="+mn-ea"/>
                  </a:rPr>
                  <a:t>本格運用・効果検証</a:t>
                </a:r>
                <a:br>
                  <a:rPr lang="en-US" altLang="ja-JP" sz="950" dirty="0">
                    <a:solidFill>
                      <a:srgbClr val="008D2E"/>
                    </a:solidFill>
                    <a:latin typeface="+mn-ea"/>
                  </a:rPr>
                </a:br>
                <a:r>
                  <a:rPr lang="ja-JP" altLang="en-US" sz="950" dirty="0">
                    <a:solidFill>
                      <a:srgbClr val="008D2E"/>
                    </a:solidFill>
                    <a:latin typeface="+mn-ea"/>
                  </a:rPr>
                  <a:t>(</a:t>
                </a:r>
                <a:r>
                  <a:rPr lang="en" altLang="ja-JP" sz="950" dirty="0">
                    <a:solidFill>
                      <a:srgbClr val="008D2E"/>
                    </a:solidFill>
                    <a:latin typeface="+mn-ea"/>
                  </a:rPr>
                  <a:t>第1段階 </a:t>
                </a:r>
                <a:r>
                  <a:rPr lang="ja-JP" altLang="en-US" sz="950" dirty="0">
                    <a:solidFill>
                      <a:srgbClr val="008D2E"/>
                    </a:solidFill>
                    <a:latin typeface="+mn-ea"/>
                  </a:rPr>
                  <a:t>定着・評価</a:t>
                </a:r>
                <a:r>
                  <a:rPr lang="en-US" altLang="ja-JP" sz="950" dirty="0">
                    <a:solidFill>
                      <a:srgbClr val="008D2E"/>
                    </a:solidFill>
                    <a:latin typeface="+mn-ea"/>
                  </a:rPr>
                  <a:t>)</a:t>
                </a:r>
                <a:endParaRPr lang="ja-JP" altLang="en-US" sz="950" dirty="0">
                  <a:solidFill>
                    <a:schemeClr val="tx1"/>
                  </a:solidFill>
                  <a:latin typeface="+mn-ea"/>
                </a:endParaRPr>
              </a:p>
            </p:txBody>
          </p:sp>
          <p:sp>
            <p:nvSpPr>
              <p:cNvPr id="94" name="円/楕円 93">
                <a:extLst>
                  <a:ext uri="{FF2B5EF4-FFF2-40B4-BE49-F238E27FC236}">
                    <a16:creationId xmlns:a16="http://schemas.microsoft.com/office/drawing/2014/main" id="{B99E3915-57AD-95ED-E890-D2B6A1F1226C}"/>
                  </a:ext>
                </a:extLst>
              </p:cNvPr>
              <p:cNvSpPr>
                <a:spLocks noChangeAspect="1"/>
              </p:cNvSpPr>
              <p:nvPr/>
            </p:nvSpPr>
            <p:spPr>
              <a:xfrm>
                <a:off x="336624" y="4609812"/>
                <a:ext cx="144000" cy="144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800" b="0" i="0" u="none" strike="noStrike" kern="1200" cap="none" spc="0" normalizeH="0" baseline="0" noProof="0" dirty="0">
                    <a:ln>
                      <a:noFill/>
                    </a:ln>
                    <a:solidFill>
                      <a:srgbClr val="FFFFFF"/>
                    </a:solidFill>
                    <a:effectLst/>
                    <a:uLnTx/>
                    <a:uFillTx/>
                    <a:latin typeface="+mn-ea"/>
                    <a:cs typeface="+mn-cs"/>
                  </a:rPr>
                  <a:t>4</a:t>
                </a:r>
                <a:endParaRPr kumimoji="1" lang="ja-JP" altLang="en-US" sz="800" b="0" i="0" u="none" strike="noStrike" kern="1200" cap="none" spc="0" normalizeH="0" baseline="0" noProof="0">
                  <a:ln>
                    <a:noFill/>
                  </a:ln>
                  <a:solidFill>
                    <a:srgbClr val="FFFFFF"/>
                  </a:solidFill>
                  <a:effectLst/>
                  <a:uLnTx/>
                  <a:uFillTx/>
                  <a:latin typeface="+mn-ea"/>
                  <a:cs typeface="+mn-cs"/>
                </a:endParaRPr>
              </a:p>
            </p:txBody>
          </p:sp>
          <p:sp>
            <p:nvSpPr>
              <p:cNvPr id="95" name="正方形/長方形 94">
                <a:extLst>
                  <a:ext uri="{FF2B5EF4-FFF2-40B4-BE49-F238E27FC236}">
                    <a16:creationId xmlns:a16="http://schemas.microsoft.com/office/drawing/2014/main" id="{D566A1C9-6DDA-0AB7-9A30-A01E74B42370}"/>
                  </a:ext>
                </a:extLst>
              </p:cNvPr>
              <p:cNvSpPr/>
              <p:nvPr/>
            </p:nvSpPr>
            <p:spPr>
              <a:xfrm>
                <a:off x="408674" y="5517356"/>
                <a:ext cx="1116000" cy="792000"/>
              </a:xfrm>
              <a:prstGeom prst="rect">
                <a:avLst/>
              </a:prstGeom>
              <a:solidFill>
                <a:srgbClr val="008D2E">
                  <a:alpha val="2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6000" rIns="0" bIns="36000" numCol="1" spcCol="0" rtlCol="0" fromWordArt="0" anchor="ctr" anchorCtr="0" forceAA="0" compatLnSpc="1">
                <a:prstTxWarp prst="textNoShape">
                  <a:avLst/>
                </a:prstTxWarp>
                <a:noAutofit/>
              </a:bodyPr>
              <a:lstStyle/>
              <a:p>
                <a:pPr indent="11113" algn="ctr">
                  <a:spcAft>
                    <a:spcPts val="200"/>
                  </a:spcAft>
                </a:pPr>
                <a:r>
                  <a:rPr lang="ja-JP" altLang="en-US" sz="950" dirty="0">
                    <a:solidFill>
                      <a:srgbClr val="008D2E"/>
                    </a:solidFill>
                    <a:latin typeface="+mn-ea"/>
                  </a:rPr>
                  <a:t>全社横展開・</a:t>
                </a:r>
                <a:br>
                  <a:rPr lang="en-US" altLang="ja-JP" sz="950" dirty="0">
                    <a:solidFill>
                      <a:srgbClr val="008D2E"/>
                    </a:solidFill>
                    <a:latin typeface="+mn-ea"/>
                  </a:rPr>
                </a:br>
                <a:r>
                  <a:rPr lang="ja-JP" altLang="en-US" sz="950" dirty="0">
                    <a:solidFill>
                      <a:srgbClr val="008D2E"/>
                    </a:solidFill>
                    <a:latin typeface="+mn-ea"/>
                  </a:rPr>
                  <a:t>構造転換</a:t>
                </a:r>
                <a:br>
                  <a:rPr lang="en-US" altLang="ja-JP" sz="950" dirty="0">
                    <a:solidFill>
                      <a:srgbClr val="008D2E"/>
                    </a:solidFill>
                    <a:latin typeface="+mn-ea"/>
                  </a:rPr>
                </a:br>
                <a:r>
                  <a:rPr lang="ja-JP" altLang="en-US" sz="950" dirty="0">
                    <a:solidFill>
                      <a:srgbClr val="008D2E"/>
                    </a:solidFill>
                    <a:latin typeface="+mn-ea"/>
                  </a:rPr>
                  <a:t>(</a:t>
                </a:r>
                <a:r>
                  <a:rPr lang="en" altLang="ja-JP" sz="950" dirty="0">
                    <a:solidFill>
                      <a:srgbClr val="008D2E"/>
                    </a:solidFill>
                    <a:latin typeface="+mn-ea"/>
                  </a:rPr>
                  <a:t>第2段階 </a:t>
                </a:r>
                <a:r>
                  <a:rPr lang="ja-JP" altLang="en-US" sz="950" dirty="0">
                    <a:solidFill>
                      <a:srgbClr val="008D2E"/>
                    </a:solidFill>
                    <a:latin typeface="+mn-ea"/>
                  </a:rPr>
                  <a:t>移管・完了)</a:t>
                </a:r>
                <a:endParaRPr lang="ja-JP" altLang="en-US" sz="950" dirty="0">
                  <a:solidFill>
                    <a:schemeClr val="tx1"/>
                  </a:solidFill>
                  <a:latin typeface="+mn-ea"/>
                </a:endParaRPr>
              </a:p>
            </p:txBody>
          </p:sp>
          <p:sp>
            <p:nvSpPr>
              <p:cNvPr id="96" name="円/楕円 95">
                <a:extLst>
                  <a:ext uri="{FF2B5EF4-FFF2-40B4-BE49-F238E27FC236}">
                    <a16:creationId xmlns:a16="http://schemas.microsoft.com/office/drawing/2014/main" id="{8EDBA858-27FF-A54A-BA3D-3C441FBF5892}"/>
                  </a:ext>
                </a:extLst>
              </p:cNvPr>
              <p:cNvSpPr>
                <a:spLocks noChangeAspect="1"/>
              </p:cNvSpPr>
              <p:nvPr/>
            </p:nvSpPr>
            <p:spPr>
              <a:xfrm>
                <a:off x="336624" y="5482904"/>
                <a:ext cx="144000" cy="144000"/>
              </a:xfrm>
              <a:prstGeom prst="ellipse">
                <a:avLst/>
              </a:prstGeom>
              <a:solidFill>
                <a:srgbClr val="008D2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en-US" altLang="ja-JP" sz="800" b="0" i="0" u="none" strike="noStrike" kern="1200" cap="none" spc="0" normalizeH="0" baseline="0" noProof="0" dirty="0">
                    <a:ln>
                      <a:noFill/>
                    </a:ln>
                    <a:solidFill>
                      <a:srgbClr val="FFFFFF"/>
                    </a:solidFill>
                    <a:effectLst/>
                    <a:uLnTx/>
                    <a:uFillTx/>
                    <a:latin typeface="+mn-ea"/>
                    <a:cs typeface="+mn-cs"/>
                  </a:rPr>
                  <a:t>5</a:t>
                </a:r>
                <a:endParaRPr kumimoji="1" lang="ja-JP" altLang="en-US" sz="800" b="0" i="0" u="none" strike="noStrike" kern="1200" cap="none" spc="0" normalizeH="0" baseline="0" noProof="0">
                  <a:ln>
                    <a:noFill/>
                  </a:ln>
                  <a:solidFill>
                    <a:srgbClr val="FFFFFF"/>
                  </a:solidFill>
                  <a:effectLst/>
                  <a:uLnTx/>
                  <a:uFillTx/>
                  <a:latin typeface="+mn-ea"/>
                  <a:cs typeface="+mn-cs"/>
                </a:endParaRPr>
              </a:p>
            </p:txBody>
          </p:sp>
          <p:pic>
            <p:nvPicPr>
              <p:cNvPr id="134" name="グラフィックス 133" descr="目のスキャン 単色塗りつぶし">
                <a:extLst>
                  <a:ext uri="{FF2B5EF4-FFF2-40B4-BE49-F238E27FC236}">
                    <a16:creationId xmlns:a16="http://schemas.microsoft.com/office/drawing/2014/main" id="{4D874DC5-D0A2-C956-74A3-7A61375924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0674" y="2420983"/>
                <a:ext cx="324000" cy="324000"/>
              </a:xfrm>
              <a:prstGeom prst="rect">
                <a:avLst/>
              </a:prstGeom>
            </p:spPr>
          </p:pic>
          <p:pic>
            <p:nvPicPr>
              <p:cNvPr id="136" name="グラフィックス 135" descr="プレゼンテーション (組織図) 単色塗りつぶし">
                <a:extLst>
                  <a:ext uri="{FF2B5EF4-FFF2-40B4-BE49-F238E27FC236}">
                    <a16:creationId xmlns:a16="http://schemas.microsoft.com/office/drawing/2014/main" id="{F1C3FB14-5388-7C77-73F0-22FA5D53C7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0674" y="5985356"/>
                <a:ext cx="324000" cy="324000"/>
              </a:xfrm>
              <a:prstGeom prst="rect">
                <a:avLst/>
              </a:prstGeom>
            </p:spPr>
          </p:pic>
          <p:pic>
            <p:nvPicPr>
              <p:cNvPr id="138" name="グラフィックス 137" descr="左矢印付きの円 単色塗りつぶし">
                <a:extLst>
                  <a:ext uri="{FF2B5EF4-FFF2-40B4-BE49-F238E27FC236}">
                    <a16:creationId xmlns:a16="http://schemas.microsoft.com/office/drawing/2014/main" id="{EA784D5C-907A-84F0-2637-90D06FA377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1200674" y="4239169"/>
                <a:ext cx="324000" cy="324000"/>
              </a:xfrm>
              <a:prstGeom prst="rect">
                <a:avLst/>
              </a:prstGeom>
            </p:spPr>
          </p:pic>
          <p:pic>
            <p:nvPicPr>
              <p:cNvPr id="140" name="グラフィックス 139" descr="山形の矢印 単色塗りつぶし">
                <a:extLst>
                  <a:ext uri="{FF2B5EF4-FFF2-40B4-BE49-F238E27FC236}">
                    <a16:creationId xmlns:a16="http://schemas.microsoft.com/office/drawing/2014/main" id="{231DE800-B447-8BF2-EF52-5EF4538FB09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0674" y="5112261"/>
                <a:ext cx="324000" cy="324000"/>
              </a:xfrm>
              <a:prstGeom prst="rect">
                <a:avLst/>
              </a:prstGeom>
            </p:spPr>
          </p:pic>
          <p:pic>
            <p:nvPicPr>
              <p:cNvPr id="142" name="グラフィックス 141" descr="UI UX 単色塗りつぶし">
                <a:extLst>
                  <a:ext uri="{FF2B5EF4-FFF2-40B4-BE49-F238E27FC236}">
                    <a16:creationId xmlns:a16="http://schemas.microsoft.com/office/drawing/2014/main" id="{EE1283CD-66FA-70D9-50A8-D9AA15060A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00674" y="3222076"/>
                <a:ext cx="324000" cy="324000"/>
              </a:xfrm>
              <a:prstGeom prst="rect">
                <a:avLst/>
              </a:prstGeom>
            </p:spPr>
          </p:pic>
        </p:grpSp>
      </p:grpSp>
    </p:spTree>
    <p:extLst>
      <p:ext uri="{BB962C8B-B14F-4D97-AF65-F5344CB8AC3E}">
        <p14:creationId xmlns:p14="http://schemas.microsoft.com/office/powerpoint/2010/main" val="2417686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4DEB-3F35-B449-BFF8-FBBBD5F660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E8FDDC-488B-73DA-5089-BD9DA6E60495}"/>
              </a:ext>
            </a:extLst>
          </p:cNvPr>
          <p:cNvSpPr>
            <a:spLocks noGrp="1"/>
          </p:cNvSpPr>
          <p:nvPr>
            <p:ph type="title"/>
          </p:nvPr>
        </p:nvSpPr>
        <p:spPr>
          <a:xfrm>
            <a:off x="334963" y="1"/>
            <a:ext cx="11514671" cy="914400"/>
          </a:xfrm>
        </p:spPr>
        <p:txBody>
          <a:bodyPr/>
          <a:lstStyle/>
          <a:p>
            <a:r>
              <a:rPr kumimoji="1" lang="en" altLang="ja-JP" dirty="0"/>
              <a:t>KPI</a:t>
            </a:r>
            <a:r>
              <a:rPr kumimoji="1" lang="ja-JP" altLang="en-US" dirty="0"/>
              <a:t>と</a:t>
            </a:r>
            <a:r>
              <a:rPr kumimoji="1" lang="en" altLang="ja-JP" dirty="0"/>
              <a:t>ROI</a:t>
            </a:r>
            <a:r>
              <a:rPr kumimoji="1" lang="ja-JP" altLang="en-US" dirty="0"/>
              <a:t>（仮置き）</a:t>
            </a:r>
          </a:p>
        </p:txBody>
      </p:sp>
      <p:sp>
        <p:nvSpPr>
          <p:cNvPr id="3" name="テキスト プレースホルダー 2">
            <a:extLst>
              <a:ext uri="{FF2B5EF4-FFF2-40B4-BE49-F238E27FC236}">
                <a16:creationId xmlns:a16="http://schemas.microsoft.com/office/drawing/2014/main" id="{EC08879D-FB93-274B-B2BB-61450A50F8AB}"/>
              </a:ext>
            </a:extLst>
          </p:cNvPr>
          <p:cNvSpPr>
            <a:spLocks noGrp="1"/>
          </p:cNvSpPr>
          <p:nvPr>
            <p:ph type="body" sz="quarter" idx="13"/>
          </p:nvPr>
        </p:nvSpPr>
        <p:spPr/>
        <p:txBody>
          <a:bodyPr/>
          <a:lstStyle/>
          <a:p>
            <a:pPr>
              <a:spcBef>
                <a:spcPts val="400"/>
              </a:spcBef>
            </a:pPr>
            <a:r>
              <a:rPr kumimoji="1" lang="ja-JP" altLang="en-US" sz="1800" dirty="0"/>
              <a:t>先行指標と遅行指標の二重管理により、引き継ぎ品質の担保と</a:t>
            </a:r>
            <a:r>
              <a:rPr kumimoji="1" lang="en" altLang="ja-JP" sz="1800" dirty="0"/>
              <a:t>総コスト</a:t>
            </a:r>
            <a:r>
              <a:rPr kumimoji="1" lang="ja-JP" altLang="en-US" sz="1800" dirty="0"/>
              <a:t>削減・社員</a:t>
            </a:r>
            <a:r>
              <a:rPr kumimoji="1" lang="en-US" altLang="ja-JP" sz="1800" dirty="0"/>
              <a:t>12</a:t>
            </a:r>
            <a:r>
              <a:rPr kumimoji="1" lang="en" altLang="ja-JP" sz="1800" dirty="0"/>
              <a:t>人分</a:t>
            </a:r>
            <a:r>
              <a:rPr kumimoji="1" lang="ja-JP" altLang="en-US" sz="1800" dirty="0"/>
              <a:t>の企画シフトを行う</a:t>
            </a:r>
          </a:p>
          <a:p>
            <a:pPr>
              <a:spcBef>
                <a:spcPts val="400"/>
              </a:spcBef>
            </a:pPr>
            <a:r>
              <a:rPr kumimoji="1" lang="ja-JP" altLang="en-US" sz="1800" dirty="0"/>
              <a:t>本構造転換は直接的な委託費削減のみで約</a:t>
            </a:r>
            <a:r>
              <a:rPr kumimoji="1" lang="en-US" altLang="ja-JP" sz="1800" dirty="0"/>
              <a:t>2</a:t>
            </a:r>
            <a:r>
              <a:rPr kumimoji="1" lang="ja-JP" altLang="en-US" sz="1800" dirty="0"/>
              <a:t>年で投資回収し、</a:t>
            </a:r>
            <a:r>
              <a:rPr kumimoji="1" lang="en-US" altLang="ja-JP" sz="1800" dirty="0"/>
              <a:t>12</a:t>
            </a:r>
            <a:r>
              <a:rPr kumimoji="1" lang="en" altLang="ja-JP" sz="1800" dirty="0"/>
              <a:t>人分</a:t>
            </a:r>
            <a:r>
              <a:rPr kumimoji="1" lang="ja-JP" altLang="en-US" sz="1800" dirty="0"/>
              <a:t>のリソースシフトを創出する</a:t>
            </a:r>
            <a:r>
              <a:rPr kumimoji="1" lang="en" altLang="ja-JP" sz="1800" dirty="0"/>
              <a:t>ROI</a:t>
            </a:r>
            <a:r>
              <a:rPr kumimoji="1" lang="ja-JP" altLang="en-US" sz="1800" dirty="0"/>
              <a:t>の高い投資である</a:t>
            </a:r>
          </a:p>
        </p:txBody>
      </p:sp>
      <p:grpSp>
        <p:nvGrpSpPr>
          <p:cNvPr id="38" name="グループ化 37">
            <a:extLst>
              <a:ext uri="{FF2B5EF4-FFF2-40B4-BE49-F238E27FC236}">
                <a16:creationId xmlns:a16="http://schemas.microsoft.com/office/drawing/2014/main" id="{498F9BC6-1A35-95F8-4778-39F1DA0329F9}"/>
              </a:ext>
            </a:extLst>
          </p:cNvPr>
          <p:cNvGrpSpPr/>
          <p:nvPr/>
        </p:nvGrpSpPr>
        <p:grpSpPr>
          <a:xfrm>
            <a:off x="342914" y="4578487"/>
            <a:ext cx="11514409" cy="1738597"/>
            <a:chOff x="342914" y="4578487"/>
            <a:chExt cx="11514409" cy="1738597"/>
          </a:xfrm>
        </p:grpSpPr>
        <p:sp>
          <p:nvSpPr>
            <p:cNvPr id="20" name="table_TWformat_txt_2_1">
              <a:extLst>
                <a:ext uri="{FF2B5EF4-FFF2-40B4-BE49-F238E27FC236}">
                  <a16:creationId xmlns:a16="http://schemas.microsoft.com/office/drawing/2014/main" id="{010960D2-BD5A-E110-3A9A-6B272BA2983D}"/>
                </a:ext>
              </a:extLst>
            </p:cNvPr>
            <p:cNvSpPr/>
            <p:nvPr/>
          </p:nvSpPr>
          <p:spPr>
            <a:xfrm>
              <a:off x="342914" y="4578487"/>
              <a:ext cx="274637" cy="1738596"/>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 altLang="ja-JP" b="0" i="0" u="none" strike="noStrike" kern="1200" cap="none" spc="0" normalizeH="0" baseline="0" noProof="0" dirty="0">
                  <a:ln>
                    <a:noFill/>
                  </a:ln>
                  <a:solidFill>
                    <a:prstClr val="white"/>
                  </a:solidFill>
                  <a:effectLst/>
                  <a:uLnTx/>
                  <a:uFillTx/>
                  <a:latin typeface="+mn-ea"/>
                  <a:cs typeface="+mn-cs"/>
                </a:rPr>
                <a:t>R</a:t>
              </a:r>
              <a:br>
                <a:rPr kumimoji="1" lang="en" altLang="ja-JP" b="0" i="0" u="none" strike="noStrike" kern="1200" cap="none" spc="0" normalizeH="0" baseline="0" noProof="0" dirty="0">
                  <a:ln>
                    <a:noFill/>
                  </a:ln>
                  <a:solidFill>
                    <a:prstClr val="white"/>
                  </a:solidFill>
                  <a:effectLst/>
                  <a:uLnTx/>
                  <a:uFillTx/>
                  <a:latin typeface="+mn-ea"/>
                  <a:cs typeface="+mn-cs"/>
                </a:rPr>
              </a:br>
              <a:r>
                <a:rPr kumimoji="1" lang="en" altLang="ja-JP" b="0" i="0" u="none" strike="noStrike" kern="1200" cap="none" spc="0" normalizeH="0" baseline="0" noProof="0" dirty="0">
                  <a:ln>
                    <a:noFill/>
                  </a:ln>
                  <a:solidFill>
                    <a:prstClr val="white"/>
                  </a:solidFill>
                  <a:effectLst/>
                  <a:uLnTx/>
                  <a:uFillTx/>
                  <a:latin typeface="+mn-ea"/>
                  <a:cs typeface="+mn-cs"/>
                </a:rPr>
                <a:t>O</a:t>
              </a:r>
              <a:br>
                <a:rPr kumimoji="1" lang="en" altLang="ja-JP" b="0" i="0" u="none" strike="noStrike" kern="1200" cap="none" spc="0" normalizeH="0" baseline="0" noProof="0" dirty="0">
                  <a:ln>
                    <a:noFill/>
                  </a:ln>
                  <a:solidFill>
                    <a:prstClr val="white"/>
                  </a:solidFill>
                  <a:effectLst/>
                  <a:uLnTx/>
                  <a:uFillTx/>
                  <a:latin typeface="+mn-ea"/>
                  <a:cs typeface="+mn-cs"/>
                </a:rPr>
              </a:br>
              <a:r>
                <a:rPr kumimoji="1" lang="en" altLang="ja-JP" b="0" i="0" u="none" strike="noStrike" kern="1200" cap="none" spc="0" normalizeH="0" baseline="0" noProof="0" dirty="0">
                  <a:ln>
                    <a:noFill/>
                  </a:ln>
                  <a:solidFill>
                    <a:prstClr val="white"/>
                  </a:solidFill>
                  <a:effectLst/>
                  <a:uLnTx/>
                  <a:uFillTx/>
                  <a:latin typeface="+mn-ea"/>
                  <a:cs typeface="+mn-cs"/>
                </a:rPr>
                <a:t>I</a:t>
              </a:r>
            </a:p>
          </p:txBody>
        </p:sp>
        <p:sp>
          <p:nvSpPr>
            <p:cNvPr id="325" name="Shape 2">
              <a:extLst>
                <a:ext uri="{FF2B5EF4-FFF2-40B4-BE49-F238E27FC236}">
                  <a16:creationId xmlns:a16="http://schemas.microsoft.com/office/drawing/2014/main" id="{6F312345-FA90-6DFE-531C-CEDF9DB2B401}"/>
                </a:ext>
              </a:extLst>
            </p:cNvPr>
            <p:cNvSpPr/>
            <p:nvPr/>
          </p:nvSpPr>
          <p:spPr>
            <a:xfrm>
              <a:off x="750999" y="4578487"/>
              <a:ext cx="1883156" cy="540000"/>
            </a:xfrm>
            <a:prstGeom prst="roundRect">
              <a:avLst>
                <a:gd name="adj" fmla="val 5161"/>
              </a:avLst>
            </a:prstGeom>
            <a:solidFill>
              <a:schemeClr val="bg1">
                <a:lumMod val="85000"/>
              </a:schemeClr>
            </a:solidFill>
            <a:ln>
              <a:noFill/>
            </a:ln>
          </p:spPr>
          <p:txBody>
            <a:bodyPr/>
            <a:lstStyle/>
            <a:p>
              <a:pPr>
                <a:spcAft>
                  <a:spcPts val="200"/>
                </a:spcAft>
              </a:pPr>
              <a:r>
                <a:rPr lang="en-US" altLang="ja-JP" sz="1200" dirty="0">
                  <a:solidFill>
                    <a:srgbClr val="5A6660"/>
                  </a:solidFill>
                  <a:latin typeface="+mn-ea"/>
                  <a:cs typeface="Meiryo UI" pitchFamily="34" charset="-120"/>
                </a:rPr>
                <a:t>① </a:t>
              </a:r>
              <a:r>
                <a:rPr lang="en-US" altLang="ja-JP" sz="1200" dirty="0" err="1">
                  <a:solidFill>
                    <a:srgbClr val="5A6660"/>
                  </a:solidFill>
                  <a:latin typeface="+mn-ea"/>
                  <a:cs typeface="Meiryo UI" pitchFamily="34" charset="-120"/>
                </a:rPr>
                <a:t>ROI</a:t>
              </a:r>
              <a:endParaRPr lang="en-US" altLang="ja-JP" sz="1200" dirty="0">
                <a:solidFill>
                  <a:srgbClr val="5A6660"/>
                </a:solidFill>
                <a:latin typeface="+mn-ea"/>
                <a:cs typeface="Meiryo UI" pitchFamily="34" charset="-120"/>
              </a:endParaRPr>
            </a:p>
            <a:p>
              <a:pPr>
                <a:spcAft>
                  <a:spcPts val="200"/>
                </a:spcAft>
              </a:pPr>
              <a:r>
                <a:rPr lang="en-US" altLang="ja-JP" sz="1200" dirty="0" err="1">
                  <a:latin typeface="+mn-ea"/>
                  <a:cs typeface="Meiryo UI" pitchFamily="34" charset="-120"/>
                </a:rPr>
                <a:t>キャッシュのみ</a:t>
              </a:r>
              <a:endParaRPr lang="en-US" altLang="ja-JP" sz="1200" dirty="0">
                <a:latin typeface="+mn-ea"/>
              </a:endParaRPr>
            </a:p>
          </p:txBody>
        </p:sp>
        <p:sp>
          <p:nvSpPr>
            <p:cNvPr id="327" name="Text 4">
              <a:extLst>
                <a:ext uri="{FF2B5EF4-FFF2-40B4-BE49-F238E27FC236}">
                  <a16:creationId xmlns:a16="http://schemas.microsoft.com/office/drawing/2014/main" id="{FA3CBA13-301A-E013-10A5-674098903AD8}"/>
                </a:ext>
              </a:extLst>
            </p:cNvPr>
            <p:cNvSpPr/>
            <p:nvPr/>
          </p:nvSpPr>
          <p:spPr>
            <a:xfrm>
              <a:off x="2767604" y="4578487"/>
              <a:ext cx="900000" cy="540000"/>
            </a:xfrm>
            <a:prstGeom prst="rect">
              <a:avLst/>
            </a:prstGeom>
            <a:noFill/>
            <a:ln/>
          </p:spPr>
          <p:txBody>
            <a:bodyPr wrap="square" lIns="0" tIns="0" rIns="0" bIns="0" rtlCol="0" anchor="ctr"/>
            <a:lstStyle/>
            <a:p>
              <a:pPr marL="0" indent="0" algn="ctr">
                <a:buNone/>
              </a:pPr>
              <a:r>
                <a:rPr lang="en-US" sz="1400" b="1" dirty="0">
                  <a:solidFill>
                    <a:schemeClr val="bg1">
                      <a:lumMod val="50000"/>
                    </a:schemeClr>
                  </a:solidFill>
                  <a:latin typeface="+mn-ea"/>
                  <a:cs typeface="Meiryo UI" pitchFamily="34" charset="-120"/>
                </a:rPr>
                <a:t>＋1.1億円</a:t>
              </a:r>
              <a:endParaRPr lang="en-US" sz="1400" dirty="0">
                <a:solidFill>
                  <a:schemeClr val="bg1">
                    <a:lumMod val="50000"/>
                  </a:schemeClr>
                </a:solidFill>
                <a:latin typeface="+mn-ea"/>
              </a:endParaRPr>
            </a:p>
          </p:txBody>
        </p:sp>
        <p:sp>
          <p:nvSpPr>
            <p:cNvPr id="328" name="Text 5">
              <a:extLst>
                <a:ext uri="{FF2B5EF4-FFF2-40B4-BE49-F238E27FC236}">
                  <a16:creationId xmlns:a16="http://schemas.microsoft.com/office/drawing/2014/main" id="{C4086E6E-8341-2BE8-9B77-8DAFD48B62CC}"/>
                </a:ext>
              </a:extLst>
            </p:cNvPr>
            <p:cNvSpPr/>
            <p:nvPr/>
          </p:nvSpPr>
          <p:spPr>
            <a:xfrm>
              <a:off x="3739059" y="4578487"/>
              <a:ext cx="3204000" cy="540000"/>
            </a:xfrm>
            <a:prstGeom prst="rect">
              <a:avLst/>
            </a:prstGeom>
            <a:noFill/>
            <a:ln/>
          </p:spPr>
          <p:txBody>
            <a:bodyPr wrap="square" lIns="0" tIns="0" rIns="0" bIns="0" rtlCol="0" anchor="ctr"/>
            <a:lstStyle/>
            <a:p>
              <a:pPr marL="99450" indent="-99450">
                <a:lnSpc>
                  <a:spcPct val="105000"/>
                </a:lnSpc>
                <a:buClr>
                  <a:schemeClr val="bg1">
                    <a:lumMod val="50000"/>
                  </a:schemeClr>
                </a:buClr>
                <a:buFont typeface="Arial" panose="020B0604020202020204" pitchFamily="34" charset="0"/>
                <a:buChar char="•"/>
              </a:pPr>
              <a:r>
                <a:rPr lang="en-US" sz="900" dirty="0">
                  <a:latin typeface="+mn-ea"/>
                  <a:cs typeface="Meiryo UI" pitchFamily="34" charset="-120"/>
                </a:rPr>
                <a:t>4年累計の純効果 </a:t>
              </a:r>
              <a:br>
                <a:rPr lang="en-US" sz="900" dirty="0">
                  <a:latin typeface="+mn-ea"/>
                  <a:cs typeface="Meiryo UI" pitchFamily="34" charset="-120"/>
                </a:rPr>
              </a:br>
              <a:r>
                <a:rPr lang="en-US" sz="900" dirty="0">
                  <a:latin typeface="+mn-ea"/>
                  <a:cs typeface="Meiryo UI" pitchFamily="34" charset="-120"/>
                </a:rPr>
                <a:t>(投資1.18億円 対 委託費削減2.28億円)</a:t>
              </a:r>
            </a:p>
            <a:p>
              <a:pPr marL="99450" indent="-99450">
                <a:lnSpc>
                  <a:spcPct val="105000"/>
                </a:lnSpc>
                <a:buClr>
                  <a:schemeClr val="bg1">
                    <a:lumMod val="50000"/>
                  </a:schemeClr>
                </a:buClr>
                <a:buFont typeface="Arial" panose="020B0604020202020204" pitchFamily="34" charset="0"/>
                <a:buChar char="•"/>
              </a:pPr>
              <a:r>
                <a:rPr lang="en-US" sz="900" dirty="0">
                  <a:latin typeface="+mn-ea"/>
                  <a:cs typeface="Meiryo UI" pitchFamily="34" charset="-120"/>
                </a:rPr>
                <a:t>回収はFY29 - ベンダ試算・中国拠点活用を前提</a:t>
              </a:r>
              <a:endParaRPr lang="en-US" sz="900" dirty="0">
                <a:latin typeface="+mn-ea"/>
              </a:endParaRPr>
            </a:p>
          </p:txBody>
        </p:sp>
        <p:sp>
          <p:nvSpPr>
            <p:cNvPr id="329" name="Shape 6">
              <a:extLst>
                <a:ext uri="{FF2B5EF4-FFF2-40B4-BE49-F238E27FC236}">
                  <a16:creationId xmlns:a16="http://schemas.microsoft.com/office/drawing/2014/main" id="{42AAA30A-72AC-3C28-6B1F-CAA3ACD8D07E}"/>
                </a:ext>
              </a:extLst>
            </p:cNvPr>
            <p:cNvSpPr/>
            <p:nvPr/>
          </p:nvSpPr>
          <p:spPr>
            <a:xfrm>
              <a:off x="750999" y="5177786"/>
              <a:ext cx="1883156" cy="540000"/>
            </a:xfrm>
            <a:prstGeom prst="roundRect">
              <a:avLst>
                <a:gd name="adj" fmla="val 5161"/>
              </a:avLst>
            </a:prstGeom>
            <a:solidFill>
              <a:srgbClr val="008D2E">
                <a:alpha val="20000"/>
              </a:srgbClr>
            </a:solidFill>
            <a:ln/>
          </p:spPr>
          <p:txBody>
            <a:bodyPr/>
            <a:lstStyle/>
            <a:p>
              <a:pPr>
                <a:spcAft>
                  <a:spcPts val="200"/>
                </a:spcAft>
              </a:pPr>
              <a:r>
                <a:rPr lang="en-US" altLang="ja-JP" sz="1200" dirty="0">
                  <a:solidFill>
                    <a:srgbClr val="008D2E"/>
                  </a:solidFill>
                  <a:latin typeface="+mn-ea"/>
                </a:rPr>
                <a:t>② </a:t>
              </a:r>
              <a:r>
                <a:rPr lang="ja-JP" altLang="en-US" sz="1200" dirty="0">
                  <a:solidFill>
                    <a:srgbClr val="008D2E"/>
                  </a:solidFill>
                  <a:latin typeface="+mn-ea"/>
                </a:rPr>
                <a:t>企画転換</a:t>
              </a:r>
              <a:endParaRPr lang="en" altLang="ja-JP" sz="1200" dirty="0">
                <a:solidFill>
                  <a:srgbClr val="008D2E"/>
                </a:solidFill>
                <a:latin typeface="+mn-ea"/>
              </a:endParaRPr>
            </a:p>
            <a:p>
              <a:pPr>
                <a:spcAft>
                  <a:spcPts val="200"/>
                </a:spcAft>
              </a:pPr>
              <a:r>
                <a:rPr lang="en" altLang="ja-JP" sz="1200" dirty="0">
                  <a:latin typeface="+mn-ea"/>
                </a:rPr>
                <a:t>人員</a:t>
              </a:r>
              <a:r>
                <a:rPr lang="ja-JP" altLang="en-US" sz="1200" dirty="0">
                  <a:latin typeface="+mn-ea"/>
                </a:rPr>
                <a:t>再配置価値込み</a:t>
              </a:r>
              <a:endParaRPr lang="en-US" altLang="ja-JP" sz="1200" dirty="0">
                <a:latin typeface="+mn-ea"/>
              </a:endParaRPr>
            </a:p>
            <a:p>
              <a:pPr>
                <a:spcAft>
                  <a:spcPts val="200"/>
                </a:spcAft>
              </a:pPr>
              <a:endParaRPr lang="en-US" altLang="ja-JP" sz="1200" dirty="0">
                <a:latin typeface="+mn-ea"/>
              </a:endParaRPr>
            </a:p>
          </p:txBody>
        </p:sp>
        <p:sp>
          <p:nvSpPr>
            <p:cNvPr id="331" name="Text 8">
              <a:extLst>
                <a:ext uri="{FF2B5EF4-FFF2-40B4-BE49-F238E27FC236}">
                  <a16:creationId xmlns:a16="http://schemas.microsoft.com/office/drawing/2014/main" id="{ADB8D128-9CAA-EF37-B897-5EC71186AD36}"/>
                </a:ext>
              </a:extLst>
            </p:cNvPr>
            <p:cNvSpPr/>
            <p:nvPr/>
          </p:nvSpPr>
          <p:spPr>
            <a:xfrm>
              <a:off x="2767604" y="5177785"/>
              <a:ext cx="900000" cy="540000"/>
            </a:xfrm>
            <a:prstGeom prst="rect">
              <a:avLst/>
            </a:prstGeom>
            <a:noFill/>
            <a:ln/>
          </p:spPr>
          <p:txBody>
            <a:bodyPr wrap="square" lIns="0" tIns="0" rIns="0" bIns="0" rtlCol="0" anchor="ctr"/>
            <a:lstStyle/>
            <a:p>
              <a:pPr marL="0" indent="0" algn="ctr">
                <a:buNone/>
              </a:pPr>
              <a:r>
                <a:rPr lang="en-US" altLang="ja-JP" sz="1400" b="1" dirty="0">
                  <a:solidFill>
                    <a:srgbClr val="008D2E"/>
                  </a:solidFill>
                  <a:latin typeface="+mn-ea"/>
                  <a:cs typeface="Meiryo UI" pitchFamily="34" charset="-120"/>
                </a:rPr>
                <a:t>5</a:t>
              </a:r>
              <a:r>
                <a:rPr lang="ja-JP" altLang="en-US" sz="1400" b="1" dirty="0">
                  <a:solidFill>
                    <a:srgbClr val="008D2E"/>
                  </a:solidFill>
                  <a:latin typeface="+mn-ea"/>
                  <a:cs typeface="Meiryo UI" pitchFamily="34" charset="-120"/>
                </a:rPr>
                <a:t>人</a:t>
              </a:r>
              <a:endParaRPr lang="en-US" sz="1400" b="1" dirty="0">
                <a:solidFill>
                  <a:srgbClr val="008D2E"/>
                </a:solidFill>
                <a:latin typeface="+mn-ea"/>
                <a:cs typeface="Meiryo UI" pitchFamily="34" charset="-120"/>
              </a:endParaRPr>
            </a:p>
          </p:txBody>
        </p:sp>
        <p:sp>
          <p:nvSpPr>
            <p:cNvPr id="332" name="Text 9">
              <a:extLst>
                <a:ext uri="{FF2B5EF4-FFF2-40B4-BE49-F238E27FC236}">
                  <a16:creationId xmlns:a16="http://schemas.microsoft.com/office/drawing/2014/main" id="{25FB4907-1C53-79A3-ABBB-BA0B2A829757}"/>
                </a:ext>
              </a:extLst>
            </p:cNvPr>
            <p:cNvSpPr/>
            <p:nvPr/>
          </p:nvSpPr>
          <p:spPr>
            <a:xfrm>
              <a:off x="3739059" y="5177786"/>
              <a:ext cx="3204000" cy="540000"/>
            </a:xfrm>
            <a:prstGeom prst="rect">
              <a:avLst/>
            </a:prstGeom>
            <a:noFill/>
            <a:ln/>
          </p:spPr>
          <p:txBody>
            <a:bodyPr wrap="square" lIns="0" tIns="0" rIns="0" bIns="0" rtlCol="0" anchor="ctr"/>
            <a:lstStyle/>
            <a:p>
              <a:pPr marL="99450" indent="-99450">
                <a:buClr>
                  <a:srgbClr val="008D2E"/>
                </a:buClr>
                <a:buFont typeface="Arial" panose="020B0604020202020204" pitchFamily="34" charset="0"/>
                <a:buChar char="•"/>
              </a:pPr>
              <a:r>
                <a:rPr lang="en-US" sz="900" dirty="0">
                  <a:latin typeface="+mn-ea"/>
                  <a:cs typeface="Meiryo UI" pitchFamily="34" charset="-120"/>
                </a:rPr>
                <a:t>4年累計</a:t>
              </a:r>
            </a:p>
            <a:p>
              <a:pPr marL="99450" indent="-99450">
                <a:buClr>
                  <a:srgbClr val="008D2E"/>
                </a:buClr>
                <a:buFont typeface="Arial" panose="020B0604020202020204" pitchFamily="34" charset="0"/>
                <a:buChar char="•"/>
              </a:pPr>
              <a:r>
                <a:rPr lang="en-US" sz="900" dirty="0">
                  <a:latin typeface="+mn-ea"/>
                  <a:cs typeface="Meiryo UI" pitchFamily="34" charset="-120"/>
                </a:rPr>
                <a:t>FY2</a:t>
              </a:r>
              <a:r>
                <a:rPr lang="en-US" altLang="ja-JP" sz="900" dirty="0">
                  <a:latin typeface="+mn-ea"/>
                  <a:cs typeface="Meiryo UI" pitchFamily="34" charset="-120"/>
                </a:rPr>
                <a:t>8</a:t>
              </a:r>
              <a:r>
                <a:rPr lang="en-US" sz="900" dirty="0">
                  <a:latin typeface="+mn-ea"/>
                  <a:cs typeface="Meiryo UI" pitchFamily="34" charset="-120"/>
                </a:rPr>
                <a:t>にほぼ</a:t>
              </a:r>
              <a:r>
                <a:rPr lang="ja-JP" altLang="en-US" sz="900" dirty="0">
                  <a:latin typeface="+mn-ea"/>
                  <a:cs typeface="Meiryo UI" pitchFamily="34" charset="-120"/>
                </a:rPr>
                <a:t>完遂</a:t>
              </a:r>
              <a:endParaRPr lang="en-US" sz="900" dirty="0">
                <a:latin typeface="+mn-ea"/>
              </a:endParaRPr>
            </a:p>
          </p:txBody>
        </p:sp>
        <p:sp>
          <p:nvSpPr>
            <p:cNvPr id="333" name="Shape 10">
              <a:extLst>
                <a:ext uri="{FF2B5EF4-FFF2-40B4-BE49-F238E27FC236}">
                  <a16:creationId xmlns:a16="http://schemas.microsoft.com/office/drawing/2014/main" id="{63CCAA0E-B842-51AC-F225-17645431040B}"/>
                </a:ext>
              </a:extLst>
            </p:cNvPr>
            <p:cNvSpPr/>
            <p:nvPr/>
          </p:nvSpPr>
          <p:spPr>
            <a:xfrm>
              <a:off x="750999" y="5777084"/>
              <a:ext cx="1883156" cy="540000"/>
            </a:xfrm>
            <a:prstGeom prst="roundRect">
              <a:avLst>
                <a:gd name="adj" fmla="val 5161"/>
              </a:avLst>
            </a:prstGeom>
            <a:solidFill>
              <a:srgbClr val="C00000">
                <a:alpha val="20000"/>
              </a:srgbClr>
            </a:solidFill>
            <a:ln/>
          </p:spPr>
          <p:txBody>
            <a:bodyPr/>
            <a:lstStyle/>
            <a:p>
              <a:pPr>
                <a:spcAft>
                  <a:spcPts val="200"/>
                </a:spcAft>
              </a:pPr>
              <a:r>
                <a:rPr lang="en-US" altLang="ja-JP" sz="1200" dirty="0">
                  <a:solidFill>
                    <a:srgbClr val="C00000"/>
                  </a:solidFill>
                  <a:latin typeface="+mn-ea"/>
                </a:rPr>
                <a:t>③ </a:t>
              </a:r>
              <a:r>
                <a:rPr lang="ja-JP" altLang="en-US" sz="1200" dirty="0">
                  <a:solidFill>
                    <a:srgbClr val="C00000"/>
                  </a:solidFill>
                  <a:latin typeface="+mn-ea"/>
                </a:rPr>
                <a:t>リスク低減</a:t>
              </a:r>
              <a:endParaRPr lang="en-US" altLang="ja-JP" sz="1200" dirty="0">
                <a:solidFill>
                  <a:srgbClr val="C00000"/>
                </a:solidFill>
                <a:latin typeface="+mn-ea"/>
              </a:endParaRPr>
            </a:p>
            <a:p>
              <a:pPr>
                <a:spcAft>
                  <a:spcPts val="200"/>
                </a:spcAft>
              </a:pPr>
              <a:r>
                <a:rPr lang="ja-JP" altLang="en-US" sz="1200" dirty="0">
                  <a:latin typeface="+mn-ea"/>
                </a:rPr>
                <a:t>参考・金額非計上</a:t>
              </a:r>
              <a:endParaRPr lang="en-US" altLang="ja-JP" sz="1200" dirty="0">
                <a:latin typeface="+mn-ea"/>
              </a:endParaRPr>
            </a:p>
          </p:txBody>
        </p:sp>
        <p:sp>
          <p:nvSpPr>
            <p:cNvPr id="335" name="Text 12">
              <a:extLst>
                <a:ext uri="{FF2B5EF4-FFF2-40B4-BE49-F238E27FC236}">
                  <a16:creationId xmlns:a16="http://schemas.microsoft.com/office/drawing/2014/main" id="{23D3E81B-6C57-D7F8-4B91-18FB6780C021}"/>
                </a:ext>
              </a:extLst>
            </p:cNvPr>
            <p:cNvSpPr/>
            <p:nvPr/>
          </p:nvSpPr>
          <p:spPr>
            <a:xfrm>
              <a:off x="2767604" y="5777084"/>
              <a:ext cx="900000" cy="540000"/>
            </a:xfrm>
            <a:prstGeom prst="rect">
              <a:avLst/>
            </a:prstGeom>
            <a:noFill/>
            <a:ln/>
          </p:spPr>
          <p:txBody>
            <a:bodyPr wrap="square" lIns="0" tIns="0" rIns="0" bIns="0" rtlCol="0" anchor="ctr"/>
            <a:lstStyle/>
            <a:p>
              <a:pPr marL="0" indent="0" algn="ctr">
                <a:buNone/>
              </a:pPr>
              <a:r>
                <a:rPr lang="en-US" sz="1400" b="1" dirty="0">
                  <a:solidFill>
                    <a:srgbClr val="C00000"/>
                  </a:solidFill>
                  <a:latin typeface="+mn-ea"/>
                  <a:cs typeface="Meiryo UI" pitchFamily="34" charset="-120"/>
                </a:rPr>
                <a:t>定性報告</a:t>
              </a:r>
              <a:endParaRPr lang="en-US" sz="1400" dirty="0">
                <a:solidFill>
                  <a:srgbClr val="C00000"/>
                </a:solidFill>
                <a:latin typeface="+mn-ea"/>
              </a:endParaRPr>
            </a:p>
          </p:txBody>
        </p:sp>
        <p:sp>
          <p:nvSpPr>
            <p:cNvPr id="336" name="Text 13">
              <a:extLst>
                <a:ext uri="{FF2B5EF4-FFF2-40B4-BE49-F238E27FC236}">
                  <a16:creationId xmlns:a16="http://schemas.microsoft.com/office/drawing/2014/main" id="{E662DD11-6337-CA26-078C-726695BCFE4C}"/>
                </a:ext>
              </a:extLst>
            </p:cNvPr>
            <p:cNvSpPr/>
            <p:nvPr/>
          </p:nvSpPr>
          <p:spPr>
            <a:xfrm>
              <a:off x="3726941" y="5777084"/>
              <a:ext cx="3204000" cy="540000"/>
            </a:xfrm>
            <a:prstGeom prst="rect">
              <a:avLst/>
            </a:prstGeom>
            <a:noFill/>
            <a:ln/>
          </p:spPr>
          <p:txBody>
            <a:bodyPr wrap="square" lIns="0" tIns="0" rIns="0" bIns="0" rtlCol="0" anchor="ctr"/>
            <a:lstStyle/>
            <a:p>
              <a:pPr marL="99450" indent="-99450">
                <a:lnSpc>
                  <a:spcPct val="105000"/>
                </a:lnSpc>
                <a:buClr>
                  <a:srgbClr val="C00000"/>
                </a:buClr>
                <a:buFont typeface="Arial" panose="020B0604020202020204" pitchFamily="34" charset="0"/>
                <a:buChar char="•"/>
              </a:pPr>
              <a:r>
                <a:rPr lang="en-US" sz="900" dirty="0">
                  <a:latin typeface="+mn-ea"/>
                  <a:cs typeface="Meiryo UI" pitchFamily="34" charset="-120"/>
                </a:rPr>
                <a:t>障害11億円 / 日・休職1,200万円 / </a:t>
              </a:r>
              <a:r>
                <a:rPr lang="en-US" sz="900" dirty="0" err="1">
                  <a:latin typeface="+mn-ea"/>
                  <a:cs typeface="Meiryo UI" pitchFamily="34" charset="-120"/>
                </a:rPr>
                <a:t>件</a:t>
              </a:r>
              <a:r>
                <a:rPr lang="en-US" sz="900" dirty="0">
                  <a:latin typeface="+mn-ea"/>
                  <a:cs typeface="Meiryo UI" pitchFamily="34" charset="-120"/>
                </a:rPr>
                <a:t>・</a:t>
              </a:r>
              <a:br>
                <a:rPr lang="en-US" sz="900" dirty="0">
                  <a:latin typeface="+mn-ea"/>
                  <a:cs typeface="Meiryo UI" pitchFamily="34" charset="-120"/>
                </a:rPr>
              </a:br>
              <a:r>
                <a:rPr lang="en-US" sz="900" dirty="0" err="1">
                  <a:latin typeface="+mn-ea"/>
                  <a:cs typeface="Meiryo UI" pitchFamily="34" charset="-120"/>
                </a:rPr>
                <a:t>属人喪失の期待損失を低減</a:t>
              </a:r>
              <a:r>
                <a:rPr lang="en-US" sz="900" dirty="0">
                  <a:latin typeface="+mn-ea"/>
                  <a:cs typeface="Meiryo UI" pitchFamily="34" charset="-120"/>
                </a:rPr>
                <a:t> </a:t>
              </a:r>
              <a:br>
                <a:rPr lang="en-US" sz="900" dirty="0">
                  <a:latin typeface="+mn-ea"/>
                  <a:cs typeface="Meiryo UI" pitchFamily="34" charset="-120"/>
                </a:rPr>
              </a:br>
              <a:r>
                <a:rPr lang="en-US" altLang="ja-JP" sz="900" dirty="0">
                  <a:latin typeface="+mn-ea"/>
                  <a:cs typeface="Meiryo UI" pitchFamily="34" charset="-120"/>
                </a:rPr>
                <a:t>-</a:t>
              </a:r>
              <a:r>
                <a:rPr lang="en-US" sz="900" dirty="0">
                  <a:latin typeface="+mn-ea"/>
                  <a:cs typeface="Meiryo UI" pitchFamily="34" charset="-120"/>
                </a:rPr>
                <a:t> ROIに算入せず参考情報として併記</a:t>
              </a:r>
              <a:endParaRPr lang="en-US" sz="900" dirty="0">
                <a:latin typeface="+mn-ea"/>
              </a:endParaRPr>
            </a:p>
          </p:txBody>
        </p:sp>
        <p:cxnSp>
          <p:nvCxnSpPr>
            <p:cNvPr id="340" name="table_TWformat_line_2_2">
              <a:extLst>
                <a:ext uri="{FF2B5EF4-FFF2-40B4-BE49-F238E27FC236}">
                  <a16:creationId xmlns:a16="http://schemas.microsoft.com/office/drawing/2014/main" id="{ED4F64F4-48C9-7CFB-DFDC-E57DA6786534}"/>
                </a:ext>
              </a:extLst>
            </p:cNvPr>
            <p:cNvCxnSpPr>
              <a:cxnSpLocks/>
            </p:cNvCxnSpPr>
            <p:nvPr/>
          </p:nvCxnSpPr>
          <p:spPr>
            <a:xfrm>
              <a:off x="2767604" y="5148136"/>
              <a:ext cx="900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1" name="table_TWformat_line_2_2">
              <a:extLst>
                <a:ext uri="{FF2B5EF4-FFF2-40B4-BE49-F238E27FC236}">
                  <a16:creationId xmlns:a16="http://schemas.microsoft.com/office/drawing/2014/main" id="{13131F90-BBC9-C17F-7D2D-06DF3C92C84B}"/>
                </a:ext>
              </a:extLst>
            </p:cNvPr>
            <p:cNvCxnSpPr>
              <a:cxnSpLocks/>
            </p:cNvCxnSpPr>
            <p:nvPr/>
          </p:nvCxnSpPr>
          <p:spPr>
            <a:xfrm>
              <a:off x="2767604" y="5747435"/>
              <a:ext cx="900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2" name="table_TWformat_line_2_2">
              <a:extLst>
                <a:ext uri="{FF2B5EF4-FFF2-40B4-BE49-F238E27FC236}">
                  <a16:creationId xmlns:a16="http://schemas.microsoft.com/office/drawing/2014/main" id="{00D9F11A-7728-2279-18F3-9BB37D088C6A}"/>
                </a:ext>
              </a:extLst>
            </p:cNvPr>
            <p:cNvCxnSpPr>
              <a:cxnSpLocks/>
            </p:cNvCxnSpPr>
            <p:nvPr/>
          </p:nvCxnSpPr>
          <p:spPr>
            <a:xfrm>
              <a:off x="3739059" y="5148137"/>
              <a:ext cx="3203999"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3" name="table_TWformat_line_2_2">
              <a:extLst>
                <a:ext uri="{FF2B5EF4-FFF2-40B4-BE49-F238E27FC236}">
                  <a16:creationId xmlns:a16="http://schemas.microsoft.com/office/drawing/2014/main" id="{D313C91B-E21C-2C5D-205B-0B52403D2EDC}"/>
                </a:ext>
              </a:extLst>
            </p:cNvPr>
            <p:cNvCxnSpPr>
              <a:cxnSpLocks/>
            </p:cNvCxnSpPr>
            <p:nvPr/>
          </p:nvCxnSpPr>
          <p:spPr>
            <a:xfrm>
              <a:off x="3739059" y="5747435"/>
              <a:ext cx="3203999"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45" name="テキスト ボックス 344">
              <a:extLst>
                <a:ext uri="{FF2B5EF4-FFF2-40B4-BE49-F238E27FC236}">
                  <a16:creationId xmlns:a16="http://schemas.microsoft.com/office/drawing/2014/main" id="{69459932-D279-ECC5-AF79-19559E1D048D}"/>
                </a:ext>
              </a:extLst>
            </p:cNvPr>
            <p:cNvSpPr txBox="1"/>
            <p:nvPr/>
          </p:nvSpPr>
          <p:spPr>
            <a:xfrm>
              <a:off x="11243201" y="4578487"/>
              <a:ext cx="614122" cy="324000"/>
            </a:xfrm>
            <a:prstGeom prst="rect">
              <a:avLst/>
            </a:prstGeom>
            <a:solidFill>
              <a:srgbClr val="008D2E"/>
            </a:solidFill>
          </p:spPr>
          <p:txBody>
            <a:bodyPr wrap="square" lIns="0" tIns="36000" rIns="0" bIns="36000" rtlCol="0" anchor="ctr">
              <a:noAutofit/>
            </a:bodyPr>
            <a:lstStyle/>
            <a:p>
              <a:pPr algn="ctr"/>
              <a:r>
                <a:rPr kumimoji="1" lang="en-US" altLang="ja-JP" sz="1000" b="1" dirty="0">
                  <a:solidFill>
                    <a:schemeClr val="bg1"/>
                  </a:solidFill>
                  <a:latin typeface="+mn-ea"/>
                </a:rPr>
                <a:t>4</a:t>
              </a:r>
              <a:r>
                <a:rPr kumimoji="1" lang="ja-JP" altLang="en-US" sz="1000" b="1">
                  <a:solidFill>
                    <a:schemeClr val="bg1"/>
                  </a:solidFill>
                  <a:latin typeface="+mn-ea"/>
                </a:rPr>
                <a:t>年累計</a:t>
              </a:r>
            </a:p>
          </p:txBody>
        </p:sp>
        <p:sp>
          <p:nvSpPr>
            <p:cNvPr id="347" name="テキスト ボックス 346">
              <a:extLst>
                <a:ext uri="{FF2B5EF4-FFF2-40B4-BE49-F238E27FC236}">
                  <a16:creationId xmlns:a16="http://schemas.microsoft.com/office/drawing/2014/main" id="{B578C5AC-6077-4468-E492-8CA6FCBD598B}"/>
                </a:ext>
              </a:extLst>
            </p:cNvPr>
            <p:cNvSpPr txBox="1"/>
            <p:nvPr/>
          </p:nvSpPr>
          <p:spPr>
            <a:xfrm>
              <a:off x="6997639" y="4932119"/>
              <a:ext cx="1512000" cy="324000"/>
            </a:xfrm>
            <a:prstGeom prst="rect">
              <a:avLst/>
            </a:prstGeom>
            <a:solidFill>
              <a:schemeClr val="bg1">
                <a:lumMod val="95000"/>
              </a:schemeClr>
            </a:solidFill>
          </p:spPr>
          <p:txBody>
            <a:bodyPr wrap="square" lIns="72000" tIns="36000" rIns="36000" bIns="36000" rtlCol="0" anchor="ctr">
              <a:noAutofit/>
            </a:bodyPr>
            <a:lstStyle/>
            <a:p>
              <a:pPr defTabSz="179388"/>
              <a:r>
                <a:rPr kumimoji="1" lang="en-US" altLang="ja-JP" sz="1000" dirty="0">
                  <a:latin typeface="+mn-ea"/>
                </a:rPr>
                <a:t>①	</a:t>
              </a:r>
              <a:r>
                <a:rPr kumimoji="1" lang="ja-JP" altLang="en-US" sz="1000" dirty="0">
                  <a:latin typeface="+mn-ea"/>
                </a:rPr>
                <a:t>移管投資</a:t>
              </a:r>
              <a:br>
                <a:rPr kumimoji="1" lang="en-US" altLang="ja-JP" sz="1000" dirty="0">
                  <a:latin typeface="+mn-ea"/>
                </a:rPr>
              </a:br>
              <a:r>
                <a:rPr kumimoji="1" lang="en-US" altLang="ja-JP" sz="1000" dirty="0">
                  <a:latin typeface="+mn-ea"/>
                </a:rPr>
                <a:t>	</a:t>
              </a:r>
              <a:r>
                <a:rPr kumimoji="1" lang="en-US" altLang="ja-JP" sz="900" dirty="0">
                  <a:latin typeface="+mn-ea"/>
                </a:rPr>
                <a:t>(</a:t>
              </a:r>
              <a:r>
                <a:rPr kumimoji="1" lang="ja-JP" altLang="en-US" sz="900" dirty="0">
                  <a:latin typeface="+mn-ea"/>
                </a:rPr>
                <a:t>初期費用</a:t>
              </a:r>
              <a:r>
                <a:rPr kumimoji="1" lang="en-US" altLang="ja-JP" sz="900" dirty="0">
                  <a:latin typeface="+mn-ea"/>
                </a:rPr>
                <a:t>)</a:t>
              </a:r>
            </a:p>
          </p:txBody>
        </p:sp>
        <p:sp>
          <p:nvSpPr>
            <p:cNvPr id="348" name="テキスト ボックス 347">
              <a:extLst>
                <a:ext uri="{FF2B5EF4-FFF2-40B4-BE49-F238E27FC236}">
                  <a16:creationId xmlns:a16="http://schemas.microsoft.com/office/drawing/2014/main" id="{36C2EB65-CED9-8522-F304-BA55C199EA46}"/>
                </a:ext>
              </a:extLst>
            </p:cNvPr>
            <p:cNvSpPr txBox="1"/>
            <p:nvPr/>
          </p:nvSpPr>
          <p:spPr>
            <a:xfrm>
              <a:off x="6997639" y="5285752"/>
              <a:ext cx="1512000" cy="324000"/>
            </a:xfrm>
            <a:prstGeom prst="rect">
              <a:avLst/>
            </a:prstGeom>
            <a:solidFill>
              <a:schemeClr val="bg1">
                <a:lumMod val="95000"/>
              </a:schemeClr>
            </a:solidFill>
          </p:spPr>
          <p:txBody>
            <a:bodyPr wrap="square" lIns="72000" tIns="36000" rIns="36000" bIns="36000" rtlCol="0" anchor="ctr">
              <a:noAutofit/>
            </a:bodyPr>
            <a:lstStyle/>
            <a:p>
              <a:pPr>
                <a:tabLst>
                  <a:tab pos="179388" algn="l"/>
                </a:tabLst>
              </a:pPr>
              <a:r>
                <a:rPr kumimoji="1" lang="en-US" altLang="ja-JP" sz="1000" dirty="0">
                  <a:latin typeface="+mn-ea"/>
                </a:rPr>
                <a:t>②	</a:t>
              </a:r>
              <a:r>
                <a:rPr kumimoji="1" lang="ja-JP" altLang="en-US" sz="1000" dirty="0">
                  <a:latin typeface="+mn-ea"/>
                </a:rPr>
                <a:t>委託費削減</a:t>
              </a:r>
              <a:br>
                <a:rPr kumimoji="1" lang="en-US" altLang="ja-JP" sz="1000" dirty="0">
                  <a:latin typeface="+mn-ea"/>
                </a:rPr>
              </a:br>
              <a:r>
                <a:rPr kumimoji="1" lang="en-US" altLang="ja-JP" sz="1000" dirty="0">
                  <a:latin typeface="+mn-ea"/>
                </a:rPr>
                <a:t>	</a:t>
              </a:r>
              <a:r>
                <a:rPr kumimoji="1" lang="en-US" altLang="ja-JP" sz="900" dirty="0">
                  <a:latin typeface="+mn-ea"/>
                </a:rPr>
                <a:t>(</a:t>
              </a:r>
              <a:r>
                <a:rPr kumimoji="1" lang="ja-JP" altLang="en-US" sz="900" dirty="0">
                  <a:latin typeface="+mn-ea"/>
                </a:rPr>
                <a:t>対ベースライン</a:t>
              </a:r>
              <a:r>
                <a:rPr kumimoji="1" lang="en-US" altLang="ja-JP" sz="900" dirty="0">
                  <a:latin typeface="+mn-ea"/>
                </a:rPr>
                <a:t>3.7</a:t>
              </a:r>
              <a:r>
                <a:rPr kumimoji="1" lang="ja-JP" altLang="en-US" sz="900" dirty="0">
                  <a:latin typeface="+mn-ea"/>
                </a:rPr>
                <a:t>億円</a:t>
              </a:r>
              <a:r>
                <a:rPr kumimoji="1" lang="en-US" altLang="ja-JP" sz="900" dirty="0">
                  <a:latin typeface="+mn-ea"/>
                </a:rPr>
                <a:t>)</a:t>
              </a:r>
            </a:p>
          </p:txBody>
        </p:sp>
        <p:sp>
          <p:nvSpPr>
            <p:cNvPr id="349" name="テキスト ボックス 348">
              <a:extLst>
                <a:ext uri="{FF2B5EF4-FFF2-40B4-BE49-F238E27FC236}">
                  <a16:creationId xmlns:a16="http://schemas.microsoft.com/office/drawing/2014/main" id="{E4292C8A-FC47-9A67-F07C-2D989B4FFB73}"/>
                </a:ext>
              </a:extLst>
            </p:cNvPr>
            <p:cNvSpPr txBox="1"/>
            <p:nvPr/>
          </p:nvSpPr>
          <p:spPr>
            <a:xfrm>
              <a:off x="6997639" y="5639384"/>
              <a:ext cx="1512000" cy="324000"/>
            </a:xfrm>
            <a:prstGeom prst="rect">
              <a:avLst/>
            </a:prstGeom>
            <a:solidFill>
              <a:schemeClr val="bg1">
                <a:lumMod val="95000"/>
              </a:schemeClr>
            </a:solidFill>
          </p:spPr>
          <p:txBody>
            <a:bodyPr wrap="square" lIns="72000" tIns="36000" rIns="36000" bIns="36000" rtlCol="0" anchor="ctr">
              <a:noAutofit/>
            </a:bodyPr>
            <a:lstStyle/>
            <a:p>
              <a:pPr defTabSz="179388"/>
              <a:r>
                <a:rPr lang="ja-JP" altLang="en-US" sz="1000" dirty="0">
                  <a:latin typeface="+mn-ea"/>
                </a:rPr>
                <a:t>③</a:t>
              </a:r>
              <a:r>
                <a:rPr lang="en-US" altLang="ja-JP" sz="1000" dirty="0">
                  <a:latin typeface="+mn-ea"/>
                </a:rPr>
                <a:t>	</a:t>
              </a:r>
              <a:r>
                <a:rPr kumimoji="1" lang="en-US" altLang="ja-JP" sz="1000" dirty="0">
                  <a:latin typeface="+mn-ea"/>
                </a:rPr>
                <a:t>人員</a:t>
              </a:r>
              <a:r>
                <a:rPr kumimoji="1" lang="ja-JP" altLang="en-US" sz="1000" dirty="0">
                  <a:latin typeface="+mn-ea"/>
                </a:rPr>
                <a:t>再配置価値</a:t>
              </a:r>
              <a:br>
                <a:rPr kumimoji="1" lang="en-US" altLang="ja-JP" sz="1000" dirty="0">
                  <a:latin typeface="+mn-ea"/>
                </a:rPr>
              </a:br>
              <a:r>
                <a:rPr kumimoji="1" lang="en-US" altLang="ja-JP" sz="1000" dirty="0">
                  <a:latin typeface="+mn-ea"/>
                </a:rPr>
                <a:t>	</a:t>
              </a:r>
              <a:r>
                <a:rPr kumimoji="1" lang="en-US" altLang="ja-JP" sz="900" dirty="0">
                  <a:latin typeface="+mn-ea"/>
                </a:rPr>
                <a:t>(2</a:t>
              </a:r>
              <a:r>
                <a:rPr kumimoji="1" lang="ja-JP" altLang="en-US" sz="900" dirty="0">
                  <a:solidFill>
                    <a:srgbClr val="008D2E"/>
                  </a:solidFill>
                  <a:latin typeface="+mn-ea"/>
                </a:rPr>
                <a:t>▶︎</a:t>
              </a:r>
              <a:r>
                <a:rPr kumimoji="1" lang="en-US" altLang="ja-JP" sz="900" dirty="0">
                  <a:latin typeface="+mn-ea"/>
                </a:rPr>
                <a:t>6〜7</a:t>
              </a:r>
              <a:r>
                <a:rPr lang="ja-JP" altLang="en-US" sz="900" dirty="0">
                  <a:solidFill>
                    <a:srgbClr val="008D2E"/>
                  </a:solidFill>
                  <a:latin typeface="+mn-ea"/>
                </a:rPr>
                <a:t>▶︎</a:t>
              </a:r>
              <a:r>
                <a:rPr kumimoji="1" lang="en-US" altLang="ja-JP" sz="900" dirty="0">
                  <a:latin typeface="+mn-ea"/>
                </a:rPr>
                <a:t>12人分)</a:t>
              </a:r>
            </a:p>
          </p:txBody>
        </p:sp>
        <p:sp>
          <p:nvSpPr>
            <p:cNvPr id="351" name="テキスト ボックス 350">
              <a:extLst>
                <a:ext uri="{FF2B5EF4-FFF2-40B4-BE49-F238E27FC236}">
                  <a16:creationId xmlns:a16="http://schemas.microsoft.com/office/drawing/2014/main" id="{BF43608C-11B4-9A2D-977B-CFFA09630C0D}"/>
                </a:ext>
              </a:extLst>
            </p:cNvPr>
            <p:cNvSpPr txBox="1"/>
            <p:nvPr/>
          </p:nvSpPr>
          <p:spPr>
            <a:xfrm>
              <a:off x="6997639" y="5993017"/>
              <a:ext cx="1512000" cy="324000"/>
            </a:xfrm>
            <a:prstGeom prst="rect">
              <a:avLst/>
            </a:prstGeom>
            <a:solidFill>
              <a:srgbClr val="008D2E">
                <a:alpha val="10000"/>
              </a:srgbClr>
            </a:solidFill>
          </p:spPr>
          <p:txBody>
            <a:bodyPr wrap="square" lIns="72000" tIns="36000" rIns="36000" bIns="36000" rtlCol="0" anchor="ctr">
              <a:noAutofit/>
            </a:bodyPr>
            <a:lstStyle/>
            <a:p>
              <a:r>
                <a:rPr kumimoji="1" lang="ja-JP" altLang="en-US" sz="1000" b="1" dirty="0">
                  <a:solidFill>
                    <a:srgbClr val="008D2E"/>
                  </a:solidFill>
                  <a:latin typeface="+mn-ea"/>
                </a:rPr>
                <a:t>純効果</a:t>
              </a:r>
              <a:br>
                <a:rPr kumimoji="1" lang="en-US" altLang="ja-JP" sz="1000" b="1" dirty="0">
                  <a:solidFill>
                    <a:srgbClr val="008D2E"/>
                  </a:solidFill>
                  <a:latin typeface="+mn-ea"/>
                </a:rPr>
              </a:br>
              <a:r>
                <a:rPr kumimoji="1" lang="en-US" altLang="ja-JP" sz="1000" b="1" dirty="0">
                  <a:solidFill>
                    <a:srgbClr val="008D2E"/>
                  </a:solidFill>
                  <a:latin typeface="+mn-ea"/>
                </a:rPr>
                <a:t>(</a:t>
              </a:r>
              <a:r>
                <a:rPr kumimoji="1" lang="ja-JP" altLang="en-US" sz="1000" b="1" dirty="0">
                  <a:solidFill>
                    <a:srgbClr val="008D2E"/>
                  </a:solidFill>
                  <a:latin typeface="+mn-ea"/>
                </a:rPr>
                <a:t>単年 </a:t>
              </a:r>
              <a:r>
                <a:rPr kumimoji="1" lang="en-US" altLang="ja-JP" sz="1000" b="1" dirty="0">
                  <a:solidFill>
                    <a:srgbClr val="008D2E"/>
                  </a:solidFill>
                  <a:latin typeface="+mn-ea"/>
                </a:rPr>
                <a:t>②</a:t>
              </a:r>
              <a:r>
                <a:rPr kumimoji="1" lang="ja-JP" altLang="en-US" sz="1000" b="1" dirty="0">
                  <a:solidFill>
                    <a:srgbClr val="008D2E"/>
                  </a:solidFill>
                  <a:latin typeface="+mn-ea"/>
                </a:rPr>
                <a:t>＋</a:t>
              </a:r>
              <a:r>
                <a:rPr kumimoji="1" lang="en-US" altLang="ja-JP" sz="1000" b="1" dirty="0">
                  <a:solidFill>
                    <a:srgbClr val="008D2E"/>
                  </a:solidFill>
                  <a:latin typeface="+mn-ea"/>
                </a:rPr>
                <a:t>③</a:t>
              </a:r>
              <a:r>
                <a:rPr kumimoji="1" lang="ja-JP" altLang="en-US" sz="1000" b="1" dirty="0">
                  <a:solidFill>
                    <a:srgbClr val="008D2E"/>
                  </a:solidFill>
                  <a:latin typeface="+mn-ea"/>
                </a:rPr>
                <a:t>－</a:t>
              </a:r>
              <a:r>
                <a:rPr kumimoji="1" lang="en-US" altLang="ja-JP" sz="1000" b="1" dirty="0">
                  <a:solidFill>
                    <a:srgbClr val="008D2E"/>
                  </a:solidFill>
                  <a:latin typeface="+mn-ea"/>
                </a:rPr>
                <a:t>①)</a:t>
              </a:r>
            </a:p>
          </p:txBody>
        </p:sp>
        <p:sp>
          <p:nvSpPr>
            <p:cNvPr id="352" name="テキスト ボックス 351">
              <a:extLst>
                <a:ext uri="{FF2B5EF4-FFF2-40B4-BE49-F238E27FC236}">
                  <a16:creationId xmlns:a16="http://schemas.microsoft.com/office/drawing/2014/main" id="{FF2EFAC8-AA72-1F52-305C-B1FDFEF7E049}"/>
                </a:ext>
              </a:extLst>
            </p:cNvPr>
            <p:cNvSpPr txBox="1"/>
            <p:nvPr/>
          </p:nvSpPr>
          <p:spPr>
            <a:xfrm>
              <a:off x="8537951" y="4932119"/>
              <a:ext cx="612000" cy="324000"/>
            </a:xfrm>
            <a:prstGeom prst="rect">
              <a:avLst/>
            </a:prstGeom>
            <a:noFill/>
          </p:spPr>
          <p:txBody>
            <a:bodyPr wrap="square" lIns="36000" tIns="36000" rIns="36000" bIns="36000" rtlCol="0" anchor="ctr">
              <a:noAutofit/>
            </a:bodyPr>
            <a:lstStyle/>
            <a:p>
              <a:pPr algn="ctr"/>
              <a:r>
                <a:rPr kumimoji="1" lang="en-US" altLang="ja-JP" sz="1000" dirty="0">
                  <a:solidFill>
                    <a:srgbClr val="008D2E"/>
                  </a:solidFill>
                  <a:latin typeface="+mn-ea"/>
                </a:rPr>
                <a:t>▲</a:t>
              </a:r>
              <a:r>
                <a:rPr kumimoji="1" lang="en-US" altLang="ja-JP" sz="1000" dirty="0">
                  <a:latin typeface="+mn-ea"/>
                </a:rPr>
                <a:t>0.25</a:t>
              </a:r>
            </a:p>
          </p:txBody>
        </p:sp>
        <p:sp>
          <p:nvSpPr>
            <p:cNvPr id="353" name="テキスト ボックス 352">
              <a:extLst>
                <a:ext uri="{FF2B5EF4-FFF2-40B4-BE49-F238E27FC236}">
                  <a16:creationId xmlns:a16="http://schemas.microsoft.com/office/drawing/2014/main" id="{F763070D-3072-F220-2723-6C511423553C}"/>
                </a:ext>
              </a:extLst>
            </p:cNvPr>
            <p:cNvSpPr txBox="1"/>
            <p:nvPr/>
          </p:nvSpPr>
          <p:spPr>
            <a:xfrm>
              <a:off x="8537951" y="5285751"/>
              <a:ext cx="612000" cy="324000"/>
            </a:xfrm>
            <a:prstGeom prst="rect">
              <a:avLst/>
            </a:prstGeom>
            <a:noFill/>
          </p:spPr>
          <p:txBody>
            <a:bodyPr wrap="square" lIns="36000" tIns="36000" rIns="36000" bIns="36000" rtlCol="0" anchor="ctr">
              <a:noAutofit/>
            </a:bodyPr>
            <a:lstStyle/>
            <a:p>
              <a:pPr algn="ctr"/>
              <a:r>
                <a:rPr kumimoji="1" lang="en-US" altLang="ja-JP" sz="1000" dirty="0">
                  <a:latin typeface="+mn-ea"/>
                </a:rPr>
                <a:t>-</a:t>
              </a:r>
            </a:p>
          </p:txBody>
        </p:sp>
        <p:sp>
          <p:nvSpPr>
            <p:cNvPr id="354" name="テキスト ボックス 353">
              <a:extLst>
                <a:ext uri="{FF2B5EF4-FFF2-40B4-BE49-F238E27FC236}">
                  <a16:creationId xmlns:a16="http://schemas.microsoft.com/office/drawing/2014/main" id="{31340B59-161A-522B-7438-119D295799FD}"/>
                </a:ext>
              </a:extLst>
            </p:cNvPr>
            <p:cNvSpPr txBox="1"/>
            <p:nvPr/>
          </p:nvSpPr>
          <p:spPr>
            <a:xfrm>
              <a:off x="8537951" y="5639384"/>
              <a:ext cx="612000" cy="324000"/>
            </a:xfrm>
            <a:prstGeom prst="rect">
              <a:avLst/>
            </a:prstGeom>
            <a:noFill/>
          </p:spPr>
          <p:txBody>
            <a:bodyPr wrap="square" lIns="36000" tIns="36000" rIns="36000" bIns="36000" rtlCol="0" anchor="ctr">
              <a:noAutofit/>
            </a:bodyPr>
            <a:lstStyle/>
            <a:p>
              <a:pPr algn="ctr"/>
              <a:r>
                <a:rPr kumimoji="1" lang="en-US" altLang="ja-JP" sz="1000" dirty="0">
                  <a:latin typeface="+mn-ea"/>
                </a:rPr>
                <a:t>-</a:t>
              </a:r>
            </a:p>
          </p:txBody>
        </p:sp>
        <p:sp>
          <p:nvSpPr>
            <p:cNvPr id="355" name="テキスト ボックス 354">
              <a:extLst>
                <a:ext uri="{FF2B5EF4-FFF2-40B4-BE49-F238E27FC236}">
                  <a16:creationId xmlns:a16="http://schemas.microsoft.com/office/drawing/2014/main" id="{0954D0FC-F981-CEBA-BA27-2668AD27A085}"/>
                </a:ext>
              </a:extLst>
            </p:cNvPr>
            <p:cNvSpPr txBox="1"/>
            <p:nvPr/>
          </p:nvSpPr>
          <p:spPr>
            <a:xfrm>
              <a:off x="8537951" y="5993017"/>
              <a:ext cx="612000" cy="324000"/>
            </a:xfrm>
            <a:prstGeom prst="rect">
              <a:avLst/>
            </a:prstGeom>
            <a:solidFill>
              <a:srgbClr val="008D2E">
                <a:alpha val="10000"/>
              </a:srgbClr>
            </a:solidFill>
          </p:spPr>
          <p:txBody>
            <a:bodyPr wrap="square" lIns="36000" tIns="36000" rIns="36000" bIns="36000" rtlCol="0" anchor="ctr">
              <a:noAutofit/>
            </a:bodyPr>
            <a:lstStyle/>
            <a:p>
              <a:pPr algn="ctr"/>
              <a:r>
                <a:rPr kumimoji="1" lang="ja-JP" altLang="en-US" sz="1000" b="1" dirty="0">
                  <a:solidFill>
                    <a:srgbClr val="C00000"/>
                  </a:solidFill>
                  <a:latin typeface="+mn-ea"/>
                </a:rPr>
                <a:t>▲</a:t>
              </a:r>
              <a:r>
                <a:rPr kumimoji="1" lang="en-US" altLang="ja-JP" sz="1000" b="1" dirty="0">
                  <a:solidFill>
                    <a:srgbClr val="C00000"/>
                  </a:solidFill>
                  <a:latin typeface="+mn-ea"/>
                </a:rPr>
                <a:t>0.25</a:t>
              </a:r>
            </a:p>
          </p:txBody>
        </p:sp>
        <p:sp>
          <p:nvSpPr>
            <p:cNvPr id="356" name="テキスト ボックス 355">
              <a:extLst>
                <a:ext uri="{FF2B5EF4-FFF2-40B4-BE49-F238E27FC236}">
                  <a16:creationId xmlns:a16="http://schemas.microsoft.com/office/drawing/2014/main" id="{CF5574FE-7E93-5B6F-6C45-C90C86B22625}"/>
                </a:ext>
              </a:extLst>
            </p:cNvPr>
            <p:cNvSpPr txBox="1"/>
            <p:nvPr/>
          </p:nvSpPr>
          <p:spPr>
            <a:xfrm>
              <a:off x="9214262" y="4932119"/>
              <a:ext cx="612000" cy="324000"/>
            </a:xfrm>
            <a:prstGeom prst="rect">
              <a:avLst/>
            </a:prstGeom>
            <a:noFill/>
          </p:spPr>
          <p:txBody>
            <a:bodyPr wrap="square" lIns="36000" tIns="36000" rIns="36000" bIns="36000" rtlCol="0" anchor="ctr">
              <a:noAutofit/>
            </a:bodyPr>
            <a:lstStyle/>
            <a:p>
              <a:pPr algn="ctr"/>
              <a:r>
                <a:rPr kumimoji="1" lang="en-US" altLang="ja-JP" sz="1000" dirty="0">
                  <a:solidFill>
                    <a:srgbClr val="008D2E"/>
                  </a:solidFill>
                  <a:latin typeface="+mn-ea"/>
                </a:rPr>
                <a:t>▲</a:t>
              </a:r>
              <a:r>
                <a:rPr kumimoji="1" lang="en-US" altLang="ja-JP" sz="1000" dirty="0">
                  <a:latin typeface="+mn-ea"/>
                </a:rPr>
                <a:t>0.64</a:t>
              </a:r>
            </a:p>
          </p:txBody>
        </p:sp>
        <p:sp>
          <p:nvSpPr>
            <p:cNvPr id="357" name="テキスト ボックス 356">
              <a:extLst>
                <a:ext uri="{FF2B5EF4-FFF2-40B4-BE49-F238E27FC236}">
                  <a16:creationId xmlns:a16="http://schemas.microsoft.com/office/drawing/2014/main" id="{3A0C97A2-79AF-A41A-6B56-99194D86EBC9}"/>
                </a:ext>
              </a:extLst>
            </p:cNvPr>
            <p:cNvSpPr txBox="1"/>
            <p:nvPr/>
          </p:nvSpPr>
          <p:spPr>
            <a:xfrm>
              <a:off x="9214262" y="5285752"/>
              <a:ext cx="612000" cy="324000"/>
            </a:xfrm>
            <a:prstGeom prst="rect">
              <a:avLst/>
            </a:prstGeom>
            <a:noFill/>
          </p:spPr>
          <p:txBody>
            <a:bodyPr wrap="square" lIns="36000" tIns="36000" rIns="36000" bIns="36000" rtlCol="0" anchor="ctr">
              <a:noAutofit/>
            </a:bodyPr>
            <a:lstStyle/>
            <a:p>
              <a:pPr algn="ctr"/>
              <a:r>
                <a:rPr kumimoji="1" lang="ja-JP" altLang="en-US" sz="1000" dirty="0">
                  <a:latin typeface="+mn-ea"/>
                </a:rPr>
                <a:t>＋</a:t>
              </a:r>
              <a:r>
                <a:rPr kumimoji="1" lang="en-US" altLang="ja-JP" sz="1000" dirty="0">
                  <a:latin typeface="+mn-ea"/>
                </a:rPr>
                <a:t>0.65</a:t>
              </a:r>
            </a:p>
          </p:txBody>
        </p:sp>
        <p:sp>
          <p:nvSpPr>
            <p:cNvPr id="358" name="テキスト ボックス 357">
              <a:extLst>
                <a:ext uri="{FF2B5EF4-FFF2-40B4-BE49-F238E27FC236}">
                  <a16:creationId xmlns:a16="http://schemas.microsoft.com/office/drawing/2014/main" id="{8EA57DF4-7CD2-115A-C6A1-A0E629968731}"/>
                </a:ext>
              </a:extLst>
            </p:cNvPr>
            <p:cNvSpPr txBox="1"/>
            <p:nvPr/>
          </p:nvSpPr>
          <p:spPr>
            <a:xfrm>
              <a:off x="9214262" y="5639384"/>
              <a:ext cx="612000" cy="324000"/>
            </a:xfrm>
            <a:prstGeom prst="rect">
              <a:avLst/>
            </a:prstGeom>
            <a:noFill/>
          </p:spPr>
          <p:txBody>
            <a:bodyPr wrap="square" lIns="36000" tIns="36000" rIns="36000" bIns="36000" rtlCol="0" anchor="ctr">
              <a:noAutofit/>
            </a:bodyPr>
            <a:lstStyle/>
            <a:p>
              <a:pPr algn="ctr"/>
              <a:r>
                <a:rPr kumimoji="1" lang="ja-JP" altLang="en-US" sz="1000" dirty="0">
                  <a:latin typeface="+mn-ea"/>
                </a:rPr>
                <a:t>＋</a:t>
              </a:r>
              <a:r>
                <a:rPr kumimoji="1" lang="en-US" altLang="ja-JP" sz="1000" dirty="0">
                  <a:latin typeface="+mn-ea"/>
                </a:rPr>
                <a:t>0.25</a:t>
              </a:r>
            </a:p>
          </p:txBody>
        </p:sp>
        <p:sp>
          <p:nvSpPr>
            <p:cNvPr id="359" name="テキスト ボックス 358">
              <a:extLst>
                <a:ext uri="{FF2B5EF4-FFF2-40B4-BE49-F238E27FC236}">
                  <a16:creationId xmlns:a16="http://schemas.microsoft.com/office/drawing/2014/main" id="{268D7059-3912-FDAB-651A-FEEE0903EF10}"/>
                </a:ext>
              </a:extLst>
            </p:cNvPr>
            <p:cNvSpPr txBox="1"/>
            <p:nvPr/>
          </p:nvSpPr>
          <p:spPr>
            <a:xfrm>
              <a:off x="9214262" y="5993017"/>
              <a:ext cx="612000" cy="324000"/>
            </a:xfrm>
            <a:prstGeom prst="rect">
              <a:avLst/>
            </a:prstGeom>
            <a:solidFill>
              <a:srgbClr val="008D2E">
                <a:alpha val="10000"/>
              </a:srgbClr>
            </a:solidFill>
          </p:spPr>
          <p:txBody>
            <a:bodyPr wrap="square" lIns="36000" tIns="36000" rIns="36000" bIns="36000" rtlCol="0" anchor="ctr">
              <a:noAutofit/>
            </a:bodyPr>
            <a:lstStyle/>
            <a:p>
              <a:pPr algn="ctr"/>
              <a:r>
                <a:rPr lang="ja-JP" altLang="en-US" sz="1000" b="1" dirty="0">
                  <a:solidFill>
                    <a:srgbClr val="008D2E"/>
                  </a:solidFill>
                  <a:latin typeface="+mn-ea"/>
                </a:rPr>
                <a:t>＋</a:t>
              </a:r>
              <a:r>
                <a:rPr lang="en-US" altLang="ja-JP" sz="1000" b="1" dirty="0">
                  <a:solidFill>
                    <a:srgbClr val="008D2E"/>
                  </a:solidFill>
                  <a:latin typeface="+mn-ea"/>
                </a:rPr>
                <a:t>0.26</a:t>
              </a:r>
            </a:p>
          </p:txBody>
        </p:sp>
        <p:sp>
          <p:nvSpPr>
            <p:cNvPr id="360" name="テキスト ボックス 359">
              <a:extLst>
                <a:ext uri="{FF2B5EF4-FFF2-40B4-BE49-F238E27FC236}">
                  <a16:creationId xmlns:a16="http://schemas.microsoft.com/office/drawing/2014/main" id="{683BFE67-5D29-C9AD-4888-0907729E193D}"/>
                </a:ext>
              </a:extLst>
            </p:cNvPr>
            <p:cNvSpPr txBox="1"/>
            <p:nvPr/>
          </p:nvSpPr>
          <p:spPr>
            <a:xfrm>
              <a:off x="9890576" y="4932119"/>
              <a:ext cx="612000" cy="324000"/>
            </a:xfrm>
            <a:prstGeom prst="rect">
              <a:avLst/>
            </a:prstGeom>
            <a:noFill/>
          </p:spPr>
          <p:txBody>
            <a:bodyPr wrap="square" lIns="36000" tIns="36000" rIns="36000" bIns="36000" rtlCol="0" anchor="ctr">
              <a:noAutofit/>
            </a:bodyPr>
            <a:lstStyle/>
            <a:p>
              <a:pPr algn="ctr"/>
              <a:r>
                <a:rPr kumimoji="1" lang="en-US" altLang="ja-JP" sz="1000" dirty="0">
                  <a:solidFill>
                    <a:srgbClr val="008D2E"/>
                  </a:solidFill>
                  <a:latin typeface="+mn-ea"/>
                </a:rPr>
                <a:t>▲</a:t>
              </a:r>
              <a:r>
                <a:rPr kumimoji="1" lang="en-US" altLang="ja-JP" sz="1000" dirty="0">
                  <a:latin typeface="+mn-ea"/>
                </a:rPr>
                <a:t>0.29</a:t>
              </a:r>
            </a:p>
          </p:txBody>
        </p:sp>
        <p:sp>
          <p:nvSpPr>
            <p:cNvPr id="361" name="テキスト ボックス 360">
              <a:extLst>
                <a:ext uri="{FF2B5EF4-FFF2-40B4-BE49-F238E27FC236}">
                  <a16:creationId xmlns:a16="http://schemas.microsoft.com/office/drawing/2014/main" id="{641AD7D3-D69B-31B3-8852-818919E84FC7}"/>
                </a:ext>
              </a:extLst>
            </p:cNvPr>
            <p:cNvSpPr txBox="1"/>
            <p:nvPr/>
          </p:nvSpPr>
          <p:spPr>
            <a:xfrm>
              <a:off x="9890576" y="5285752"/>
              <a:ext cx="612000" cy="324000"/>
            </a:xfrm>
            <a:prstGeom prst="rect">
              <a:avLst/>
            </a:prstGeom>
            <a:noFill/>
          </p:spPr>
          <p:txBody>
            <a:bodyPr wrap="square" lIns="36000" tIns="36000" rIns="36000" bIns="36000" rtlCol="0" anchor="ctr">
              <a:noAutofit/>
            </a:bodyPr>
            <a:lstStyle/>
            <a:p>
              <a:pPr algn="ctr"/>
              <a:r>
                <a:rPr kumimoji="1" lang="ja-JP" altLang="en-US" sz="1000">
                  <a:latin typeface="+mn-ea"/>
                </a:rPr>
                <a:t>＋</a:t>
              </a:r>
              <a:r>
                <a:rPr kumimoji="1" lang="en-US" altLang="ja-JP" sz="1000" dirty="0">
                  <a:latin typeface="+mn-ea"/>
                </a:rPr>
                <a:t>0.73</a:t>
              </a:r>
            </a:p>
          </p:txBody>
        </p:sp>
        <p:sp>
          <p:nvSpPr>
            <p:cNvPr id="362" name="テキスト ボックス 361">
              <a:extLst>
                <a:ext uri="{FF2B5EF4-FFF2-40B4-BE49-F238E27FC236}">
                  <a16:creationId xmlns:a16="http://schemas.microsoft.com/office/drawing/2014/main" id="{BA95374A-8109-EBCF-3228-BAB2ED08A44D}"/>
                </a:ext>
              </a:extLst>
            </p:cNvPr>
            <p:cNvSpPr txBox="1"/>
            <p:nvPr/>
          </p:nvSpPr>
          <p:spPr>
            <a:xfrm>
              <a:off x="9890576" y="5639384"/>
              <a:ext cx="612000" cy="324000"/>
            </a:xfrm>
            <a:prstGeom prst="rect">
              <a:avLst/>
            </a:prstGeom>
            <a:noFill/>
          </p:spPr>
          <p:txBody>
            <a:bodyPr wrap="square" lIns="36000" tIns="36000" rIns="36000" bIns="36000" rtlCol="0" anchor="ctr">
              <a:noAutofit/>
            </a:bodyPr>
            <a:lstStyle/>
            <a:p>
              <a:pPr algn="ctr"/>
              <a:r>
                <a:rPr kumimoji="1" lang="ja-JP" altLang="en-US" sz="1000">
                  <a:latin typeface="+mn-ea"/>
                </a:rPr>
                <a:t>＋</a:t>
              </a:r>
              <a:r>
                <a:rPr kumimoji="1" lang="en-US" altLang="ja-JP" sz="1000" dirty="0">
                  <a:latin typeface="+mn-ea"/>
                </a:rPr>
                <a:t>0.75</a:t>
              </a:r>
            </a:p>
          </p:txBody>
        </p:sp>
        <p:sp>
          <p:nvSpPr>
            <p:cNvPr id="363" name="テキスト ボックス 362">
              <a:extLst>
                <a:ext uri="{FF2B5EF4-FFF2-40B4-BE49-F238E27FC236}">
                  <a16:creationId xmlns:a16="http://schemas.microsoft.com/office/drawing/2014/main" id="{A33BAC58-22EC-DB7F-36F8-8C46E5C5DAA5}"/>
                </a:ext>
              </a:extLst>
            </p:cNvPr>
            <p:cNvSpPr txBox="1"/>
            <p:nvPr/>
          </p:nvSpPr>
          <p:spPr>
            <a:xfrm>
              <a:off x="9890576" y="5993017"/>
              <a:ext cx="612000" cy="324000"/>
            </a:xfrm>
            <a:prstGeom prst="rect">
              <a:avLst/>
            </a:prstGeom>
            <a:solidFill>
              <a:srgbClr val="008D2E">
                <a:alpha val="10000"/>
              </a:srgbClr>
            </a:solidFill>
          </p:spPr>
          <p:txBody>
            <a:bodyPr wrap="square" lIns="36000" tIns="36000" rIns="36000" bIns="36000" rtlCol="0" anchor="ctr">
              <a:noAutofit/>
            </a:bodyPr>
            <a:lstStyle/>
            <a:p>
              <a:pPr algn="ctr"/>
              <a:r>
                <a:rPr kumimoji="1" lang="ja-JP" altLang="en-US" sz="1000" b="1">
                  <a:solidFill>
                    <a:srgbClr val="008D2E"/>
                  </a:solidFill>
                  <a:latin typeface="+mn-ea"/>
                </a:rPr>
                <a:t>＋</a:t>
              </a:r>
              <a:r>
                <a:rPr kumimoji="1" lang="en-US" altLang="ja-JP" sz="1000" b="1" dirty="0">
                  <a:solidFill>
                    <a:srgbClr val="008D2E"/>
                  </a:solidFill>
                  <a:latin typeface="+mn-ea"/>
                </a:rPr>
                <a:t>1.19</a:t>
              </a:r>
            </a:p>
          </p:txBody>
        </p:sp>
        <p:sp>
          <p:nvSpPr>
            <p:cNvPr id="364" name="テキスト ボックス 363">
              <a:extLst>
                <a:ext uri="{FF2B5EF4-FFF2-40B4-BE49-F238E27FC236}">
                  <a16:creationId xmlns:a16="http://schemas.microsoft.com/office/drawing/2014/main" id="{83A0204A-EFCC-5CFE-16B6-647FD2A25E5F}"/>
                </a:ext>
              </a:extLst>
            </p:cNvPr>
            <p:cNvSpPr txBox="1"/>
            <p:nvPr/>
          </p:nvSpPr>
          <p:spPr>
            <a:xfrm>
              <a:off x="10566887" y="4932119"/>
              <a:ext cx="612000" cy="324000"/>
            </a:xfrm>
            <a:prstGeom prst="rect">
              <a:avLst/>
            </a:prstGeom>
            <a:noFill/>
          </p:spPr>
          <p:txBody>
            <a:bodyPr wrap="square" lIns="36000" tIns="36000" rIns="36000" bIns="36000" rtlCol="0" anchor="ctr">
              <a:noAutofit/>
            </a:bodyPr>
            <a:lstStyle/>
            <a:p>
              <a:pPr algn="ctr"/>
              <a:r>
                <a:rPr lang="en-US" altLang="ja-JP" sz="1000" dirty="0">
                  <a:latin typeface="+mn-ea"/>
                </a:rPr>
                <a:t>-</a:t>
              </a:r>
              <a:endParaRPr kumimoji="1" lang="en-US" altLang="ja-JP" sz="1000" dirty="0">
                <a:latin typeface="+mn-ea"/>
              </a:endParaRPr>
            </a:p>
          </p:txBody>
        </p:sp>
        <p:sp>
          <p:nvSpPr>
            <p:cNvPr id="365" name="テキスト ボックス 364">
              <a:extLst>
                <a:ext uri="{FF2B5EF4-FFF2-40B4-BE49-F238E27FC236}">
                  <a16:creationId xmlns:a16="http://schemas.microsoft.com/office/drawing/2014/main" id="{8EF49C1E-D46A-9BD8-0959-90255D4D4FAD}"/>
                </a:ext>
              </a:extLst>
            </p:cNvPr>
            <p:cNvSpPr txBox="1"/>
            <p:nvPr/>
          </p:nvSpPr>
          <p:spPr>
            <a:xfrm>
              <a:off x="10566887" y="5285752"/>
              <a:ext cx="612000" cy="324000"/>
            </a:xfrm>
            <a:prstGeom prst="rect">
              <a:avLst/>
            </a:prstGeom>
            <a:noFill/>
          </p:spPr>
          <p:txBody>
            <a:bodyPr wrap="square" lIns="36000" tIns="36000" rIns="36000" bIns="36000" rtlCol="0" anchor="ctr">
              <a:noAutofit/>
            </a:bodyPr>
            <a:lstStyle/>
            <a:p>
              <a:pPr algn="ctr"/>
              <a:r>
                <a:rPr kumimoji="1" lang="ja-JP" altLang="en-US" sz="1000">
                  <a:latin typeface="+mn-ea"/>
                </a:rPr>
                <a:t>＋</a:t>
              </a:r>
              <a:r>
                <a:rPr kumimoji="1" lang="en-US" altLang="ja-JP" sz="1000" dirty="0">
                  <a:latin typeface="+mn-ea"/>
                </a:rPr>
                <a:t>0.90</a:t>
              </a:r>
            </a:p>
          </p:txBody>
        </p:sp>
        <p:sp>
          <p:nvSpPr>
            <p:cNvPr id="366" name="テキスト ボックス 365">
              <a:extLst>
                <a:ext uri="{FF2B5EF4-FFF2-40B4-BE49-F238E27FC236}">
                  <a16:creationId xmlns:a16="http://schemas.microsoft.com/office/drawing/2014/main" id="{390EDC64-FF50-BCB6-3742-365C611459C2}"/>
                </a:ext>
              </a:extLst>
            </p:cNvPr>
            <p:cNvSpPr txBox="1"/>
            <p:nvPr/>
          </p:nvSpPr>
          <p:spPr>
            <a:xfrm>
              <a:off x="10566887" y="5639384"/>
              <a:ext cx="612000" cy="324000"/>
            </a:xfrm>
            <a:prstGeom prst="rect">
              <a:avLst/>
            </a:prstGeom>
            <a:noFill/>
          </p:spPr>
          <p:txBody>
            <a:bodyPr wrap="square" lIns="36000" tIns="36000" rIns="36000" bIns="36000" rtlCol="0" anchor="ctr">
              <a:noAutofit/>
            </a:bodyPr>
            <a:lstStyle/>
            <a:p>
              <a:pPr algn="ctr"/>
              <a:r>
                <a:rPr kumimoji="1" lang="ja-JP" altLang="en-US" sz="1000">
                  <a:latin typeface="+mn-ea"/>
                </a:rPr>
                <a:t>＋</a:t>
              </a:r>
              <a:r>
                <a:rPr kumimoji="1" lang="en-US" altLang="ja-JP" sz="1000" dirty="0">
                  <a:latin typeface="+mn-ea"/>
                </a:rPr>
                <a:t>1.40</a:t>
              </a:r>
            </a:p>
          </p:txBody>
        </p:sp>
        <p:sp>
          <p:nvSpPr>
            <p:cNvPr id="367" name="テキスト ボックス 366">
              <a:extLst>
                <a:ext uri="{FF2B5EF4-FFF2-40B4-BE49-F238E27FC236}">
                  <a16:creationId xmlns:a16="http://schemas.microsoft.com/office/drawing/2014/main" id="{DFE338CD-9D05-851C-CD42-B297781B1053}"/>
                </a:ext>
              </a:extLst>
            </p:cNvPr>
            <p:cNvSpPr txBox="1"/>
            <p:nvPr/>
          </p:nvSpPr>
          <p:spPr>
            <a:xfrm>
              <a:off x="10566887" y="5993017"/>
              <a:ext cx="612000" cy="324000"/>
            </a:xfrm>
            <a:prstGeom prst="rect">
              <a:avLst/>
            </a:prstGeom>
            <a:solidFill>
              <a:srgbClr val="008D2E">
                <a:alpha val="10000"/>
              </a:srgbClr>
            </a:solidFill>
          </p:spPr>
          <p:txBody>
            <a:bodyPr wrap="square" lIns="36000" tIns="36000" rIns="36000" bIns="36000" rtlCol="0" anchor="ctr">
              <a:noAutofit/>
            </a:bodyPr>
            <a:lstStyle/>
            <a:p>
              <a:pPr algn="ctr"/>
              <a:r>
                <a:rPr kumimoji="1" lang="ja-JP" altLang="en-US" sz="1000" b="1">
                  <a:solidFill>
                    <a:srgbClr val="008D2E"/>
                  </a:solidFill>
                  <a:latin typeface="+mn-ea"/>
                </a:rPr>
                <a:t>＋</a:t>
              </a:r>
              <a:r>
                <a:rPr kumimoji="1" lang="en-US" altLang="ja-JP" sz="1000" b="1" dirty="0">
                  <a:solidFill>
                    <a:srgbClr val="008D2E"/>
                  </a:solidFill>
                  <a:latin typeface="+mn-ea"/>
                </a:rPr>
                <a:t>2.30</a:t>
              </a:r>
            </a:p>
          </p:txBody>
        </p:sp>
        <p:sp>
          <p:nvSpPr>
            <p:cNvPr id="368" name="テキスト ボックス 367">
              <a:extLst>
                <a:ext uri="{FF2B5EF4-FFF2-40B4-BE49-F238E27FC236}">
                  <a16:creationId xmlns:a16="http://schemas.microsoft.com/office/drawing/2014/main" id="{48D1EF16-AACD-4441-45A9-9D604A5557FD}"/>
                </a:ext>
              </a:extLst>
            </p:cNvPr>
            <p:cNvSpPr txBox="1"/>
            <p:nvPr/>
          </p:nvSpPr>
          <p:spPr>
            <a:xfrm>
              <a:off x="11243201" y="4932119"/>
              <a:ext cx="614122" cy="324000"/>
            </a:xfrm>
            <a:prstGeom prst="rect">
              <a:avLst/>
            </a:prstGeom>
            <a:noFill/>
          </p:spPr>
          <p:txBody>
            <a:bodyPr wrap="square" lIns="36000" tIns="36000" rIns="36000" bIns="36000" rtlCol="0" anchor="ctr">
              <a:noAutofit/>
            </a:bodyPr>
            <a:lstStyle/>
            <a:p>
              <a:pPr algn="ctr"/>
              <a:r>
                <a:rPr lang="en-US" altLang="ja-JP" sz="1000" b="1" dirty="0">
                  <a:solidFill>
                    <a:srgbClr val="008D2E"/>
                  </a:solidFill>
                  <a:latin typeface="+mn-ea"/>
                </a:rPr>
                <a:t>▲1.18</a:t>
              </a:r>
            </a:p>
          </p:txBody>
        </p:sp>
        <p:sp>
          <p:nvSpPr>
            <p:cNvPr id="369" name="テキスト ボックス 368">
              <a:extLst>
                <a:ext uri="{FF2B5EF4-FFF2-40B4-BE49-F238E27FC236}">
                  <a16:creationId xmlns:a16="http://schemas.microsoft.com/office/drawing/2014/main" id="{325A9BB5-4E80-8189-ECF9-94EF96C4287A}"/>
                </a:ext>
              </a:extLst>
            </p:cNvPr>
            <p:cNvSpPr txBox="1"/>
            <p:nvPr/>
          </p:nvSpPr>
          <p:spPr>
            <a:xfrm>
              <a:off x="11243201" y="5285752"/>
              <a:ext cx="614122" cy="324000"/>
            </a:xfrm>
            <a:prstGeom prst="rect">
              <a:avLst/>
            </a:prstGeom>
            <a:noFill/>
          </p:spPr>
          <p:txBody>
            <a:bodyPr wrap="square" lIns="36000" tIns="36000" rIns="36000" bIns="36000" rtlCol="0" anchor="ctr">
              <a:noAutofit/>
            </a:bodyPr>
            <a:lstStyle/>
            <a:p>
              <a:pPr algn="ctr"/>
              <a:r>
                <a:rPr kumimoji="1" lang="ja-JP" altLang="en-US" sz="1000" b="1">
                  <a:solidFill>
                    <a:srgbClr val="008D2E"/>
                  </a:solidFill>
                  <a:latin typeface="+mn-ea"/>
                </a:rPr>
                <a:t>＋</a:t>
              </a:r>
              <a:r>
                <a:rPr kumimoji="1" lang="en-US" altLang="ja-JP" sz="1000" b="1" dirty="0">
                  <a:solidFill>
                    <a:srgbClr val="008D2E"/>
                  </a:solidFill>
                  <a:latin typeface="+mn-ea"/>
                </a:rPr>
                <a:t>2.28</a:t>
              </a:r>
            </a:p>
          </p:txBody>
        </p:sp>
        <p:sp>
          <p:nvSpPr>
            <p:cNvPr id="370" name="テキスト ボックス 369">
              <a:extLst>
                <a:ext uri="{FF2B5EF4-FFF2-40B4-BE49-F238E27FC236}">
                  <a16:creationId xmlns:a16="http://schemas.microsoft.com/office/drawing/2014/main" id="{8AAF1B01-CE18-B65A-6223-7C5EA6C5372E}"/>
                </a:ext>
              </a:extLst>
            </p:cNvPr>
            <p:cNvSpPr txBox="1"/>
            <p:nvPr/>
          </p:nvSpPr>
          <p:spPr>
            <a:xfrm>
              <a:off x="11243201" y="5639384"/>
              <a:ext cx="614122" cy="324000"/>
            </a:xfrm>
            <a:prstGeom prst="rect">
              <a:avLst/>
            </a:prstGeom>
            <a:noFill/>
          </p:spPr>
          <p:txBody>
            <a:bodyPr wrap="square" lIns="36000" tIns="36000" rIns="36000" bIns="36000" rtlCol="0" anchor="ctr">
              <a:noAutofit/>
            </a:bodyPr>
            <a:lstStyle/>
            <a:p>
              <a:pPr algn="ctr"/>
              <a:r>
                <a:rPr kumimoji="1" lang="ja-JP" altLang="en-US" sz="1000" b="1">
                  <a:solidFill>
                    <a:srgbClr val="008D2E"/>
                  </a:solidFill>
                  <a:latin typeface="+mn-ea"/>
                </a:rPr>
                <a:t>＋</a:t>
              </a:r>
              <a:r>
                <a:rPr kumimoji="1" lang="en-US" altLang="ja-JP" sz="1000" b="1" dirty="0">
                  <a:solidFill>
                    <a:srgbClr val="008D2E"/>
                  </a:solidFill>
                  <a:latin typeface="+mn-ea"/>
                </a:rPr>
                <a:t>2.40</a:t>
              </a:r>
            </a:p>
          </p:txBody>
        </p:sp>
        <p:sp>
          <p:nvSpPr>
            <p:cNvPr id="371" name="テキスト ボックス 370">
              <a:extLst>
                <a:ext uri="{FF2B5EF4-FFF2-40B4-BE49-F238E27FC236}">
                  <a16:creationId xmlns:a16="http://schemas.microsoft.com/office/drawing/2014/main" id="{AA7FF3ED-744B-B171-51D2-9A5D51FA22D5}"/>
                </a:ext>
              </a:extLst>
            </p:cNvPr>
            <p:cNvSpPr txBox="1"/>
            <p:nvPr/>
          </p:nvSpPr>
          <p:spPr>
            <a:xfrm>
              <a:off x="11243201" y="5993017"/>
              <a:ext cx="614122" cy="324000"/>
            </a:xfrm>
            <a:prstGeom prst="rect">
              <a:avLst/>
            </a:prstGeom>
            <a:solidFill>
              <a:srgbClr val="008D2E">
                <a:alpha val="10000"/>
              </a:srgbClr>
            </a:solidFill>
          </p:spPr>
          <p:txBody>
            <a:bodyPr wrap="square" lIns="36000" tIns="36000" rIns="36000" bIns="36000" rtlCol="0" anchor="ctr">
              <a:noAutofit/>
            </a:bodyPr>
            <a:lstStyle/>
            <a:p>
              <a:pPr algn="ctr"/>
              <a:r>
                <a:rPr kumimoji="1" lang="ja-JP" altLang="en-US" sz="1000" b="1">
                  <a:solidFill>
                    <a:srgbClr val="008D2E"/>
                  </a:solidFill>
                  <a:latin typeface="+mn-ea"/>
                </a:rPr>
                <a:t>＋</a:t>
              </a:r>
              <a:r>
                <a:rPr kumimoji="1" lang="en-US" altLang="ja-JP" sz="1000" b="1" dirty="0">
                  <a:solidFill>
                    <a:srgbClr val="008D2E"/>
                  </a:solidFill>
                  <a:latin typeface="+mn-ea"/>
                </a:rPr>
                <a:t>3.50</a:t>
              </a:r>
            </a:p>
          </p:txBody>
        </p:sp>
        <p:sp>
          <p:nvSpPr>
            <p:cNvPr id="372" name="テキスト ボックス 371">
              <a:extLst>
                <a:ext uri="{FF2B5EF4-FFF2-40B4-BE49-F238E27FC236}">
                  <a16:creationId xmlns:a16="http://schemas.microsoft.com/office/drawing/2014/main" id="{7EC7D045-F26D-0CF1-8471-DE4F7455F0B2}"/>
                </a:ext>
              </a:extLst>
            </p:cNvPr>
            <p:cNvSpPr txBox="1"/>
            <p:nvPr/>
          </p:nvSpPr>
          <p:spPr>
            <a:xfrm>
              <a:off x="6997639" y="4578487"/>
              <a:ext cx="1512000" cy="324000"/>
            </a:xfrm>
            <a:prstGeom prst="rect">
              <a:avLst/>
            </a:prstGeom>
            <a:noFill/>
          </p:spPr>
          <p:txBody>
            <a:bodyPr wrap="square" lIns="0" tIns="36000" rIns="0" bIns="36000" rtlCol="0" anchor="ctr">
              <a:noAutofit/>
            </a:bodyPr>
            <a:lstStyle/>
            <a:p>
              <a:pPr algn="ctr"/>
              <a:r>
                <a:rPr kumimoji="1" lang="en-US" altLang="ja-JP" sz="1000" dirty="0">
                  <a:latin typeface="+mn-ea"/>
                </a:rPr>
                <a:t>(</a:t>
              </a:r>
              <a:r>
                <a:rPr kumimoji="1" lang="ja-JP" altLang="en-US" sz="1000" dirty="0">
                  <a:latin typeface="+mn-ea"/>
                </a:rPr>
                <a:t>億円・仮置き</a:t>
              </a:r>
              <a:r>
                <a:rPr kumimoji="1" lang="en-US" altLang="ja-JP" sz="1000" dirty="0">
                  <a:latin typeface="+mn-ea"/>
                </a:rPr>
                <a:t>)</a:t>
              </a:r>
            </a:p>
          </p:txBody>
        </p:sp>
        <p:sp>
          <p:nvSpPr>
            <p:cNvPr id="373" name="山形 52">
              <a:extLst>
                <a:ext uri="{FF2B5EF4-FFF2-40B4-BE49-F238E27FC236}">
                  <a16:creationId xmlns:a16="http://schemas.microsoft.com/office/drawing/2014/main" id="{D6FD6CF1-BE57-A217-DDD8-9C99EDC9A88F}"/>
                </a:ext>
              </a:extLst>
            </p:cNvPr>
            <p:cNvSpPr/>
            <p:nvPr/>
          </p:nvSpPr>
          <p:spPr>
            <a:xfrm>
              <a:off x="8537951" y="4578487"/>
              <a:ext cx="648000" cy="323999"/>
            </a:xfrm>
            <a:prstGeom prst="chevron">
              <a:avLst>
                <a:gd name="adj" fmla="val 18094"/>
              </a:avLst>
            </a:prstGeom>
            <a:solidFill>
              <a:srgbClr val="008D2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180975" indent="-180975" algn="ctr">
                <a:buClr>
                  <a:schemeClr val="accent1"/>
                </a:buClr>
              </a:pPr>
              <a:r>
                <a:rPr lang="en-US" altLang="ja-JP" sz="1100" dirty="0">
                  <a:solidFill>
                    <a:schemeClr val="bg1"/>
                  </a:solidFill>
                  <a:latin typeface="+mn-ea"/>
                </a:rPr>
                <a:t>FY26</a:t>
              </a:r>
              <a:endParaRPr lang="ja-JP" altLang="en-US" sz="1100" dirty="0">
                <a:solidFill>
                  <a:schemeClr val="bg1"/>
                </a:solidFill>
                <a:latin typeface="+mn-ea"/>
              </a:endParaRPr>
            </a:p>
          </p:txBody>
        </p:sp>
        <p:sp>
          <p:nvSpPr>
            <p:cNvPr id="374" name="山形 52">
              <a:extLst>
                <a:ext uri="{FF2B5EF4-FFF2-40B4-BE49-F238E27FC236}">
                  <a16:creationId xmlns:a16="http://schemas.microsoft.com/office/drawing/2014/main" id="{8EAC857D-E409-9CF4-BD29-F5359ABD7F26}"/>
                </a:ext>
              </a:extLst>
            </p:cNvPr>
            <p:cNvSpPr/>
            <p:nvPr/>
          </p:nvSpPr>
          <p:spPr>
            <a:xfrm>
              <a:off x="9214263" y="4578487"/>
              <a:ext cx="648000" cy="323999"/>
            </a:xfrm>
            <a:prstGeom prst="chevron">
              <a:avLst>
                <a:gd name="adj" fmla="val 18094"/>
              </a:avLst>
            </a:prstGeom>
            <a:solidFill>
              <a:srgbClr val="008D2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180975" indent="-180975" algn="ctr">
                <a:buClr>
                  <a:schemeClr val="accent1"/>
                </a:buClr>
              </a:pPr>
              <a:r>
                <a:rPr lang="en-US" altLang="ja-JP" sz="1100" dirty="0">
                  <a:solidFill>
                    <a:schemeClr val="bg1"/>
                  </a:solidFill>
                  <a:latin typeface="+mn-ea"/>
                </a:rPr>
                <a:t>FY27</a:t>
              </a:r>
              <a:endParaRPr lang="ja-JP" altLang="en-US" sz="1100" dirty="0">
                <a:solidFill>
                  <a:schemeClr val="bg1"/>
                </a:solidFill>
                <a:latin typeface="+mn-ea"/>
              </a:endParaRPr>
            </a:p>
          </p:txBody>
        </p:sp>
        <p:sp>
          <p:nvSpPr>
            <p:cNvPr id="375" name="山形 52">
              <a:extLst>
                <a:ext uri="{FF2B5EF4-FFF2-40B4-BE49-F238E27FC236}">
                  <a16:creationId xmlns:a16="http://schemas.microsoft.com/office/drawing/2014/main" id="{D5CB166C-42DD-398C-B430-6B77F0B0A124}"/>
                </a:ext>
              </a:extLst>
            </p:cNvPr>
            <p:cNvSpPr/>
            <p:nvPr/>
          </p:nvSpPr>
          <p:spPr>
            <a:xfrm>
              <a:off x="9890576" y="4578487"/>
              <a:ext cx="648000" cy="323999"/>
            </a:xfrm>
            <a:prstGeom prst="chevron">
              <a:avLst>
                <a:gd name="adj" fmla="val 18094"/>
              </a:avLst>
            </a:prstGeom>
            <a:solidFill>
              <a:srgbClr val="008D2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180975" indent="-180975" algn="ctr">
                <a:buClr>
                  <a:schemeClr val="accent1"/>
                </a:buClr>
              </a:pPr>
              <a:r>
                <a:rPr lang="en-US" altLang="ja-JP" sz="1100" dirty="0">
                  <a:solidFill>
                    <a:schemeClr val="bg1"/>
                  </a:solidFill>
                  <a:latin typeface="+mn-ea"/>
                </a:rPr>
                <a:t>FY28</a:t>
              </a:r>
              <a:endParaRPr lang="ja-JP" altLang="en-US" sz="1100" dirty="0">
                <a:solidFill>
                  <a:schemeClr val="bg1"/>
                </a:solidFill>
                <a:latin typeface="+mn-ea"/>
              </a:endParaRPr>
            </a:p>
          </p:txBody>
        </p:sp>
        <p:sp>
          <p:nvSpPr>
            <p:cNvPr id="376" name="山形 375">
              <a:extLst>
                <a:ext uri="{FF2B5EF4-FFF2-40B4-BE49-F238E27FC236}">
                  <a16:creationId xmlns:a16="http://schemas.microsoft.com/office/drawing/2014/main" id="{1E5C5CEA-3C67-9B59-5C64-85A2EB701BA0}"/>
                </a:ext>
              </a:extLst>
            </p:cNvPr>
            <p:cNvSpPr/>
            <p:nvPr/>
          </p:nvSpPr>
          <p:spPr>
            <a:xfrm>
              <a:off x="10566888" y="4578487"/>
              <a:ext cx="648000" cy="323999"/>
            </a:xfrm>
            <a:prstGeom prst="chevron">
              <a:avLst>
                <a:gd name="adj" fmla="val 18094"/>
              </a:avLst>
            </a:prstGeom>
            <a:solidFill>
              <a:srgbClr val="008D2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180975" indent="-180975" algn="ctr">
                <a:buClr>
                  <a:schemeClr val="accent1"/>
                </a:buClr>
              </a:pPr>
              <a:r>
                <a:rPr kumimoji="1" lang="en-US" altLang="ja-JP" sz="1100" dirty="0">
                  <a:solidFill>
                    <a:schemeClr val="bg1"/>
                  </a:solidFill>
                  <a:latin typeface="+mn-ea"/>
                </a:rPr>
                <a:t>FY29</a:t>
              </a:r>
              <a:endParaRPr kumimoji="1" lang="ja-JP" altLang="en-US" sz="1100" dirty="0">
                <a:solidFill>
                  <a:schemeClr val="bg1"/>
                </a:solidFill>
                <a:latin typeface="+mn-ea"/>
              </a:endParaRPr>
            </a:p>
          </p:txBody>
        </p:sp>
        <p:cxnSp>
          <p:nvCxnSpPr>
            <p:cNvPr id="378" name="table_TWformat_line_2_2">
              <a:extLst>
                <a:ext uri="{FF2B5EF4-FFF2-40B4-BE49-F238E27FC236}">
                  <a16:creationId xmlns:a16="http://schemas.microsoft.com/office/drawing/2014/main" id="{5E593B89-2F52-89D5-C35E-47D117348EF3}"/>
                </a:ext>
              </a:extLst>
            </p:cNvPr>
            <p:cNvCxnSpPr>
              <a:cxnSpLocks/>
            </p:cNvCxnSpPr>
            <p:nvPr/>
          </p:nvCxnSpPr>
          <p:spPr>
            <a:xfrm>
              <a:off x="8537951" y="5624568"/>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9" name="table_TWformat_line_2_2">
              <a:extLst>
                <a:ext uri="{FF2B5EF4-FFF2-40B4-BE49-F238E27FC236}">
                  <a16:creationId xmlns:a16="http://schemas.microsoft.com/office/drawing/2014/main" id="{4CA312BB-1999-535D-EC08-6AB7954FBEAF}"/>
                </a:ext>
              </a:extLst>
            </p:cNvPr>
            <p:cNvCxnSpPr>
              <a:cxnSpLocks/>
            </p:cNvCxnSpPr>
            <p:nvPr/>
          </p:nvCxnSpPr>
          <p:spPr>
            <a:xfrm>
              <a:off x="8537951" y="5978200"/>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0" name="table_TWformat_line_2_2">
              <a:extLst>
                <a:ext uri="{FF2B5EF4-FFF2-40B4-BE49-F238E27FC236}">
                  <a16:creationId xmlns:a16="http://schemas.microsoft.com/office/drawing/2014/main" id="{9C923BE6-0E86-C73B-897A-D5CBFD52882F}"/>
                </a:ext>
              </a:extLst>
            </p:cNvPr>
            <p:cNvCxnSpPr>
              <a:cxnSpLocks/>
            </p:cNvCxnSpPr>
            <p:nvPr/>
          </p:nvCxnSpPr>
          <p:spPr>
            <a:xfrm>
              <a:off x="8537951" y="5270935"/>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1" name="table_TWformat_line_2_2">
              <a:extLst>
                <a:ext uri="{FF2B5EF4-FFF2-40B4-BE49-F238E27FC236}">
                  <a16:creationId xmlns:a16="http://schemas.microsoft.com/office/drawing/2014/main" id="{66D5FFFF-E0AE-0BED-2533-FE11354239D5}"/>
                </a:ext>
              </a:extLst>
            </p:cNvPr>
            <p:cNvCxnSpPr>
              <a:cxnSpLocks/>
            </p:cNvCxnSpPr>
            <p:nvPr/>
          </p:nvCxnSpPr>
          <p:spPr>
            <a:xfrm>
              <a:off x="9214262" y="5624568"/>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2" name="table_TWformat_line_2_2">
              <a:extLst>
                <a:ext uri="{FF2B5EF4-FFF2-40B4-BE49-F238E27FC236}">
                  <a16:creationId xmlns:a16="http://schemas.microsoft.com/office/drawing/2014/main" id="{36508B16-4052-6AE9-5BA6-A065508AE8E3}"/>
                </a:ext>
              </a:extLst>
            </p:cNvPr>
            <p:cNvCxnSpPr>
              <a:cxnSpLocks/>
            </p:cNvCxnSpPr>
            <p:nvPr/>
          </p:nvCxnSpPr>
          <p:spPr>
            <a:xfrm>
              <a:off x="9214262" y="5978200"/>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3" name="table_TWformat_line_2_2">
              <a:extLst>
                <a:ext uri="{FF2B5EF4-FFF2-40B4-BE49-F238E27FC236}">
                  <a16:creationId xmlns:a16="http://schemas.microsoft.com/office/drawing/2014/main" id="{025F1690-AC1C-E4D5-2304-C394CC1F135A}"/>
                </a:ext>
              </a:extLst>
            </p:cNvPr>
            <p:cNvCxnSpPr>
              <a:cxnSpLocks/>
            </p:cNvCxnSpPr>
            <p:nvPr/>
          </p:nvCxnSpPr>
          <p:spPr>
            <a:xfrm>
              <a:off x="9214262" y="5270935"/>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4" name="table_TWformat_line_2_2">
              <a:extLst>
                <a:ext uri="{FF2B5EF4-FFF2-40B4-BE49-F238E27FC236}">
                  <a16:creationId xmlns:a16="http://schemas.microsoft.com/office/drawing/2014/main" id="{A9A1073F-59C1-BE47-11DF-16975AF6E126}"/>
                </a:ext>
              </a:extLst>
            </p:cNvPr>
            <p:cNvCxnSpPr>
              <a:cxnSpLocks/>
            </p:cNvCxnSpPr>
            <p:nvPr/>
          </p:nvCxnSpPr>
          <p:spPr>
            <a:xfrm>
              <a:off x="9890576" y="5624568"/>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5" name="table_TWformat_line_2_2">
              <a:extLst>
                <a:ext uri="{FF2B5EF4-FFF2-40B4-BE49-F238E27FC236}">
                  <a16:creationId xmlns:a16="http://schemas.microsoft.com/office/drawing/2014/main" id="{7A89D3DF-4DC0-8EBA-49B1-2AED54CE5098}"/>
                </a:ext>
              </a:extLst>
            </p:cNvPr>
            <p:cNvCxnSpPr>
              <a:cxnSpLocks/>
            </p:cNvCxnSpPr>
            <p:nvPr/>
          </p:nvCxnSpPr>
          <p:spPr>
            <a:xfrm>
              <a:off x="9890576" y="5978200"/>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6" name="table_TWformat_line_2_2">
              <a:extLst>
                <a:ext uri="{FF2B5EF4-FFF2-40B4-BE49-F238E27FC236}">
                  <a16:creationId xmlns:a16="http://schemas.microsoft.com/office/drawing/2014/main" id="{9470E92C-2C9A-D360-C7BD-DD89A8DE2112}"/>
                </a:ext>
              </a:extLst>
            </p:cNvPr>
            <p:cNvCxnSpPr>
              <a:cxnSpLocks/>
            </p:cNvCxnSpPr>
            <p:nvPr/>
          </p:nvCxnSpPr>
          <p:spPr>
            <a:xfrm>
              <a:off x="9890576" y="5270935"/>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7" name="table_TWformat_line_2_2">
              <a:extLst>
                <a:ext uri="{FF2B5EF4-FFF2-40B4-BE49-F238E27FC236}">
                  <a16:creationId xmlns:a16="http://schemas.microsoft.com/office/drawing/2014/main" id="{242A30B2-666C-A91C-2F9F-B476F8FBB433}"/>
                </a:ext>
              </a:extLst>
            </p:cNvPr>
            <p:cNvCxnSpPr>
              <a:cxnSpLocks/>
            </p:cNvCxnSpPr>
            <p:nvPr/>
          </p:nvCxnSpPr>
          <p:spPr>
            <a:xfrm>
              <a:off x="10566887" y="5624568"/>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8" name="table_TWformat_line_2_2">
              <a:extLst>
                <a:ext uri="{FF2B5EF4-FFF2-40B4-BE49-F238E27FC236}">
                  <a16:creationId xmlns:a16="http://schemas.microsoft.com/office/drawing/2014/main" id="{4CD52BB9-0B86-0AC8-3EA1-8CF64C31A1C8}"/>
                </a:ext>
              </a:extLst>
            </p:cNvPr>
            <p:cNvCxnSpPr>
              <a:cxnSpLocks/>
            </p:cNvCxnSpPr>
            <p:nvPr/>
          </p:nvCxnSpPr>
          <p:spPr>
            <a:xfrm>
              <a:off x="10566887" y="5978200"/>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9" name="table_TWformat_line_2_2">
              <a:extLst>
                <a:ext uri="{FF2B5EF4-FFF2-40B4-BE49-F238E27FC236}">
                  <a16:creationId xmlns:a16="http://schemas.microsoft.com/office/drawing/2014/main" id="{286329C4-41FC-1519-A6FC-D7742D97DE4F}"/>
                </a:ext>
              </a:extLst>
            </p:cNvPr>
            <p:cNvCxnSpPr>
              <a:cxnSpLocks/>
            </p:cNvCxnSpPr>
            <p:nvPr/>
          </p:nvCxnSpPr>
          <p:spPr>
            <a:xfrm>
              <a:off x="10566887" y="5270935"/>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0" name="table_TWformat_line_2_2">
              <a:extLst>
                <a:ext uri="{FF2B5EF4-FFF2-40B4-BE49-F238E27FC236}">
                  <a16:creationId xmlns:a16="http://schemas.microsoft.com/office/drawing/2014/main" id="{800A0185-633B-8463-7046-6F5BB086FE45}"/>
                </a:ext>
              </a:extLst>
            </p:cNvPr>
            <p:cNvCxnSpPr>
              <a:cxnSpLocks/>
            </p:cNvCxnSpPr>
            <p:nvPr/>
          </p:nvCxnSpPr>
          <p:spPr>
            <a:xfrm>
              <a:off x="11244262" y="5624568"/>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1" name="table_TWformat_line_2_2">
              <a:extLst>
                <a:ext uri="{FF2B5EF4-FFF2-40B4-BE49-F238E27FC236}">
                  <a16:creationId xmlns:a16="http://schemas.microsoft.com/office/drawing/2014/main" id="{CB7D9E2D-FF5F-18F7-2758-E77969AFE691}"/>
                </a:ext>
              </a:extLst>
            </p:cNvPr>
            <p:cNvCxnSpPr>
              <a:cxnSpLocks/>
            </p:cNvCxnSpPr>
            <p:nvPr/>
          </p:nvCxnSpPr>
          <p:spPr>
            <a:xfrm>
              <a:off x="11244262" y="5978200"/>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2" name="table_TWformat_line_2_2">
              <a:extLst>
                <a:ext uri="{FF2B5EF4-FFF2-40B4-BE49-F238E27FC236}">
                  <a16:creationId xmlns:a16="http://schemas.microsoft.com/office/drawing/2014/main" id="{33F12185-B080-6907-87B5-97FE3BA645EA}"/>
                </a:ext>
              </a:extLst>
            </p:cNvPr>
            <p:cNvCxnSpPr>
              <a:cxnSpLocks/>
            </p:cNvCxnSpPr>
            <p:nvPr/>
          </p:nvCxnSpPr>
          <p:spPr>
            <a:xfrm>
              <a:off x="11244262" y="5270935"/>
              <a:ext cx="612000"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9" name="グループ化 38">
            <a:extLst>
              <a:ext uri="{FF2B5EF4-FFF2-40B4-BE49-F238E27FC236}">
                <a16:creationId xmlns:a16="http://schemas.microsoft.com/office/drawing/2014/main" id="{45C920A7-A0E5-0E17-0E75-22BEBC46475D}"/>
              </a:ext>
            </a:extLst>
          </p:cNvPr>
          <p:cNvGrpSpPr/>
          <p:nvPr/>
        </p:nvGrpSpPr>
        <p:grpSpPr>
          <a:xfrm>
            <a:off x="342913" y="1643271"/>
            <a:ext cx="11514959" cy="2854591"/>
            <a:chOff x="342913" y="1643271"/>
            <a:chExt cx="11514959" cy="2854591"/>
          </a:xfrm>
        </p:grpSpPr>
        <p:sp>
          <p:nvSpPr>
            <p:cNvPr id="17" name="table_TWformat_txt_2_1">
              <a:extLst>
                <a:ext uri="{FF2B5EF4-FFF2-40B4-BE49-F238E27FC236}">
                  <a16:creationId xmlns:a16="http://schemas.microsoft.com/office/drawing/2014/main" id="{5BFF5E71-17E9-3E8C-C3AE-7F29A0755605}"/>
                </a:ext>
              </a:extLst>
            </p:cNvPr>
            <p:cNvSpPr/>
            <p:nvPr/>
          </p:nvSpPr>
          <p:spPr>
            <a:xfrm>
              <a:off x="342913" y="1643271"/>
              <a:ext cx="274637" cy="2773965"/>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en" altLang="ja-JP" b="0" i="0" u="none" strike="noStrike" kern="1200" cap="none" spc="0" normalizeH="0" baseline="0" noProof="0" dirty="0">
                  <a:ln>
                    <a:noFill/>
                  </a:ln>
                  <a:solidFill>
                    <a:prstClr val="white"/>
                  </a:solidFill>
                  <a:effectLst/>
                  <a:uLnTx/>
                  <a:uFillTx/>
                  <a:latin typeface="+mn-ea"/>
                  <a:cs typeface="+mn-cs"/>
                </a:rPr>
                <a:t>KP</a:t>
              </a:r>
              <a:br>
                <a:rPr kumimoji="1" lang="en" altLang="ja-JP" b="0" i="0" u="none" strike="noStrike" kern="1200" cap="none" spc="0" normalizeH="0" baseline="0" noProof="0" dirty="0">
                  <a:ln>
                    <a:noFill/>
                  </a:ln>
                  <a:solidFill>
                    <a:prstClr val="white"/>
                  </a:solidFill>
                  <a:effectLst/>
                  <a:uLnTx/>
                  <a:uFillTx/>
                  <a:latin typeface="+mn-ea"/>
                  <a:cs typeface="+mn-cs"/>
                </a:rPr>
              </a:br>
              <a:r>
                <a:rPr kumimoji="1" lang="en" altLang="ja-JP" b="0" i="0" u="none" strike="noStrike" kern="1200" cap="none" spc="0" normalizeH="0" baseline="0" noProof="0" dirty="0">
                  <a:ln>
                    <a:noFill/>
                  </a:ln>
                  <a:solidFill>
                    <a:prstClr val="white"/>
                  </a:solidFill>
                  <a:effectLst/>
                  <a:uLnTx/>
                  <a:uFillTx/>
                  <a:latin typeface="+mn-ea"/>
                  <a:cs typeface="+mn-cs"/>
                </a:rPr>
                <a:t>I</a:t>
              </a:r>
            </a:p>
          </p:txBody>
        </p:sp>
        <p:grpSp>
          <p:nvGrpSpPr>
            <p:cNvPr id="5" name="グループ化 4">
              <a:extLst>
                <a:ext uri="{FF2B5EF4-FFF2-40B4-BE49-F238E27FC236}">
                  <a16:creationId xmlns:a16="http://schemas.microsoft.com/office/drawing/2014/main" id="{538C5659-7051-F653-78FC-97C3B7E82CAE}"/>
                </a:ext>
              </a:extLst>
            </p:cNvPr>
            <p:cNvGrpSpPr/>
            <p:nvPr/>
          </p:nvGrpSpPr>
          <p:grpSpPr>
            <a:xfrm>
              <a:off x="2767605" y="1643271"/>
              <a:ext cx="3506195" cy="2773966"/>
              <a:chOff x="2767605" y="1643271"/>
              <a:chExt cx="4089202" cy="2773966"/>
            </a:xfrm>
          </p:grpSpPr>
          <p:sp>
            <p:nvSpPr>
              <p:cNvPr id="22" name="table_TWformat_txt_1_2">
                <a:extLst>
                  <a:ext uri="{FF2B5EF4-FFF2-40B4-BE49-F238E27FC236}">
                    <a16:creationId xmlns:a16="http://schemas.microsoft.com/office/drawing/2014/main" id="{D457F82F-6BE7-62BA-124B-63105FC10F32}"/>
                  </a:ext>
                </a:extLst>
              </p:cNvPr>
              <p:cNvSpPr/>
              <p:nvPr/>
            </p:nvSpPr>
            <p:spPr>
              <a:xfrm>
                <a:off x="2767605" y="1643271"/>
                <a:ext cx="3046453" cy="216000"/>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cs typeface="+mn-cs"/>
                  </a:rPr>
                  <a:t>管理指標 </a:t>
                </a:r>
                <a:r>
                  <a:rPr kumimoji="1" lang="en-US" altLang="ja-JP" sz="1200" b="0" i="0" u="none" strike="noStrike" kern="1200" cap="none" spc="0" normalizeH="0" baseline="0" noProof="0" dirty="0">
                    <a:ln>
                      <a:noFill/>
                    </a:ln>
                    <a:solidFill>
                      <a:prstClr val="black"/>
                    </a:solidFill>
                    <a:effectLst/>
                    <a:uLnTx/>
                    <a:uFillTx/>
                    <a:latin typeface="+mn-ea"/>
                    <a:cs typeface="+mn-cs"/>
                  </a:rPr>
                  <a:t>(</a:t>
                </a:r>
                <a:r>
                  <a:rPr kumimoji="1" lang="en" altLang="ja-JP" sz="1200" b="0" i="0" u="none" strike="noStrike" kern="1200" cap="none" spc="0" normalizeH="0" baseline="0" noProof="0" dirty="0">
                    <a:ln>
                      <a:noFill/>
                    </a:ln>
                    <a:solidFill>
                      <a:prstClr val="black"/>
                    </a:solidFill>
                    <a:effectLst/>
                    <a:uLnTx/>
                    <a:uFillTx/>
                    <a:latin typeface="+mn-ea"/>
                    <a:cs typeface="+mn-cs"/>
                  </a:rPr>
                  <a:t>KPI)</a:t>
                </a:r>
              </a:p>
            </p:txBody>
          </p:sp>
          <p:cxnSp>
            <p:nvCxnSpPr>
              <p:cNvPr id="58" name="table_TWformat_line_2_2">
                <a:extLst>
                  <a:ext uri="{FF2B5EF4-FFF2-40B4-BE49-F238E27FC236}">
                    <a16:creationId xmlns:a16="http://schemas.microsoft.com/office/drawing/2014/main" id="{1234B3AF-8F67-AD03-CBA9-3B905B86E5B5}"/>
                  </a:ext>
                </a:extLst>
              </p:cNvPr>
              <p:cNvCxnSpPr>
                <a:cxnSpLocks/>
              </p:cNvCxnSpPr>
              <p:nvPr/>
            </p:nvCxnSpPr>
            <p:spPr>
              <a:xfrm>
                <a:off x="2767606" y="1859271"/>
                <a:ext cx="3046453"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2" name="正方形/長方形 91">
                <a:extLst>
                  <a:ext uri="{FF2B5EF4-FFF2-40B4-BE49-F238E27FC236}">
                    <a16:creationId xmlns:a16="http://schemas.microsoft.com/office/drawing/2014/main" id="{FB168364-50F4-F85B-5929-A8640AB1F2FE}"/>
                  </a:ext>
                </a:extLst>
              </p:cNvPr>
              <p:cNvSpPr/>
              <p:nvPr/>
            </p:nvSpPr>
            <p:spPr>
              <a:xfrm>
                <a:off x="2767605" y="1909726"/>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特定個人依存業務</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引き継ぎ試験パス率</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48" name="table_TWformat_line_2_2">
                <a:extLst>
                  <a:ext uri="{FF2B5EF4-FFF2-40B4-BE49-F238E27FC236}">
                    <a16:creationId xmlns:a16="http://schemas.microsoft.com/office/drawing/2014/main" id="{0BFB7BFA-7759-262A-ECEF-A87B58B9E64A}"/>
                  </a:ext>
                </a:extLst>
              </p:cNvPr>
              <p:cNvCxnSpPr>
                <a:cxnSpLocks/>
              </p:cNvCxnSpPr>
              <p:nvPr/>
            </p:nvCxnSpPr>
            <p:spPr>
              <a:xfrm>
                <a:off x="2767606" y="2080205"/>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1" name="正方形/長方形 150">
                <a:extLst>
                  <a:ext uri="{FF2B5EF4-FFF2-40B4-BE49-F238E27FC236}">
                    <a16:creationId xmlns:a16="http://schemas.microsoft.com/office/drawing/2014/main" id="{0286C657-E0C7-E1FE-BF63-1755CBAB5C34}"/>
                  </a:ext>
                </a:extLst>
              </p:cNvPr>
              <p:cNvSpPr/>
              <p:nvPr/>
            </p:nvSpPr>
            <p:spPr>
              <a:xfrm>
                <a:off x="2767605" y="2106685"/>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手順書化率</a:t>
                </a:r>
                <a:r>
                  <a:rPr kumimoji="1" lang="en-US" altLang="ja-JP" sz="1000" b="0" i="0" u="none" strike="noStrike" kern="1200" cap="none" spc="0" normalizeH="0" baseline="0" noProof="0" dirty="0">
                    <a:ln>
                      <a:noFill/>
                    </a:ln>
                    <a:solidFill>
                      <a:srgbClr val="575757">
                        <a:lumMod val="75000"/>
                      </a:srgbClr>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未文書化業務の解消</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52" name="table_TWformat_line_2_2">
                <a:extLst>
                  <a:ext uri="{FF2B5EF4-FFF2-40B4-BE49-F238E27FC236}">
                    <a16:creationId xmlns:a16="http://schemas.microsoft.com/office/drawing/2014/main" id="{9378B737-E142-7F85-0EE0-5C72E00AD7FC}"/>
                  </a:ext>
                </a:extLst>
              </p:cNvPr>
              <p:cNvCxnSpPr>
                <a:cxnSpLocks/>
              </p:cNvCxnSpPr>
              <p:nvPr/>
            </p:nvCxnSpPr>
            <p:spPr>
              <a:xfrm>
                <a:off x="2767606" y="2277165"/>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3" name="正方形/長方形 152">
                <a:extLst>
                  <a:ext uri="{FF2B5EF4-FFF2-40B4-BE49-F238E27FC236}">
                    <a16:creationId xmlns:a16="http://schemas.microsoft.com/office/drawing/2014/main" id="{84B803E3-8D40-C211-70FC-891A08915499}"/>
                  </a:ext>
                </a:extLst>
              </p:cNvPr>
              <p:cNvSpPr/>
              <p:nvPr/>
            </p:nvSpPr>
            <p:spPr>
              <a:xfrm>
                <a:off x="2767605" y="2303644"/>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自動化率</a:t>
                </a:r>
                <a:r>
                  <a:rPr kumimoji="1" lang="en-US" altLang="ja-JP" sz="1000" b="0" i="0" u="none" strike="noStrike" kern="1200" cap="none" spc="0" normalizeH="0" baseline="0" noProof="0" dirty="0">
                    <a:ln>
                      <a:noFill/>
                    </a:ln>
                    <a:solidFill>
                      <a:srgbClr val="575757">
                        <a:lumMod val="75000"/>
                      </a:srgbClr>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定型作業のうち機械処理の割合</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54" name="table_TWformat_line_2_2">
                <a:extLst>
                  <a:ext uri="{FF2B5EF4-FFF2-40B4-BE49-F238E27FC236}">
                    <a16:creationId xmlns:a16="http://schemas.microsoft.com/office/drawing/2014/main" id="{2E61B3A9-4D07-AFCB-59B4-D2FB687C77CD}"/>
                  </a:ext>
                </a:extLst>
              </p:cNvPr>
              <p:cNvCxnSpPr>
                <a:cxnSpLocks/>
              </p:cNvCxnSpPr>
              <p:nvPr/>
            </p:nvCxnSpPr>
            <p:spPr>
              <a:xfrm>
                <a:off x="2767606" y="2474124"/>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5" name="正方形/長方形 154">
                <a:extLst>
                  <a:ext uri="{FF2B5EF4-FFF2-40B4-BE49-F238E27FC236}">
                    <a16:creationId xmlns:a16="http://schemas.microsoft.com/office/drawing/2014/main" id="{FDF06F19-102A-69F3-9C16-D6EB311D7C9D}"/>
                  </a:ext>
                </a:extLst>
              </p:cNvPr>
              <p:cNvSpPr/>
              <p:nvPr/>
            </p:nvSpPr>
            <p:spPr>
              <a:xfrm>
                <a:off x="2767605" y="2500603"/>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 altLang="ja-JP" sz="1000" b="1" i="0" u="none" strike="noStrike" kern="1200" cap="none" spc="0" normalizeH="0" baseline="0" noProof="0" dirty="0">
                    <a:ln>
                      <a:noFill/>
                    </a:ln>
                    <a:solidFill>
                      <a:srgbClr val="008D2E"/>
                    </a:solidFill>
                    <a:effectLst/>
                    <a:uLnTx/>
                    <a:uFillTx/>
                    <a:latin typeface="+mn-ea"/>
                    <a:cs typeface="+mn-cs"/>
                  </a:rPr>
                  <a:t>品質基準</a:t>
                </a:r>
                <a:r>
                  <a:rPr kumimoji="1" lang="ja-JP" altLang="en-US" sz="1000" b="1" i="0" u="none" strike="noStrike" kern="1200" cap="none" spc="0" normalizeH="0" baseline="0" noProof="0" dirty="0">
                    <a:ln>
                      <a:noFill/>
                    </a:ln>
                    <a:solidFill>
                      <a:srgbClr val="008D2E"/>
                    </a:solidFill>
                    <a:effectLst/>
                    <a:uLnTx/>
                    <a:uFillTx/>
                    <a:latin typeface="+mn-ea"/>
                    <a:cs typeface="+mn-cs"/>
                  </a:rPr>
                  <a:t>遵守率</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応答・復旧・報告期限</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56" name="table_TWformat_line_2_2">
                <a:extLst>
                  <a:ext uri="{FF2B5EF4-FFF2-40B4-BE49-F238E27FC236}">
                    <a16:creationId xmlns:a16="http://schemas.microsoft.com/office/drawing/2014/main" id="{84A27F89-DAA9-B12C-DDE6-3AE240CB0549}"/>
                  </a:ext>
                </a:extLst>
              </p:cNvPr>
              <p:cNvCxnSpPr>
                <a:cxnSpLocks/>
              </p:cNvCxnSpPr>
              <p:nvPr/>
            </p:nvCxnSpPr>
            <p:spPr>
              <a:xfrm>
                <a:off x="2767606" y="2671083"/>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7" name="正方形/長方形 156">
                <a:extLst>
                  <a:ext uri="{FF2B5EF4-FFF2-40B4-BE49-F238E27FC236}">
                    <a16:creationId xmlns:a16="http://schemas.microsoft.com/office/drawing/2014/main" id="{BF2C3F24-4FEB-DB22-8141-59002856084E}"/>
                  </a:ext>
                </a:extLst>
              </p:cNvPr>
              <p:cNvSpPr/>
              <p:nvPr/>
            </p:nvSpPr>
            <p:spPr>
              <a:xfrm>
                <a:off x="2767605" y="2697563"/>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a:ln>
                      <a:noFill/>
                    </a:ln>
                    <a:solidFill>
                      <a:srgbClr val="008D2E"/>
                    </a:solidFill>
                    <a:effectLst/>
                    <a:uLnTx/>
                    <a:uFillTx/>
                    <a:latin typeface="+mn-ea"/>
                    <a:cs typeface="+mn-cs"/>
                  </a:rPr>
                  <a:t>平均復旧時間</a:t>
                </a:r>
                <a:r>
                  <a:rPr kumimoji="1" lang="en-US" altLang="ja-JP" sz="1000" b="1" i="0" u="none" strike="noStrike" kern="1200" cap="none" spc="0" normalizeH="0" baseline="0" noProof="0" dirty="0">
                    <a:ln>
                      <a:noFill/>
                    </a:ln>
                    <a:solidFill>
                      <a:srgbClr val="008D2E"/>
                    </a:solidFill>
                    <a:effectLst/>
                    <a:uLnTx/>
                    <a:uFillTx/>
                    <a:latin typeface="+mn-ea"/>
                    <a:cs typeface="+mn-cs"/>
                  </a:rPr>
                  <a:t/>
                </a:r>
                <a:r>
                  <a:rPr kumimoji="1" lang="en" altLang="ja-JP" sz="1000" b="1" i="0" u="none" strike="noStrike" kern="1200" cap="none" spc="0" normalizeH="0" baseline="0" noProof="0" dirty="0">
                    <a:ln>
                      <a:noFill/>
                    </a:ln>
                    <a:solidFill>
                      <a:srgbClr val="008D2E"/>
                    </a:solidFill>
                    <a:effectLst/>
                    <a:uLnTx/>
                    <a:uFillTx/>
                    <a:latin typeface="+mn-ea"/>
                    <a:cs typeface="+mn-cs"/>
                  </a:rPr>
                  <a:t/>
                </a:r>
                <a:r>
                  <a:rPr kumimoji="1" lang="ja-JP" altLang="en" sz="1000" b="1" i="0" u="none" strike="noStrike" kern="1200" cap="none" spc="0" normalizeH="0" baseline="0" noProof="0">
                    <a:ln>
                      <a:noFill/>
                    </a:ln>
                    <a:solidFill>
                      <a:srgbClr val="008D2E"/>
                    </a:solidFill>
                    <a:effectLst/>
                    <a:uLnTx/>
                    <a:uFillTx/>
                    <a:latin typeface="+mn-ea"/>
                    <a:cs typeface="+mn-cs"/>
                  </a:rPr>
                  <a:t>・</a:t>
                </a:r>
                <a:r>
                  <a:rPr kumimoji="1" lang="ja-JP" altLang="en-US" sz="1000" b="1" i="0" u="none" strike="noStrike" kern="1200" cap="none" spc="0" normalizeH="0" baseline="0" noProof="0">
                    <a:ln>
                      <a:noFill/>
                    </a:ln>
                    <a:solidFill>
                      <a:srgbClr val="008D2E"/>
                    </a:solidFill>
                    <a:effectLst/>
                    <a:uLnTx/>
                    <a:uFillTx/>
                    <a:latin typeface="+mn-ea"/>
                    <a:cs typeface="+mn-cs"/>
                  </a:rPr>
                  <a:t>重大障害件数</a:t>
                </a:r>
              </a:p>
            </p:txBody>
          </p:sp>
          <p:cxnSp>
            <p:nvCxnSpPr>
              <p:cNvPr id="158" name="table_TWformat_line_2_2">
                <a:extLst>
                  <a:ext uri="{FF2B5EF4-FFF2-40B4-BE49-F238E27FC236}">
                    <a16:creationId xmlns:a16="http://schemas.microsoft.com/office/drawing/2014/main" id="{C3A87AA7-C876-6F69-7B5C-CD2E8074AB10}"/>
                  </a:ext>
                </a:extLst>
              </p:cNvPr>
              <p:cNvCxnSpPr>
                <a:cxnSpLocks/>
              </p:cNvCxnSpPr>
              <p:nvPr/>
            </p:nvCxnSpPr>
            <p:spPr>
              <a:xfrm>
                <a:off x="2767606" y="2868042"/>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9" name="正方形/長方形 158">
                <a:extLst>
                  <a:ext uri="{FF2B5EF4-FFF2-40B4-BE49-F238E27FC236}">
                    <a16:creationId xmlns:a16="http://schemas.microsoft.com/office/drawing/2014/main" id="{33E8DEA5-A062-9EE2-D189-4092E13914DF}"/>
                  </a:ext>
                </a:extLst>
              </p:cNvPr>
              <p:cNvSpPr/>
              <p:nvPr/>
            </p:nvSpPr>
            <p:spPr>
              <a:xfrm>
                <a:off x="2767605" y="2894522"/>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 altLang="ja-JP" sz="1000" b="1" i="0" u="none" strike="noStrike" kern="1200" cap="none" spc="0" normalizeH="0" baseline="0" noProof="0" dirty="0">
                    <a:ln>
                      <a:noFill/>
                    </a:ln>
                    <a:solidFill>
                      <a:srgbClr val="008D2E"/>
                    </a:solidFill>
                    <a:effectLst/>
                    <a:uLnTx/>
                    <a:uFillTx/>
                    <a:latin typeface="+mn-ea"/>
                    <a:cs typeface="+mn-cs"/>
                  </a:rPr>
                  <a:t>IT</a:t>
                </a:r>
                <a:r>
                  <a:rPr kumimoji="1" lang="ja-JP" altLang="en-US" sz="1000" b="1" i="0" u="none" strike="noStrike" kern="1200" cap="none" spc="0" normalizeH="0" baseline="0" noProof="0" dirty="0">
                    <a:ln>
                      <a:noFill/>
                    </a:ln>
                    <a:solidFill>
                      <a:srgbClr val="008D2E"/>
                    </a:solidFill>
                    <a:effectLst/>
                    <a:uLnTx/>
                    <a:uFillTx/>
                    <a:latin typeface="+mn-ea"/>
                    <a:cs typeface="+mn-cs"/>
                  </a:rPr>
                  <a:t>サービス利用者満足度</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全社員調査</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60" name="table_TWformat_line_2_2">
                <a:extLst>
                  <a:ext uri="{FF2B5EF4-FFF2-40B4-BE49-F238E27FC236}">
                    <a16:creationId xmlns:a16="http://schemas.microsoft.com/office/drawing/2014/main" id="{607C13D4-BB76-411B-D05E-1B0D4444C515}"/>
                  </a:ext>
                </a:extLst>
              </p:cNvPr>
              <p:cNvCxnSpPr>
                <a:cxnSpLocks/>
              </p:cNvCxnSpPr>
              <p:nvPr/>
            </p:nvCxnSpPr>
            <p:spPr>
              <a:xfrm>
                <a:off x="2767606" y="3261961"/>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1" name="正方形/長方形 160">
                <a:extLst>
                  <a:ext uri="{FF2B5EF4-FFF2-40B4-BE49-F238E27FC236}">
                    <a16:creationId xmlns:a16="http://schemas.microsoft.com/office/drawing/2014/main" id="{50213658-B1D1-AB3D-6AC4-0D4CB3D2E908}"/>
                  </a:ext>
                </a:extLst>
              </p:cNvPr>
              <p:cNvSpPr/>
              <p:nvPr/>
            </p:nvSpPr>
            <p:spPr>
              <a:xfrm>
                <a:off x="2767605" y="3288441"/>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企画業務への再配置</a:t>
                </a:r>
                <a:r>
                  <a:rPr kumimoji="1" lang="en" altLang="ja-JP" sz="1000" b="1" i="0" u="none" strike="noStrike" kern="1200" cap="none" spc="0" normalizeH="0" baseline="0" noProof="0" dirty="0">
                    <a:ln>
                      <a:noFill/>
                    </a:ln>
                    <a:solidFill>
                      <a:srgbClr val="008D2E"/>
                    </a:solidFill>
                    <a:effectLst/>
                    <a:uLnTx/>
                    <a:uFillTx/>
                    <a:latin typeface="+mn-ea"/>
                    <a:cs typeface="+mn-cs"/>
                  </a:rPr>
                  <a:t>人員 </a:t>
                </a:r>
                <a:r>
                  <a:rPr kumimoji="1" lang="en" altLang="ja-JP" sz="1000" b="0" i="0" u="none" strike="noStrike" kern="1200" cap="none" spc="0" normalizeH="0" baseline="0" noProof="0" dirty="0">
                    <a:ln>
                      <a:noFill/>
                    </a:ln>
                    <a:solidFill>
                      <a:schemeClr val="tx1"/>
                    </a:solidFill>
                    <a:effectLst/>
                    <a:uLnTx/>
                    <a:uFillTx/>
                    <a:latin typeface="+mn-ea"/>
                    <a:cs typeface="+mn-cs"/>
                  </a:rPr>
                  <a:t>(</a:t>
                </a:r>
                <a:r>
                  <a:rPr kumimoji="1" lang="en" altLang="ja-JP" sz="1000" b="0" i="0" u="none" strike="noStrike" kern="1200" cap="none" spc="0" normalizeH="0" baseline="0" noProof="0" dirty="0">
                    <a:ln>
                      <a:noFill/>
                    </a:ln>
                    <a:solidFill>
                      <a:srgbClr val="008D2E"/>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削減はしない</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62" name="table_TWformat_line_2_2">
                <a:extLst>
                  <a:ext uri="{FF2B5EF4-FFF2-40B4-BE49-F238E27FC236}">
                    <a16:creationId xmlns:a16="http://schemas.microsoft.com/office/drawing/2014/main" id="{6C46720E-0510-57AD-871C-8AA6C2E64FD3}"/>
                  </a:ext>
                </a:extLst>
              </p:cNvPr>
              <p:cNvCxnSpPr>
                <a:cxnSpLocks/>
              </p:cNvCxnSpPr>
              <p:nvPr/>
            </p:nvCxnSpPr>
            <p:spPr>
              <a:xfrm>
                <a:off x="2767606" y="3458920"/>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3" name="正方形/長方形 162">
                <a:extLst>
                  <a:ext uri="{FF2B5EF4-FFF2-40B4-BE49-F238E27FC236}">
                    <a16:creationId xmlns:a16="http://schemas.microsoft.com/office/drawing/2014/main" id="{4F26BC11-FDFF-E0F8-5D7D-2235995210C3}"/>
                  </a:ext>
                </a:extLst>
              </p:cNvPr>
              <p:cNvSpPr/>
              <p:nvPr/>
            </p:nvSpPr>
            <p:spPr>
              <a:xfrm>
                <a:off x="2767605" y="3485400"/>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運用従事率</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社員工数に占める運用の割合</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64" name="table_TWformat_line_2_2">
                <a:extLst>
                  <a:ext uri="{FF2B5EF4-FFF2-40B4-BE49-F238E27FC236}">
                    <a16:creationId xmlns:a16="http://schemas.microsoft.com/office/drawing/2014/main" id="{62E7D1C7-1C32-F733-D591-0A7FB6642168}"/>
                  </a:ext>
                </a:extLst>
              </p:cNvPr>
              <p:cNvCxnSpPr>
                <a:cxnSpLocks/>
              </p:cNvCxnSpPr>
              <p:nvPr/>
            </p:nvCxnSpPr>
            <p:spPr>
              <a:xfrm>
                <a:off x="2767606" y="3655880"/>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5" name="正方形/長方形 164">
                <a:extLst>
                  <a:ext uri="{FF2B5EF4-FFF2-40B4-BE49-F238E27FC236}">
                    <a16:creationId xmlns:a16="http://schemas.microsoft.com/office/drawing/2014/main" id="{28473FB4-FD04-DD38-E920-DFF974302929}"/>
                  </a:ext>
                </a:extLst>
              </p:cNvPr>
              <p:cNvSpPr/>
              <p:nvPr/>
            </p:nvSpPr>
            <p:spPr>
              <a:xfrm>
                <a:off x="2767605" y="3682359"/>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a:ln>
                      <a:noFill/>
                    </a:ln>
                    <a:solidFill>
                      <a:srgbClr val="008D2E"/>
                    </a:solidFill>
                    <a:effectLst/>
                    <a:uLnTx/>
                    <a:uFillTx/>
                    <a:latin typeface="+mn-ea"/>
                    <a:cs typeface="+mn-cs"/>
                  </a:rPr>
                  <a:t>運用起因の時間外労働</a:t>
                </a:r>
              </a:p>
            </p:txBody>
          </p:sp>
          <p:cxnSp>
            <p:nvCxnSpPr>
              <p:cNvPr id="166" name="table_TWformat_line_2_2">
                <a:extLst>
                  <a:ext uri="{FF2B5EF4-FFF2-40B4-BE49-F238E27FC236}">
                    <a16:creationId xmlns:a16="http://schemas.microsoft.com/office/drawing/2014/main" id="{69C9CBD2-9784-1EE9-3284-C8BD02DF63E3}"/>
                  </a:ext>
                </a:extLst>
              </p:cNvPr>
              <p:cNvCxnSpPr>
                <a:cxnSpLocks/>
              </p:cNvCxnSpPr>
              <p:nvPr/>
            </p:nvCxnSpPr>
            <p:spPr>
              <a:xfrm>
                <a:off x="2767606" y="3852839"/>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7" name="正方形/長方形 166">
                <a:extLst>
                  <a:ext uri="{FF2B5EF4-FFF2-40B4-BE49-F238E27FC236}">
                    <a16:creationId xmlns:a16="http://schemas.microsoft.com/office/drawing/2014/main" id="{48AA2972-DC1D-49F0-A466-BB22DD9EA10B}"/>
                  </a:ext>
                </a:extLst>
              </p:cNvPr>
              <p:cNvSpPr/>
              <p:nvPr/>
            </p:nvSpPr>
            <p:spPr>
              <a:xfrm>
                <a:off x="2767605" y="3879319"/>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en" altLang="ja-JP" sz="1000" b="1" i="0" u="none" strike="noStrike" kern="1200" cap="none" spc="0" normalizeH="0" baseline="0" noProof="0" dirty="0">
                    <a:ln>
                      <a:noFill/>
                    </a:ln>
                    <a:solidFill>
                      <a:srgbClr val="008D2E"/>
                    </a:solidFill>
                    <a:effectLst/>
                    <a:uLnTx/>
                    <a:uFillTx/>
                    <a:latin typeface="+mn-ea"/>
                    <a:cs typeface="+mn-cs"/>
                  </a:rPr>
                  <a:t>総コスト</a:t>
                </a:r>
                <a:r>
                  <a:rPr kumimoji="1" lang="ja-JP" altLang="en-US" sz="1000" b="1" i="0" u="none" strike="noStrike" kern="1200" cap="none" spc="0" normalizeH="0" baseline="0" noProof="0" dirty="0">
                    <a:ln>
                      <a:noFill/>
                    </a:ln>
                    <a:solidFill>
                      <a:srgbClr val="008D2E"/>
                    </a:solidFill>
                    <a:effectLst/>
                    <a:uLnTx/>
                    <a:uFillTx/>
                    <a:latin typeface="+mn-ea"/>
                    <a:cs typeface="+mn-cs"/>
                  </a:rPr>
                  <a:t>可視化率</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社員工数・手戻り含む</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68" name="table_TWformat_line_2_2">
                <a:extLst>
                  <a:ext uri="{FF2B5EF4-FFF2-40B4-BE49-F238E27FC236}">
                    <a16:creationId xmlns:a16="http://schemas.microsoft.com/office/drawing/2014/main" id="{3F4C8031-F28C-DF1D-345E-C1FBAA14F1CA}"/>
                  </a:ext>
                </a:extLst>
              </p:cNvPr>
              <p:cNvCxnSpPr>
                <a:cxnSpLocks/>
              </p:cNvCxnSpPr>
              <p:nvPr/>
            </p:nvCxnSpPr>
            <p:spPr>
              <a:xfrm>
                <a:off x="2767606" y="4049798"/>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9" name="正方形/長方形 168">
                <a:extLst>
                  <a:ext uri="{FF2B5EF4-FFF2-40B4-BE49-F238E27FC236}">
                    <a16:creationId xmlns:a16="http://schemas.microsoft.com/office/drawing/2014/main" id="{3283A1DF-A962-7396-1A98-EB4DF7FFFD0A}"/>
                  </a:ext>
                </a:extLst>
              </p:cNvPr>
              <p:cNvSpPr/>
              <p:nvPr/>
            </p:nvSpPr>
            <p:spPr>
              <a:xfrm>
                <a:off x="2767605" y="4076278"/>
                <a:ext cx="3046453"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運用総コスト</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
                </a:r>
                <a:r>
                  <a:rPr kumimoji="1" lang="en" altLang="ja-JP" sz="1000" b="0" i="0" u="none" strike="noStrike" kern="1200" cap="none" spc="0" normalizeH="0" baseline="0" noProof="0" dirty="0">
                    <a:ln>
                      <a:noFill/>
                    </a:ln>
                    <a:solidFill>
                      <a:schemeClr val="tx1"/>
                    </a:solidFill>
                    <a:effectLst/>
                    <a:uLnTx/>
                    <a:uFillTx/>
                    <a:latin typeface="+mn-ea"/>
                    <a:cs typeface="+mn-cs"/>
                  </a:rPr>
                  <a:t/>
                </a:r>
              </a:p>
            </p:txBody>
          </p:sp>
          <p:cxnSp>
            <p:nvCxnSpPr>
              <p:cNvPr id="170" name="table_TWformat_line_2_2">
                <a:extLst>
                  <a:ext uri="{FF2B5EF4-FFF2-40B4-BE49-F238E27FC236}">
                    <a16:creationId xmlns:a16="http://schemas.microsoft.com/office/drawing/2014/main" id="{1754F8BD-DD18-6ECB-47E5-A1397F5938D1}"/>
                  </a:ext>
                </a:extLst>
              </p:cNvPr>
              <p:cNvCxnSpPr>
                <a:cxnSpLocks/>
              </p:cNvCxnSpPr>
              <p:nvPr/>
            </p:nvCxnSpPr>
            <p:spPr>
              <a:xfrm>
                <a:off x="2767606" y="4246758"/>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71" name="正方形/長方形 170">
                <a:extLst>
                  <a:ext uri="{FF2B5EF4-FFF2-40B4-BE49-F238E27FC236}">
                    <a16:creationId xmlns:a16="http://schemas.microsoft.com/office/drawing/2014/main" id="{5EBC3E89-116B-34F0-3C73-696DBEB598EB}"/>
                  </a:ext>
                </a:extLst>
              </p:cNvPr>
              <p:cNvSpPr/>
              <p:nvPr/>
            </p:nvSpPr>
            <p:spPr>
              <a:xfrm>
                <a:off x="2767606" y="4273237"/>
                <a:ext cx="3046454"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b="1" i="0" u="none" strike="noStrike" kern="1200" cap="none" spc="0" normalizeH="0" baseline="0" noProof="0" dirty="0">
                    <a:ln>
                      <a:noFill/>
                    </a:ln>
                    <a:solidFill>
                      <a:srgbClr val="008D2E"/>
                    </a:solidFill>
                    <a:effectLst/>
                    <a:uLnTx/>
                    <a:uFillTx/>
                    <a:latin typeface="+mn-ea"/>
                    <a:cs typeface="+mn-cs"/>
                  </a:rPr>
                  <a:t>変動費比率</a:t>
                </a:r>
                <a:r>
                  <a:rPr kumimoji="1" lang="en-US" altLang="ja-JP" sz="1000" b="1" i="0" u="none" strike="noStrike" kern="1200" cap="none" spc="0" normalizeH="0" baseline="0" noProof="0" dirty="0">
                    <a:ln>
                      <a:noFill/>
                    </a:ln>
                    <a:solidFill>
                      <a:srgbClr val="008D2E"/>
                    </a:solidFill>
                    <a:effectLst/>
                    <a:uLnTx/>
                    <a:uFillTx/>
                    <a:latin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cs typeface="+mn-cs"/>
                  </a:rPr>
                  <a:t>(</a:t>
                </a:r>
                <a:r>
                  <a:rPr kumimoji="1" lang="ja-JP" altLang="en-US" sz="1000" b="0" i="0" u="none" strike="noStrike" kern="1200" cap="none" spc="0" normalizeH="0" baseline="0" noProof="0" dirty="0">
                    <a:ln>
                      <a:noFill/>
                    </a:ln>
                    <a:solidFill>
                      <a:schemeClr val="tx1"/>
                    </a:solidFill>
                    <a:effectLst/>
                    <a:uLnTx/>
                    <a:uFillTx/>
                    <a:latin typeface="+mn-ea"/>
                    <a:cs typeface="+mn-cs"/>
                  </a:rPr>
                  <a:t>従量・成果連動費の割合</a:t>
                </a:r>
                <a:r>
                  <a:rPr kumimoji="1" lang="en-US" altLang="ja-JP" sz="1000" b="0" i="0" u="none" strike="noStrike" kern="1200" cap="none" spc="0" normalizeH="0" baseline="0" noProof="0" dirty="0">
                    <a:ln>
                      <a:noFill/>
                    </a:ln>
                    <a:solidFill>
                      <a:schemeClr val="tx1"/>
                    </a:solidFill>
                    <a:effectLst/>
                    <a:uLnTx/>
                    <a:uFillTx/>
                    <a:latin typeface="+mn-ea"/>
                    <a:cs typeface="+mn-cs"/>
                  </a:rPr>
                  <a:t>)</a:t>
                </a:r>
              </a:p>
            </p:txBody>
          </p:sp>
          <p:cxnSp>
            <p:nvCxnSpPr>
              <p:cNvPr id="190" name="table_TWformat_line_2_2">
                <a:extLst>
                  <a:ext uri="{FF2B5EF4-FFF2-40B4-BE49-F238E27FC236}">
                    <a16:creationId xmlns:a16="http://schemas.microsoft.com/office/drawing/2014/main" id="{B8A7B5AF-399C-6359-4C0B-E0CAA43D13F6}"/>
                  </a:ext>
                </a:extLst>
              </p:cNvPr>
              <p:cNvCxnSpPr>
                <a:cxnSpLocks/>
              </p:cNvCxnSpPr>
              <p:nvPr/>
            </p:nvCxnSpPr>
            <p:spPr>
              <a:xfrm>
                <a:off x="2767606" y="3065002"/>
                <a:ext cx="3046453"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1" name="正方形/長方形 190">
                <a:extLst>
                  <a:ext uri="{FF2B5EF4-FFF2-40B4-BE49-F238E27FC236}">
                    <a16:creationId xmlns:a16="http://schemas.microsoft.com/office/drawing/2014/main" id="{079D9732-5AE8-9FA3-BD73-1964EDFCFA93}"/>
                  </a:ext>
                </a:extLst>
              </p:cNvPr>
              <p:cNvSpPr/>
              <p:nvPr/>
            </p:nvSpPr>
            <p:spPr>
              <a:xfrm>
                <a:off x="2767605" y="3091481"/>
                <a:ext cx="4089202" cy="13432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lang="en-US" altLang="ja-JP" sz="800" b="1" dirty="0" err="1">
                    <a:solidFill>
                      <a:srgbClr val="008000"/>
                    </a:solidFill>
                    <a:latin typeface="Meiryo UI" pitchFamily="34" charset="0"/>
                    <a:ea typeface="Meiryo UI" pitchFamily="34" charset="-122"/>
                    <a:cs typeface="Meiryo UI" pitchFamily="34" charset="-120"/>
                  </a:rPr>
                  <a:t>セキュリティスコア</a:t>
                </a:r>
                <a:r>
                  <a:rPr lang="en-US" altLang="ja-JP" sz="800" b="1" dirty="0">
                    <a:solidFill>
                      <a:srgbClr val="008000"/>
                    </a:solidFill>
                    <a:latin typeface="Meiryo UI" pitchFamily="34" charset="0"/>
                    <a:ea typeface="Meiryo UI" pitchFamily="34" charset="-122"/>
                    <a:cs typeface="Meiryo UI" pitchFamily="34" charset="-120"/>
                  </a:rPr>
                  <a:t>対応力・品質基準の遵守・監視範囲</a:t>
                </a:r>
                <a:r>
                  <a:rPr lang="en-US" altLang="ja-JP" sz="800" b="1" dirty="0" err="1">
                    <a:solidFill>
                      <a:srgbClr val="008000"/>
                    </a:solidFill>
                    <a:latin typeface="Meiryo UI" pitchFamily="34" charset="0"/>
                    <a:ea typeface="Meiryo UI" pitchFamily="34" charset="-122"/>
                    <a:cs typeface="Meiryo UI" pitchFamily="34" charset="-120"/>
                  </a:rPr>
                  <a:t>対応力・SLA遵守・監視カバレッジ</a:t>
                </a:r>
                <a:r>
                  <a:rPr lang="ja-JP" altLang="en-US" sz="800" b="1" dirty="0">
                    <a:solidFill>
                      <a:srgbClr val="008000"/>
                    </a:solidFill>
                    <a:latin typeface="Meiryo UI" pitchFamily="34" charset="0"/>
                    <a:ea typeface="Meiryo UI" pitchFamily="34" charset="-122"/>
                    <a:cs typeface="Meiryo UI" pitchFamily="34" charset="-120"/>
                  </a:rPr>
                  <a:t>）</a:t>
                </a:r>
                <a:r>
                  <a:rPr lang="en-US" altLang="ja-JP" sz="800" b="1" dirty="0">
                    <a:solidFill>
                      <a:srgbClr val="008000"/>
                    </a:solidFill>
                    <a:latin typeface="Meiryo UI" pitchFamily="34" charset="0"/>
                    <a:ea typeface="Meiryo UI" pitchFamily="34" charset="-122"/>
                    <a:cs typeface="Meiryo UI" pitchFamily="34" charset="-120"/>
                  </a:rPr>
                  <a:t>※1</a:t>
                </a:r>
                <a:endParaRPr kumimoji="1" lang="ja-JP" altLang="en-US" sz="800" b="1" i="0" u="none" strike="noStrike" kern="1200" cap="none" spc="0" normalizeH="0" baseline="0" noProof="0" dirty="0">
                  <a:ln>
                    <a:noFill/>
                  </a:ln>
                  <a:solidFill>
                    <a:srgbClr val="008000"/>
                  </a:solidFill>
                  <a:effectLst/>
                  <a:uLnTx/>
                  <a:uFillTx/>
                  <a:latin typeface="+mn-ea"/>
                  <a:cs typeface="+mn-cs"/>
                </a:endParaRPr>
              </a:p>
            </p:txBody>
          </p:sp>
        </p:grpSp>
        <p:grpSp>
          <p:nvGrpSpPr>
            <p:cNvPr id="37" name="グループ化 36">
              <a:extLst>
                <a:ext uri="{FF2B5EF4-FFF2-40B4-BE49-F238E27FC236}">
                  <a16:creationId xmlns:a16="http://schemas.microsoft.com/office/drawing/2014/main" id="{8AFCB59B-9CDF-850D-2CDD-F005A09398AA}"/>
                </a:ext>
              </a:extLst>
            </p:cNvPr>
            <p:cNvGrpSpPr/>
            <p:nvPr/>
          </p:nvGrpSpPr>
          <p:grpSpPr>
            <a:xfrm>
              <a:off x="5516880" y="1643271"/>
              <a:ext cx="4904140" cy="216000"/>
              <a:chOff x="6499852" y="1643271"/>
              <a:chExt cx="3921168" cy="216000"/>
            </a:xfrm>
          </p:grpSpPr>
          <p:sp>
            <p:nvSpPr>
              <p:cNvPr id="59" name="table_TWformat_txt_1_3">
                <a:extLst>
                  <a:ext uri="{FF2B5EF4-FFF2-40B4-BE49-F238E27FC236}">
                    <a16:creationId xmlns:a16="http://schemas.microsoft.com/office/drawing/2014/main" id="{FD2607B0-1085-085A-A4B4-35E2C9894FA4}"/>
                  </a:ext>
                </a:extLst>
              </p:cNvPr>
              <p:cNvSpPr/>
              <p:nvPr/>
            </p:nvSpPr>
            <p:spPr>
              <a:xfrm>
                <a:off x="6499852" y="1643271"/>
                <a:ext cx="3921168" cy="216000"/>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cs typeface="+mn-cs"/>
                  </a:rPr>
                  <a:t>ベースライン ➔ 目標</a:t>
                </a:r>
              </a:p>
            </p:txBody>
          </p:sp>
          <p:cxnSp>
            <p:nvCxnSpPr>
              <p:cNvPr id="60" name="table_TWformat_line_2_3">
                <a:extLst>
                  <a:ext uri="{FF2B5EF4-FFF2-40B4-BE49-F238E27FC236}">
                    <a16:creationId xmlns:a16="http://schemas.microsoft.com/office/drawing/2014/main" id="{8C2EF0ED-2EA5-F8D5-75CB-08AD43D250DB}"/>
                  </a:ext>
                </a:extLst>
              </p:cNvPr>
              <p:cNvCxnSpPr>
                <a:cxnSpLocks/>
              </p:cNvCxnSpPr>
              <p:nvPr/>
            </p:nvCxnSpPr>
            <p:spPr>
              <a:xfrm>
                <a:off x="6499852" y="1859271"/>
                <a:ext cx="3921168"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 name="グループ化 5">
              <a:extLst>
                <a:ext uri="{FF2B5EF4-FFF2-40B4-BE49-F238E27FC236}">
                  <a16:creationId xmlns:a16="http://schemas.microsoft.com/office/drawing/2014/main" id="{FA96DF2B-94C1-EB93-E139-40BC88976616}"/>
                </a:ext>
              </a:extLst>
            </p:cNvPr>
            <p:cNvGrpSpPr/>
            <p:nvPr/>
          </p:nvGrpSpPr>
          <p:grpSpPr>
            <a:xfrm>
              <a:off x="7266432" y="1909726"/>
              <a:ext cx="3154589" cy="2507511"/>
              <a:chOff x="6499852" y="1909726"/>
              <a:chExt cx="3921169" cy="2507511"/>
            </a:xfrm>
          </p:grpSpPr>
          <p:sp>
            <p:nvSpPr>
              <p:cNvPr id="204" name="正方形/長方形 203">
                <a:extLst>
                  <a:ext uri="{FF2B5EF4-FFF2-40B4-BE49-F238E27FC236}">
                    <a16:creationId xmlns:a16="http://schemas.microsoft.com/office/drawing/2014/main" id="{03935298-FDA8-3A20-446F-85DDEE74FEE2}"/>
                  </a:ext>
                </a:extLst>
              </p:cNvPr>
              <p:cNvSpPr/>
              <p:nvPr/>
            </p:nvSpPr>
            <p:spPr>
              <a:xfrm>
                <a:off x="6499852" y="1909726"/>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marL="0" marR="0" lvl="0" indent="0"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i="0" u="none" strike="noStrike" kern="1200" cap="none" spc="0" normalizeH="0" baseline="0" noProof="0" dirty="0">
                    <a:ln>
                      <a:noFill/>
                    </a:ln>
                    <a:solidFill>
                      <a:schemeClr val="tx1"/>
                    </a:solidFill>
                    <a:effectLst/>
                    <a:uLnTx/>
                    <a:uFillTx/>
                    <a:latin typeface="+mn-ea"/>
                    <a:cs typeface="+mn-cs"/>
                  </a:rPr>
                  <a:t>移管対象の未検証移管ゼロ</a:t>
                </a:r>
                <a:r>
                  <a:rPr kumimoji="1" lang="en-US" altLang="ja-JP" sz="1000" i="0" u="none" strike="noStrike" kern="1200" cap="none" spc="0" normalizeH="0" baseline="0" noProof="0" dirty="0">
                    <a:ln>
                      <a:noFill/>
                    </a:ln>
                    <a:solidFill>
                      <a:schemeClr val="tx1"/>
                    </a:solidFill>
                    <a:effectLst/>
                    <a:uLnTx/>
                    <a:uFillTx/>
                    <a:latin typeface="+mn-ea"/>
                    <a:cs typeface="+mn-cs"/>
                  </a:rPr>
                  <a:t> (</a:t>
                </a:r>
                <a:r>
                  <a:rPr kumimoji="1" lang="ja-JP" altLang="en-US" sz="1000" i="0" u="none" strike="noStrike" kern="1200" cap="none" spc="0" normalizeH="0" baseline="0" noProof="0" dirty="0">
                    <a:ln>
                      <a:noFill/>
                    </a:ln>
                    <a:solidFill>
                      <a:schemeClr val="tx1"/>
                    </a:solidFill>
                    <a:effectLst/>
                    <a:uLnTx/>
                    <a:uFillTx/>
                    <a:latin typeface="+mn-ea"/>
                    <a:cs typeface="+mn-cs"/>
                  </a:rPr>
                  <a:t>パス率</a:t>
                </a:r>
                <a:r>
                  <a:rPr kumimoji="1" lang="en-US" altLang="ja-JP" sz="1000" i="0" u="none" strike="noStrike" kern="1200" cap="none" spc="0" normalizeH="0" baseline="0" noProof="0" dirty="0">
                    <a:ln>
                      <a:noFill/>
                    </a:ln>
                    <a:solidFill>
                      <a:schemeClr val="tx1"/>
                    </a:solidFill>
                    <a:effectLst/>
                    <a:uLnTx/>
                    <a:uFillTx/>
                    <a:latin typeface="+mn-ea"/>
                    <a:cs typeface="+mn-cs"/>
                  </a:rPr>
                  <a:t>100%)</a:t>
                </a:r>
              </a:p>
            </p:txBody>
          </p:sp>
          <p:cxnSp>
            <p:nvCxnSpPr>
              <p:cNvPr id="205" name="table_TWformat_line_2_2">
                <a:extLst>
                  <a:ext uri="{FF2B5EF4-FFF2-40B4-BE49-F238E27FC236}">
                    <a16:creationId xmlns:a16="http://schemas.microsoft.com/office/drawing/2014/main" id="{36EB40B5-3683-22F8-2169-C5D6EB1EAA3F}"/>
                  </a:ext>
                </a:extLst>
              </p:cNvPr>
              <p:cNvCxnSpPr>
                <a:cxnSpLocks/>
              </p:cNvCxnSpPr>
              <p:nvPr/>
            </p:nvCxnSpPr>
            <p:spPr>
              <a:xfrm>
                <a:off x="6499852" y="2080205"/>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06" name="正方形/長方形 205">
                <a:extLst>
                  <a:ext uri="{FF2B5EF4-FFF2-40B4-BE49-F238E27FC236}">
                    <a16:creationId xmlns:a16="http://schemas.microsoft.com/office/drawing/2014/main" id="{7CB049DF-43AF-9802-1BF3-17B53B3470F0}"/>
                  </a:ext>
                </a:extLst>
              </p:cNvPr>
              <p:cNvSpPr/>
              <p:nvPr/>
            </p:nvSpPr>
            <p:spPr>
              <a:xfrm>
                <a:off x="6499852" y="2106685"/>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移管対象の作成率</a:t>
                </a:r>
                <a:r>
                  <a:rPr kumimoji="1" lang="en-US" altLang="ja-JP" sz="1000" i="0" u="none" strike="noStrike" kern="1200" cap="none" spc="0" normalizeH="0" baseline="0" noProof="0" dirty="0">
                    <a:ln>
                      <a:noFill/>
                    </a:ln>
                    <a:solidFill>
                      <a:schemeClr val="tx1"/>
                    </a:solidFill>
                    <a:effectLst/>
                    <a:uLnTx/>
                    <a:uFillTx/>
                    <a:latin typeface="+mn-ea"/>
                  </a:rPr>
                  <a:t>100%</a:t>
                </a:r>
                <a:r>
                  <a:rPr lang="en-US" altLang="ja-JP" sz="1000" dirty="0">
                    <a:solidFill>
                      <a:schemeClr val="tx1"/>
                    </a:solidFill>
                    <a:latin typeface="+mn-ea"/>
                  </a:rPr>
                  <a:t> </a:t>
                </a:r>
                <a:r>
                  <a:rPr kumimoji="1" lang="en-US"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知的財産は当社帰属</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07" name="table_TWformat_line_2_2">
                <a:extLst>
                  <a:ext uri="{FF2B5EF4-FFF2-40B4-BE49-F238E27FC236}">
                    <a16:creationId xmlns:a16="http://schemas.microsoft.com/office/drawing/2014/main" id="{3A2F4B4C-2190-186F-BF61-B280423189A4}"/>
                  </a:ext>
                </a:extLst>
              </p:cNvPr>
              <p:cNvCxnSpPr>
                <a:cxnSpLocks/>
              </p:cNvCxnSpPr>
              <p:nvPr/>
            </p:nvCxnSpPr>
            <p:spPr>
              <a:xfrm>
                <a:off x="6499852" y="2277165"/>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08" name="正方形/長方形 207">
                <a:extLst>
                  <a:ext uri="{FF2B5EF4-FFF2-40B4-BE49-F238E27FC236}">
                    <a16:creationId xmlns:a16="http://schemas.microsoft.com/office/drawing/2014/main" id="{BE30C691-851E-93ED-E33E-E3762803C27D}"/>
                  </a:ext>
                </a:extLst>
              </p:cNvPr>
              <p:cNvSpPr/>
              <p:nvPr/>
            </p:nvSpPr>
            <p:spPr>
              <a:xfrm>
                <a:off x="6499852" y="2303644"/>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段階向上</a:t>
                </a:r>
                <a:r>
                  <a:rPr kumimoji="1" lang="en-US" altLang="ja-JP" sz="1000" i="0" u="none" strike="noStrike" kern="1200" cap="none" spc="0" normalizeH="0" baseline="0" noProof="0" dirty="0">
                    <a:ln>
                      <a:noFill/>
                    </a:ln>
                    <a:solidFill>
                      <a:schemeClr val="tx1"/>
                    </a:solidFill>
                    <a:effectLst/>
                    <a:uLnTx/>
                    <a:uFillTx/>
                    <a:latin typeface="+mn-ea"/>
                  </a:rPr>
                  <a:t> (</a:t>
                </a:r>
                <a:r>
                  <a:rPr kumimoji="1" lang="en" altLang="ja-JP" sz="1000" i="0" u="none" strike="noStrike" kern="1200" cap="none" spc="0" normalizeH="0" baseline="0" noProof="0" dirty="0">
                    <a:ln>
                      <a:noFill/>
                    </a:ln>
                    <a:solidFill>
                      <a:schemeClr val="tx1"/>
                    </a:solidFill>
                    <a:effectLst/>
                    <a:uLnTx/>
                    <a:uFillTx/>
                    <a:latin typeface="+mn-ea"/>
                  </a:rPr>
                  <a:t>AI</a:t>
                </a:r>
                <a:r>
                  <a:rPr kumimoji="1" lang="ja-JP" altLang="en-US" sz="1000" i="0" u="none" strike="noStrike" kern="1200" cap="none" spc="0" normalizeH="0" baseline="0" noProof="0" dirty="0">
                    <a:ln>
                      <a:noFill/>
                    </a:ln>
                    <a:solidFill>
                      <a:schemeClr val="tx1"/>
                    </a:solidFill>
                    <a:effectLst/>
                    <a:uLnTx/>
                    <a:uFillTx/>
                    <a:latin typeface="+mn-ea"/>
                  </a:rPr>
                  <a:t>　</a:t>
                </a:r>
                <a:r>
                  <a:rPr kumimoji="1" lang="en"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　</a:t>
                </a:r>
                <a:r>
                  <a:rPr kumimoji="1" lang="en" altLang="ja-JP" sz="1000" i="0" u="none" strike="noStrike" kern="1200" cap="none" spc="0" normalizeH="0" baseline="0" noProof="0" dirty="0">
                    <a:ln>
                      <a:noFill/>
                    </a:ln>
                    <a:solidFill>
                      <a:schemeClr val="tx1"/>
                    </a:solidFill>
                    <a:effectLst/>
                    <a:uLnTx/>
                    <a:uFillTx/>
                    <a:latin typeface="+mn-ea"/>
                  </a:rPr>
                  <a:t>RPA</a:t>
                </a:r>
                <a:r>
                  <a:rPr kumimoji="1" lang="ja-JP" altLang="en-US" sz="1000" i="0" u="none" strike="noStrike" kern="1200" cap="none" spc="0" normalizeH="0" baseline="0" noProof="0" dirty="0">
                    <a:ln>
                      <a:noFill/>
                    </a:ln>
                    <a:solidFill>
                      <a:schemeClr val="tx1"/>
                    </a:solidFill>
                    <a:effectLst/>
                    <a:uLnTx/>
                    <a:uFillTx/>
                    <a:latin typeface="+mn-ea"/>
                  </a:rPr>
                  <a:t>適用の進捗を計測</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09" name="table_TWformat_line_2_2">
                <a:extLst>
                  <a:ext uri="{FF2B5EF4-FFF2-40B4-BE49-F238E27FC236}">
                    <a16:creationId xmlns:a16="http://schemas.microsoft.com/office/drawing/2014/main" id="{30ADCD9D-EDAF-3EE7-519B-7C670BB88CF1}"/>
                  </a:ext>
                </a:extLst>
              </p:cNvPr>
              <p:cNvCxnSpPr>
                <a:cxnSpLocks/>
              </p:cNvCxnSpPr>
              <p:nvPr/>
            </p:nvCxnSpPr>
            <p:spPr>
              <a:xfrm>
                <a:off x="6499852" y="2474124"/>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10" name="正方形/長方形 209">
                <a:extLst>
                  <a:ext uri="{FF2B5EF4-FFF2-40B4-BE49-F238E27FC236}">
                    <a16:creationId xmlns:a16="http://schemas.microsoft.com/office/drawing/2014/main" id="{84B5D2A6-0DBB-C470-CB41-F09E53F9D6FC}"/>
                  </a:ext>
                </a:extLst>
              </p:cNvPr>
              <p:cNvSpPr/>
              <p:nvPr/>
            </p:nvSpPr>
            <p:spPr>
              <a:xfrm>
                <a:off x="6499852" y="2500603"/>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契約で</a:t>
                </a:r>
                <a:r>
                  <a:rPr kumimoji="1" lang="en" altLang="ja-JP" sz="1000" i="0" u="none" strike="noStrike" kern="1200" cap="none" spc="0" normalizeH="0" baseline="0" noProof="0" dirty="0">
                    <a:ln>
                      <a:noFill/>
                    </a:ln>
                    <a:solidFill>
                      <a:schemeClr val="tx1"/>
                    </a:solidFill>
                    <a:effectLst/>
                    <a:uLnTx/>
                    <a:uFillTx/>
                    <a:latin typeface="+mn-ea"/>
                  </a:rPr>
                  <a:t>品質基準</a:t>
                </a:r>
                <a:r>
                  <a:rPr kumimoji="1" lang="ja-JP" altLang="en-US" sz="1000" i="0" u="none" strike="noStrike" kern="1200" cap="none" spc="0" normalizeH="0" baseline="0" noProof="0" dirty="0">
                    <a:ln>
                      <a:noFill/>
                    </a:ln>
                    <a:solidFill>
                      <a:schemeClr val="tx1"/>
                    </a:solidFill>
                    <a:effectLst/>
                    <a:uLnTx/>
                    <a:uFillTx/>
                    <a:latin typeface="+mn-ea"/>
                  </a:rPr>
                  <a:t>を設定し遵守率</a:t>
                </a:r>
                <a:r>
                  <a:rPr kumimoji="1" lang="en-US" altLang="ja-JP" sz="1000" i="0" u="none" strike="noStrike" kern="1200" cap="none" spc="0" normalizeH="0" baseline="0" noProof="0" dirty="0">
                    <a:ln>
                      <a:noFill/>
                    </a:ln>
                    <a:solidFill>
                      <a:schemeClr val="tx1"/>
                    </a:solidFill>
                    <a:effectLst/>
                    <a:uLnTx/>
                    <a:uFillTx/>
                    <a:latin typeface="+mn-ea"/>
                  </a:rPr>
                  <a:t>99%</a:t>
                </a:r>
                <a:r>
                  <a:rPr kumimoji="1" lang="ja-JP" altLang="en-US" sz="1000" i="0" u="none" strike="noStrike" kern="1200" cap="none" spc="0" normalizeH="0" baseline="0" noProof="0" dirty="0">
                    <a:ln>
                      <a:noFill/>
                    </a:ln>
                    <a:solidFill>
                      <a:schemeClr val="tx1"/>
                    </a:solidFill>
                    <a:effectLst/>
                    <a:uLnTx/>
                    <a:uFillTx/>
                    <a:latin typeface="+mn-ea"/>
                  </a:rPr>
                  <a:t>以上</a:t>
                </a:r>
              </a:p>
            </p:txBody>
          </p:sp>
          <p:cxnSp>
            <p:nvCxnSpPr>
              <p:cNvPr id="211" name="table_TWformat_line_2_2">
                <a:extLst>
                  <a:ext uri="{FF2B5EF4-FFF2-40B4-BE49-F238E27FC236}">
                    <a16:creationId xmlns:a16="http://schemas.microsoft.com/office/drawing/2014/main" id="{94835570-7566-0317-0526-0C6CA11B54B8}"/>
                  </a:ext>
                </a:extLst>
              </p:cNvPr>
              <p:cNvCxnSpPr>
                <a:cxnSpLocks/>
              </p:cNvCxnSpPr>
              <p:nvPr/>
            </p:nvCxnSpPr>
            <p:spPr>
              <a:xfrm>
                <a:off x="6499852" y="2671083"/>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12" name="正方形/長方形 211">
                <a:extLst>
                  <a:ext uri="{FF2B5EF4-FFF2-40B4-BE49-F238E27FC236}">
                    <a16:creationId xmlns:a16="http://schemas.microsoft.com/office/drawing/2014/main" id="{DA975B49-819A-70C0-3901-10D793D2E7A3}"/>
                  </a:ext>
                </a:extLst>
              </p:cNvPr>
              <p:cNvSpPr/>
              <p:nvPr/>
            </p:nvSpPr>
            <p:spPr>
              <a:xfrm>
                <a:off x="6499852" y="2697563"/>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毎年改善　</a:t>
                </a:r>
                <a:r>
                  <a:rPr kumimoji="1" lang="en-US"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目標値は契約時設定</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13" name="table_TWformat_line_2_2">
                <a:extLst>
                  <a:ext uri="{FF2B5EF4-FFF2-40B4-BE49-F238E27FC236}">
                    <a16:creationId xmlns:a16="http://schemas.microsoft.com/office/drawing/2014/main" id="{18C23A35-EAD5-DC4E-18E1-C8C7C84C0D79}"/>
                  </a:ext>
                </a:extLst>
              </p:cNvPr>
              <p:cNvCxnSpPr>
                <a:cxnSpLocks/>
              </p:cNvCxnSpPr>
              <p:nvPr/>
            </p:nvCxnSpPr>
            <p:spPr>
              <a:xfrm>
                <a:off x="6499852" y="2868042"/>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14" name="正方形/長方形 213">
                <a:extLst>
                  <a:ext uri="{FF2B5EF4-FFF2-40B4-BE49-F238E27FC236}">
                    <a16:creationId xmlns:a16="http://schemas.microsoft.com/office/drawing/2014/main" id="{4C1BA091-17D6-448A-834E-30E53DEFD7D1}"/>
                  </a:ext>
                </a:extLst>
              </p:cNvPr>
              <p:cNvSpPr/>
              <p:nvPr/>
            </p:nvSpPr>
            <p:spPr>
              <a:xfrm>
                <a:off x="6499852" y="2894522"/>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毎年改善　</a:t>
                </a:r>
                <a:r>
                  <a:rPr kumimoji="1" lang="en-US"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従業員の</a:t>
                </a:r>
                <a:r>
                  <a:rPr kumimoji="1" lang="en" altLang="ja-JP" sz="1000" i="0" u="none" strike="noStrike" kern="1200" cap="none" spc="0" normalizeH="0" baseline="0" noProof="0" dirty="0">
                    <a:ln>
                      <a:noFill/>
                    </a:ln>
                    <a:solidFill>
                      <a:schemeClr val="tx1"/>
                    </a:solidFill>
                    <a:effectLst/>
                    <a:uLnTx/>
                    <a:uFillTx/>
                    <a:latin typeface="+mn-ea"/>
                  </a:rPr>
                  <a:t>使い勝手</a:t>
                </a:r>
                <a:r>
                  <a:rPr kumimoji="1" lang="ja-JP" altLang="en-US" sz="1000" i="0" u="none" strike="noStrike" kern="1200" cap="none" spc="0" normalizeH="0" baseline="0" noProof="0" dirty="0">
                    <a:ln>
                      <a:noFill/>
                    </a:ln>
                    <a:solidFill>
                      <a:schemeClr val="tx1"/>
                    </a:solidFill>
                    <a:effectLst/>
                    <a:uLnTx/>
                    <a:uFillTx/>
                    <a:latin typeface="+mn-ea"/>
                  </a:rPr>
                  <a:t>の実測</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15" name="table_TWformat_line_2_2">
                <a:extLst>
                  <a:ext uri="{FF2B5EF4-FFF2-40B4-BE49-F238E27FC236}">
                    <a16:creationId xmlns:a16="http://schemas.microsoft.com/office/drawing/2014/main" id="{73B596F7-63B4-B6B0-0D1E-12A2F717AAD8}"/>
                  </a:ext>
                </a:extLst>
              </p:cNvPr>
              <p:cNvCxnSpPr>
                <a:cxnSpLocks/>
              </p:cNvCxnSpPr>
              <p:nvPr/>
            </p:nvCxnSpPr>
            <p:spPr>
              <a:xfrm>
                <a:off x="6499852" y="3261961"/>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16" name="正方形/長方形 215">
                <a:extLst>
                  <a:ext uri="{FF2B5EF4-FFF2-40B4-BE49-F238E27FC236}">
                    <a16:creationId xmlns:a16="http://schemas.microsoft.com/office/drawing/2014/main" id="{505E93F8-E417-2FD8-ED1F-B598E90D3A1A}"/>
                  </a:ext>
                </a:extLst>
              </p:cNvPr>
              <p:cNvSpPr/>
              <p:nvPr/>
            </p:nvSpPr>
            <p:spPr>
              <a:xfrm>
                <a:off x="6499852" y="3288441"/>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en" altLang="ja-JP" sz="1000" b="1" i="0" u="none" strike="noStrike" kern="1200" cap="none" spc="0" normalizeH="0" baseline="0" noProof="0" dirty="0">
                    <a:ln>
                      <a:noFill/>
                    </a:ln>
                    <a:solidFill>
                      <a:srgbClr val="008D2E"/>
                    </a:solidFill>
                    <a:effectLst/>
                    <a:uLnTx/>
                    <a:uFillTx/>
                    <a:latin typeface="+mn-ea"/>
                  </a:rPr>
                  <a:t>FY27</a:t>
                </a:r>
                <a:r>
                  <a:rPr kumimoji="1" lang="ja-JP" altLang="en-US" sz="1000" b="1" i="0" u="none" strike="noStrike" kern="1200" cap="none" spc="0" normalizeH="0" baseline="0" noProof="0" dirty="0">
                    <a:ln>
                      <a:noFill/>
                    </a:ln>
                    <a:solidFill>
                      <a:srgbClr val="008D2E"/>
                    </a:solidFill>
                    <a:effectLst/>
                    <a:uLnTx/>
                    <a:uFillTx/>
                    <a:latin typeface="+mn-ea"/>
                  </a:rPr>
                  <a:t> </a:t>
                </a:r>
                <a:r>
                  <a:rPr kumimoji="1" lang="en" altLang="ja-JP" sz="1000" b="1" i="0" u="none" strike="noStrike" kern="1200" cap="none" spc="0" normalizeH="0" baseline="0" noProof="0" dirty="0">
                    <a:ln>
                      <a:noFill/>
                    </a:ln>
                    <a:solidFill>
                      <a:srgbClr val="008D2E"/>
                    </a:solidFill>
                    <a:effectLst/>
                    <a:uLnTx/>
                    <a:uFillTx/>
                    <a:latin typeface="+mn-ea"/>
                  </a:rPr>
                  <a:t>:</a:t>
                </a:r>
                <a:r>
                  <a:rPr kumimoji="1" lang="ja-JP" altLang="en-US" sz="1000" b="1" i="0" u="none" strike="noStrike" kern="1200" cap="none" spc="0" normalizeH="0" baseline="0" noProof="0" dirty="0">
                    <a:ln>
                      <a:noFill/>
                    </a:ln>
                    <a:solidFill>
                      <a:srgbClr val="008D2E"/>
                    </a:solidFill>
                    <a:effectLst/>
                    <a:uLnTx/>
                    <a:uFillTx/>
                    <a:latin typeface="+mn-ea"/>
                  </a:rPr>
                  <a:t> </a:t>
                </a:r>
                <a:r>
                  <a:rPr kumimoji="1" lang="en" altLang="ja-JP" sz="1000" b="1" i="0" u="none" strike="noStrike" kern="1200" cap="none" spc="0" normalizeH="0" baseline="0" noProof="0" dirty="0">
                    <a:ln>
                      <a:noFill/>
                    </a:ln>
                    <a:solidFill>
                      <a:srgbClr val="008D2E"/>
                    </a:solidFill>
                    <a:effectLst/>
                    <a:uLnTx/>
                    <a:uFillTx/>
                    <a:latin typeface="+mn-ea"/>
                  </a:rPr>
                  <a:t>6人分 </a:t>
                </a:r>
                <a:r>
                  <a:rPr lang="ja-JP" altLang="en-US" sz="1000" b="1" dirty="0">
                    <a:solidFill>
                      <a:srgbClr val="008D2E"/>
                    </a:solidFill>
                    <a:latin typeface="+mn-ea"/>
                  </a:rPr>
                  <a:t>▶︎</a:t>
                </a:r>
                <a:r>
                  <a:rPr kumimoji="1" lang="en" altLang="ja-JP" sz="1000" b="1" i="0" u="none" strike="noStrike" kern="1200" cap="none" spc="0" normalizeH="0" baseline="0" noProof="0" dirty="0">
                    <a:ln>
                      <a:noFill/>
                    </a:ln>
                    <a:solidFill>
                      <a:srgbClr val="008D2E"/>
                    </a:solidFill>
                    <a:effectLst/>
                    <a:uLnTx/>
                    <a:uFillTx/>
                    <a:latin typeface="+mn-ea"/>
                  </a:rPr>
                  <a:t> FY29</a:t>
                </a:r>
                <a:r>
                  <a:rPr kumimoji="1" lang="ja-JP" altLang="en-US" sz="1000" b="1" i="0" u="none" strike="noStrike" kern="1200" cap="none" spc="0" normalizeH="0" baseline="0" noProof="0" dirty="0">
                    <a:ln>
                      <a:noFill/>
                    </a:ln>
                    <a:solidFill>
                      <a:srgbClr val="008D2E"/>
                    </a:solidFill>
                    <a:effectLst/>
                    <a:uLnTx/>
                    <a:uFillTx/>
                    <a:latin typeface="+mn-ea"/>
                  </a:rPr>
                  <a:t> </a:t>
                </a:r>
                <a:r>
                  <a:rPr kumimoji="1" lang="en" altLang="ja-JP" sz="1000" b="1" i="0" u="none" strike="noStrike" kern="1200" cap="none" spc="0" normalizeH="0" baseline="0" noProof="0" dirty="0">
                    <a:ln>
                      <a:noFill/>
                    </a:ln>
                    <a:solidFill>
                      <a:srgbClr val="008D2E"/>
                    </a:solidFill>
                    <a:effectLst/>
                    <a:uLnTx/>
                    <a:uFillTx/>
                    <a:latin typeface="+mn-ea"/>
                  </a:rPr>
                  <a:t>:</a:t>
                </a:r>
                <a:r>
                  <a:rPr kumimoji="1" lang="ja-JP" altLang="en-US" sz="1000" b="1" i="0" u="none" strike="noStrike" kern="1200" cap="none" spc="0" normalizeH="0" baseline="0" noProof="0" dirty="0">
                    <a:ln>
                      <a:noFill/>
                    </a:ln>
                    <a:solidFill>
                      <a:srgbClr val="008D2E"/>
                    </a:solidFill>
                    <a:effectLst/>
                    <a:uLnTx/>
                    <a:uFillTx/>
                    <a:latin typeface="+mn-ea"/>
                  </a:rPr>
                  <a:t> </a:t>
                </a:r>
                <a:r>
                  <a:rPr kumimoji="1" lang="en" altLang="ja-JP" sz="1000" b="1" i="0" u="none" strike="noStrike" kern="1200" cap="none" spc="0" normalizeH="0" baseline="0" noProof="0" dirty="0">
                    <a:ln>
                      <a:noFill/>
                    </a:ln>
                    <a:solidFill>
                      <a:srgbClr val="008D2E"/>
                    </a:solidFill>
                    <a:effectLst/>
                    <a:uLnTx/>
                    <a:uFillTx/>
                    <a:latin typeface="+mn-ea"/>
                  </a:rPr>
                  <a:t>12人分</a:t>
                </a:r>
                <a:r>
                  <a:rPr lang="en-US" altLang="ja-JP" sz="1000" b="1" dirty="0">
                    <a:solidFill>
                      <a:srgbClr val="008D2E"/>
                    </a:solidFill>
                    <a:latin typeface="+mn-ea"/>
                  </a:rPr>
                  <a:t> </a:t>
                </a:r>
                <a:r>
                  <a:rPr kumimoji="1" lang="en" altLang="ja-JP" sz="1000" i="0" u="none" strike="noStrike" kern="1200" cap="none" spc="0" normalizeH="0" baseline="0" noProof="0" dirty="0">
                    <a:ln>
                      <a:noFill/>
                    </a:ln>
                    <a:solidFill>
                      <a:schemeClr val="tx1"/>
                    </a:solidFill>
                    <a:effectLst/>
                    <a:uLnTx/>
                    <a:uFillTx/>
                    <a:latin typeface="+mn-ea"/>
                  </a:rPr>
                  <a:t>(ROI</a:t>
                </a:r>
                <a:r>
                  <a:rPr kumimoji="1" lang="ja-JP" altLang="en-US" sz="1000" i="0" u="none" strike="noStrike" kern="1200" cap="none" spc="0" normalizeH="0" baseline="0" noProof="0" dirty="0">
                    <a:ln>
                      <a:noFill/>
                    </a:ln>
                    <a:solidFill>
                      <a:schemeClr val="tx1"/>
                    </a:solidFill>
                    <a:effectLst/>
                    <a:uLnTx/>
                    <a:uFillTx/>
                    <a:latin typeface="+mn-ea"/>
                  </a:rPr>
                  <a:t>と数値を一致</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17" name="table_TWformat_line_2_2">
                <a:extLst>
                  <a:ext uri="{FF2B5EF4-FFF2-40B4-BE49-F238E27FC236}">
                    <a16:creationId xmlns:a16="http://schemas.microsoft.com/office/drawing/2014/main" id="{A31ECCFB-DDE0-5A5C-F828-1B5B6C8DB472}"/>
                  </a:ext>
                </a:extLst>
              </p:cNvPr>
              <p:cNvCxnSpPr>
                <a:cxnSpLocks/>
              </p:cNvCxnSpPr>
              <p:nvPr/>
            </p:nvCxnSpPr>
            <p:spPr>
              <a:xfrm>
                <a:off x="6499852" y="3458920"/>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18" name="正方形/長方形 217">
                <a:extLst>
                  <a:ext uri="{FF2B5EF4-FFF2-40B4-BE49-F238E27FC236}">
                    <a16:creationId xmlns:a16="http://schemas.microsoft.com/office/drawing/2014/main" id="{D0EF0A7E-AB8F-C493-38F9-D98CE3B5EA85}"/>
                  </a:ext>
                </a:extLst>
              </p:cNvPr>
              <p:cNvSpPr/>
              <p:nvPr/>
            </p:nvSpPr>
            <p:spPr>
              <a:xfrm>
                <a:off x="6499852" y="3485400"/>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en-US" altLang="ja-JP" sz="1000" i="0" u="none" strike="noStrike" kern="1200" cap="none" spc="0" normalizeH="0" baseline="0" noProof="0" dirty="0">
                    <a:ln>
                      <a:noFill/>
                    </a:ln>
                    <a:solidFill>
                      <a:schemeClr val="tx1"/>
                    </a:solidFill>
                    <a:effectLst/>
                    <a:uLnTx/>
                    <a:uFillTx/>
                    <a:latin typeface="+mn-ea"/>
                  </a:rPr>
                  <a:t>15%</a:t>
                </a:r>
                <a:r>
                  <a:rPr kumimoji="1" lang="ja-JP" altLang="en-US" sz="1000" i="0" u="none" strike="noStrike" kern="1200" cap="none" spc="0" normalizeH="0" baseline="0" noProof="0" dirty="0">
                    <a:ln>
                      <a:noFill/>
                    </a:ln>
                    <a:solidFill>
                      <a:schemeClr val="tx1"/>
                    </a:solidFill>
                    <a:effectLst/>
                    <a:uLnTx/>
                    <a:uFillTx/>
                    <a:latin typeface="+mn-ea"/>
                  </a:rPr>
                  <a:t>以下</a:t>
                </a:r>
                <a:r>
                  <a:rPr kumimoji="1" lang="en-US" altLang="ja-JP" sz="1000" i="0" u="none" strike="noStrike" kern="1200" cap="none" spc="0" normalizeH="0" baseline="0" noProof="0" dirty="0">
                    <a:ln>
                      <a:noFill/>
                    </a:ln>
                    <a:solidFill>
                      <a:schemeClr val="tx1"/>
                    </a:solidFill>
                    <a:effectLst/>
                    <a:uLnTx/>
                    <a:uFillTx/>
                    <a:latin typeface="+mn-ea"/>
                  </a:rPr>
                  <a:t> (3</a:t>
                </a:r>
                <a:r>
                  <a:rPr kumimoji="1" lang="ja-JP" altLang="en-US" sz="1000" i="0" u="none" strike="noStrike" kern="1200" cap="none" spc="0" normalizeH="0" baseline="0" noProof="0" dirty="0">
                    <a:ln>
                      <a:noFill/>
                    </a:ln>
                    <a:solidFill>
                      <a:schemeClr val="tx1"/>
                    </a:solidFill>
                    <a:effectLst/>
                    <a:uLnTx/>
                    <a:uFillTx/>
                    <a:latin typeface="+mn-ea"/>
                  </a:rPr>
                  <a:t>年累計</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19" name="table_TWformat_line_2_2">
                <a:extLst>
                  <a:ext uri="{FF2B5EF4-FFF2-40B4-BE49-F238E27FC236}">
                    <a16:creationId xmlns:a16="http://schemas.microsoft.com/office/drawing/2014/main" id="{0CD168DD-5515-3AF9-6558-2C6022BB395D}"/>
                  </a:ext>
                </a:extLst>
              </p:cNvPr>
              <p:cNvCxnSpPr>
                <a:cxnSpLocks/>
              </p:cNvCxnSpPr>
              <p:nvPr/>
            </p:nvCxnSpPr>
            <p:spPr>
              <a:xfrm>
                <a:off x="6499852" y="3655880"/>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0" name="正方形/長方形 219">
                <a:extLst>
                  <a:ext uri="{FF2B5EF4-FFF2-40B4-BE49-F238E27FC236}">
                    <a16:creationId xmlns:a16="http://schemas.microsoft.com/office/drawing/2014/main" id="{B65D1107-1DE6-58F9-CA0E-6CC73535E6BA}"/>
                  </a:ext>
                </a:extLst>
              </p:cNvPr>
              <p:cNvSpPr/>
              <p:nvPr/>
            </p:nvSpPr>
            <p:spPr>
              <a:xfrm>
                <a:off x="6499852" y="3682359"/>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継続低減</a:t>
                </a:r>
                <a:r>
                  <a:rPr kumimoji="1" lang="en-US" altLang="ja-JP" sz="1000" i="0" u="none" strike="noStrike" kern="1200" cap="none" spc="0" normalizeH="0" baseline="0" noProof="0" dirty="0">
                    <a:ln>
                      <a:noFill/>
                    </a:ln>
                    <a:solidFill>
                      <a:schemeClr val="tx1"/>
                    </a:solidFill>
                    <a:effectLst/>
                    <a:uLnTx/>
                    <a:uFillTx/>
                    <a:latin typeface="+mn-ea"/>
                  </a:rPr>
                  <a:t> (</a:t>
                </a:r>
                <a:r>
                  <a:rPr kumimoji="1" lang="ja-JP" altLang="en-US" sz="1000" i="0" u="none" strike="noStrike" kern="1200" cap="none" spc="0" normalizeH="0" baseline="0" noProof="0" dirty="0">
                    <a:ln>
                      <a:noFill/>
                    </a:ln>
                    <a:solidFill>
                      <a:schemeClr val="tx1"/>
                    </a:solidFill>
                    <a:effectLst/>
                    <a:uLnTx/>
                    <a:uFillTx/>
                    <a:latin typeface="+mn-ea"/>
                  </a:rPr>
                  <a:t>毎月モニタリング</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21" name="table_TWformat_line_2_2">
                <a:extLst>
                  <a:ext uri="{FF2B5EF4-FFF2-40B4-BE49-F238E27FC236}">
                    <a16:creationId xmlns:a16="http://schemas.microsoft.com/office/drawing/2014/main" id="{1D91B8C6-B9A9-008D-0B75-2AB02F06B664}"/>
                  </a:ext>
                </a:extLst>
              </p:cNvPr>
              <p:cNvCxnSpPr>
                <a:cxnSpLocks/>
              </p:cNvCxnSpPr>
              <p:nvPr/>
            </p:nvCxnSpPr>
            <p:spPr>
              <a:xfrm>
                <a:off x="6499852" y="3852839"/>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2" name="正方形/長方形 221">
                <a:extLst>
                  <a:ext uri="{FF2B5EF4-FFF2-40B4-BE49-F238E27FC236}">
                    <a16:creationId xmlns:a16="http://schemas.microsoft.com/office/drawing/2014/main" id="{847DD09D-1CB5-E100-BF1E-25F5678D6D48}"/>
                  </a:ext>
                </a:extLst>
              </p:cNvPr>
              <p:cNvSpPr/>
              <p:nvPr/>
            </p:nvSpPr>
            <p:spPr>
              <a:xfrm>
                <a:off x="6499852" y="3879319"/>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en-US" altLang="ja-JP" sz="1000" i="0" u="none" strike="noStrike" kern="1200" cap="none" spc="0" normalizeH="0" baseline="0" noProof="0" dirty="0">
                    <a:ln>
                      <a:noFill/>
                    </a:ln>
                    <a:solidFill>
                      <a:schemeClr val="tx1"/>
                    </a:solidFill>
                    <a:effectLst/>
                    <a:uLnTx/>
                    <a:uFillTx/>
                    <a:latin typeface="+mn-ea"/>
                  </a:rPr>
                  <a:t>100%</a:t>
                </a:r>
                <a:r>
                  <a:rPr lang="en-US" altLang="ja-JP" sz="1000" dirty="0">
                    <a:solidFill>
                      <a:schemeClr val="tx1"/>
                    </a:solidFill>
                    <a:latin typeface="+mn-ea"/>
                  </a:rPr>
                  <a:t> </a:t>
                </a:r>
                <a:r>
                  <a:rPr kumimoji="1" lang="en-US" altLang="ja-JP" sz="1000" i="0" u="none" strike="noStrike" kern="1200" cap="none" spc="0" normalizeH="0" baseline="0" noProof="0" dirty="0">
                    <a:ln>
                      <a:noFill/>
                    </a:ln>
                    <a:solidFill>
                      <a:schemeClr val="tx1"/>
                    </a:solidFill>
                    <a:effectLst/>
                    <a:uLnTx/>
                    <a:uFillTx/>
                    <a:latin typeface="+mn-ea"/>
                  </a:rPr>
                  <a:t>(</a:t>
                </a:r>
                <a:r>
                  <a:rPr kumimoji="1" lang="en" altLang="ja-JP" sz="1000" i="0" u="none" strike="noStrike" kern="1200" cap="none" spc="0" normalizeH="0" baseline="0" noProof="0" dirty="0">
                    <a:ln>
                      <a:noFill/>
                    </a:ln>
                    <a:solidFill>
                      <a:schemeClr val="tx1"/>
                    </a:solidFill>
                    <a:effectLst/>
                    <a:uLnTx/>
                    <a:uFillTx/>
                    <a:latin typeface="+mn-ea"/>
                  </a:rPr>
                  <a:t>フェーズ0</a:t>
                </a:r>
                <a:r>
                  <a:rPr kumimoji="1" lang="ja-JP" altLang="en-US" sz="1000" i="0" u="none" strike="noStrike" kern="1200" cap="none" spc="0" normalizeH="0" baseline="0" noProof="0" dirty="0">
                    <a:ln>
                      <a:noFill/>
                    </a:ln>
                    <a:solidFill>
                      <a:schemeClr val="tx1"/>
                    </a:solidFill>
                    <a:effectLst/>
                    <a:uLnTx/>
                    <a:uFillTx/>
                    <a:latin typeface="+mn-ea"/>
                  </a:rPr>
                  <a:t>完了時 </a:t>
                </a:r>
                <a:r>
                  <a:rPr kumimoji="1" lang="en-US"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　</a:t>
                </a:r>
                <a:r>
                  <a:rPr kumimoji="1" lang="en-US" altLang="ja-JP" sz="1000" i="0" u="none" strike="noStrike" kern="1200" cap="none" spc="0" normalizeH="0" baseline="0" noProof="0" dirty="0">
                    <a:ln>
                      <a:noFill/>
                    </a:ln>
                    <a:solidFill>
                      <a:schemeClr val="tx1"/>
                    </a:solidFill>
                    <a:effectLst/>
                    <a:uLnTx/>
                    <a:uFillTx/>
                    <a:latin typeface="+mn-ea"/>
                  </a:rPr>
                  <a:t>2026</a:t>
                </a:r>
                <a:r>
                  <a:rPr kumimoji="1" lang="ja-JP" altLang="en-US" sz="1000" i="0" u="none" strike="noStrike" kern="1200" cap="none" spc="0" normalizeH="0" baseline="0" noProof="0" dirty="0">
                    <a:ln>
                      <a:noFill/>
                    </a:ln>
                    <a:solidFill>
                      <a:schemeClr val="tx1"/>
                    </a:solidFill>
                    <a:effectLst/>
                    <a:uLnTx/>
                    <a:uFillTx/>
                    <a:latin typeface="+mn-ea"/>
                  </a:rPr>
                  <a:t>年</a:t>
                </a:r>
                <a:r>
                  <a:rPr kumimoji="1" lang="en-US" altLang="ja-JP" sz="1000" i="0" u="none" strike="noStrike" kern="1200" cap="none" spc="0" normalizeH="0" baseline="0" noProof="0" dirty="0">
                    <a:ln>
                      <a:noFill/>
                    </a:ln>
                    <a:solidFill>
                      <a:schemeClr val="tx1"/>
                    </a:solidFill>
                    <a:effectLst/>
                    <a:uLnTx/>
                    <a:uFillTx/>
                    <a:latin typeface="+mn-ea"/>
                  </a:rPr>
                  <a:t>10</a:t>
                </a:r>
                <a:r>
                  <a:rPr kumimoji="1" lang="ja-JP" altLang="en-US" sz="1000" i="0" u="none" strike="noStrike" kern="1200" cap="none" spc="0" normalizeH="0" baseline="0" noProof="0" dirty="0">
                    <a:ln>
                      <a:noFill/>
                    </a:ln>
                    <a:solidFill>
                      <a:schemeClr val="tx1"/>
                    </a:solidFill>
                    <a:effectLst/>
                    <a:uLnTx/>
                    <a:uFillTx/>
                    <a:latin typeface="+mn-ea"/>
                  </a:rPr>
                  <a:t>月</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23" name="table_TWformat_line_2_2">
                <a:extLst>
                  <a:ext uri="{FF2B5EF4-FFF2-40B4-BE49-F238E27FC236}">
                    <a16:creationId xmlns:a16="http://schemas.microsoft.com/office/drawing/2014/main" id="{AEF96E17-3C88-4918-BAD6-19A8B2DC9401}"/>
                  </a:ext>
                </a:extLst>
              </p:cNvPr>
              <p:cNvCxnSpPr>
                <a:cxnSpLocks/>
              </p:cNvCxnSpPr>
              <p:nvPr/>
            </p:nvCxnSpPr>
            <p:spPr>
              <a:xfrm>
                <a:off x="6499852" y="4049798"/>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4" name="正方形/長方形 223">
                <a:extLst>
                  <a:ext uri="{FF2B5EF4-FFF2-40B4-BE49-F238E27FC236}">
                    <a16:creationId xmlns:a16="http://schemas.microsoft.com/office/drawing/2014/main" id="{8A2652E4-67E0-C28D-737F-C9ED8164FFD4}"/>
                  </a:ext>
                </a:extLst>
              </p:cNvPr>
              <p:cNvSpPr/>
              <p:nvPr/>
            </p:nvSpPr>
            <p:spPr>
              <a:xfrm>
                <a:off x="6499852" y="4076278"/>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en-US" altLang="ja-JP" sz="1000" i="0" u="none" strike="noStrike" kern="1200" cap="none" spc="0" normalizeH="0" baseline="0" noProof="0" dirty="0">
                    <a:ln>
                      <a:noFill/>
                    </a:ln>
                    <a:solidFill>
                      <a:srgbClr val="008D2E"/>
                    </a:solidFill>
                    <a:effectLst/>
                    <a:uLnTx/>
                    <a:uFillTx/>
                    <a:latin typeface="+mn-ea"/>
                  </a:rPr>
                  <a:t>▲</a:t>
                </a:r>
                <a:r>
                  <a:rPr kumimoji="1" lang="en-US" altLang="ja-JP" sz="1000" i="0" u="none" strike="noStrike" kern="1200" cap="none" spc="0" normalizeH="0" baseline="0" noProof="0" dirty="0">
                    <a:ln>
                      <a:noFill/>
                    </a:ln>
                    <a:solidFill>
                      <a:schemeClr val="tx1"/>
                    </a:solidFill>
                    <a:effectLst/>
                    <a:uLnTx/>
                    <a:uFillTx/>
                    <a:latin typeface="+mn-ea"/>
                  </a:rPr>
                  <a:t>10〜20%</a:t>
                </a:r>
                <a:r>
                  <a:rPr kumimoji="1" lang="ja-JP" altLang="en-US" sz="1000" i="0" u="none" strike="noStrike" kern="1200" cap="none" spc="0" normalizeH="0" baseline="0" noProof="0" dirty="0">
                    <a:ln>
                      <a:noFill/>
                    </a:ln>
                    <a:solidFill>
                      <a:schemeClr val="tx1"/>
                    </a:solidFill>
                    <a:effectLst/>
                    <a:uLnTx/>
                    <a:uFillTx/>
                    <a:latin typeface="+mn-ea"/>
                  </a:rPr>
                  <a:t>削減</a:t>
                </a:r>
                <a:r>
                  <a:rPr kumimoji="1" lang="en-US" altLang="ja-JP" sz="1000" i="0" u="none" strike="noStrike" kern="1200" cap="none" spc="0" normalizeH="0" baseline="0" noProof="0" dirty="0">
                    <a:ln>
                      <a:noFill/>
                    </a:ln>
                    <a:solidFill>
                      <a:schemeClr val="tx1"/>
                    </a:solidFill>
                    <a:effectLst/>
                    <a:uLnTx/>
                    <a:uFillTx/>
                    <a:latin typeface="+mn-ea"/>
                  </a:rPr>
                  <a:t> (3</a:t>
                </a:r>
                <a:r>
                  <a:rPr kumimoji="1" lang="ja-JP" altLang="en-US" sz="1000" i="0" u="none" strike="noStrike" kern="1200" cap="none" spc="0" normalizeH="0" baseline="0" noProof="0" dirty="0">
                    <a:ln>
                      <a:noFill/>
                    </a:ln>
                    <a:solidFill>
                      <a:schemeClr val="tx1"/>
                    </a:solidFill>
                    <a:effectLst/>
                    <a:uLnTx/>
                    <a:uFillTx/>
                    <a:latin typeface="+mn-ea"/>
                  </a:rPr>
                  <a:t>年累計</a:t>
                </a:r>
                <a:r>
                  <a:rPr kumimoji="1" lang="en-US" altLang="ja-JP" sz="1000" i="0" u="none" strike="noStrike" kern="1200" cap="none" spc="0" normalizeH="0" baseline="0" noProof="0" dirty="0">
                    <a:ln>
                      <a:noFill/>
                    </a:ln>
                    <a:solidFill>
                      <a:schemeClr val="tx1"/>
                    </a:solidFill>
                    <a:effectLst/>
                    <a:uLnTx/>
                    <a:uFillTx/>
                    <a:latin typeface="+mn-ea"/>
                  </a:rPr>
                  <a:t>)</a:t>
                </a:r>
              </a:p>
            </p:txBody>
          </p:sp>
          <p:cxnSp>
            <p:nvCxnSpPr>
              <p:cNvPr id="225" name="table_TWformat_line_2_2">
                <a:extLst>
                  <a:ext uri="{FF2B5EF4-FFF2-40B4-BE49-F238E27FC236}">
                    <a16:creationId xmlns:a16="http://schemas.microsoft.com/office/drawing/2014/main" id="{DFBBF152-9007-7C67-ABE5-D83AF79AF515}"/>
                  </a:ext>
                </a:extLst>
              </p:cNvPr>
              <p:cNvCxnSpPr>
                <a:cxnSpLocks/>
              </p:cNvCxnSpPr>
              <p:nvPr/>
            </p:nvCxnSpPr>
            <p:spPr>
              <a:xfrm>
                <a:off x="6499852" y="4246758"/>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6" name="正方形/長方形 225">
                <a:extLst>
                  <a:ext uri="{FF2B5EF4-FFF2-40B4-BE49-F238E27FC236}">
                    <a16:creationId xmlns:a16="http://schemas.microsoft.com/office/drawing/2014/main" id="{437F7884-5596-C4B5-271E-BF8234BBDD46}"/>
                  </a:ext>
                </a:extLst>
              </p:cNvPr>
              <p:cNvSpPr/>
              <p:nvPr/>
            </p:nvSpPr>
            <p:spPr>
              <a:xfrm>
                <a:off x="6499852" y="4273237"/>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lvl="0">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契約更改ごとに段階上昇</a:t>
                </a:r>
              </a:p>
            </p:txBody>
          </p:sp>
          <p:cxnSp>
            <p:nvCxnSpPr>
              <p:cNvPr id="227" name="table_TWformat_line_2_2">
                <a:extLst>
                  <a:ext uri="{FF2B5EF4-FFF2-40B4-BE49-F238E27FC236}">
                    <a16:creationId xmlns:a16="http://schemas.microsoft.com/office/drawing/2014/main" id="{43D68D23-A6B3-5151-ED72-9A104B192A57}"/>
                  </a:ext>
                </a:extLst>
              </p:cNvPr>
              <p:cNvCxnSpPr>
                <a:cxnSpLocks/>
              </p:cNvCxnSpPr>
              <p:nvPr/>
            </p:nvCxnSpPr>
            <p:spPr>
              <a:xfrm>
                <a:off x="6499852" y="3065002"/>
                <a:ext cx="3921168"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8" name="正方形/長方形 227">
                <a:extLst>
                  <a:ext uri="{FF2B5EF4-FFF2-40B4-BE49-F238E27FC236}">
                    <a16:creationId xmlns:a16="http://schemas.microsoft.com/office/drawing/2014/main" id="{992FCC62-A751-159B-3228-3A207B40B1EF}"/>
                  </a:ext>
                </a:extLst>
              </p:cNvPr>
              <p:cNvSpPr/>
              <p:nvPr/>
            </p:nvSpPr>
            <p:spPr>
              <a:xfrm>
                <a:off x="6499853" y="3091481"/>
                <a:ext cx="3921168"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36000" bIns="36000" rtlCol="0" anchor="ctr"/>
              <a:lstStyle/>
              <a:p>
                <a:pPr>
                  <a:buClr>
                    <a:srgbClr val="046294"/>
                  </a:buClr>
                  <a:defRPr/>
                </a:pPr>
                <a:r>
                  <a:rPr lang="en-US" altLang="ja-JP" sz="1000" dirty="0">
                    <a:solidFill>
                      <a:srgbClr val="1F2A24"/>
                    </a:solidFill>
                    <a:latin typeface="Meiryo UI" pitchFamily="34" charset="0"/>
                    <a:ea typeface="Meiryo UI" pitchFamily="34" charset="-122"/>
                    <a:cs typeface="Meiryo UI" pitchFamily="34" charset="-120"/>
                  </a:rPr>
                  <a:t>フェーズ0で初回スコアリング → 80点以上を維持</a:t>
                </a:r>
                <a:endParaRPr lang="en-US" altLang="ja-JP" sz="1400" dirty="0">
                  <a:latin typeface="Meiryo UI" charset="0"/>
                  <a:ea typeface="Meiryo UI" charset="0"/>
                  <a:cs typeface="Meiryo UI" charset="0"/>
                </a:endParaRPr>
              </a:p>
            </p:txBody>
          </p:sp>
        </p:grpSp>
        <p:sp>
          <p:nvSpPr>
            <p:cNvPr id="61" name="table_TWformat_txt_1_4">
              <a:extLst>
                <a:ext uri="{FF2B5EF4-FFF2-40B4-BE49-F238E27FC236}">
                  <a16:creationId xmlns:a16="http://schemas.microsoft.com/office/drawing/2014/main" id="{CE4E4A9C-5904-58C2-22CB-7A3C2C0EDDB8}"/>
                </a:ext>
              </a:extLst>
            </p:cNvPr>
            <p:cNvSpPr/>
            <p:nvPr/>
          </p:nvSpPr>
          <p:spPr>
            <a:xfrm>
              <a:off x="10554470" y="1643272"/>
              <a:ext cx="1303402" cy="216000"/>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200" b="0" i="0" u="none" strike="noStrike" kern="1200" cap="none" spc="0" normalizeH="0" baseline="0" noProof="0">
                  <a:ln>
                    <a:noFill/>
                  </a:ln>
                  <a:solidFill>
                    <a:prstClr val="black"/>
                  </a:solidFill>
                  <a:effectLst/>
                  <a:uLnTx/>
                  <a:uFillTx/>
                  <a:latin typeface="+mn-ea"/>
                  <a:cs typeface="+mn-cs"/>
                </a:rPr>
                <a:t>頻度　</a:t>
              </a:r>
              <a:r>
                <a:rPr kumimoji="1" lang="en-US" altLang="ja-JP" sz="1200" b="0" i="0" u="none" strike="noStrike" kern="1200" cap="none" spc="0" normalizeH="0" baseline="0" noProof="0" dirty="0">
                  <a:ln>
                    <a:noFill/>
                  </a:ln>
                  <a:solidFill>
                    <a:prstClr val="black"/>
                  </a:solidFill>
                  <a:effectLst/>
                  <a:uLnTx/>
                  <a:uFillTx/>
                  <a:latin typeface="+mn-ea"/>
                  <a:cs typeface="+mn-cs"/>
                </a:rPr>
                <a:t>/</a:t>
              </a:r>
              <a:r>
                <a:rPr kumimoji="1" lang="ja-JP" altLang="en-US" sz="1200" b="0" i="0" u="none" strike="noStrike" kern="1200" cap="none" spc="0" normalizeH="0" baseline="0" noProof="0">
                  <a:ln>
                    <a:noFill/>
                  </a:ln>
                  <a:solidFill>
                    <a:prstClr val="black"/>
                  </a:solidFill>
                  <a:effectLst/>
                  <a:uLnTx/>
                  <a:uFillTx/>
                  <a:latin typeface="+mn-ea"/>
                  <a:cs typeface="+mn-cs"/>
                </a:rPr>
                <a:t>　性質</a:t>
              </a:r>
            </a:p>
          </p:txBody>
        </p:sp>
        <p:cxnSp>
          <p:nvCxnSpPr>
            <p:cNvPr id="62" name="table_TWformat_line_2_4">
              <a:extLst>
                <a:ext uri="{FF2B5EF4-FFF2-40B4-BE49-F238E27FC236}">
                  <a16:creationId xmlns:a16="http://schemas.microsoft.com/office/drawing/2014/main" id="{75143081-EACD-67B2-1D9A-7F4409692ADF}"/>
                </a:ext>
              </a:extLst>
            </p:cNvPr>
            <p:cNvCxnSpPr/>
            <p:nvPr/>
          </p:nvCxnSpPr>
          <p:spPr>
            <a:xfrm>
              <a:off x="10554471" y="1859271"/>
              <a:ext cx="1303401"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71" name="正方形/長方形 270">
              <a:extLst>
                <a:ext uri="{FF2B5EF4-FFF2-40B4-BE49-F238E27FC236}">
                  <a16:creationId xmlns:a16="http://schemas.microsoft.com/office/drawing/2014/main" id="{E2AE138E-EC8C-F9EB-8030-4FC271D3D36D}"/>
                </a:ext>
              </a:extLst>
            </p:cNvPr>
            <p:cNvSpPr/>
            <p:nvPr/>
          </p:nvSpPr>
          <p:spPr>
            <a:xfrm>
              <a:off x="10554471" y="1909726"/>
              <a:ext cx="1303401" cy="53791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i="0" u="none" strike="noStrike" kern="1200" cap="none" spc="0" normalizeH="0" baseline="0" noProof="0">
                  <a:ln>
                    <a:noFill/>
                  </a:ln>
                  <a:solidFill>
                    <a:schemeClr val="tx1"/>
                  </a:solidFill>
                  <a:effectLst/>
                  <a:uLnTx/>
                  <a:uFillTx/>
                  <a:latin typeface="+mn-ea"/>
                  <a:cs typeface="+mn-cs"/>
                </a:rPr>
                <a:t>四半期　</a:t>
              </a:r>
              <a:r>
                <a:rPr kumimoji="1" lang="en-US" altLang="ja-JP" sz="1000" i="0" u="none" strike="noStrike" kern="1200" cap="none" spc="0" normalizeH="0" baseline="0" noProof="0" dirty="0">
                  <a:ln>
                    <a:noFill/>
                  </a:ln>
                  <a:solidFill>
                    <a:schemeClr val="tx1"/>
                  </a:solidFill>
                  <a:effectLst/>
                  <a:uLnTx/>
                  <a:uFillTx/>
                  <a:latin typeface="+mn-ea"/>
                  <a:cs typeface="+mn-cs"/>
                </a:rPr>
                <a:t>/</a:t>
              </a:r>
              <a:r>
                <a:rPr kumimoji="1" lang="ja-JP" altLang="en-US" sz="1000" i="0" u="none" strike="noStrike" kern="1200" cap="none" spc="0" normalizeH="0" baseline="0" noProof="0">
                  <a:ln>
                    <a:noFill/>
                  </a:ln>
                  <a:solidFill>
                    <a:schemeClr val="tx1"/>
                  </a:solidFill>
                  <a:effectLst/>
                  <a:uLnTx/>
                  <a:uFillTx/>
                  <a:latin typeface="+mn-ea"/>
                  <a:cs typeface="+mn-cs"/>
                </a:rPr>
                <a:t>　</a:t>
              </a:r>
              <a:r>
                <a:rPr kumimoji="1" lang="ja-JP" altLang="en-US" sz="1000" b="1" i="0" u="none" strike="noStrike" kern="1200" cap="none" spc="0" normalizeH="0" baseline="0" noProof="0">
                  <a:ln>
                    <a:noFill/>
                  </a:ln>
                  <a:solidFill>
                    <a:srgbClr val="008D2E"/>
                  </a:solidFill>
                  <a:effectLst/>
                  <a:uLnTx/>
                  <a:uFillTx/>
                  <a:latin typeface="+mn-ea"/>
                  <a:cs typeface="+mn-cs"/>
                </a:rPr>
                <a:t>先行</a:t>
              </a:r>
            </a:p>
          </p:txBody>
        </p:sp>
        <p:cxnSp>
          <p:nvCxnSpPr>
            <p:cNvPr id="276" name="table_TWformat_line_2_2">
              <a:extLst>
                <a:ext uri="{FF2B5EF4-FFF2-40B4-BE49-F238E27FC236}">
                  <a16:creationId xmlns:a16="http://schemas.microsoft.com/office/drawing/2014/main" id="{3C4EC3CF-DC5A-5B5E-27B8-ACA023C1944A}"/>
                </a:ext>
              </a:extLst>
            </p:cNvPr>
            <p:cNvCxnSpPr>
              <a:cxnSpLocks/>
            </p:cNvCxnSpPr>
            <p:nvPr/>
          </p:nvCxnSpPr>
          <p:spPr>
            <a:xfrm>
              <a:off x="10554471" y="2474124"/>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77" name="正方形/長方形 276">
              <a:extLst>
                <a:ext uri="{FF2B5EF4-FFF2-40B4-BE49-F238E27FC236}">
                  <a16:creationId xmlns:a16="http://schemas.microsoft.com/office/drawing/2014/main" id="{7C86F3AA-BFA1-D4B9-3387-55D39814AD8C}"/>
                </a:ext>
              </a:extLst>
            </p:cNvPr>
            <p:cNvSpPr/>
            <p:nvPr/>
          </p:nvSpPr>
          <p:spPr>
            <a:xfrm>
              <a:off x="10554471" y="2500602"/>
              <a:ext cx="1303401" cy="34096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a:ln>
                    <a:noFill/>
                  </a:ln>
                  <a:solidFill>
                    <a:schemeClr val="tx1"/>
                  </a:solidFill>
                  <a:effectLst/>
                  <a:uLnTx/>
                  <a:uFillTx/>
                  <a:latin typeface="+mn-ea"/>
                  <a:cs typeface="+mn-cs"/>
                </a:rPr>
                <a:t>月次　</a:t>
              </a:r>
              <a:r>
                <a:rPr kumimoji="1" lang="en-US" altLang="ja-JP" sz="1000" i="0" u="none" strike="noStrike" kern="1200" cap="none" spc="0" normalizeH="0" baseline="0" noProof="0" dirty="0">
                  <a:ln>
                    <a:noFill/>
                  </a:ln>
                  <a:solidFill>
                    <a:schemeClr val="tx1"/>
                  </a:solidFill>
                  <a:effectLst/>
                  <a:uLnTx/>
                  <a:uFillTx/>
                  <a:latin typeface="+mn-ea"/>
                  <a:cs typeface="+mn-cs"/>
                </a:rPr>
                <a:t>/</a:t>
              </a:r>
              <a:r>
                <a:rPr kumimoji="1" lang="ja-JP" altLang="en-US" sz="1000" i="0" u="none" strike="noStrike" kern="1200" cap="none" spc="0" normalizeH="0" baseline="0" noProof="0">
                  <a:ln>
                    <a:noFill/>
                  </a:ln>
                  <a:solidFill>
                    <a:schemeClr val="tx1"/>
                  </a:solidFill>
                  <a:effectLst/>
                  <a:uLnTx/>
                  <a:uFillTx/>
                  <a:latin typeface="+mn-ea"/>
                  <a:cs typeface="+mn-cs"/>
                </a:rPr>
                <a:t>　</a:t>
              </a:r>
              <a:r>
                <a:rPr kumimoji="1" lang="ja-JP" altLang="en-US" sz="1000" b="1" i="0" u="none" strike="noStrike" kern="1200" cap="none" spc="0" normalizeH="0" baseline="0" noProof="0">
                  <a:ln>
                    <a:noFill/>
                  </a:ln>
                  <a:solidFill>
                    <a:srgbClr val="008D2E"/>
                  </a:solidFill>
                  <a:effectLst/>
                  <a:uLnTx/>
                  <a:uFillTx/>
                  <a:latin typeface="+mn-ea"/>
                  <a:cs typeface="+mn-cs"/>
                </a:rPr>
                <a:t>遅行</a:t>
              </a:r>
            </a:p>
          </p:txBody>
        </p:sp>
        <p:cxnSp>
          <p:nvCxnSpPr>
            <p:cNvPr id="280" name="table_TWformat_line_2_2">
              <a:extLst>
                <a:ext uri="{FF2B5EF4-FFF2-40B4-BE49-F238E27FC236}">
                  <a16:creationId xmlns:a16="http://schemas.microsoft.com/office/drawing/2014/main" id="{A4E4A37F-F50B-7CA7-1C18-7858A12667FD}"/>
                </a:ext>
              </a:extLst>
            </p:cNvPr>
            <p:cNvCxnSpPr>
              <a:cxnSpLocks/>
            </p:cNvCxnSpPr>
            <p:nvPr/>
          </p:nvCxnSpPr>
          <p:spPr>
            <a:xfrm>
              <a:off x="10554470" y="2868041"/>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81" name="正方形/長方形 280">
              <a:extLst>
                <a:ext uri="{FF2B5EF4-FFF2-40B4-BE49-F238E27FC236}">
                  <a16:creationId xmlns:a16="http://schemas.microsoft.com/office/drawing/2014/main" id="{B41D010B-4004-1CD4-6C1D-455900914F99}"/>
                </a:ext>
              </a:extLst>
            </p:cNvPr>
            <p:cNvSpPr/>
            <p:nvPr/>
          </p:nvSpPr>
          <p:spPr>
            <a:xfrm>
              <a:off x="10554470" y="2894521"/>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a:ln>
                    <a:noFill/>
                  </a:ln>
                  <a:solidFill>
                    <a:schemeClr val="tx1"/>
                  </a:solidFill>
                  <a:effectLst/>
                  <a:uLnTx/>
                  <a:uFillTx/>
                  <a:latin typeface="+mn-ea"/>
                  <a:cs typeface="+mn-cs"/>
                </a:rPr>
                <a:t>半期　</a:t>
              </a:r>
              <a:r>
                <a:rPr kumimoji="1" lang="en-US" altLang="ja-JP" sz="1000" i="0" u="none" strike="noStrike" kern="1200" cap="none" spc="0" normalizeH="0" baseline="0" noProof="0" dirty="0">
                  <a:ln>
                    <a:noFill/>
                  </a:ln>
                  <a:solidFill>
                    <a:schemeClr val="tx1"/>
                  </a:solidFill>
                  <a:effectLst/>
                  <a:uLnTx/>
                  <a:uFillTx/>
                  <a:latin typeface="+mn-ea"/>
                  <a:cs typeface="+mn-cs"/>
                </a:rPr>
                <a:t>/</a:t>
              </a:r>
              <a:r>
                <a:rPr kumimoji="1" lang="ja-JP" altLang="en-US" sz="1000" i="0" u="none" strike="noStrike" kern="1200" cap="none" spc="0" normalizeH="0" baseline="0" noProof="0">
                  <a:ln>
                    <a:noFill/>
                  </a:ln>
                  <a:solidFill>
                    <a:schemeClr val="tx1"/>
                  </a:solidFill>
                  <a:effectLst/>
                  <a:uLnTx/>
                  <a:uFillTx/>
                  <a:latin typeface="+mn-ea"/>
                  <a:cs typeface="+mn-cs"/>
                </a:rPr>
                <a:t>　</a:t>
              </a:r>
              <a:r>
                <a:rPr kumimoji="1" lang="ja-JP" altLang="en-US" sz="1000" b="1" i="0" u="none" strike="noStrike" kern="1200" cap="none" spc="0" normalizeH="0" baseline="0" noProof="0">
                  <a:ln>
                    <a:noFill/>
                  </a:ln>
                  <a:solidFill>
                    <a:srgbClr val="008D2E"/>
                  </a:solidFill>
                  <a:effectLst/>
                  <a:uLnTx/>
                  <a:uFillTx/>
                  <a:latin typeface="+mn-ea"/>
                  <a:cs typeface="+mn-cs"/>
                </a:rPr>
                <a:t>遅行</a:t>
              </a:r>
            </a:p>
          </p:txBody>
        </p:sp>
        <p:cxnSp>
          <p:nvCxnSpPr>
            <p:cNvPr id="282" name="table_TWformat_line_2_2">
              <a:extLst>
                <a:ext uri="{FF2B5EF4-FFF2-40B4-BE49-F238E27FC236}">
                  <a16:creationId xmlns:a16="http://schemas.microsoft.com/office/drawing/2014/main" id="{984EA7AD-5B83-9CC5-4CF3-4E09E3693E5F}"/>
                </a:ext>
              </a:extLst>
            </p:cNvPr>
            <p:cNvCxnSpPr>
              <a:cxnSpLocks/>
            </p:cNvCxnSpPr>
            <p:nvPr/>
          </p:nvCxnSpPr>
          <p:spPr>
            <a:xfrm>
              <a:off x="10554470" y="3261960"/>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83" name="正方形/長方形 282">
              <a:extLst>
                <a:ext uri="{FF2B5EF4-FFF2-40B4-BE49-F238E27FC236}">
                  <a16:creationId xmlns:a16="http://schemas.microsoft.com/office/drawing/2014/main" id="{07A2FAB1-665E-DA2B-AD0F-223AA9031957}"/>
                </a:ext>
              </a:extLst>
            </p:cNvPr>
            <p:cNvSpPr/>
            <p:nvPr/>
          </p:nvSpPr>
          <p:spPr>
            <a:xfrm>
              <a:off x="10554470" y="3288440"/>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半期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遅行</a:t>
              </a:r>
            </a:p>
          </p:txBody>
        </p:sp>
        <p:cxnSp>
          <p:nvCxnSpPr>
            <p:cNvPr id="284" name="table_TWformat_line_2_2">
              <a:extLst>
                <a:ext uri="{FF2B5EF4-FFF2-40B4-BE49-F238E27FC236}">
                  <a16:creationId xmlns:a16="http://schemas.microsoft.com/office/drawing/2014/main" id="{27288839-7622-9F30-F740-6DA518956D35}"/>
                </a:ext>
              </a:extLst>
            </p:cNvPr>
            <p:cNvCxnSpPr>
              <a:cxnSpLocks/>
            </p:cNvCxnSpPr>
            <p:nvPr/>
          </p:nvCxnSpPr>
          <p:spPr>
            <a:xfrm>
              <a:off x="10554470" y="3458919"/>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85" name="正方形/長方形 284">
              <a:extLst>
                <a:ext uri="{FF2B5EF4-FFF2-40B4-BE49-F238E27FC236}">
                  <a16:creationId xmlns:a16="http://schemas.microsoft.com/office/drawing/2014/main" id="{D8610BF2-41E1-6189-22BD-40B6A24FE94C}"/>
                </a:ext>
              </a:extLst>
            </p:cNvPr>
            <p:cNvSpPr/>
            <p:nvPr/>
          </p:nvSpPr>
          <p:spPr>
            <a:xfrm>
              <a:off x="10554470" y="3485399"/>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四半期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先行</a:t>
              </a:r>
            </a:p>
          </p:txBody>
        </p:sp>
        <p:cxnSp>
          <p:nvCxnSpPr>
            <p:cNvPr id="286" name="table_TWformat_line_2_2">
              <a:extLst>
                <a:ext uri="{FF2B5EF4-FFF2-40B4-BE49-F238E27FC236}">
                  <a16:creationId xmlns:a16="http://schemas.microsoft.com/office/drawing/2014/main" id="{7254BC1A-FA7E-C118-A41C-1742E331CB3D}"/>
                </a:ext>
              </a:extLst>
            </p:cNvPr>
            <p:cNvCxnSpPr>
              <a:cxnSpLocks/>
            </p:cNvCxnSpPr>
            <p:nvPr/>
          </p:nvCxnSpPr>
          <p:spPr>
            <a:xfrm>
              <a:off x="10554470" y="3655879"/>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87" name="正方形/長方形 286">
              <a:extLst>
                <a:ext uri="{FF2B5EF4-FFF2-40B4-BE49-F238E27FC236}">
                  <a16:creationId xmlns:a16="http://schemas.microsoft.com/office/drawing/2014/main" id="{624DBFBA-02B6-9C04-7561-827F08B5B71B}"/>
                </a:ext>
              </a:extLst>
            </p:cNvPr>
            <p:cNvSpPr/>
            <p:nvPr/>
          </p:nvSpPr>
          <p:spPr>
            <a:xfrm>
              <a:off x="10554470" y="3682359"/>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月次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遅行</a:t>
              </a:r>
            </a:p>
          </p:txBody>
        </p:sp>
        <p:cxnSp>
          <p:nvCxnSpPr>
            <p:cNvPr id="288" name="table_TWformat_line_2_2">
              <a:extLst>
                <a:ext uri="{FF2B5EF4-FFF2-40B4-BE49-F238E27FC236}">
                  <a16:creationId xmlns:a16="http://schemas.microsoft.com/office/drawing/2014/main" id="{4AC546EA-F5B6-90D7-8FF9-1794D7C0FE81}"/>
                </a:ext>
              </a:extLst>
            </p:cNvPr>
            <p:cNvCxnSpPr>
              <a:cxnSpLocks/>
            </p:cNvCxnSpPr>
            <p:nvPr/>
          </p:nvCxnSpPr>
          <p:spPr>
            <a:xfrm>
              <a:off x="10554470" y="3852839"/>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89" name="正方形/長方形 288">
              <a:extLst>
                <a:ext uri="{FF2B5EF4-FFF2-40B4-BE49-F238E27FC236}">
                  <a16:creationId xmlns:a16="http://schemas.microsoft.com/office/drawing/2014/main" id="{603D7334-84F6-DEFB-82F0-510FF06880B6}"/>
                </a:ext>
              </a:extLst>
            </p:cNvPr>
            <p:cNvSpPr/>
            <p:nvPr/>
          </p:nvSpPr>
          <p:spPr>
            <a:xfrm>
              <a:off x="10554470" y="3879318"/>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四半期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先行</a:t>
              </a:r>
            </a:p>
          </p:txBody>
        </p:sp>
        <p:cxnSp>
          <p:nvCxnSpPr>
            <p:cNvPr id="290" name="table_TWformat_line_2_2">
              <a:extLst>
                <a:ext uri="{FF2B5EF4-FFF2-40B4-BE49-F238E27FC236}">
                  <a16:creationId xmlns:a16="http://schemas.microsoft.com/office/drawing/2014/main" id="{F00BBE5E-B725-A848-4F5F-B06025FE4483}"/>
                </a:ext>
              </a:extLst>
            </p:cNvPr>
            <p:cNvCxnSpPr>
              <a:cxnSpLocks/>
            </p:cNvCxnSpPr>
            <p:nvPr/>
          </p:nvCxnSpPr>
          <p:spPr>
            <a:xfrm>
              <a:off x="10554470" y="4049798"/>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91" name="正方形/長方形 290">
              <a:extLst>
                <a:ext uri="{FF2B5EF4-FFF2-40B4-BE49-F238E27FC236}">
                  <a16:creationId xmlns:a16="http://schemas.microsoft.com/office/drawing/2014/main" id="{49645851-955A-9BE8-0DB1-E9CEC8DBF95E}"/>
                </a:ext>
              </a:extLst>
            </p:cNvPr>
            <p:cNvSpPr/>
            <p:nvPr/>
          </p:nvSpPr>
          <p:spPr>
            <a:xfrm>
              <a:off x="10554470" y="4076278"/>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月次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遅行</a:t>
              </a:r>
            </a:p>
          </p:txBody>
        </p:sp>
        <p:cxnSp>
          <p:nvCxnSpPr>
            <p:cNvPr id="292" name="table_TWformat_line_2_2">
              <a:extLst>
                <a:ext uri="{FF2B5EF4-FFF2-40B4-BE49-F238E27FC236}">
                  <a16:creationId xmlns:a16="http://schemas.microsoft.com/office/drawing/2014/main" id="{D9E816A2-7AAD-025A-2A52-C0B67C8593EC}"/>
                </a:ext>
              </a:extLst>
            </p:cNvPr>
            <p:cNvCxnSpPr>
              <a:cxnSpLocks/>
            </p:cNvCxnSpPr>
            <p:nvPr/>
          </p:nvCxnSpPr>
          <p:spPr>
            <a:xfrm>
              <a:off x="10554470" y="4246758"/>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93" name="正方形/長方形 292">
              <a:extLst>
                <a:ext uri="{FF2B5EF4-FFF2-40B4-BE49-F238E27FC236}">
                  <a16:creationId xmlns:a16="http://schemas.microsoft.com/office/drawing/2014/main" id="{89996325-82E5-3150-391F-6BFDA62B357E}"/>
                </a:ext>
              </a:extLst>
            </p:cNvPr>
            <p:cNvSpPr/>
            <p:nvPr/>
          </p:nvSpPr>
          <p:spPr>
            <a:xfrm>
              <a:off x="10554470" y="4273238"/>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a:solidFill>
                    <a:schemeClr val="tx1"/>
                  </a:solidFill>
                  <a:latin typeface="+mn-ea"/>
                </a:rPr>
                <a:t>四半期　</a:t>
              </a:r>
              <a:r>
                <a:rPr lang="en-US" altLang="ja-JP" sz="1000" dirty="0">
                  <a:solidFill>
                    <a:schemeClr val="tx1"/>
                  </a:solidFill>
                  <a:latin typeface="+mn-ea"/>
                </a:rPr>
                <a:t>/</a:t>
              </a:r>
              <a:r>
                <a:rPr lang="ja-JP" altLang="en-US" sz="1000">
                  <a:solidFill>
                    <a:schemeClr val="tx1"/>
                  </a:solidFill>
                  <a:latin typeface="+mn-ea"/>
                </a:rPr>
                <a:t>　</a:t>
              </a:r>
              <a:r>
                <a:rPr lang="ja-JP" altLang="en-US" sz="1000" b="1">
                  <a:solidFill>
                    <a:srgbClr val="008D2E"/>
                  </a:solidFill>
                  <a:latin typeface="+mn-ea"/>
                </a:rPr>
                <a:t>遅行</a:t>
              </a:r>
            </a:p>
          </p:txBody>
        </p:sp>
        <p:cxnSp>
          <p:nvCxnSpPr>
            <p:cNvPr id="294" name="table_TWformat_line_2_2">
              <a:extLst>
                <a:ext uri="{FF2B5EF4-FFF2-40B4-BE49-F238E27FC236}">
                  <a16:creationId xmlns:a16="http://schemas.microsoft.com/office/drawing/2014/main" id="{64540E65-9D55-DB1F-4DEC-4FF7299BC9F5}"/>
                </a:ext>
              </a:extLst>
            </p:cNvPr>
            <p:cNvCxnSpPr>
              <a:cxnSpLocks/>
            </p:cNvCxnSpPr>
            <p:nvPr/>
          </p:nvCxnSpPr>
          <p:spPr>
            <a:xfrm>
              <a:off x="10554470" y="3065000"/>
              <a:ext cx="130340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A22C3C54-E689-0091-61CE-612B45C7936A}"/>
                </a:ext>
              </a:extLst>
            </p:cNvPr>
            <p:cNvSpPr/>
            <p:nvPr/>
          </p:nvSpPr>
          <p:spPr>
            <a:xfrm>
              <a:off x="10554470" y="3091480"/>
              <a:ext cx="1303401" cy="14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lang="ja-JP" altLang="en-US" sz="1000" dirty="0">
                  <a:solidFill>
                    <a:schemeClr val="tx1"/>
                  </a:solidFill>
                  <a:latin typeface="+mn-ea"/>
                </a:rPr>
                <a:t>四半期　</a:t>
              </a:r>
              <a:r>
                <a:rPr lang="en-US" altLang="ja-JP" sz="1000" dirty="0">
                  <a:solidFill>
                    <a:schemeClr val="tx1"/>
                  </a:solidFill>
                  <a:latin typeface="+mn-ea"/>
                </a:rPr>
                <a:t>/</a:t>
              </a:r>
              <a:r>
                <a:rPr lang="ja-JP" altLang="en-US" sz="1000" dirty="0">
                  <a:solidFill>
                    <a:schemeClr val="tx1"/>
                  </a:solidFill>
                  <a:latin typeface="+mn-ea"/>
                </a:rPr>
                <a:t>　</a:t>
              </a:r>
              <a:r>
                <a:rPr lang="ja-JP" altLang="en-US" sz="1000" b="1" dirty="0">
                  <a:solidFill>
                    <a:srgbClr val="008D2E"/>
                  </a:solidFill>
                  <a:latin typeface="+mn-ea"/>
                </a:rPr>
                <a:t>先行</a:t>
              </a:r>
            </a:p>
          </p:txBody>
        </p:sp>
        <p:grpSp>
          <p:nvGrpSpPr>
            <p:cNvPr id="338" name="グループ化 337">
              <a:extLst>
                <a:ext uri="{FF2B5EF4-FFF2-40B4-BE49-F238E27FC236}">
                  <a16:creationId xmlns:a16="http://schemas.microsoft.com/office/drawing/2014/main" id="{F81A4089-13B2-FC71-8768-E34ED3C9FBB2}"/>
                </a:ext>
              </a:extLst>
            </p:cNvPr>
            <p:cNvGrpSpPr/>
            <p:nvPr/>
          </p:nvGrpSpPr>
          <p:grpSpPr>
            <a:xfrm>
              <a:off x="750999" y="1643271"/>
              <a:ext cx="1883157" cy="2773966"/>
              <a:chOff x="750999" y="1643271"/>
              <a:chExt cx="1883157" cy="2773966"/>
            </a:xfrm>
          </p:grpSpPr>
          <p:sp>
            <p:nvSpPr>
              <p:cNvPr id="21" name="table_TWformat_txt_1_1">
                <a:extLst>
                  <a:ext uri="{FF2B5EF4-FFF2-40B4-BE49-F238E27FC236}">
                    <a16:creationId xmlns:a16="http://schemas.microsoft.com/office/drawing/2014/main" id="{8FBB6E1C-96D6-F46E-BEC4-B6200F0636D6}"/>
                  </a:ext>
                </a:extLst>
              </p:cNvPr>
              <p:cNvSpPr/>
              <p:nvPr/>
            </p:nvSpPr>
            <p:spPr>
              <a:xfrm>
                <a:off x="750999" y="1643271"/>
                <a:ext cx="1883156" cy="216000"/>
              </a:xfrm>
              <a:prstGeom prst="roundRect">
                <a:avLst>
                  <a:gd name="adj" fmla="val 0"/>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5B9BD5"/>
                  </a:buClr>
                  <a:buSzTx/>
                  <a:buFontTx/>
                  <a:buNone/>
                  <a:tabLst/>
                  <a:defRPr/>
                </a:pPr>
                <a:r>
                  <a:rPr kumimoji="1" lang="ja-JP" altLang="en-US" sz="1200" b="0" i="0" u="none" strike="noStrike" kern="1200" cap="none" spc="0" normalizeH="0" baseline="0" noProof="0">
                    <a:ln>
                      <a:noFill/>
                    </a:ln>
                    <a:solidFill>
                      <a:prstClr val="black"/>
                    </a:solidFill>
                    <a:effectLst/>
                    <a:uLnTx/>
                    <a:uFillTx/>
                    <a:latin typeface="+mn-ea"/>
                    <a:cs typeface="+mn-cs"/>
                  </a:rPr>
                  <a:t>解決する背景・課題</a:t>
                </a:r>
              </a:p>
            </p:txBody>
          </p:sp>
          <p:cxnSp>
            <p:nvCxnSpPr>
              <p:cNvPr id="69" name="table_TWformat_line_2_2">
                <a:extLst>
                  <a:ext uri="{FF2B5EF4-FFF2-40B4-BE49-F238E27FC236}">
                    <a16:creationId xmlns:a16="http://schemas.microsoft.com/office/drawing/2014/main" id="{7F247EA5-B62E-75D5-17F0-3544C221E4BE}"/>
                  </a:ext>
                </a:extLst>
              </p:cNvPr>
              <p:cNvCxnSpPr>
                <a:cxnSpLocks/>
              </p:cNvCxnSpPr>
              <p:nvPr/>
            </p:nvCxnSpPr>
            <p:spPr>
              <a:xfrm>
                <a:off x="750999" y="1859271"/>
                <a:ext cx="1883156" cy="0"/>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0EE46F7B-A051-2CED-C3F4-39B4F9C12C45}"/>
                  </a:ext>
                </a:extLst>
              </p:cNvPr>
              <p:cNvSpPr/>
              <p:nvPr/>
            </p:nvSpPr>
            <p:spPr>
              <a:xfrm>
                <a:off x="751000" y="1909726"/>
                <a:ext cx="1883156" cy="537918"/>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pPr>
                  <a:spcAft>
                    <a:spcPts val="200"/>
                  </a:spcAft>
                </a:pPr>
                <a:r>
                  <a:rPr lang="en-US" altLang="ja-JP" sz="1000" dirty="0">
                    <a:solidFill>
                      <a:srgbClr val="008D2E"/>
                    </a:solidFill>
                    <a:latin typeface="+mn-ea"/>
                  </a:rPr>
                  <a:t>①</a:t>
                </a:r>
                <a:r>
                  <a:rPr lang="ja-JP" altLang="en-US" sz="1000" dirty="0">
                    <a:solidFill>
                      <a:srgbClr val="008D2E"/>
                    </a:solidFill>
                    <a:latin typeface="+mn-ea"/>
                  </a:rPr>
                  <a:t>人員供給の不足</a:t>
                </a:r>
                <a:endParaRPr lang="en-US" altLang="ja-JP" sz="1000" dirty="0">
                  <a:solidFill>
                    <a:srgbClr val="008D2E"/>
                  </a:solidFill>
                  <a:latin typeface="+mn-ea"/>
                </a:endParaRPr>
              </a:p>
              <a:p>
                <a:pPr>
                  <a:spcAft>
                    <a:spcPts val="200"/>
                  </a:spcAft>
                </a:pPr>
                <a:r>
                  <a:rPr lang="ja-JP" altLang="en-US" sz="1000" dirty="0">
                    <a:solidFill>
                      <a:schemeClr val="tx1"/>
                    </a:solidFill>
                    <a:latin typeface="+mn-ea"/>
                  </a:rPr>
                  <a:t>採用難・属人化・</a:t>
                </a:r>
                <a:r>
                  <a:rPr lang="en" altLang="ja-JP" sz="1000" dirty="0">
                    <a:solidFill>
                      <a:schemeClr val="tx1"/>
                    </a:solidFill>
                    <a:latin typeface="+mn-ea"/>
                  </a:rPr>
                  <a:t>AI</a:t>
                </a:r>
                <a:r>
                  <a:rPr lang="ja-JP" altLang="en-US" sz="1000" dirty="0">
                    <a:solidFill>
                      <a:schemeClr val="tx1"/>
                    </a:solidFill>
                    <a:latin typeface="+mn-ea"/>
                  </a:rPr>
                  <a:t>回収不全</a:t>
                </a:r>
                <a:endParaRPr lang="en-US" altLang="ja-JP" sz="1000" dirty="0">
                  <a:solidFill>
                    <a:schemeClr val="tx1"/>
                  </a:solidFill>
                  <a:latin typeface="+mn-ea"/>
                </a:endParaRPr>
              </a:p>
            </p:txBody>
          </p:sp>
          <p:sp>
            <p:nvSpPr>
              <p:cNvPr id="79" name="正方形/長方形 78">
                <a:extLst>
                  <a:ext uri="{FF2B5EF4-FFF2-40B4-BE49-F238E27FC236}">
                    <a16:creationId xmlns:a16="http://schemas.microsoft.com/office/drawing/2014/main" id="{35E70D1E-9AD6-B74C-7BC9-D3A5C6C22063}"/>
                  </a:ext>
                </a:extLst>
              </p:cNvPr>
              <p:cNvSpPr/>
              <p:nvPr/>
            </p:nvSpPr>
            <p:spPr>
              <a:xfrm>
                <a:off x="750999" y="2500602"/>
                <a:ext cx="1883156" cy="734878"/>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pPr>
                  <a:spcAft>
                    <a:spcPts val="200"/>
                  </a:spcAft>
                </a:pPr>
                <a:r>
                  <a:rPr lang="en-US" altLang="ja-JP" sz="1000" dirty="0">
                    <a:solidFill>
                      <a:srgbClr val="008D2E"/>
                    </a:solidFill>
                    <a:latin typeface="+mn-ea"/>
                  </a:rPr>
                  <a:t>②</a:t>
                </a:r>
                <a:r>
                  <a:rPr lang="ja-JP" altLang="en-US" sz="1000">
                    <a:solidFill>
                      <a:srgbClr val="008D2E"/>
                    </a:solidFill>
                    <a:latin typeface="+mn-ea"/>
                  </a:rPr>
                  <a:t>需要の増大</a:t>
                </a:r>
                <a:br>
                  <a:rPr lang="en-US" altLang="ja-JP" sz="1000" dirty="0">
                    <a:solidFill>
                      <a:srgbClr val="008D2E"/>
                    </a:solidFill>
                    <a:latin typeface="+mn-ea"/>
                  </a:rPr>
                </a:br>
                <a:r>
                  <a:rPr lang="ja-JP" altLang="en-US" sz="1000">
                    <a:solidFill>
                      <a:schemeClr val="tx1"/>
                    </a:solidFill>
                    <a:latin typeface="+mn-ea"/>
                  </a:rPr>
                  <a:t>業務増・</a:t>
                </a:r>
                <a:r>
                  <a:rPr lang="en-US" altLang="ja-JP" sz="1000" dirty="0">
                    <a:solidFill>
                      <a:schemeClr val="tx1"/>
                    </a:solidFill>
                    <a:latin typeface="+mn-ea"/>
                  </a:rPr>
                  <a:t>24 / 365</a:t>
                </a:r>
                <a:r>
                  <a:rPr lang="ja-JP" altLang="en-US" sz="1000">
                    <a:solidFill>
                      <a:schemeClr val="tx1"/>
                    </a:solidFill>
                    <a:latin typeface="+mn-ea"/>
                  </a:rPr>
                  <a:t>・</a:t>
                </a:r>
                <a:br>
                  <a:rPr lang="en-US" altLang="ja-JP" sz="1000" dirty="0">
                    <a:solidFill>
                      <a:schemeClr val="tx1"/>
                    </a:solidFill>
                    <a:latin typeface="+mn-ea"/>
                  </a:rPr>
                </a:br>
                <a:r>
                  <a:rPr lang="ja-JP" altLang="en-US" sz="1000">
                    <a:solidFill>
                      <a:schemeClr val="tx1"/>
                    </a:solidFill>
                    <a:latin typeface="+mn-ea"/>
                  </a:rPr>
                  <a:t>安全性要求</a:t>
                </a:r>
                <a:endParaRPr lang="en-US" altLang="ja-JP" sz="1000" dirty="0">
                  <a:solidFill>
                    <a:schemeClr val="tx1"/>
                  </a:solidFill>
                  <a:latin typeface="+mn-ea"/>
                </a:endParaRPr>
              </a:p>
            </p:txBody>
          </p:sp>
          <p:sp>
            <p:nvSpPr>
              <p:cNvPr id="85" name="正方形/長方形 84">
                <a:extLst>
                  <a:ext uri="{FF2B5EF4-FFF2-40B4-BE49-F238E27FC236}">
                    <a16:creationId xmlns:a16="http://schemas.microsoft.com/office/drawing/2014/main" id="{B17204CA-5FC0-24AB-852E-AB06F787B271}"/>
                  </a:ext>
                </a:extLst>
              </p:cNvPr>
              <p:cNvSpPr/>
              <p:nvPr/>
            </p:nvSpPr>
            <p:spPr>
              <a:xfrm>
                <a:off x="750999" y="3288440"/>
                <a:ext cx="1883156" cy="537917"/>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pPr>
                  <a:spcAft>
                    <a:spcPts val="200"/>
                  </a:spcAft>
                </a:pPr>
                <a:r>
                  <a:rPr lang="en-US" altLang="ja-JP" sz="1000" dirty="0">
                    <a:solidFill>
                      <a:srgbClr val="008D2E"/>
                    </a:solidFill>
                    <a:latin typeface="+mn-ea"/>
                  </a:rPr>
                  <a:t>③</a:t>
                </a:r>
                <a:r>
                  <a:rPr lang="ja-JP" altLang="en-US" sz="1000">
                    <a:solidFill>
                      <a:srgbClr val="008D2E"/>
                    </a:solidFill>
                    <a:latin typeface="+mn-ea"/>
                  </a:rPr>
                  <a:t>現場の歪み</a:t>
                </a:r>
                <a:endParaRPr lang="en-US" altLang="ja-JP" sz="1000" dirty="0">
                  <a:solidFill>
                    <a:srgbClr val="008D2E"/>
                  </a:solidFill>
                  <a:latin typeface="+mn-ea"/>
                </a:endParaRPr>
              </a:p>
              <a:p>
                <a:pPr>
                  <a:spcAft>
                    <a:spcPts val="200"/>
                  </a:spcAft>
                </a:pPr>
                <a:r>
                  <a:rPr lang="ja-JP" altLang="en-US" sz="1000">
                    <a:solidFill>
                      <a:schemeClr val="tx1"/>
                    </a:solidFill>
                    <a:latin typeface="+mn-ea"/>
                  </a:rPr>
                  <a:t>社員過負荷・機会損失・</a:t>
                </a:r>
                <a:br>
                  <a:rPr lang="en-US" altLang="ja-JP" sz="1000" dirty="0">
                    <a:solidFill>
                      <a:schemeClr val="tx1"/>
                    </a:solidFill>
                    <a:latin typeface="+mn-ea"/>
                  </a:rPr>
                </a:br>
                <a:r>
                  <a:rPr lang="ja-JP" altLang="en-US" sz="1000">
                    <a:solidFill>
                      <a:schemeClr val="tx1"/>
                    </a:solidFill>
                    <a:latin typeface="+mn-ea"/>
                  </a:rPr>
                  <a:t>隠れ工数</a:t>
                </a:r>
                <a:endParaRPr lang="en-US" altLang="ja-JP" sz="1000" dirty="0">
                  <a:solidFill>
                    <a:schemeClr val="tx1"/>
                  </a:solidFill>
                  <a:latin typeface="+mn-ea"/>
                </a:endParaRPr>
              </a:p>
            </p:txBody>
          </p:sp>
          <p:sp>
            <p:nvSpPr>
              <p:cNvPr id="88" name="正方形/長方形 87">
                <a:extLst>
                  <a:ext uri="{FF2B5EF4-FFF2-40B4-BE49-F238E27FC236}">
                    <a16:creationId xmlns:a16="http://schemas.microsoft.com/office/drawing/2014/main" id="{846CDC89-BBB6-A95C-0B86-58376E080339}"/>
                  </a:ext>
                </a:extLst>
              </p:cNvPr>
              <p:cNvSpPr/>
              <p:nvPr/>
            </p:nvSpPr>
            <p:spPr>
              <a:xfrm>
                <a:off x="750999" y="3879319"/>
                <a:ext cx="1883156" cy="537918"/>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36000" rIns="36000" bIns="36000" numCol="1" spcCol="0" rtlCol="0" fromWordArt="0" anchor="ctr" anchorCtr="0" forceAA="0" compatLnSpc="1">
                <a:prstTxWarp prst="textNoShape">
                  <a:avLst/>
                </a:prstTxWarp>
                <a:noAutofit/>
              </a:bodyPr>
              <a:lstStyle/>
              <a:p>
                <a:pPr>
                  <a:spcAft>
                    <a:spcPts val="200"/>
                  </a:spcAft>
                </a:pPr>
                <a:r>
                  <a:rPr lang="en-US" altLang="ja-JP" sz="1000" dirty="0">
                    <a:solidFill>
                      <a:srgbClr val="008D2E"/>
                    </a:solidFill>
                    <a:latin typeface="+mn-ea"/>
                  </a:rPr>
                  <a:t>④</a:t>
                </a:r>
                <a:r>
                  <a:rPr lang="ja-JP" altLang="en-US" sz="1000">
                    <a:solidFill>
                      <a:srgbClr val="008D2E"/>
                    </a:solidFill>
                    <a:latin typeface="+mn-ea"/>
                  </a:rPr>
                  <a:t>統制基盤の不全</a:t>
                </a:r>
                <a:endParaRPr lang="en-US" altLang="ja-JP" sz="1000" dirty="0">
                  <a:solidFill>
                    <a:srgbClr val="008D2E"/>
                  </a:solidFill>
                  <a:latin typeface="+mn-ea"/>
                </a:endParaRPr>
              </a:p>
              <a:p>
                <a:pPr>
                  <a:spcAft>
                    <a:spcPts val="200"/>
                  </a:spcAft>
                </a:pPr>
                <a:r>
                  <a:rPr lang="ja-JP" altLang="en-US" sz="1000">
                    <a:solidFill>
                      <a:schemeClr val="tx1"/>
                    </a:solidFill>
                    <a:latin typeface="+mn-ea"/>
                  </a:rPr>
                  <a:t>ブラックボックス・</a:t>
                </a:r>
                <a:r>
                  <a:rPr lang="en-US" altLang="ja-JP" sz="1000" dirty="0">
                    <a:solidFill>
                      <a:schemeClr val="tx1"/>
                    </a:solidFill>
                    <a:latin typeface="+mn-ea"/>
                  </a:rPr>
                  <a:t>総コスト</a:t>
                </a:r>
                <a:r>
                  <a:rPr lang="ja-JP" altLang="en-US" sz="1000">
                    <a:solidFill>
                      <a:schemeClr val="tx1"/>
                    </a:solidFill>
                    <a:latin typeface="+mn-ea"/>
                  </a:rPr>
                  <a:t>不透明</a:t>
                </a:r>
                <a:endParaRPr lang="en-US" altLang="ja-JP" sz="1000" dirty="0">
                  <a:solidFill>
                    <a:schemeClr val="tx1"/>
                  </a:solidFill>
                  <a:latin typeface="+mn-ea"/>
                </a:endParaRPr>
              </a:p>
            </p:txBody>
          </p:sp>
          <p:pic>
            <p:nvPicPr>
              <p:cNvPr id="314" name="グラフィックス 313" descr="雲 単色塗りつぶし">
                <a:extLst>
                  <a:ext uri="{FF2B5EF4-FFF2-40B4-BE49-F238E27FC236}">
                    <a16:creationId xmlns:a16="http://schemas.microsoft.com/office/drawing/2014/main" id="{951BB9B7-0A16-5658-ECAC-609CDE60FE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4155" y="4057237"/>
                <a:ext cx="360000" cy="360000"/>
              </a:xfrm>
              <a:prstGeom prst="rect">
                <a:avLst/>
              </a:prstGeom>
            </p:spPr>
          </p:pic>
          <p:pic>
            <p:nvPicPr>
              <p:cNvPr id="318" name="グラフィックス 317" descr="釣り合っていない天秤 単色塗りつぶし">
                <a:extLst>
                  <a:ext uri="{FF2B5EF4-FFF2-40B4-BE49-F238E27FC236}">
                    <a16:creationId xmlns:a16="http://schemas.microsoft.com/office/drawing/2014/main" id="{035B758E-81AE-B62E-0D75-E0AEFF4E50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74155" y="3466358"/>
                <a:ext cx="360000" cy="360000"/>
              </a:xfrm>
              <a:prstGeom prst="rect">
                <a:avLst/>
              </a:prstGeom>
            </p:spPr>
          </p:pic>
          <p:pic>
            <p:nvPicPr>
              <p:cNvPr id="320" name="グラフィックス 319" descr="棒グラフ (上昇) 単色塗りつぶし">
                <a:extLst>
                  <a:ext uri="{FF2B5EF4-FFF2-40B4-BE49-F238E27FC236}">
                    <a16:creationId xmlns:a16="http://schemas.microsoft.com/office/drawing/2014/main" id="{30FF68AD-A371-46E7-9807-E8277BBF0B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74155" y="2875481"/>
                <a:ext cx="360000" cy="360000"/>
              </a:xfrm>
              <a:prstGeom prst="rect">
                <a:avLst/>
              </a:prstGeom>
            </p:spPr>
          </p:pic>
          <p:pic>
            <p:nvPicPr>
              <p:cNvPr id="322" name="グラフィックス 321" descr="人と循環 単色塗りつぶし">
                <a:extLst>
                  <a:ext uri="{FF2B5EF4-FFF2-40B4-BE49-F238E27FC236}">
                    <a16:creationId xmlns:a16="http://schemas.microsoft.com/office/drawing/2014/main" id="{DEDB1248-9941-FB1E-57A4-8B3C1199E3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74155" y="2087644"/>
                <a:ext cx="360000" cy="360000"/>
              </a:xfrm>
              <a:prstGeom prst="rect">
                <a:avLst/>
              </a:prstGeom>
            </p:spPr>
          </p:pic>
        </p:grpSp>
        <p:cxnSp>
          <p:nvCxnSpPr>
            <p:cNvPr id="344" name="table_TWformat_line_2_2">
              <a:extLst>
                <a:ext uri="{FF2B5EF4-FFF2-40B4-BE49-F238E27FC236}">
                  <a16:creationId xmlns:a16="http://schemas.microsoft.com/office/drawing/2014/main" id="{25CB88FE-BA62-82A8-76DE-1484C58D29A1}"/>
                </a:ext>
              </a:extLst>
            </p:cNvPr>
            <p:cNvCxnSpPr>
              <a:cxnSpLocks/>
            </p:cNvCxnSpPr>
            <p:nvPr/>
          </p:nvCxnSpPr>
          <p:spPr>
            <a:xfrm>
              <a:off x="750999" y="4497862"/>
              <a:ext cx="11106872"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18B6F64B-ED46-925A-8798-0020955093B2}"/>
                </a:ext>
              </a:extLst>
            </p:cNvPr>
            <p:cNvGrpSpPr/>
            <p:nvPr/>
          </p:nvGrpSpPr>
          <p:grpSpPr>
            <a:xfrm>
              <a:off x="5503227" y="1909726"/>
              <a:ext cx="1708341" cy="2507511"/>
              <a:chOff x="6499852" y="1909726"/>
              <a:chExt cx="3921169" cy="2507511"/>
            </a:xfrm>
            <a:solidFill>
              <a:srgbClr val="C5E0B4"/>
            </a:solidFill>
          </p:grpSpPr>
          <p:sp>
            <p:nvSpPr>
              <p:cNvPr id="8" name="正方形/長方形 7">
                <a:extLst>
                  <a:ext uri="{FF2B5EF4-FFF2-40B4-BE49-F238E27FC236}">
                    <a16:creationId xmlns:a16="http://schemas.microsoft.com/office/drawing/2014/main" id="{58DA753C-C9A4-26BB-3B77-272FD9B0261D}"/>
                  </a:ext>
                </a:extLst>
              </p:cNvPr>
              <p:cNvSpPr/>
              <p:nvPr/>
            </p:nvSpPr>
            <p:spPr>
              <a:xfrm>
                <a:off x="6499852" y="1909726"/>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
                    <a:srgbClr val="046294"/>
                  </a:buClr>
                  <a:buSzTx/>
                  <a:buFontTx/>
                  <a:buNone/>
                  <a:tabLst/>
                  <a:defRPr/>
                </a:pPr>
                <a:r>
                  <a:rPr kumimoji="1" lang="ja-JP" altLang="en-US" sz="1000" i="0" u="none" strike="noStrike" kern="1200" cap="none" spc="0" normalizeH="0" baseline="0" noProof="0" dirty="0">
                    <a:ln>
                      <a:noFill/>
                    </a:ln>
                    <a:solidFill>
                      <a:schemeClr val="tx1"/>
                    </a:solidFill>
                    <a:effectLst/>
                    <a:uLnTx/>
                    <a:uFillTx/>
                    <a:latin typeface="+mn-ea"/>
                    <a:cs typeface="+mn-cs"/>
                  </a:rPr>
                  <a:t>依存あり</a:t>
                </a:r>
                <a:endParaRPr kumimoji="1" lang="en-US" altLang="ja-JP" sz="1000" i="0" u="none" strike="noStrike" kern="1200" cap="none" spc="0" normalizeH="0" baseline="0" noProof="0" dirty="0">
                  <a:ln>
                    <a:noFill/>
                  </a:ln>
                  <a:solidFill>
                    <a:schemeClr val="tx1"/>
                  </a:solidFill>
                  <a:effectLst/>
                  <a:uLnTx/>
                  <a:uFillTx/>
                  <a:latin typeface="+mn-ea"/>
                  <a:cs typeface="+mn-cs"/>
                </a:endParaRPr>
              </a:p>
            </p:txBody>
          </p:sp>
          <p:sp>
            <p:nvSpPr>
              <p:cNvPr id="10" name="正方形/長方形 9">
                <a:extLst>
                  <a:ext uri="{FF2B5EF4-FFF2-40B4-BE49-F238E27FC236}">
                    <a16:creationId xmlns:a16="http://schemas.microsoft.com/office/drawing/2014/main" id="{8F95EE84-CFBA-F972-85C8-F3736678BCA4}"/>
                  </a:ext>
                </a:extLst>
              </p:cNvPr>
              <p:cNvSpPr/>
              <p:nvPr/>
            </p:nvSpPr>
            <p:spPr>
              <a:xfrm>
                <a:off x="6499852" y="2106685"/>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未把握</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12" name="正方形/長方形 11">
                <a:extLst>
                  <a:ext uri="{FF2B5EF4-FFF2-40B4-BE49-F238E27FC236}">
                    <a16:creationId xmlns:a16="http://schemas.microsoft.com/office/drawing/2014/main" id="{6393E298-5B28-6862-70FE-DF7260DF93C1}"/>
                  </a:ext>
                </a:extLst>
              </p:cNvPr>
              <p:cNvSpPr/>
              <p:nvPr/>
            </p:nvSpPr>
            <p:spPr>
              <a:xfrm>
                <a:off x="6499852" y="2303644"/>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ほぼ</a:t>
                </a:r>
                <a:r>
                  <a:rPr kumimoji="1" lang="en-US" altLang="ja-JP" sz="1000" i="0" u="none" strike="noStrike" kern="1200" cap="none" spc="0" normalizeH="0" baseline="0" noProof="0" dirty="0">
                    <a:ln>
                      <a:noFill/>
                    </a:ln>
                    <a:solidFill>
                      <a:schemeClr val="tx1"/>
                    </a:solidFill>
                    <a:effectLst/>
                    <a:uLnTx/>
                    <a:uFillTx/>
                    <a:latin typeface="+mn-ea"/>
                  </a:rPr>
                  <a:t>0%</a:t>
                </a:r>
              </a:p>
            </p:txBody>
          </p:sp>
          <p:sp>
            <p:nvSpPr>
              <p:cNvPr id="14" name="正方形/長方形 13">
                <a:extLst>
                  <a:ext uri="{FF2B5EF4-FFF2-40B4-BE49-F238E27FC236}">
                    <a16:creationId xmlns:a16="http://schemas.microsoft.com/office/drawing/2014/main" id="{0681078C-FCC2-BE03-B3C7-432978B8800B}"/>
                  </a:ext>
                </a:extLst>
              </p:cNvPr>
              <p:cNvSpPr/>
              <p:nvPr/>
            </p:nvSpPr>
            <p:spPr>
              <a:xfrm>
                <a:off x="6499852" y="2500603"/>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品質基準</a:t>
                </a:r>
                <a:r>
                  <a:rPr kumimoji="1" lang="ja-JP" altLang="en-US" sz="1000" i="0" u="none" strike="noStrike" kern="1200" cap="none" spc="0" normalizeH="0" baseline="0" noProof="0" dirty="0">
                    <a:ln>
                      <a:noFill/>
                    </a:ln>
                    <a:solidFill>
                      <a:schemeClr val="tx1"/>
                    </a:solidFill>
                    <a:effectLst/>
                    <a:uLnTx/>
                    <a:uFillTx/>
                    <a:latin typeface="+mn-ea"/>
                  </a:rPr>
                  <a:t>なし</a:t>
                </a:r>
              </a:p>
            </p:txBody>
          </p:sp>
          <p:sp>
            <p:nvSpPr>
              <p:cNvPr id="16" name="正方形/長方形 15">
                <a:extLst>
                  <a:ext uri="{FF2B5EF4-FFF2-40B4-BE49-F238E27FC236}">
                    <a16:creationId xmlns:a16="http://schemas.microsoft.com/office/drawing/2014/main" id="{B5CD3FCA-2549-ADD3-9EE9-3750A028A066}"/>
                  </a:ext>
                </a:extLst>
              </p:cNvPr>
              <p:cNvSpPr/>
              <p:nvPr/>
            </p:nvSpPr>
            <p:spPr>
              <a:xfrm>
                <a:off x="6499852" y="2697563"/>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フェーズ0</a:t>
                </a:r>
                <a:r>
                  <a:rPr kumimoji="1" lang="ja-JP" altLang="en-US" sz="1000" i="0" u="none" strike="noStrike" kern="1200" cap="none" spc="0" normalizeH="0" baseline="0" noProof="0" dirty="0">
                    <a:ln>
                      <a:noFill/>
                    </a:ln>
                    <a:solidFill>
                      <a:schemeClr val="tx1"/>
                    </a:solidFill>
                    <a:effectLst/>
                    <a:uLnTx/>
                    <a:uFillTx/>
                    <a:latin typeface="+mn-ea"/>
                  </a:rPr>
                  <a:t>で実測</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19" name="正方形/長方形 18">
                <a:extLst>
                  <a:ext uri="{FF2B5EF4-FFF2-40B4-BE49-F238E27FC236}">
                    <a16:creationId xmlns:a16="http://schemas.microsoft.com/office/drawing/2014/main" id="{33B3A665-1813-316B-29F7-DDDAC53C431E}"/>
                  </a:ext>
                </a:extLst>
              </p:cNvPr>
              <p:cNvSpPr/>
              <p:nvPr/>
            </p:nvSpPr>
            <p:spPr>
              <a:xfrm>
                <a:off x="6499852" y="2894522"/>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フェーズ1</a:t>
                </a:r>
                <a:r>
                  <a:rPr kumimoji="1" lang="ja-JP" altLang="en-US" sz="1000" i="0" u="none" strike="noStrike" kern="1200" cap="none" spc="0" normalizeH="0" baseline="0" noProof="0" dirty="0">
                    <a:ln>
                      <a:noFill/>
                    </a:ln>
                    <a:solidFill>
                      <a:schemeClr val="tx1"/>
                    </a:solidFill>
                    <a:effectLst/>
                    <a:uLnTx/>
                    <a:uFillTx/>
                    <a:latin typeface="+mn-ea"/>
                  </a:rPr>
                  <a:t>で初回調査</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24" name="正方形/長方形 23">
                <a:extLst>
                  <a:ext uri="{FF2B5EF4-FFF2-40B4-BE49-F238E27FC236}">
                    <a16:creationId xmlns:a16="http://schemas.microsoft.com/office/drawing/2014/main" id="{CF5090E0-4436-15C5-A3D6-4F86C2446464}"/>
                  </a:ext>
                </a:extLst>
              </p:cNvPr>
              <p:cNvSpPr/>
              <p:nvPr/>
            </p:nvSpPr>
            <p:spPr>
              <a:xfrm>
                <a:off x="6499852" y="3288441"/>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0</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26" name="正方形/長方形 25">
                <a:extLst>
                  <a:ext uri="{FF2B5EF4-FFF2-40B4-BE49-F238E27FC236}">
                    <a16:creationId xmlns:a16="http://schemas.microsoft.com/office/drawing/2014/main" id="{EA471C22-047A-C491-CCC9-260D52D9089F}"/>
                  </a:ext>
                </a:extLst>
              </p:cNvPr>
              <p:cNvSpPr/>
              <p:nvPr/>
            </p:nvSpPr>
            <p:spPr>
              <a:xfrm>
                <a:off x="6499852" y="3485400"/>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US" altLang="ja-JP" sz="1000" i="0" u="none" strike="noStrike" kern="1200" cap="none" spc="0" normalizeH="0" baseline="0" noProof="0" dirty="0">
                    <a:ln>
                      <a:noFill/>
                    </a:ln>
                    <a:solidFill>
                      <a:schemeClr val="tx1"/>
                    </a:solidFill>
                    <a:effectLst/>
                    <a:uLnTx/>
                    <a:uFillTx/>
                    <a:latin typeface="+mn-ea"/>
                  </a:rPr>
                  <a:t>40%</a:t>
                </a:r>
                <a:r>
                  <a:rPr lang="en-US" altLang="ja-JP" sz="1000" dirty="0">
                    <a:solidFill>
                      <a:schemeClr val="tx1"/>
                    </a:solidFill>
                    <a:latin typeface="+mn-ea"/>
                  </a:rPr>
                  <a:t> </a:t>
                </a:r>
                <a:r>
                  <a:rPr kumimoji="1" lang="en-US" altLang="ja-JP" sz="1000" i="0" u="none" strike="noStrike" kern="1200" cap="none" spc="0" normalizeH="0" baseline="0" noProof="0" dirty="0">
                    <a:ln>
                      <a:noFill/>
                    </a:ln>
                    <a:solidFill>
                      <a:schemeClr val="tx1"/>
                    </a:solidFill>
                    <a:effectLst/>
                    <a:uLnTx/>
                    <a:uFillTx/>
                    <a:latin typeface="+mn-ea"/>
                  </a:rPr>
                  <a:t>(</a:t>
                </a:r>
                <a:r>
                  <a:rPr kumimoji="1" lang="ja-JP" altLang="en-US" sz="1000" i="0" u="none" strike="noStrike" kern="1200" cap="none" spc="0" normalizeH="0" baseline="0" noProof="0" dirty="0">
                    <a:ln>
                      <a:noFill/>
                    </a:ln>
                    <a:solidFill>
                      <a:schemeClr val="tx1"/>
                    </a:solidFill>
                    <a:effectLst/>
                    <a:uLnTx/>
                    <a:uFillTx/>
                    <a:latin typeface="+mn-ea"/>
                  </a:rPr>
                  <a:t>実測で確定</a:t>
                </a:r>
                <a:r>
                  <a:rPr kumimoji="1" lang="en-US" altLang="ja-JP" sz="1000" i="0" u="none" strike="noStrike" kern="1200" cap="none" spc="0" normalizeH="0" baseline="0" noProof="0" dirty="0">
                    <a:ln>
                      <a:noFill/>
                    </a:ln>
                    <a:solidFill>
                      <a:schemeClr val="tx1"/>
                    </a:solidFill>
                    <a:effectLst/>
                    <a:uLnTx/>
                    <a:uFillTx/>
                    <a:latin typeface="+mn-ea"/>
                  </a:rPr>
                  <a:t>)</a:t>
                </a:r>
              </a:p>
            </p:txBody>
          </p:sp>
          <p:sp>
            <p:nvSpPr>
              <p:cNvPr id="28" name="正方形/長方形 27">
                <a:extLst>
                  <a:ext uri="{FF2B5EF4-FFF2-40B4-BE49-F238E27FC236}">
                    <a16:creationId xmlns:a16="http://schemas.microsoft.com/office/drawing/2014/main" id="{3717678B-435D-247F-FB81-D44263C85075}"/>
                  </a:ext>
                </a:extLst>
              </p:cNvPr>
              <p:cNvSpPr/>
              <p:nvPr/>
            </p:nvSpPr>
            <p:spPr>
              <a:xfrm>
                <a:off x="6499852" y="3682359"/>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フェーズ0</a:t>
                </a:r>
                <a:r>
                  <a:rPr kumimoji="1" lang="ja-JP" altLang="en-US" sz="1000" i="0" u="none" strike="noStrike" kern="1200" cap="none" spc="0" normalizeH="0" baseline="0" noProof="0" dirty="0">
                    <a:ln>
                      <a:noFill/>
                    </a:ln>
                    <a:solidFill>
                      <a:schemeClr val="tx1"/>
                    </a:solidFill>
                    <a:effectLst/>
                    <a:uLnTx/>
                    <a:uFillTx/>
                    <a:latin typeface="+mn-ea"/>
                  </a:rPr>
                  <a:t>で実測</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30" name="正方形/長方形 29">
                <a:extLst>
                  <a:ext uri="{FF2B5EF4-FFF2-40B4-BE49-F238E27FC236}">
                    <a16:creationId xmlns:a16="http://schemas.microsoft.com/office/drawing/2014/main" id="{FFFCC46B-6A36-9E38-227F-168ED6DE9E3C}"/>
                  </a:ext>
                </a:extLst>
              </p:cNvPr>
              <p:cNvSpPr/>
              <p:nvPr/>
            </p:nvSpPr>
            <p:spPr>
              <a:xfrm>
                <a:off x="6499852" y="3879319"/>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不明</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32" name="正方形/長方形 31">
                <a:extLst>
                  <a:ext uri="{FF2B5EF4-FFF2-40B4-BE49-F238E27FC236}">
                    <a16:creationId xmlns:a16="http://schemas.microsoft.com/office/drawing/2014/main" id="{CD393162-9975-8EEE-ED54-0AEEAC15D83D}"/>
                  </a:ext>
                </a:extLst>
              </p:cNvPr>
              <p:cNvSpPr/>
              <p:nvPr/>
            </p:nvSpPr>
            <p:spPr>
              <a:xfrm>
                <a:off x="6499852" y="4076278"/>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ベースライン</a:t>
                </a:r>
                <a:r>
                  <a:rPr kumimoji="1" lang="en-US" altLang="ja-JP" sz="1000" i="0" u="none" strike="noStrike" kern="1200" cap="none" spc="0" normalizeH="0" baseline="0" noProof="0" dirty="0">
                    <a:ln>
                      <a:noFill/>
                    </a:ln>
                    <a:solidFill>
                      <a:schemeClr val="tx1"/>
                    </a:solidFill>
                    <a:effectLst/>
                    <a:uLnTx/>
                    <a:uFillTx/>
                    <a:latin typeface="+mn-ea"/>
                  </a:rPr>
                  <a:t> (</a:t>
                </a:r>
                <a:r>
                  <a:rPr kumimoji="1" lang="en" altLang="ja-JP" sz="1000" i="0" u="none" strike="noStrike" kern="1200" cap="none" spc="0" normalizeH="0" baseline="0" noProof="0" dirty="0">
                    <a:ln>
                      <a:noFill/>
                    </a:ln>
                    <a:solidFill>
                      <a:schemeClr val="tx1"/>
                    </a:solidFill>
                    <a:effectLst/>
                    <a:uLnTx/>
                    <a:uFillTx/>
                    <a:latin typeface="+mn-ea"/>
                  </a:rPr>
                  <a:t>フェーズ0</a:t>
                </a:r>
                <a:r>
                  <a:rPr kumimoji="1" lang="ja-JP" altLang="en-US" sz="1000" i="0" u="none" strike="noStrike" kern="1200" cap="none" spc="0" normalizeH="0" baseline="0" noProof="0" dirty="0">
                    <a:ln>
                      <a:noFill/>
                    </a:ln>
                    <a:solidFill>
                      <a:schemeClr val="tx1"/>
                    </a:solidFill>
                    <a:effectLst/>
                    <a:uLnTx/>
                    <a:uFillTx/>
                    <a:latin typeface="+mn-ea"/>
                  </a:rPr>
                  <a:t>確定</a:t>
                </a:r>
                <a:r>
                  <a:rPr kumimoji="1" lang="en-US" altLang="ja-JP" sz="1000" i="0" u="none" strike="noStrike" kern="1200" cap="none" spc="0" normalizeH="0" baseline="0" noProof="0" dirty="0">
                    <a:ln>
                      <a:noFill/>
                    </a:ln>
                    <a:solidFill>
                      <a:schemeClr val="tx1"/>
                    </a:solidFill>
                    <a:effectLst/>
                    <a:uLnTx/>
                    <a:uFillTx/>
                    <a:latin typeface="+mn-ea"/>
                  </a:rPr>
                  <a:t>)</a:t>
                </a:r>
                <a:r>
                  <a:rPr kumimoji="1" lang="en-US" altLang="ja-JP" sz="1000" i="0" u="none" strike="noStrike" kern="1200" cap="none" spc="0" normalizeH="0" baseline="0" noProof="0" dirty="0">
                    <a:ln>
                      <a:noFill/>
                    </a:ln>
                    <a:solidFill>
                      <a:srgbClr val="008D2E"/>
                    </a:solidFill>
                    <a:effectLst/>
                    <a:uLnTx/>
                    <a:uFillTx/>
                    <a:latin typeface="+mn-ea"/>
                  </a:rPr>
                  <a:t> </a:t>
                </a:r>
                <a:endParaRPr kumimoji="1" lang="en-US" altLang="ja-JP" sz="1000" i="0" u="none" strike="noStrike" kern="1200" cap="none" spc="0" normalizeH="0" baseline="0" noProof="0" dirty="0">
                  <a:ln>
                    <a:noFill/>
                  </a:ln>
                  <a:solidFill>
                    <a:schemeClr val="tx1"/>
                  </a:solidFill>
                  <a:effectLst/>
                  <a:uLnTx/>
                  <a:uFillTx/>
                  <a:latin typeface="+mn-ea"/>
                </a:endParaRPr>
              </a:p>
            </p:txBody>
          </p:sp>
          <p:sp>
            <p:nvSpPr>
              <p:cNvPr id="34" name="正方形/長方形 33">
                <a:extLst>
                  <a:ext uri="{FF2B5EF4-FFF2-40B4-BE49-F238E27FC236}">
                    <a16:creationId xmlns:a16="http://schemas.microsoft.com/office/drawing/2014/main" id="{2C5049E4-171F-D9D4-4ECF-6E8014B51563}"/>
                  </a:ext>
                </a:extLst>
              </p:cNvPr>
              <p:cNvSpPr/>
              <p:nvPr/>
            </p:nvSpPr>
            <p:spPr>
              <a:xfrm>
                <a:off x="6499852" y="4273237"/>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ja-JP" altLang="en-US" sz="1000" i="0" u="none" strike="noStrike" kern="1200" cap="none" spc="0" normalizeH="0" baseline="0" noProof="0" dirty="0">
                    <a:ln>
                      <a:noFill/>
                    </a:ln>
                    <a:solidFill>
                      <a:schemeClr val="tx1"/>
                    </a:solidFill>
                    <a:effectLst/>
                    <a:uLnTx/>
                    <a:uFillTx/>
                    <a:latin typeface="+mn-ea"/>
                  </a:rPr>
                  <a:t>ほぼ</a:t>
                </a:r>
                <a:r>
                  <a:rPr kumimoji="1" lang="en-US" altLang="ja-JP" sz="1000" i="0" u="none" strike="noStrike" kern="1200" cap="none" spc="0" normalizeH="0" baseline="0" noProof="0" dirty="0">
                    <a:ln>
                      <a:noFill/>
                    </a:ln>
                    <a:solidFill>
                      <a:schemeClr val="tx1"/>
                    </a:solidFill>
                    <a:effectLst/>
                    <a:uLnTx/>
                    <a:uFillTx/>
                    <a:latin typeface="+mn-ea"/>
                  </a:rPr>
                  <a:t>0%</a:t>
                </a:r>
                <a:endParaRPr kumimoji="1" lang="ja-JP" altLang="en-US" sz="1000" i="0" u="none" strike="noStrike" kern="1200" cap="none" spc="0" normalizeH="0" baseline="0" noProof="0" dirty="0">
                  <a:ln>
                    <a:noFill/>
                  </a:ln>
                  <a:solidFill>
                    <a:schemeClr val="tx1"/>
                  </a:solidFill>
                  <a:effectLst/>
                  <a:uLnTx/>
                  <a:uFillTx/>
                  <a:latin typeface="+mn-ea"/>
                </a:endParaRPr>
              </a:p>
            </p:txBody>
          </p:sp>
          <p:sp>
            <p:nvSpPr>
              <p:cNvPr id="36" name="正方形/長方形 35">
                <a:extLst>
                  <a:ext uri="{FF2B5EF4-FFF2-40B4-BE49-F238E27FC236}">
                    <a16:creationId xmlns:a16="http://schemas.microsoft.com/office/drawing/2014/main" id="{BCFF8DC1-7F0E-8730-7F6E-C19C9C472201}"/>
                  </a:ext>
                </a:extLst>
              </p:cNvPr>
              <p:cNvSpPr/>
              <p:nvPr/>
            </p:nvSpPr>
            <p:spPr>
              <a:xfrm>
                <a:off x="6499853" y="3091481"/>
                <a:ext cx="3921168" cy="144000"/>
              </a:xfrm>
              <a:prstGeom prst="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lvl="0" algn="ctr">
                  <a:buClr>
                    <a:srgbClr val="046294"/>
                  </a:buClr>
                  <a:defRPr/>
                </a:pPr>
                <a:r>
                  <a:rPr kumimoji="1" lang="en" altLang="ja-JP" sz="1000" i="0" u="none" strike="noStrike" kern="1200" cap="none" spc="0" normalizeH="0" baseline="0" noProof="0" dirty="0">
                    <a:ln>
                      <a:noFill/>
                    </a:ln>
                    <a:solidFill>
                      <a:schemeClr val="tx1"/>
                    </a:solidFill>
                    <a:effectLst/>
                    <a:uLnTx/>
                    <a:uFillTx/>
                    <a:latin typeface="+mn-ea"/>
                  </a:rPr>
                  <a:t>フェーズ0</a:t>
                </a:r>
                <a:r>
                  <a:rPr kumimoji="1" lang="ja-JP" altLang="en-US" sz="1000" i="0" u="none" strike="noStrike" kern="1200" cap="none" spc="0" normalizeH="0" baseline="0" noProof="0" dirty="0">
                    <a:ln>
                      <a:noFill/>
                    </a:ln>
                    <a:solidFill>
                      <a:schemeClr val="tx1"/>
                    </a:solidFill>
                    <a:effectLst/>
                    <a:uLnTx/>
                    <a:uFillTx/>
                    <a:latin typeface="+mn-ea"/>
                  </a:rPr>
                  <a:t>で棚卸し</a:t>
                </a:r>
              </a:p>
            </p:txBody>
          </p:sp>
        </p:grpSp>
      </p:grpSp>
      <p:sp>
        <p:nvSpPr>
          <p:cNvPr id="11" name="テキスト ボックス 10">
            <a:extLst>
              <a:ext uri="{FF2B5EF4-FFF2-40B4-BE49-F238E27FC236}">
                <a16:creationId xmlns:a16="http://schemas.microsoft.com/office/drawing/2014/main" id="{989A5EBC-8B8A-16D8-9A30-183C740BD266}"/>
              </a:ext>
            </a:extLst>
          </p:cNvPr>
          <p:cNvSpPr txBox="1"/>
          <p:nvPr/>
        </p:nvSpPr>
        <p:spPr>
          <a:xfrm>
            <a:off x="495299" y="6334125"/>
            <a:ext cx="9437595" cy="215444"/>
          </a:xfrm>
          <a:prstGeom prst="rect">
            <a:avLst/>
          </a:prstGeom>
          <a:noFill/>
        </p:spPr>
        <p:txBody>
          <a:bodyPr wrap="square">
            <a:spAutoFit/>
          </a:bodyPr>
          <a:lstStyle/>
          <a:p>
            <a:r>
              <a:rPr lang="en-US" altLang="ja-JP" sz="800" dirty="0">
                <a:solidFill>
                  <a:srgbClr val="5A6660"/>
                </a:solidFill>
                <a:latin typeface="+mn-ea"/>
                <a:cs typeface="Meiryo UI" pitchFamily="34" charset="-120"/>
              </a:rPr>
              <a:t>※1 重大インシデント対応力40%（</a:t>
            </a:r>
            <a:r>
              <a:rPr lang="en-US" altLang="ja-JP" sz="800" dirty="0" err="1">
                <a:solidFill>
                  <a:srgbClr val="5A6660"/>
                </a:solidFill>
                <a:latin typeface="+mn-ea"/>
                <a:cs typeface="Meiryo UI" pitchFamily="34" charset="-120"/>
              </a:rPr>
              <a:t>件数・気づくまでの速さ／収束までの速さ</a:t>
            </a:r>
            <a:r>
              <a:rPr lang="en-US" altLang="ja-JP" sz="800" dirty="0">
                <a:solidFill>
                  <a:srgbClr val="5A6660"/>
                </a:solidFill>
                <a:latin typeface="+mn-ea"/>
                <a:cs typeface="Meiryo UI" pitchFamily="34" charset="-120"/>
              </a:rPr>
              <a:t/>
            </a:r>
            <a:r>
              <a:rPr lang="ja-JP" altLang="ja-JP" sz="800" dirty="0">
                <a:latin typeface="+mn-ea"/>
              </a:rPr>
              <a:t/>
            </a:r>
            <a:r>
              <a:rPr lang="en-US" altLang="ja-JP" sz="800" dirty="0">
                <a:solidFill>
                  <a:srgbClr val="5A6660"/>
                </a:solidFill>
                <a:latin typeface="+mn-ea"/>
                <a:cs typeface="Meiryo UI" pitchFamily="34" charset="-120"/>
              </a:rPr>
              <a:t>）</a:t>
            </a:r>
            <a:r>
              <a:rPr lang="ja-JP" altLang="ja-JP" sz="800" dirty="0">
                <a:latin typeface="+mn-ea"/>
              </a:rPr>
              <a:t/>
            </a:r>
            <a:r>
              <a:rPr lang="en-US" altLang="ja-JP" sz="800" dirty="0">
                <a:solidFill>
                  <a:srgbClr val="5A6660"/>
                </a:solidFill>
                <a:latin typeface="+mn-ea"/>
                <a:cs typeface="Meiryo UI" pitchFamily="34" charset="-120"/>
              </a:rPr>
              <a:t>／脆弱性への対応（品質基準の遵守率）35%／24時間365日の監視範囲25%</a:t>
            </a:r>
            <a:endParaRPr lang="en-US" altLang="ja-JP" sz="800" dirty="0">
              <a:latin typeface="+mn-ea"/>
            </a:endParaRPr>
          </a:p>
        </p:txBody>
      </p:sp>
    </p:spTree>
    <p:extLst>
      <p:ext uri="{BB962C8B-B14F-4D97-AF65-F5344CB8AC3E}">
        <p14:creationId xmlns:p14="http://schemas.microsoft.com/office/powerpoint/2010/main" val="11005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57B945-55A3-EACB-311D-27BCBAB10C14}"/>
              </a:ext>
            </a:extLst>
          </p:cNvPr>
          <p:cNvSpPr>
            <a:spLocks noGrp="1"/>
          </p:cNvSpPr>
          <p:nvPr>
            <p:ph type="title"/>
          </p:nvPr>
        </p:nvSpPr>
        <p:spPr/>
        <p:txBody>
          <a:bodyPr/>
          <a:lstStyle/>
          <a:p>
            <a:endParaRPr kumimoji="1" lang="ja-JP" altLang="en-US" dirty="0"/>
          </a:p>
        </p:txBody>
      </p:sp>
      <p:sp>
        <p:nvSpPr>
          <p:cNvPr id="3" name="テキスト プレースホルダー 2">
            <a:extLst>
              <a:ext uri="{FF2B5EF4-FFF2-40B4-BE49-F238E27FC236}">
                <a16:creationId xmlns:a16="http://schemas.microsoft.com/office/drawing/2014/main" id="{48DD2B93-7FC8-BF66-3B49-0280EDA1FFE1}"/>
              </a:ext>
            </a:extLst>
          </p:cNvPr>
          <p:cNvSpPr>
            <a:spLocks noGrp="1"/>
          </p:cNvSpPr>
          <p:nvPr>
            <p:ph type="body" sz="quarter" idx="13"/>
          </p:nvPr>
        </p:nvSpPr>
        <p:spPr/>
        <p:txBody>
          <a:bodyPr/>
          <a:lstStyle/>
          <a:p>
            <a:r>
              <a:rPr kumimoji="1" lang="ja-JP" altLang="en-US" dirty="0"/>
              <a:t>以下</a:t>
            </a:r>
            <a:r>
              <a:rPr kumimoji="1" lang="en-US" altLang="ja-JP" dirty="0"/>
              <a:t>参考資料</a:t>
            </a:r>
            <a:endParaRPr kumimoji="1" lang="ja-JP" altLang="en-US" dirty="0"/>
          </a:p>
        </p:txBody>
      </p:sp>
    </p:spTree>
    <p:extLst>
      <p:ext uri="{BB962C8B-B14F-4D97-AF65-F5344CB8AC3E}">
        <p14:creationId xmlns:p14="http://schemas.microsoft.com/office/powerpoint/2010/main" val="13134636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 name="EE4P_STYLE_ID" val="f547d190-3668-41f7-8510-759a08b5278f"/>
  <p:tag name="EE4P_STYLE_NAME" val="Timewitch Style"/>
</p:tagLst>
</file>

<file path=ppt/tags/tag3.xml><?xml version="1.0" encoding="utf-8"?>
<p:tagLst xmlns:a="http://schemas.openxmlformats.org/drawingml/2006/main" xmlns:r="http://schemas.openxmlformats.org/officeDocument/2006/relationships" xmlns:p="http://schemas.openxmlformats.org/presentationml/2006/main">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 name="EE4P_STYLE_ID" val="f547d190-3668-41f7-8510-759a08b5278f"/>
  <p:tag name="EE4P_STYLE_NAME" val="Timewitch Style"/>
</p:tagLst>
</file>

<file path=ppt/tags/tag4.xml><?xml version="1.0" encoding="utf-8"?>
<p:tagLst xmlns:a="http://schemas.openxmlformats.org/drawingml/2006/main" xmlns:r="http://schemas.openxmlformats.org/officeDocument/2006/relationships" xmlns:p="http://schemas.openxmlformats.org/presentationml/2006/main">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 name="EE4P_STYLE_ID" val="f547d190-3668-41f7-8510-759a08b5278f"/>
  <p:tag name="EE4P_STYLE_NAME" val="Timewitch Style"/>
</p:tagLst>
</file>

<file path=ppt/tags/tag5.xml><?xml version="1.0" encoding="utf-8"?>
<p:tagLst xmlns:a="http://schemas.openxmlformats.org/drawingml/2006/main" xmlns:r="http://schemas.openxmlformats.org/officeDocument/2006/relationships" xmlns:p="http://schemas.openxmlformats.org/presentationml/2006/main">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 name="EE4P_STYLE_ID" val="f547d190-3668-41f7-8510-759a08b5278f"/>
  <p:tag name="EE4P_STYLE_NAME" val="Timewitch Style"/>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6867</TotalTime>
  <Words>4488</Words>
  <Application>Microsoft Office PowerPoint</Application>
  <PresentationFormat>ワイド画面</PresentationFormat>
  <Paragraphs>456</Paragraphs>
  <Slides>9</Slides>
  <Notes>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Meiryo UI</vt:lpstr>
      <vt:lpstr>Arial</vt:lpstr>
      <vt:lpstr>Calibri</vt:lpstr>
      <vt:lpstr>Wingdings</vt:lpstr>
      <vt:lpstr>Office テーマ</vt:lpstr>
      <vt:lpstr>本日のゴールとAgenda</vt:lpstr>
      <vt:lpstr>取り組みの背景・目的 背景 / 課題 / 示唆 / 目的</vt:lpstr>
      <vt:lpstr>解決の方向性 示唆に対する選択肢</vt:lpstr>
      <vt:lpstr>参考) 近しい大手消費財・製造メーカーにおけるBPO構造転換事例</vt:lpstr>
      <vt:lpstr>解決の方向性 構造転換と役割定義（As-Is / To-Be）</vt:lpstr>
      <vt:lpstr>今後の進め方 一括契約ではなく、意思決定ゲートで段階コミット</vt:lpstr>
      <vt:lpstr>今後の進め方 一括契約ではなく、意思決定ゲートで段階コミット</vt:lpstr>
      <vt:lpstr>KPIとROI（仮置き）</vt:lpstr>
      <vt:lpstr>PowerPoint プレゼンテーション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138</cp:revision>
  <dcterms:created xsi:type="dcterms:W3CDTF">2024-12-27T03:42:11Z</dcterms:created>
  <dcterms:modified xsi:type="dcterms:W3CDTF">2026-09-15T03:56:06Z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