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ライオン株式会社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サステナビリティ経営基盤 構想書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SSBJ法定開示への確実な対応(守り)と、非財務の財務化による企業価値向上(攻め)の同時実現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9776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2A387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3708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SSBJ義務化と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企業価値向上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606040" y="39776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2A3878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43708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財務級非財務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データ基盤+価値化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89120" y="39776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2A3878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43708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全社PJT体制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(5部門+外部)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172200" y="39776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2A387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43708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2027年中稼働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2029年3月期開示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955280" y="39776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2A3878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43708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国内外全連結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E/S/G全領域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738360" y="3977640"/>
            <a:ext cx="1645920" cy="1143000"/>
          </a:xfrm>
          <a:prstGeom prst="roundRect">
            <a:avLst>
              <a:gd name="adj" fmla="val 5600"/>
            </a:avLst>
          </a:prstGeom>
          <a:solidFill>
            <a:srgbClr val="2A3878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much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0" y="43708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工数▲40〜60%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PBR向上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2026年7月21日  |  SSBJ対応構想(V1.1)・As-Is詳細業務フロー・要求整理(業務/機能/システム要件)に基づく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 ― 本構想の5W1H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本取り組みの全体像を5W1H+How muchの7要素で定義する。詳細は各章で詳述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587959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要素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定義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詳細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Why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SSBJ義務化(当社2030年目安)への確実な対応と、非財務の財務化による企業価値(PBR)向上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As-IsのExcelバケツリレー・統制欠如(承認/履歴/ロック/権限なし)では第三者保証・有報同時開示に耐えない。花王がアクティビストに追及される状況を鑑み、守りの証明と攻めの転換が急務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What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財務級非財務データ基盤(T0)+攻めの価値化機能(テーマT1〜T6)の構築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収集自動化(API/AI-OCR)・証憑/承認/監査証跡・全Scope算定・有報同期・XBRL+ダッシュボード・AI予測・CFP・インパクト貨幣換算・柳モデル型統計検証(業務28/機能37/システム20要件)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Where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どこで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国内34サイト+海外グループ会社を含む全連結、E/S/G全領域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開示6ルート(有報・統合レポート・CDP・省エネ/温対法・Web・経営会議)を単一基盤から出力。サプライヤー(Scope3一次データ)まで段階拡大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Who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誰が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経営直下の全社PJT(オーナー: 執行役員、推進: ESG企画室)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PM/PMO(経営企画/デジタル戦略+外部)、PL5領域(ESG事務局・国内・海外・経理・システム)+外部ベンダー。サス協議会(半期)・進捗報告会(月1)でガバナンス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When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いつ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2026下期RFP → 2027年中稼働 → 2028データ本番 → 2029年3月期有報同時開示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2028年1〜12月データが保証対象の本番。逆算により2027年中のシステム導入完遂が必須(戦略策定と両輪の並行推進)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How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どうやって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戦略とシステムの両輪並行+「不変/可変」の二層設計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統制骨格(組織マスタ・証憑・承認)を先に固定し、KPI定義・換算単価・開示項目は可変マスタで実装。現状把握→要求定義→ベンダー選定→開発導入→運用定着の5フェーズ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How much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投資対効果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守り: 集計工数▲40〜60%(年数千万円規模)・開示リードタイム1/7・監査/制度追随コスト抑制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攻め: 資本コスト低減(PBR向上)・サプライチェーン排除リスク回避(受注維持拡大)・人材/資金調達好影響。投資はPF利用料+構築・導入支援費(RFPで確定)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 ― サステナ情報は「任意の取り組み」から「法定の財務報告」へ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世の中の潮流・日本の制度化・競合の状況のすべてが、財務情報と同等の信頼性・スピードを要求している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602736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世界の潮流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02736" cy="288036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920240"/>
            <a:ext cx="3346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ISSB(国際基準)の普及と投資判断への直結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第三者「保証」の開始(限定的→合理的へ)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サプライチェーン(Scope3/森林破壊)への追及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インパクト会計・非財務の貨幣換算の広がり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0" y="1234440"/>
            <a:ext cx="3602736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日本の動き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02736" cy="288036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920240"/>
            <a:ext cx="3346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SSBJ設立: 日本版サステナビリティ開示基準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有価証券報告書との同時開示(有報同期)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第三者保証の必須化・時価総額に応じ段階適用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時価総額3兆円〜: 27/3期、1兆円〜: 28/3期、5,000億円〜: 29/3期(当社は2030年〜目安)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38160" y="1234440"/>
            <a:ext cx="3602736" cy="411480"/>
          </a:xfrm>
          <a:prstGeom prst="roundRect">
            <a:avLst>
              <a:gd name="adj" fmla="val 11111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競合の状況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602736" cy="2880360"/>
          </a:xfrm>
          <a:prstGeom prst="roundRect">
            <a:avLst>
              <a:gd name="adj" fmla="val 2222"/>
            </a:avLst>
          </a:prstGeom>
          <a:solidFill>
            <a:srgbClr val="FBEC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920240"/>
            <a:ext cx="3346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花王はアクティビスト(オアシス)から公開質問状・株主提案で追及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Scope3の実測値ベース算定を迫られる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有報同期・監査トレースの客観的証明を要求</a:t>
            </a:r>
            <a:endParaRPr lang="en-US" sz="950" dirty="0"/>
          </a:p>
          <a:p>
            <a:pPr marL="101600" indent="-101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非財務KPIと役員報酬の連動などガバナンス証明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92040"/>
          <a:ext cx="112745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59710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これまで(任意)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SSBJ後(法定)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開示場所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統合報告書・Webサイト(任意)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有価証券報告書(法定・決算と同時)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計算範囲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自社拠点中心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原材料〜使用・廃棄の全バリューチェーン(Scope3フル)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記載内容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取り組みの紹介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4つの柱+財務的影響(リスクと機会)の試算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データの質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概算値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第三者保証に耐えうる証跡のある数値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当社の問題意識 ― 非財務を財務と同等の品質・スピードで扱えない構造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あるべき姿と現状の間に4つのGAPがあり、その根因は「監査トレース断絶」「グローバル統制不全」「属人化」「システム投資の遅れ」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566160"/>
                <a:gridCol w="35935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業務プロセス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あるべき姿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現状(As-Is)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構造的なボトルネック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情報収集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自動連携により「正確なデータを楽に」集める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Excelとメールのバケツリレーで工数逼迫(34サイト月次手入力・抜け漏れ)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監査トレースの断絶: 算定ロジック・証憑がシステム化されず証拠探しコスト極大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一元化・管理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「第三者保証に耐えうる」証跡を統合管理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根拠資料が各拠点に散在、整合性確認に数週間。修正は上書き=履歴なし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グローバル統制の不全: 国内外で管理フォーマット・単位・通貨が不統一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可視化・報告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財務情報と「同時にスピーディに」開示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年1回の後追い報告が限界。有報向けフローは未構築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属人的な管理体制: 特定担当者のExcel・R言語ツール依存、承認フロー未定義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経営活用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データに基づいた「攻め」の経営判断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守り(開示対応)に忙殺され、収集で終わり戦略に活かせない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システム投資の遅れ: 財務(ERP)に投資する一方、非財務は「作業」として放置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83480"/>
            <a:ext cx="11274552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120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解決の方向性(3点セット)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0" y="51206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証憑紐付と承認フロー
</a:t>
            </a:r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全データに根拠資料を添付しシステム上で多段階承認を完結 =「保証に耐えるデータ」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0" y="51206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自動収集(API/AI-OCR)
</a:t>
            </a:r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請求書・基幹システムから自動取得し、収集・算定・報告を標準化、ヒューマンエラー根絶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052560" y="51206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AI予測とシミュレーション
</a:t>
            </a:r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目標ギャップ分析・炭素税試算など、削減プランと投資判断の武器に(守り→攻め)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本取り組みの目的 ― 守りと攻めの同時達成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パーパス「より良い習慣づくりで、人々の毎日に貢献する」を、データで証明し企業価値へ転換する経営基盤をつくる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EEF3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目的① 守り ― 法定開示・保証への確実な対応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783080"/>
            <a:ext cx="5084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8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2029年3月期の有報同時開示(先行対応)を確実に実現し、2030年義務化本番を安定運用する</a:t>
            </a:r>
            <a:endParaRPr lang="en-US" sz="980" dirty="0"/>
          </a:p>
          <a:p>
            <a:pPr marL="101600" indent="-101600">
              <a:lnSpc>
                <a:spcPct val="118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第三者保証に耐えうる証跡(証憑・承認・変更履歴・ロック)を全データに実装する</a:t>
            </a:r>
            <a:endParaRPr lang="en-US" sz="980" dirty="0"/>
          </a:p>
          <a:p>
            <a:pPr marL="101600" indent="-101600">
              <a:lnSpc>
                <a:spcPct val="118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アクティビストに追及されても「システムで客観的に証明」できる状態をつくる</a:t>
            </a:r>
            <a:endParaRPr lang="en-US" sz="980" dirty="0"/>
          </a:p>
          <a:p>
            <a:pPr marL="101600" indent="-101600">
              <a:lnSpc>
                <a:spcPct val="118000"/>
              </a:lnSpc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インプット(工数・コスト)を極小化する ― 集計工数▲40〜60%・リードタイム1/7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245352" y="123444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BECEE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目的② 攻め ― 非財務の財務化による企業価値向上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5084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8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非財務→財務の因果パス(オーラルヘルス・節水等)をKPI化し、PBR向上に接続する</a:t>
            </a:r>
            <a:endParaRPr lang="en-US" sz="980" dirty="0"/>
          </a:p>
          <a:p>
            <a:pPr marL="101600" indent="-101600">
              <a:lnSpc>
                <a:spcPct val="118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CFP即応・環境価値により受注シェアを維持・拡大する(サプライチェーン排除リスク回避)</a:t>
            </a:r>
            <a:endParaRPr lang="en-US" sz="980" dirty="0"/>
          </a:p>
          <a:p>
            <a:pPr marL="101600" indent="-101600">
              <a:lnSpc>
                <a:spcPct val="118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AI予測・シナリオ試算で脱炭素ロードマップと投資判断を最適化する</a:t>
            </a:r>
            <a:endParaRPr lang="en-US" sz="980" dirty="0"/>
          </a:p>
          <a:p>
            <a:pPr marL="101600" indent="-101600">
              <a:lnSpc>
                <a:spcPct val="118000"/>
              </a:lnSpc>
              <a:buSzPct val="100000"/>
              <a:buChar char="▪"/>
            </a:pPr>
            <a:r>
              <a:rPr lang="en-US" sz="9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健康・環境インパクトの貨幣換算と統計検証(柳モデル型)で攻めのIR対話を実現する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11274552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基本方針(本構想を貫く3原則)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5371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方針1  同一基盤・二重投資なし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91947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守りのために集めるデータ(活動量・証憑・製品・組織)こそが攻めの分析の原材料。収集は一度だけ、活用は何度でも。守り/攻めを別システムにしない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297680" y="443484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455371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方針2  不変/可変の二層設計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491947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統制骨格(組織マスタ・証憑ルール・承認フロー)を先に固定し、戦略確定で変わり得るもの(KPI定義・換算単価・開示項目)はユーザー設定可能なマスタで実装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138160" y="443484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5371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方針3  戦略とシステムの両輪並行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91947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2027年中稼働の制約から、方針策定を待たずシステム導入を並行推進。手戻りリスクを織り込み、四半期ごとに戦略側とFit&amp;Gapを同期(アジャイル型要件定義)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目指す姿 ― 攻めのサステナ経営基盤(完全統合型)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データソースをMECEに洗い出し、単一プラットフォームで一元管理し、守り・攻め双方のアウトプットへ接続する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データソース(自動連携を優先)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291840" cy="786384"/>
          </a:xfrm>
          <a:prstGeom prst="roundRect">
            <a:avLst>
              <a:gd name="adj" fmla="val 5814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830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SAP(ERP/会計)  API・月次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ユーティリティ・購買・設備投資経費、拠点・連結子会社マスタ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3291840" cy="786384"/>
          </a:xfrm>
          <a:prstGeom prst="roundRect">
            <a:avLst>
              <a:gd name="adj" fmla="val 5814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670048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PLM/BOM(製品)  API・随時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製品構成・原材料重量、使用条件(研究所データ)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3291840" cy="786384"/>
          </a:xfrm>
          <a:prstGeom prst="roundRect">
            <a:avLst>
              <a:gd name="adj" fmla="val 5814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557016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HR(人事)  API・四半期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人的資本データ(賃金格差・女性管理職比率等)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7200" y="4398264"/>
            <a:ext cx="3291840" cy="786384"/>
          </a:xfrm>
          <a:prstGeom prst="roundRect">
            <a:avLst>
              <a:gd name="adj" fmla="val 5814"/>
            </a:avLst>
          </a:prstGeom>
          <a:solidFill>
            <a:srgbClr val="EEF3F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443984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その他システム  API・月次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SCM/物流・EHS・経費精算(出張・通勤)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5285232"/>
            <a:ext cx="3291840" cy="786384"/>
          </a:xfrm>
          <a:prstGeom prst="roundRect">
            <a:avLst>
              <a:gd name="adj" fmla="val 5814"/>
            </a:avLst>
          </a:prstGeom>
          <a:solidFill>
            <a:srgbClr val="EE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5330952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手動入力・アップロード  段階的に自動化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小規模拠点の請求書・証憑PDF・サプライヤー実測値・定性情報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 rot="5400000">
            <a:off x="3840480" y="3657600"/>
            <a:ext cx="146304" cy="164592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18" name="Text 16"/>
          <p:cNvSpPr/>
          <p:nvPr/>
        </p:nvSpPr>
        <p:spPr>
          <a:xfrm>
            <a:off x="4078224" y="1234440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B. 非財務情報プラットフォーム(一元管理)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78224" y="1737360"/>
            <a:ext cx="3931920" cy="987552"/>
          </a:xfrm>
          <a:prstGeom prst="roundRect">
            <a:avLst>
              <a:gd name="adj" fmla="val 4630"/>
            </a:avLst>
          </a:prstGeom>
          <a:solidFill>
            <a:srgbClr val="FBECEE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1792224"/>
            <a:ext cx="3675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「収集・積上げ」エージェント
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自動取込・単位変換/ヒューマンエラー根絶/証憑(請求書等)の完全紐付け/多段階承認・自動督促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078224" y="2834640"/>
            <a:ext cx="3931920" cy="987552"/>
          </a:xfrm>
          <a:prstGeom prst="roundRect">
            <a:avLst>
              <a:gd name="adj" fmla="val 4630"/>
            </a:avLst>
          </a:prstGeom>
          <a:solidFill>
            <a:srgbClr val="FBECEE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2889504"/>
            <a:ext cx="3675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「CFP/Scope3」算定エンジン
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ISO準拠の自動算定ロジック/製品別CFPの精緻化/サプライヤー一次データ取込/係数自動更新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078224" y="3931920"/>
            <a:ext cx="3931920" cy="987552"/>
          </a:xfrm>
          <a:prstGeom prst="roundRect">
            <a:avLst>
              <a:gd name="adj" fmla="val 4630"/>
            </a:avLst>
          </a:prstGeom>
          <a:solidFill>
            <a:srgbClr val="FBECEE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3986784"/>
            <a:ext cx="3675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「統制・監査」レイヤ
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監査証跡(変更前後・リネージ)/確定・ロック/権限・マスキング/監査法人専用アカウント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078224" y="5029200"/>
            <a:ext cx="3931920" cy="987552"/>
          </a:xfrm>
          <a:prstGeom prst="roundRect">
            <a:avLst>
              <a:gd name="adj" fmla="val 4630"/>
            </a:avLst>
          </a:prstGeom>
          <a:solidFill>
            <a:srgbClr val="FBECEE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5084064"/>
            <a:ext cx="3675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「分析・活用」ダッシュボード
</a:t>
            </a:r>
            <a:pPr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2030目標ギャップ分析(AI予測)/炭素税シミュレーション/人的資本モニタリング/貨幣換算エンジン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8101584" y="3657600"/>
            <a:ext cx="146304" cy="164592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28" name="Text 26"/>
          <p:cNvSpPr/>
          <p:nvPr/>
        </p:nvSpPr>
        <p:spPr>
          <a:xfrm>
            <a:off x="8339328" y="1234440"/>
            <a:ext cx="3392424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C. アウトプット・活用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39328" y="1737360"/>
            <a:ext cx="3392424" cy="1325880"/>
          </a:xfrm>
          <a:prstGeom prst="roundRect">
            <a:avLst>
              <a:gd name="adj" fmla="val 3448"/>
            </a:avLst>
          </a:prstGeom>
          <a:solidFill>
            <a:srgbClr val="EEF3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7344" y="1801368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迅速・確実な法定開示(守り)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有報同時開示(SSBJ完全準拠)/CDP・温対法・省エネ法・CSRD/第三者保証コスト大幅削減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339328" y="3218688"/>
            <a:ext cx="3392424" cy="1325880"/>
          </a:xfrm>
          <a:prstGeom prst="roundRect">
            <a:avLst>
              <a:gd name="adj" fmla="val 3448"/>
            </a:avLst>
          </a:prstGeom>
          <a:solidFill>
            <a:srgbClr val="FBECE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67344" y="3282696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製品競争力の強化(攻め)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環境価値による受注シェア拡大/取引先CFP要請への即応(SLA5営業日)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339328" y="4700016"/>
            <a:ext cx="3392424" cy="1325880"/>
          </a:xfrm>
          <a:prstGeom prst="roundRect">
            <a:avLst>
              <a:gd name="adj" fmla="val 3448"/>
            </a:avLst>
          </a:prstGeom>
          <a:solidFill>
            <a:srgbClr val="FBECE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67344" y="4764024"/>
            <a:ext cx="31363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戦略的経営意思決定(攻め)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脱炭素ロードマップ最適化/投資家への攻めのESG対話/健康・節水インパクトの貨幣換算開示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国内外全連結子会社・拠点(国内34サイト+海外法人)。開示6ルートを単一基盤から出力し、Excel・メールのバケツリレーを根絶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2/2 (Where)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 ― 対象組織・領域・テーマ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「どこまでやるか」を組織×データ領域×テーマの3軸で定義し、段階拡大の順序を明確にする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937760"/>
                <a:gridCol w="4965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軸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スコープ(2027稼働時)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段階拡大(2028〜2030)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組織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国内本体+34サイト、国内グループ会社、海外主要法人(連結)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海外全法人の詳細粒度化、持分法適用会社の按分、生産委託会社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環境(E)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GHG Scope1/2/3全カテゴリ・水・廃棄物・包材・化学物質・エネルギー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サプライヤー一次データ(支出上位から)、製品別CFP全主要SKU、TNFD対応(水リスク)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社会(S)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人的資本(賃金格差・女性管理職・研修等)・労働安全・健康経営指標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アウトカムデータ(啓発リーチ・行動変容・共同実証)、健康インパクト貨幣換算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ガバナンス(G)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体制・リスク管理の定性開示、KPI実績の確定値管理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役員報酬連動KPIの自動判定、保証範囲の拡大(限定的→合理的を見据え)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開示ルート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有報(SSBJ)・統合レポート・CDP・省エネ法/温対法・Web・経営会議資料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CSRD(欧州売上・拠点の状況に応じ)、評価機関回答の自動生成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テーマ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T0(守りの土台)+T2/T3の算定基盤(使用時Cat11・CFP)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T1オーラルヘルス貨幣換算、T4資源循環、T5人的資本実証、T6報酬連動</a:t>
                      </a:r>
                      <a:endParaRPr lang="en-US" sz="93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57800"/>
            <a:ext cx="11274552" cy="118872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349240"/>
            <a:ext cx="10835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スコープ外(本PJTでは扱わない):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財務会計システム(ERP)自体の刷新、マーケティング基幹系の刷新、個別事業のDX施策。ただしAPI連携インタフェースは本PJTで定義する。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前提条件: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サステナ戦略・方針(新マテリアリティ・KGI)は2027年の骨子確定に向け並行策定。本構想は骨子確定前でも破綻しない二層設計を前提とする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KGI/KPI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KGI/KPI体系① 守り ― 法定開示・統制・効率の到達目標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守りのKGIは「有報同時開示の達成」と「保証に耐える統制」。目標値は例示であり、ヒアリング・監査法人協議を経て確定する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862072"/>
                <a:gridCol w="2103120"/>
                <a:gridCol w="164592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KGI(到達目標)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KPI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現状(As-Is)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2028年度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2030年度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有報同時開示の実現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(2029年3月期に先行達成)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開示リードタイム(決算比)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年1回・後追い(数ヶ月)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有報リハーサル完了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同時開示・定常化(1/7短縮)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有報向け開示フロー整備率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未構築(0%)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100%(リハーサル)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100%(本番)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第三者保証に耐える統制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証憑紐付率(定量データ)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拠点PCに散在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承認ワークフロー通過率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承認行為なし(0%)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監査指摘件数(全体+サイト)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104件(2026年)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半減(≦50件)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≦20件・定常最小化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データ品質・実測性の向上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Scope3一次データ比率(金額ベース)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二次データ(推計)中心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30%(例示)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50%(例示)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自動連携によるデータ取得率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手入力・手動抽出中心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70%(例示)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90%(例示)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業務効率(インプット極小化)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集計業務工数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Excel集計に忙殺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▲40%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▲60%(年数千万円規模)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属人ツール(R言語等)依存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5A5F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経営会議資料が属人出力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代替稼働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廃止完了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目標値はすべて例示。Phase 0(要求定義)でベースライン計測とともに確定し、経営承認を得る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KGI/KPI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KGI/KPI体系② 攻め ― 非財務が財務に跳ね返るテーマ別目標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各テーマのKGIを「アウトカム(社会・環境)」と「財務接続」の対で設定し、柳モデル型の統計検証で因果を毎年更新する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063240"/>
                <a:gridCol w="3108960"/>
                <a:gridCol w="36850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テーマ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KGI(例示)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主要KPI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財務への跳ね返り(計測方法)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T1 オーラルヘルス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習慣づくり貢献人口の拡大/健康インパクト貨幣換算額の公表開始(2029)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適正歯みがき習慣者数・啓発リーチ×行動変容率・予防歯科関連売上構成比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予防歯科市場の拡大×シェア・単価/B2B2C事業創出(貢献人口×医療費削減単価で換算)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T2 水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節水貢献量(百万m3/年)の拡大/使用時CO2削減量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節水型製品売上構成比・水ストレス地域取水削減率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節水訴求による選好・シェア向上/Scope3 Cat11削減(=開示KPI改善と同時達成)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T3 気候・脱炭素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主要SKUのCFP算定100%(2029)/SBT整合の削減進捗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Scope1/2/3排出量・一次データ比率・CFP回答SLA(5営業日)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CFP対応による受注維持・拡大額/炭素税影響の回避額(シナリオ試算)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T4 資源循環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詰替・付替率の維持向上/再生材使用率の向上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プラ原単位・回収スキーム参加店舗数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材料・EPR規制対応コストの低減/流通・消費者評価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T5 人的資本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エンゲージメント向上/健康経営指標の改善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歯科健診受診率・女性管理職比率・人的資本ROI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利益率への遅延効果を柳モデル型回帰で毎年検証しIR開示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T6 ガバナンス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非財務KPIの役員報酬連動の本格運用(2030)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報酬連動KPI達成率・保証取得範囲・サス議題比率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ガバナンス評価向上・アクティビスト対抗力→資本コスト低減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統合(全社)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PBR・資本コストの改善/ESG評価(CDP等)の向上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ヘルス/グリーン売上構成比・成長率(ユニリーバ方式)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非財務KPI×PBRの遅延相関を統計検証し、価値創造ストーリーとして統合報告の中核に</a:t>
                      </a:r>
                      <a:endParaRPr lang="en-US" sz="87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KGI目標値(人数・数量・金額)は例示であり、換算単価は外部監修を経てマスタ登録。算定メソドロジーを文書化・版管理し監査可能性を担保する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実現アプローチ ― 5フェーズ×両輪並行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経営戦略→責任・権限→KPI→管理プロセス→業務・システム基盤の基本アプローチを、時間制約下で並行推進する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8A93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現状把握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(As-Is)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1488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収集経路・証憑保管・係数/外部DB・承認フロー・監査指摘の棚卸し(実施済み: As-Is詳細フロー)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 rot="5400000">
            <a:off x="2610612" y="1435608"/>
            <a:ext cx="128016" cy="146304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10" name="Text 8"/>
          <p:cNvSpPr/>
          <p:nvPr/>
        </p:nvSpPr>
        <p:spPr>
          <a:xfrm>
            <a:off x="2747772" y="1234440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8A93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要求定義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(To-Be)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7772" y="1920240"/>
            <a:ext cx="21488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2839212" y="201168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業務要件(データガバナンス・統制ルール)→機能要件(WF・証憑・算定)→システム要件(連携・拡張性)の3階層で定義(実施済み: 要求整理)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 rot="5400000">
            <a:off x="4901184" y="1435608"/>
            <a:ext cx="128016" cy="146304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14" name="Text 12"/>
          <p:cNvSpPr/>
          <p:nvPr/>
        </p:nvSpPr>
        <p:spPr>
          <a:xfrm>
            <a:off x="5038344" y="1234440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ベンダー選定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(RFP)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38344" y="1920240"/>
            <a:ext cx="21488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9784" y="201168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機能要件回答書を含むRFP発出、Fit&amp;Gap審査・実機デモ検証(WF・係数一括更新・証跡)、契約(エクスポート権・SLA明記)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 rot="5400000">
            <a:off x="7191756" y="1435608"/>
            <a:ext cx="128016" cy="146304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18" name="Text 16"/>
          <p:cNvSpPr/>
          <p:nvPr/>
        </p:nvSpPr>
        <p:spPr>
          <a:xfrm>
            <a:off x="7328916" y="1234440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開発・導入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28916" y="1920240"/>
            <a:ext cx="21488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7420356" y="201168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組織マスタ・算定ロジック・権限の設定、単体/総合テスト(親会社展開→子会社入力承認→集計の一連検証)、データ移行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 rot="5400000">
            <a:off x="9482328" y="1435608"/>
            <a:ext cx="128016" cy="146304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22" name="Text 20"/>
          <p:cNvSpPr/>
          <p:nvPr/>
        </p:nvSpPr>
        <p:spPr>
          <a:xfrm>
            <a:off x="9619488" y="1234440"/>
            <a:ext cx="2148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運用・定着化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19488" y="1920240"/>
            <a:ext cx="21488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9710928" y="201168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国内外向けマニュアル・研修、実データ収集・監査法人レビュー(証憑・監査証跡の提示)、SSBJ開示の実行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11274552" cy="1143000"/>
          </a:xfrm>
          <a:prstGeom prst="roundRect">
            <a:avLst>
              <a:gd name="adj" fmla="val 4800"/>
            </a:avLst>
          </a:prstGeom>
          <a:solidFill>
            <a:srgbClr val="FBECE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23360"/>
            <a:ext cx="10835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本プロジェクトの特殊前提(両輪駆動と手戻りリスクの許容):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年3月期開示から逆算すると2028年1月からの活動量データを本番システムで集計する必要があり、2027年中の導入完遂が必須。「戦略・方針の骨子確定を待ってから要件定義」では間に合わないため、サステナ戦略策定とシステム導入を両輪で同時に動かす。仕様変更・手戻りのリスクを織り込んだ上で、四半期ごとのFit&amp;Gap同期で破綻を防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34924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アプローチを踏まない場合の典型的失敗(回避すべきアンチパターン)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852160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評価軸なきベンダー選定 → 営業トークに依存し片手落ちシステムを契約、追加費用が膨張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297680" y="5852160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As-Isのままシステム化 → 非効率なExcel業務をデジタル化しただけで、現場・監査からNG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138160" y="5852160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拡張性の欠如 → SSBJ基準改定のたびにベンダー改修・手動対応でランニングコスト雪だるま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To-Beオペレーション ― 収集から開示・活用までの標準業務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全工程で「省力化(自動化)」と「統制(証跡)」を両立し、事務局を作業から分析へシフトさせる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0"/>
                <a:gridCol w="2926080"/>
                <a:gridCol w="29535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To-Be標準オペレーション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実装する統制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省力化の仕掛け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データ収集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API連携(SAP・人事・電力データ)+AI-OCR(請求書)+拠点入力(多言語UI)+サプライヤーポータル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証憑添付の必須化(添付なしは承認ブロック)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自動取込率90%(例示)・自動督促でメール往復根絶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統合・算定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ISO/GHGプロトコル準拠の自動算定、係数自動更新・一括再計算、単位・通貨自動換算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係数マスタの版管理・適用ログ、按分ルールの文書化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係数更新の手作業廃止、異常値自動検知・理由照会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承認・確定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拠点→地域→本社→CSOの多段階WF、四半期締め・確定ロック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変更履歴(前後値・理由・実施者)、ロック解除は承認+ログ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進捗リアルタイム可視化、差戻しの構造化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開示・報告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有報(XBRL)・CDP・温対法等を定型出力、AIによる開示ドラフト生成、財務との整合チェック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開示値→算定→証憑への完全リネージ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開示リードタイム1/7、複数フレームワークへ同一データから出力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⑤ 監査対応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監査法人専用アカウントで証跡を直接閲覧、指摘管理をシステム化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オーディットトレイルの一括抽出・サンプリング支援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証拠探しゼロ化、監査対応工数・費用の大幅削減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⑥ 経営活用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月次ダッシュボード・KPIツリー、AI予測・ギャップ分析、CFP即応、貨幣換算・統計検証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経営会議パッケージの自動生成(属人R言語ツール代替)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事務局の工数を「収集」から「分析・戦略」へ再配分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グローバル対応: 多言語・多通貨・現地係数・現地会計期間に対応し、海外法人も同一統制に載せる(単位・通貨バラバラ問題の根絶)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マスタースケジュール 2026-2030 ― 2027年中稼働がクリティカルパス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戦略(方針策定)とシステム(基盤構築)を両輪で進め、2028年データ本番、2029年3月期の有報同時開示へ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0" y="1280160"/>
            <a:ext cx="987963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2026下期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76883" y="1280160"/>
            <a:ext cx="2156475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54023" y="1691640"/>
            <a:ext cx="0" cy="4572000"/>
          </a:xfrm>
          <a:prstGeom prst="line">
            <a:avLst/>
          </a:prstGeom>
          <a:noFill/>
          <a:ln w="9525">
            <a:solidFill>
              <a:srgbClr val="E3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79079" y="1280160"/>
            <a:ext cx="2156475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56219" y="1691640"/>
            <a:ext cx="0" cy="4572000"/>
          </a:xfrm>
          <a:prstGeom prst="line">
            <a:avLst/>
          </a:prstGeom>
          <a:noFill/>
          <a:ln w="9525">
            <a:solidFill>
              <a:srgbClr val="E3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1274" y="1280160"/>
            <a:ext cx="2156475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8414" y="1691640"/>
            <a:ext cx="0" cy="4572000"/>
          </a:xfrm>
          <a:prstGeom prst="line">
            <a:avLst/>
          </a:prstGeom>
          <a:noFill/>
          <a:ln w="9525">
            <a:solidFill>
              <a:srgbClr val="E3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83469" y="1280160"/>
            <a:ext cx="1302563" cy="347472"/>
          </a:xfrm>
          <a:prstGeom prst="roundRect">
            <a:avLst>
              <a:gd name="adj" fmla="val 13158"/>
            </a:avLst>
          </a:prstGeom>
          <a:solidFill>
            <a:srgbClr val="8A93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360609" y="1691640"/>
            <a:ext cx="0" cy="4572000"/>
          </a:xfrm>
          <a:prstGeom prst="line">
            <a:avLst/>
          </a:prstGeom>
          <a:noFill/>
          <a:ln w="9525">
            <a:solidFill>
              <a:srgbClr val="E3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戦略・方針(両輪)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350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データ基盤(守り)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4838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攻め機能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050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運用・保証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開示マイルストーン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1783080"/>
            <a:ext cx="2516795" cy="45720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1783080"/>
            <a:ext cx="2425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新マテリアリティ評価・シナリオ定義・因果パス/KGI設定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068964" y="1783080"/>
            <a:ext cx="2247138" cy="45720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/>
        </p:spPr>
      </p:sp>
      <p:sp>
        <p:nvSpPr>
          <p:cNvPr id="23" name="Text 21"/>
          <p:cNvSpPr/>
          <p:nvPr/>
        </p:nvSpPr>
        <p:spPr>
          <a:xfrm>
            <a:off x="6114684" y="178308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財務影響評価・目標指標・移行計画の文書化/各国合意形成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582183" y="1874520"/>
            <a:ext cx="164592" cy="164592"/>
          </a:xfrm>
          <a:prstGeom prst="diamond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4932959" y="2057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骨子確定・方針発表(27年末)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0" y="2350008"/>
            <a:ext cx="1033683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2350008"/>
            <a:ext cx="942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要求定義・RFP・ベンダー選定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776883" y="2350008"/>
            <a:ext cx="1483111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3822603" y="2350008"/>
            <a:ext cx="13916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基盤構築・設定(1〜3Q)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259995" y="2350008"/>
            <a:ext cx="719084" cy="45720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5305715" y="2350008"/>
            <a:ext cx="627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連携・移行・検証(4Q)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5979079" y="2916936"/>
            <a:ext cx="2202195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024799" y="2916936"/>
            <a:ext cx="2110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本番集計期(2028年1〜12月データ)・月次運用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896783" y="4709160"/>
            <a:ext cx="164592" cy="164592"/>
          </a:xfrm>
          <a:prstGeom prst="diamond">
            <a:avLst/>
          </a:prstGeom>
          <a:solidFill>
            <a:srgbClr val="C8102E"/>
          </a:solidFill>
          <a:ln/>
        </p:spPr>
      </p:sp>
      <p:sp>
        <p:nvSpPr>
          <p:cNvPr id="35" name="Text 33"/>
          <p:cNvSpPr/>
          <p:nvPr/>
        </p:nvSpPr>
        <p:spPr>
          <a:xfrm>
            <a:off x="5247559" y="4892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2027年中 稼働完遂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76883" y="3483864"/>
            <a:ext cx="2202195" cy="457200"/>
          </a:xfrm>
          <a:prstGeom prst="roundRect">
            <a:avLst>
              <a:gd name="adj" fmla="val 10000"/>
            </a:avLst>
          </a:prstGeom>
          <a:solidFill>
            <a:srgbClr val="FBECEE"/>
          </a:solidFill>
          <a:ln/>
        </p:spPr>
      </p:sp>
      <p:sp>
        <p:nvSpPr>
          <p:cNvPr id="37" name="Text 35"/>
          <p:cNvSpPr/>
          <p:nvPr/>
        </p:nvSpPr>
        <p:spPr>
          <a:xfrm>
            <a:off x="3822603" y="3483864"/>
            <a:ext cx="2110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ダッシュボード・KPIツリー・使用時(Cat11)算定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979079" y="3483864"/>
            <a:ext cx="2202195" cy="457200"/>
          </a:xfrm>
          <a:prstGeom prst="roundRect">
            <a:avLst>
              <a:gd name="adj" fmla="val 10000"/>
            </a:avLst>
          </a:prstGeom>
          <a:solidFill>
            <a:srgbClr val="FBECEE"/>
          </a:solidFill>
          <a:ln/>
        </p:spPr>
      </p:sp>
      <p:sp>
        <p:nvSpPr>
          <p:cNvPr id="39" name="Text 37"/>
          <p:cNvSpPr/>
          <p:nvPr/>
        </p:nvSpPr>
        <p:spPr>
          <a:xfrm>
            <a:off x="6024799" y="3483864"/>
            <a:ext cx="2110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AI予測・シナリオ試算・CFP即応・ヘルス/グリーン売上管理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8181274" y="3483864"/>
            <a:ext cx="3550478" cy="457200"/>
          </a:xfrm>
          <a:prstGeom prst="roundRect">
            <a:avLst>
              <a:gd name="adj" fmla="val 10000"/>
            </a:avLst>
          </a:prstGeom>
          <a:solidFill>
            <a:srgbClr val="FBECEE"/>
          </a:solidFill>
          <a:ln/>
        </p:spPr>
      </p:sp>
      <p:sp>
        <p:nvSpPr>
          <p:cNvPr id="41" name="Text 39"/>
          <p:cNvSpPr/>
          <p:nvPr/>
        </p:nvSpPr>
        <p:spPr>
          <a:xfrm>
            <a:off x="8226994" y="3483864"/>
            <a:ext cx="34590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貨幣換算開示・柳モデルIR・報酬連動→インパクト会計定着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945395" y="4050792"/>
            <a:ext cx="1572997" cy="45720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/>
        </p:spPr>
      </p:sp>
      <p:sp>
        <p:nvSpPr>
          <p:cNvPr id="43" name="Text 41"/>
          <p:cNvSpPr/>
          <p:nvPr/>
        </p:nvSpPr>
        <p:spPr>
          <a:xfrm>
            <a:off x="4991115" y="4050792"/>
            <a:ext cx="14815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教育・マニュアル・研修(国内外)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6518392" y="4050792"/>
            <a:ext cx="3865077" cy="45720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/>
        </p:spPr>
      </p:sp>
      <p:sp>
        <p:nvSpPr>
          <p:cNvPr id="45" name="Text 43"/>
          <p:cNvSpPr/>
          <p:nvPr/>
        </p:nvSpPr>
        <p:spPr>
          <a:xfrm>
            <a:off x="6564112" y="4050792"/>
            <a:ext cx="3773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監査法人レビュー・保証対応・指摘対応の定常化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233806" y="4709160"/>
            <a:ext cx="164592" cy="164592"/>
          </a:xfrm>
          <a:prstGeom prst="diamond">
            <a:avLst/>
          </a:prstGeom>
          <a:solidFill>
            <a:srgbClr val="C8102E"/>
          </a:solidFill>
          <a:ln/>
        </p:spPr>
      </p:sp>
      <p:sp>
        <p:nvSpPr>
          <p:cNvPr id="47" name="Text 45"/>
          <p:cNvSpPr/>
          <p:nvPr/>
        </p:nvSpPr>
        <p:spPr>
          <a:xfrm>
            <a:off x="7584582" y="4892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有報同時開示(29/3期)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525887" y="4709160"/>
            <a:ext cx="164592" cy="164592"/>
          </a:xfrm>
          <a:prstGeom prst="diamond">
            <a:avLst/>
          </a:prstGeom>
          <a:solidFill>
            <a:srgbClr val="C8102E"/>
          </a:solidFill>
          <a:ln/>
        </p:spPr>
      </p:sp>
      <p:sp>
        <p:nvSpPr>
          <p:cNvPr id="49" name="Text 47"/>
          <p:cNvSpPr/>
          <p:nvPr/>
        </p:nvSpPr>
        <p:spPr>
          <a:xfrm>
            <a:off x="9876663" y="4892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義務化本番(2030)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557784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EEF3FB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5641848"/>
            <a:ext cx="10835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逆算ロジック: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2029年3月期開示 ⇐ 2028年1〜12月データを本番システムで集計 ⇐ 2027年中に導入完遂(テスト・移行含む) ⇐ 2026年内にRFP発出・ベンダー決定。方針発表(27年末)を待つと間に合わないため両輪並行とし、手戻りリスクは二層設計で吸収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推進体制 ― 意思決定・PJT管理・実務実行の3階層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サス協議会(半期)・進捗報告会(月1)でガバナンスし、5つの実務領域(PL)が専門性を分担する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02736" cy="777240"/>
          </a:xfrm>
          <a:prstGeom prst="roundRect">
            <a:avLst>
              <a:gd name="adj" fmla="val 7059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7830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プロジェクトオーナー(執行役員)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PJT最終責任・意思決定とリソース配分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02736" cy="777240"/>
          </a:xfrm>
          <a:prstGeom prst="roundRect">
            <a:avLst>
              <a:gd name="adj" fmla="val 7059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4425696" y="17830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推進責任者(ESG企画室長)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開示の中身(専門性・要件定義)を保証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602736" cy="777240"/>
          </a:xfrm>
          <a:prstGeom prst="roundRect">
            <a:avLst>
              <a:gd name="adj" fmla="val 7059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178308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サス協議会(半期1回)+進捗報告会(月1回)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協議会メンバー+関係執行役員への報告・審議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プロジェクト管理(PM/PMO: 経営企画・デジタル戦略+外部パートナー)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602736" cy="731520"/>
          </a:xfrm>
          <a:prstGeom prst="roundRect">
            <a:avLst>
              <a:gd name="adj" fmla="val 7500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3246120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実行計画の管理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スケジュール・予算・品質・リスクの統合管理、計画完遂の指揮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3200400"/>
            <a:ext cx="3602736" cy="731520"/>
          </a:xfrm>
          <a:prstGeom prst="roundRect">
            <a:avLst>
              <a:gd name="adj" fmla="val 7500"/>
            </a:avLst>
          </a:prstGeom>
          <a:solidFill>
            <a:srgbClr val="F4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25696" y="3246120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課題解決の推進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課題の集約・分析、意思決定層への迅速な報告と対策案提示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3200400"/>
            <a:ext cx="3602736" cy="731520"/>
          </a:xfrm>
          <a:prstGeom prst="roundRect">
            <a:avLst>
              <a:gd name="adj" fmla="val 7500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3246120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多角的な連携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各部門・外部パートナー間コミュニケーションの構造化・最適化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実務実行層(PL5領域)+外部ベンダー(選定後)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2157984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681728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ESG(事務局)
</a:t>
            </a:r>
            <a:pPr indent="0" marL="0">
              <a:lnSpc>
                <a:spcPct val="113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SSBJ基準解釈・開示戦略・Scope3カテゴリ定義・サプライヤー連携の主導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52344" y="4617720"/>
            <a:ext cx="2157984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24" name="Text 22"/>
          <p:cNvSpPr/>
          <p:nvPr/>
        </p:nvSpPr>
        <p:spPr>
          <a:xfrm>
            <a:off x="2862072" y="4681728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国内対応
</a:t>
            </a:r>
            <a:pPr indent="0" marL="0">
              <a:lnSpc>
                <a:spcPct val="113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国内拠点の一次データ入力・承認、削減施策推進、証憑のデジタル紐付け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47488" y="4617720"/>
            <a:ext cx="2157984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26" name="Text 24"/>
          <p:cNvSpPr/>
          <p:nvPr/>
        </p:nvSpPr>
        <p:spPr>
          <a:xfrm>
            <a:off x="5157216" y="4681728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海外対応
</a:t>
            </a:r>
            <a:pPr indent="0" marL="0">
              <a:lnSpc>
                <a:spcPct val="113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海外拠点のデータ収集・承認、多言語・多通貨での報告、現地監査対応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42632" y="4617720"/>
            <a:ext cx="2157984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4681728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経理
</a:t>
            </a:r>
            <a:pPr indent="0" marL="0">
              <a:lnSpc>
                <a:spcPct val="113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有報での財務・非財務同時開示の実現、整合性検証、財務的影響の試算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37776" y="4617720"/>
            <a:ext cx="2157984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30" name="Text 28"/>
          <p:cNvSpPr/>
          <p:nvPr/>
        </p:nvSpPr>
        <p:spPr>
          <a:xfrm>
            <a:off x="9747504" y="4681728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システム対応
</a:t>
            </a:r>
            <a:pPr indent="0" marL="0">
              <a:lnSpc>
                <a:spcPct val="113000"/>
              </a:lnSpc>
              <a:buNone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PF導入・データ自動収集・内部統制実装・AI予測/シミュレーション実装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運営ルール: 報告はサス協議会(半期)・進捗報告会(月1)で実施し関連部門へ共有。攻めテーマの追加に伴い、R&amp;D(研究所)・マーケティング・人事・IRの各部門をPhase 2以降で体制に組み込む(点線参加→正式参加)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much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投資対効果(ROI) ― 義務対応の必須投資であり、価値を生む攻めの投資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導入コストは、義務化対応遅延のレピュテーションリスクと人海戦術のコスト膨張に比べ十分に合理的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投資(コスト構造)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5F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828800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初期(2026-27)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PF導入・環境構築・マスタ設定/データ移行・テスト/教育・マニュアル/外部支援(PMO・要件定義)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5F8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3200400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継続(2028〜)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SaaS利用料(アカウント・拠点数)/係数DB(IDEA/IEA)ライセンス/保守・制度改定対応/保証取得費用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49884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4572000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留意点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アカウント追加・係数更新・改修の追加費用構造をRFPで精査し、総保有コスト(TCO)で比較する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897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金額はベンダー提案(RFP)で確定。概算見積の跳ね上がり防止のため要件を先に確定済み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15968" y="1207008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守りのROI(定量: コスト・工数)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15968" y="1755648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4443984" y="182880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集計業務工数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▲40〜60%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人件費換算で年間数千万円規模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5968" y="278892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/>
        </p:spPr>
      </p:sp>
      <p:sp>
        <p:nvSpPr>
          <p:cNvPr id="19" name="Text 17"/>
          <p:cNvSpPr/>
          <p:nvPr/>
        </p:nvSpPr>
        <p:spPr>
          <a:xfrm>
            <a:off x="4443984" y="286207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開示リードタイム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035040" y="286207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1/7に短縮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SSBJ義務化へ完全対応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15968" y="3822192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/>
        </p:spPr>
      </p:sp>
      <p:sp>
        <p:nvSpPr>
          <p:cNvPr id="22" name="Text 20"/>
          <p:cNvSpPr/>
          <p:nvPr/>
        </p:nvSpPr>
        <p:spPr>
          <a:xfrm>
            <a:off x="4443984" y="3895344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監査対応コスト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035040" y="389534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大幅抑制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証憑即時提示で監査工数・費用削減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5968" y="4855464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4443984" y="492861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制度追随コスト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035040" y="492861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自動反映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係数・基準更新の外注/手作業を削減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74736" y="1207008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攻めのROI(定性: 企業価値・リスク回避)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74736" y="175564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29" name="Text 27"/>
          <p:cNvSpPr/>
          <p:nvPr/>
        </p:nvSpPr>
        <p:spPr>
          <a:xfrm>
            <a:off x="8302752" y="1828800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企業価値の向上
</a:t>
            </a:r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データ信頼性・適時開示でグリーンウォッシュ懸念を払拭。ESG投資の呼び込みと資本コスト低減(株価プレミアム・PBR向上)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74736" y="312724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200400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事業リスクの回避
</a:t>
            </a:r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CFP要請への即応で受注シェア維持・拡大。開示遅延・不正確開示による信頼失墜リスクを未然防止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74736" y="449884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BECEE"/>
          </a:solidFill>
          <a:ln/>
        </p:spPr>
      </p:sp>
      <p:sp>
        <p:nvSpPr>
          <p:cNvPr id="33" name="Text 31"/>
          <p:cNvSpPr/>
          <p:nvPr/>
        </p:nvSpPr>
        <p:spPr>
          <a:xfrm>
            <a:off x="8302752" y="4572000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人材・資金調達
</a:t>
            </a:r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取り組みがデータで証明され、採用競争力と融資時の加点評価に寄与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15968" y="5897880"/>
            <a:ext cx="7424928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498848" y="59436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結論: 本投資は「回避コスト(守り)」と「創出価値(攻め)」の双方で回収する。攻めのKGI(貨幣換算・PBR接続)により投資対効果を毎年可視化する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リスクと対応 ― 「5つの難所」への先回り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構築〜運用の難所を事前に特定し、対応策を要件・体制・契約に織り込み済み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50566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難所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何が起きるか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対応策(織り込み先)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ルールの策定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(算定・開示要件の定義)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複雑な基準の解釈、組織境界・S3カテゴリの線引き、独自係数の定義に時間を要す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監査法人との事前協議(BR-D-04)、Scope3重要性評価の年次プロセス化(BR-D-02)、係数マスタの版管理(FR-D-10〜12)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データ収集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(所在特定と入手)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証憑・メーター値の散在、サプライヤー一次データの入手コスト、海外拠点の単位・通貨不統一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API/AI-OCR自動収集(FR-D-03/04)、サプライヤーポータルと支出上位からの段階展開(BR-D-08)、多通貨・現地係数対応(SR-13)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ロジック実装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(使える情報への変換)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単位・定義の不一致、証跡紐付けの負荷、異常値の往復照会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単位自動換算(FR-D-12)、証憑添付必須化+承認ブロック(FR-D-05)、異常値自動検知・理由入力(FR-D-08)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内部統制と承認フロー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多段階承認の形骸化、ブラックボックスExcel/マクロの残存、監査検証不能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会社間・複数階層WF(FR-D-15)、R言語等属人ツールの計画的廃止(BR-D-15)、監査法人専用アカウント(FR-D-20)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⑤ 可視化と活用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(開示で終わらせない)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月次サイクル化の失敗、将来予測・財務インパクト試算が構築できず「後追い報告」に逆戻り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月次収集カレンダー(BR-D-03)、AI予測・シナリオ機能(FR-O-03/04)、KPIの経営会議定型アジェンダ化(BR-O-02)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57800"/>
            <a:ext cx="11274552" cy="118872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349240"/>
            <a:ext cx="10835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PJT全体リスク: 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①戦略未確定×システム先行の手戻り → 二層設計と四半期Fit&amp;Gap同期で吸収 ②現場の入力負荷 → 「入力を減らす」自動化優先と現地語教育 ③ベンダーロックイン → データエクスポート権・ノーコード設定を評価軸と契約に明記 ④健康アウトカムの因果立証 → 社内実証(T5)先行と外部監修・共同実証で段階的に強化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ご承認いただきたい事項と直近アクション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417320" y="7132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本構想書の承認をもってPhase 0(要求定義・ベンダー選定)を正式開始し、2026年内のベンダー決定につなげる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ご承認いただきたい事項(本日)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486400" cy="804672"/>
          </a:xfrm>
          <a:prstGeom prst="roundRect">
            <a:avLst>
              <a:gd name="adj" fmla="val 6818"/>
            </a:avLst>
          </a:prstGeom>
          <a:solidFill>
            <a:srgbClr val="FBECEE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837944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構想の承認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守り×攻め同時達成の目的・基本方針(同一基盤・二層設計・両輪並行)・スコープ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00" cy="804672"/>
          </a:xfrm>
          <a:prstGeom prst="roundRect">
            <a:avLst>
              <a:gd name="adj" fmla="val 6818"/>
            </a:avLst>
          </a:prstGeom>
          <a:solidFill>
            <a:srgbClr val="FBECEE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2752344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スケジュールの承認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2027年中稼働・2029年3月期有報同時開示(先行対応)をマイルストーンとするマスタースケジュール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00" cy="804672"/>
          </a:xfrm>
          <a:prstGeom prst="roundRect">
            <a:avLst>
              <a:gd name="adj" fmla="val 6818"/>
            </a:avLst>
          </a:prstGeom>
          <a:solidFill>
            <a:srgbClr val="FBECE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3666744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体制・予算枠の承認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3階層PJT体制の発足、Phase 0(RFP・ベンダー選定)の推進予算、外部パートナー起用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5486400" cy="804672"/>
          </a:xfrm>
          <a:prstGeom prst="roundRect">
            <a:avLst>
              <a:gd name="adj" fmla="val 6818"/>
            </a:avLst>
          </a:prstGeom>
          <a:solidFill>
            <a:srgbClr val="FBECE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4581144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KGI/KPI枠組みの承認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守り/攻めのKGI体系(目標値はPhase 0でベースライン計測後に確定)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123444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直近3ヶ月のアクション(Phase 0)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5204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アクション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主担当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〜8月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要求整理の最終化(現場ヒアリングで裏取り)・KGIベースライン計測開始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ESG・PMO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〜8月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監査法人との証憑・変更履歴運用の事前協議開始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経理・ESG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RFP発出(機能要件回答書・非機能要件書・段階導入ロードマップ同梱)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PMO・デジ戦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10-11月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提案評価・実機デモ検証(WF・係数一括更新・監査証跡)・Fit&amp;Gap審査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全PL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ベンダー決定・契約(エクスポート権・SLA・追加費用構造を明記)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オーナー決裁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並行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攻めテーマ(T1〜T6)ロジックモデル初版の経営審議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ESG・経企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553212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596128"/>
            <a:ext cx="10744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構想は「守り(2029年有報同時開示・第三者保証)」を確実に達成しながら、集めたデータを「攻め(オーラルヘルス・節水等の非財務価値の財務化)」へ転換する当社の企業価値向上戦略そのものである。2026年内のベンダー決定に向け、本日のご承認をお願いした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2026-07-21T13:26:11Z</dcterms:created>
  <dcterms:modified xsi:type="dcterms:W3CDTF">2026-07-21T13:26:11Z</dcterms:modified>
</cp:coreProperties>
</file>