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削減設問リスク一覧（専門家レビュー版）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v1.1パイロット回答を受けた60件の削除判断を再検証し、削除に同意した項目と要注意項目を区分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2834640"/>
          </a:xfrm>
          <a:prstGeom prst="roundRect">
            <a:avLst>
              <a:gd name="adj" fmla="val 2581"/>
            </a:avLst>
          </a:prstGeom>
          <a:solidFill>
            <a:srgbClr val="2233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697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レビューの考え方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154680"/>
            <a:ext cx="9966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■"/>
            </a:pPr>
            <a:r>
              <a:rPr lang="en-US" sz="1200" dirty="0">
                <a:solidFill>
                  <a:srgbClr val="E6EC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南（デジ戦）がv1.1パイロット回答（ESG企画室・海外BU川端氏）を受けて「拠点への設問として不要」と判断した60件を、プロの戦略コンサルタント・システムコンサルタントの視点で再検証しました。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■"/>
            </a:pPr>
            <a:r>
              <a:rPr lang="en-US" sz="1200" dirty="0">
                <a:solidFill>
                  <a:srgbClr val="E6EC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削除理由が妥当で、リスクが軽微または別の仕組みで担保されている37件は【削除に同意】とし、以後のリスク一覧からは外しています。</a:t>
            </a:r>
            <a:endParaRPr lang="en-US" sz="1200" dirty="0"/>
          </a:p>
          <a:p>
            <a:pPr marL="177800" indent="-177800">
              <a:lnSpc>
                <a:spcPct val="120000"/>
              </a:lnSpc>
              <a:buSzPct val="100000"/>
              <a:buChar char="■"/>
            </a:pPr>
            <a:r>
              <a:rPr lang="en-US" sz="1200" dirty="0">
                <a:solidFill>
                  <a:srgbClr val="E6EC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削除理由に論理的な誤り・対応不足がある、または理由自体は妥当でもシステム導入・コンプライアンス上のリスクが残る23件を【要注意】として、拠点配布前の再確認を推奨します。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7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/ デジタル戦略部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120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60件をレビューし、削除に同意した項目と要注意項目を区分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09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 v1.1 ｜専門家レビュー版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02920" y="13716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60件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574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レビュー対象（重複統合等4件は除く）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51960" y="123444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2EFDA"/>
          </a:solidFill>
          <a:ln/>
          <a:effectLst>
            <a:outerShdw sx="100000" sy="100000" kx="0" ky="0" algn="bl" rotWithShape="0" blurRad="76200" dist="25400" dir="5400000">
              <a:srgbClr val="9AA7BC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251960" y="13716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37件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0574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削除に同意（理由妥当・リスク軽微）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01000" y="123444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8CBAD"/>
          </a:solidFill>
          <a:ln/>
          <a:effectLst>
            <a:outerShdw sx="100000" sy="100000" kx="0" ky="0" algn="bl" rotWithShape="0" blurRad="76200" dist="25400" dir="5400000">
              <a:srgbClr val="9AA7BC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01000" y="13716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3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23件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0574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要注意（理由不十分または残存リスク）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要注意23件の内訳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47472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F5F8F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35478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理由不十分・誤り（7件）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85876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設問と回答が対応していない、質問対象を誤っている等、削除の論理自体に問題がある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452628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F5F8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5994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理由は妥当だがリスク残存（16件）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491032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判断の方向性は妥当だが、パイロット2件のみでの一般化・コンプライアンス上の懸念等が残る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8000"/>
            </a:avLst>
          </a:prstGeom>
          <a:solidFill>
            <a:srgbClr val="EAF1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71500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以降のページで、要注意23件を影響度とともに一覧します。削除に同意した37件は付録として末尾に一覧を掲載しています。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750040" y="6537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要注意（1/3）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120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理由不十分・誤りの可能性がある項目を中心に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09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 v1.1 ｜専門家レビュー版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1154887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331720"/>
                <a:gridCol w="2743200"/>
                <a:gridCol w="1417320"/>
                <a:gridCol w="3730752"/>
                <a:gridCol w="640080"/>
              </a:tblGrid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元の設問（要旨）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南氏の削除理由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レビュー区分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専門家コメント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影響度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(全体・シート2)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貴拠点が報告している非財務データの項目一覧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ESG企画室が一括管理・記入し拠点配布から外す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理由不十分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ESG企画室が全拠点のローカル項目を把握しているという前提が調査目的と矛盾。最低限、本社一覧への抜け漏れ確認は残すべき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C-03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使用期間と請求期間のズレの処理方法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日割りせず請求期間のまま報告で一致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回答者自身が別項目で「水道代の請求サイクルは拠点ごとにばらつく可能性」と指摘済み。確認せず一律判断するのは危険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C-07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拠点独自の係数・ルールの使用有無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係数・ルールは本社一括管理で一致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同じ回答内で「海外はGHGプロトコル基準で温対法とは別」と記載あり。『本社一括管理』は不正確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C-14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業務システムからデータを取り出せるか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主要システムは出力可で一致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回答者は本社側の立場。34拠点のシステム連携可否をパイロット2件で代表させるのは根拠が弱い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C-22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年間で最も負荷が高い月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1〜3月がピークで一致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国内決算スケジュール前提の可能性が高く、決算月が異なる海外拠点には当てはまらないおそれ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C-26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推計・概算で報告している割合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按分は小田原研究所の外部テナントに限られると把握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理由不十分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回答内容は「按分」（C-25の話）で、C-26が問う推計割合には未回答。設問と回答が対応していない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C-28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証憑が個人PC・メールにしかないか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実態を把握できたため削除（具体事例で対応）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把握できたのは2つの具体事例のみ。他拠点の同様の記録の有無は未確認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C-35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工場・現場のPC・ネットワーク環境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全拠点でPC使用・入力可能で一致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回答者が現場のネットワーク環境を直接把握しているか不明。海外工場の制限は既知の懸念点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750040" y="6537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要注意（2/3）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120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理由は妥当でもリスクが残る項目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09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 v1.1 ｜専門家レビュー版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1154887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331720"/>
                <a:gridCol w="2743200"/>
                <a:gridCol w="1417320"/>
                <a:gridCol w="3730752"/>
                <a:gridCol w="640080"/>
              </a:tblGrid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元の設問（要旨）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南氏の削除理由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レビュー区分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専門家コメント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影響度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10-01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開示範囲の解釈に迷うか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ESG企画室の回答で代替できるため不要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理由不十分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現場の解釈の迷いを、送り手である本社の自己評価で代替する論理が成立しない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10-02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本社ルール変更の伝達の時差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ESG企画室の回答で代替できるため不要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理由不十分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10-01と同様。送り手の自己評価では受け手側の実態を代替できない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外部からのデータ入手の遅れ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頻度：稀／影響度：大という評価を前提に設計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評価は請求データ（電気・ガス等）を想定。Scope3の委託先データ等には当てはまらない可能性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H3-04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入力タイミング（月初何営業日目か）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月次リマインドは不要という前提で設計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理由不十分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南氏自身が『本設問は要否でなく強度を決めるもの』と説明済み。要否のみでの判断は目的とズレる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H3-05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締切に間に合わない月の有無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水道の請求サイクルを締切設計の前提に反映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特定拠点の知見のみ。他拠点（海外・異なる契約形態）の請求パターンは未確認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H3-08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組織変更時のデータ連続性の担保方法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拠点単位の連続性は不要と判断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理由が誤りの可能性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SSBJ等の開示基準は過年度比較（ベースイヤー継続性）を規制要件として求める可能性が高く、拠点の意向では代替できない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H4-01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使用係数の名称・出典・年度版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係数は本社一括管理のため不要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C-07と同根の問題。海外拠点の独自係数の出典・版が管理から漏れるリスク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H4-07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小さな排出源の集計の網羅性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本社側でチェックリスト化して補う方針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方向性は妥当だが、本社が海外拠点の小口設備まで正確に把握できるかは未検証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750040" y="6537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要注意（3/3）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120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海外拠点固有・コンプライアンスに関わる項目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09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 v1.1 ｜専門家レビュー版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1154887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331720"/>
                <a:gridCol w="2743200"/>
                <a:gridCol w="1417320"/>
                <a:gridCol w="3730752"/>
                <a:gridCol w="640080"/>
              </a:tblGrid>
              <a:tr h="79030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元の設問（要旨）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南氏の削除理由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レビュー区分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専門家コメント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影響度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79030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H4-08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冷媒（フロン類）の充填・漏えい量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充填記録を証憑化。海外は報告対象外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根拠不明確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海外除外の根拠が不明。海外製造拠点も冷媒を使用する可能性が高く、Scope1完全性のリスク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  <a:tr h="79030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H4-09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水（取水源別・排水量）の実態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原則メーター記録、地下水は有無のみ確認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リスク残存（軽微）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妥当な簡略化だが、地下水利用が多い拠点で使用量を過小評価するおそれが残る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  <a:tr h="79030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H5-01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証憑の種類・保管場所の全量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把握できた実態で保管先の集約範囲を設計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シート2・C-28と同根。個人管理・ローカル保管の実態を全拠点的に把握できていない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79030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H6-02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異常値の定義・閾値と対応者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閾値はESG企画室の机上設定で進める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リスク残存（理由は妥当）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当初のリスク（机上設定で拠点実態を反映しない）を解消しておらず、受容している状態。初期は保守的な閾値を推奨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  <a:tr h="79030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H9-02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現地排出係数の種類と入手元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既に検証済みの係数を正とする前提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H4-01と同根。『検証済み』の対象範囲（拠点・年度）が不明確で、全海外拠点に当てはまるか未確認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3B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</a:tr>
              <a:tr h="79030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H9-05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現地事情による欠測・遅延の頻度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バングラデシュでも致命的遅延なしと判断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バングラデシュは電力・通信インフラの課題が指摘されやすい国。現場実態の把握精度に疑問が残る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H9-07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現地経営層の関与度・承認追加の実現性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承認フローとして不要と判断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リスク残存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一部の国・地域ではESGデータへの現地法定代表者の承認が法制度上求められる可能性がある（CSRD等）</a:t>
                      </a:r>
                      <a:endParaRPr lang="en-US" sz="73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5B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750040" y="6537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付録｜削除に同意した37件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120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1/2（C・10系）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09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 v1.1 ｜専門家レビュー版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115488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743200"/>
                <a:gridCol w="3291840"/>
                <a:gridCol w="4507992"/>
              </a:tblGrid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元の設問（要旨）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削除理由の要旨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同意コメント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C-01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手順書の有無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両拠点とも手順書なしで一致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仮に手順書がある拠点があっても不利益は軽微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C-09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証憑の保管形式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PDF・Excelが中心と把握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保管容量を多めに見れば対応可能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C-13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変更履歴の有無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変更履歴を必須要件として確定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機能を厚めに実装、実態違いも吸収可能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C-23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抜け漏れ・遅延の主な原因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5つの原因を要件に反映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汎用的な原因で妥当性が高い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C-27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妥当性チェック方法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標準閾値はESG企画室が設定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拠点実態に関わらず妥当な方針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C-29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証憑を探す時間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BOX運用前提で保存・検索機能を必須化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機能を厚めに実装、実態違いも問題なし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C-31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確定・ロックの概念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本社が確定・ロックを行っている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本社主導の統制で拠点実態に非依存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C-34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スマートメーター等の有無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自動計測は対象外、OCR検討へ振替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意図的なスコープ決定で機会損失は自覚済み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C-37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属人化の有無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一部属人化前提でマニュアル整備を要件化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保守的な前提で支障は小さい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10-06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抜け漏れの構造的発生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事後の早期修正で担保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リスクを別の仕組みで正面から対応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10-07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単位換算・按分の計算ミス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実績を閾値設計に反映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エビデンスに基づく設計判断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10-08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異常値照会の往復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照会機能を優先度高い要件とする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リスクを認識した上で正面から対応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10-09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再計算への不安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拠点は計算していないため本社機能として設計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C-06が引き続き生きた設問として安全網になる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8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10-11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証拠探しの負荷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国内浸透・海外未浸透を前提に反映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誤りがあっても移行見積り誤差程度で軽微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10-12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フィードバック機能の要否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費用対効果で判断する保留項目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無視でなく先送りの判断で妥当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750040" y="6537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付録｜削除に同意した37件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120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2/2（H系）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09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 v1.1 ｜専門家レビュー版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115488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743200"/>
                <a:gridCol w="3291840"/>
                <a:gridCol w="4507992"/>
              </a:tblGrid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元の設問（要旨）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削除理由の要旨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同意コメント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H3-01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手順書の形式等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システム入力マニュアル以外の手順書はない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C-01と同様、低リスク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H3-02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手順書と実態の乖離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手順の明文化を導入時タスクに含める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対応がリスクを正面から解消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H3-06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データ欠測の穴埋め方法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欠測は例外的としシステム外の補完を許容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例外処理を許容する設計判断で妥当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H3-09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複数報告間の食い違い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多目的出力を要件化、様式変更は別途調整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主要リスクは解消、CDP対応のみ先送り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H4-02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係数更新時の再計算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更新・再計算可能性を要件に反映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機能を厚めに実装する対応で妥当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H4-03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按分の管理者・根拠資料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対象一覧をESG企画室が提示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情報源の変更のみ。運用ToDoとして管理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H4-04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按分基準の見直し頻度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按分基準は年度ごとに保持する設計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保守的な設計で妥当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H4-12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製品LCA用データ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ESG企画室との事前決定待ち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意思決定プロセスを踏んだ先送りで妥当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H4-13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人事・安全データの独自解釈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本社側の指標定義の問題として整理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対応の道筋が明確で妥当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H5-02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保存年限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ESG企画室と決定のうえ要件反映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意思決定プロセスを踏んだ判断で妥当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H5-04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第三者保有証憑の入手性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請求ありは入手可、なしは推定・除外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明確な運用ルールで妥当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H5-06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過去の指摘事項の記録所在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ESG企画室の共有フォルダにあると把握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監査対応の集約業務であり妥当性が高い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H6-01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チェック記録の有無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証跡はシステム内に残す前提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機能を厚めに実装する対応で妥当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H6-03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入力ミスの流出経験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現行の修正要否確認を維持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既存の安全策を維持する保守的判断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H6-04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拠点長の関与頻度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承認者ルールは事務局で設計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トップダウンの設計方針として妥当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H6-07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内部監査・ISO審査の指摘内容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ISO監査は数値誤りを対象外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数値精度の検証は第三者保証が担う。理由は妥当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H7-03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子メーターの設置状況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拠点単位で足り部門別粒度は対象外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意図的なスコープ決定で妥当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H7-04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ITサポート体制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現地IT支援は期待せず本社支援を計画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最悪ケース前提の保守的計画で妥当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H8-01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本社照会・差し戻し件数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実績値を効果試算の基準値とする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実データに基づく判断で妥当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H8-02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業務関与人数・兼務状況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Scope1・2で3名を前提に試算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Scope3の見直しを自ら明記し妥当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H9-03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CSRD等の追加開示要求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豪州子会社分を将来要件として記録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判明事実を要件に反映し妥当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H9-06</a:t>
                      </a:r>
                      <a:endParaRPr lang="en-US" sz="78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現地委託先データの入手性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取れないデータは推定・除外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6B72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明確な運用ルールで妥当</a:t>
                      </a:r>
                      <a:endParaRPr lang="en-US" sz="76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5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750040" y="6537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120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本レビューの位置づけと今後の対応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09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As-Is調査 v1.1 ｜専門家レビュー版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846320"/>
          </a:xfrm>
          <a:prstGeom prst="roundRect">
            <a:avLst>
              <a:gd name="adj" fmla="val 1509"/>
            </a:avLst>
          </a:prstGeom>
          <a:solidFill>
            <a:srgbClr val="F5F8FD"/>
          </a:solidFill>
          <a:ln/>
          <a:effectLst>
            <a:outerShdw sx="100000" sy="100000" kx="0" ky="0" algn="bl" rotWithShape="0" blurRad="76200" dist="25400" dir="5400000">
              <a:srgbClr val="9AA7BC">
                <a:alpha val="2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508760"/>
            <a:ext cx="104241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■"/>
            </a:pPr>
            <a:r>
              <a:rPr lang="en-US" sz="12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南（デジ戦）が判断した60件の削除について、専門家の視点で再検証した結果、37件は削除に同意、23件を要注意としました。</a:t>
            </a:r>
            <a:endParaRPr lang="en-US" sz="1250" dirty="0"/>
          </a:p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■"/>
            </a:pPr>
            <a:r>
              <a:rPr lang="en-US" sz="12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要注意23件のうち7件は削除理由に論理的な誤り・対応不足があり、設問を残すか別の形で確認することを推奨します。</a:t>
            </a:r>
            <a:endParaRPr lang="en-US" sz="1250" dirty="0"/>
          </a:p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■"/>
            </a:pPr>
            <a:r>
              <a:rPr lang="en-US" sz="12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残り16件は判断の方向性自体は妥当ですが、パイロット回答者（ESG企画室・海外BU）が本社・広域担当という立場であることに起因する一般化のリスクや、コンプライアンス上の懸念が残ります。</a:t>
            </a:r>
            <a:endParaRPr lang="en-US" sz="1250" dirty="0"/>
          </a:p>
          <a:p>
            <a:pPr marL="203200" indent="-203200">
              <a:lnSpc>
                <a:spcPct val="125000"/>
              </a:lnSpc>
              <a:buSzPct val="100000"/>
              <a:buChar char="■"/>
            </a:pPr>
            <a:r>
              <a:rPr lang="en-US" sz="1250" dirty="0">
                <a:solidFill>
                  <a:srgbClr val="2630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特にH3-08（過年度比較）・H9-07（現地承認）は、拠点の意向によらず開示基準・現地法制度側の要求が優先される可能性があるため、要求定義確定前の再確認を強く推奨します。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750040" y="6537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デジタル戦略部</dc:creator>
  <cp:lastModifiedBy>デジタル戦略部</cp:lastModifiedBy>
  <cp:revision>1</cp:revision>
  <dcterms:created xsi:type="dcterms:W3CDTF">2026-09-17T11:40:07Z</dcterms:created>
  <dcterms:modified xsi:type="dcterms:W3CDTF">2026-09-17T11:40:07Z</dcterms:modified>
</cp:coreProperties>
</file>