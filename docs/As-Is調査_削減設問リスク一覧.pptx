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94A"/>
          </a:solidFill>
          <a:ln/>
        </p:spPr>
      </p:sp>
      <p:sp>
        <p:nvSpPr>
          <p:cNvPr id="3" name="Text 1"/>
          <p:cNvSpPr txBox="1"/>
          <p:nvPr/>
        </p:nvSpPr>
        <p:spPr>
          <a:xfrm>
            <a:off x="822960" y="100584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削減設問リスク一覧（専門家レビュー版）</a:t>
            </a:r>
            <a:endParaRPr lang="en-US" sz="3000" dirty="0"/>
          </a:p>
        </p:txBody>
      </p:sp>
      <p:sp>
        <p:nvSpPr>
          <p:cNvPr id="4" name="Text 2"/>
          <p:cNvSpPr txBox="1"/>
          <p:nvPr/>
        </p:nvSpPr>
        <p:spPr>
          <a:xfrm>
            <a:off x="822960" y="1783080"/>
            <a:ext cx="10515600" cy="457200"/>
          </a:xfrm>
          <a:prstGeom prst="rect">
            <a:avLst/>
          </a:prstGeom>
          <a:noFill/>
          <a:ln/>
        </p:spPr>
        <p:txBody>
          <a:bodyPr wrap="square" lIns="0" tIns="0" rIns="0" bIns="0" rtlCol="0" anchor="ctr"/>
          <a:lstStyle/>
          <a:p>
            <a:pPr indent="0" marL="0">
              <a:buNone/>
            </a:pPr>
            <a:r>
              <a:rPr lang="en-US" sz="1400" dirty="0">
                <a:solidFill>
                  <a:srgbClr val="CBD6EA"/>
                </a:solidFill>
                <a:latin typeface="Meiryo" pitchFamily="34" charset="0"/>
                <a:ea typeface="Meiryo" pitchFamily="34" charset="-122"/>
                <a:cs typeface="Meiryo" pitchFamily="34" charset="-120"/>
              </a:rPr>
              <a:t>v1.1パイロット回答を受けた81件の削除判断を再検証し、削除に同意した項目と要注意項目を区分</a:t>
            </a:r>
            <a:endParaRPr lang="en-US" sz="1400" dirty="0"/>
          </a:p>
        </p:txBody>
      </p:sp>
      <p:sp>
        <p:nvSpPr>
          <p:cNvPr id="5" name="Shape 3"/>
          <p:cNvSpPr/>
          <p:nvPr/>
        </p:nvSpPr>
        <p:spPr>
          <a:xfrm>
            <a:off x="822960" y="2514600"/>
            <a:ext cx="10515600" cy="2834640"/>
          </a:xfrm>
          <a:prstGeom prst="roundRect">
            <a:avLst>
              <a:gd name="adj" fmla="val 2581"/>
            </a:avLst>
          </a:prstGeom>
          <a:solidFill>
            <a:srgbClr val="22335A"/>
          </a:solidFill>
          <a:ln/>
        </p:spPr>
      </p:sp>
      <p:sp>
        <p:nvSpPr>
          <p:cNvPr id="6" name="Text 4"/>
          <p:cNvSpPr txBox="1"/>
          <p:nvPr/>
        </p:nvSpPr>
        <p:spPr>
          <a:xfrm>
            <a:off x="1097280" y="2697480"/>
            <a:ext cx="9966960" cy="36576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レビューの考え方</a:t>
            </a:r>
            <a:endParaRPr lang="en-US" sz="1400" dirty="0"/>
          </a:p>
        </p:txBody>
      </p:sp>
      <p:sp>
        <p:nvSpPr>
          <p:cNvPr id="7" name="Text 5"/>
          <p:cNvSpPr txBox="1"/>
          <p:nvPr/>
        </p:nvSpPr>
        <p:spPr>
          <a:xfrm>
            <a:off x="1097280" y="3154680"/>
            <a:ext cx="9966960" cy="2103120"/>
          </a:xfrm>
          <a:prstGeom prst="rect">
            <a:avLst/>
          </a:prstGeom>
          <a:noFill/>
          <a:ln/>
        </p:spPr>
        <p:txBody>
          <a:bodyPr wrap="square" lIns="0" tIns="0" rIns="0" bIns="0" rtlCol="0" anchor="t"/>
          <a:lstStyle/>
          <a:p>
            <a:pPr marL="177800" indent="-177800">
              <a:lnSpc>
                <a:spcPct val="120000"/>
              </a:lnSpc>
              <a:spcAft>
                <a:spcPts val="1200"/>
              </a:spcAft>
              <a:buSzPct val="100000"/>
              <a:buChar char="■"/>
            </a:pPr>
            <a:r>
              <a:rPr lang="en-US" sz="1200" dirty="0">
                <a:solidFill>
                  <a:srgbClr val="E6ECF7"/>
                </a:solidFill>
                <a:latin typeface="Meiryo" pitchFamily="34" charset="0"/>
                <a:ea typeface="Meiryo" pitchFamily="34" charset="-122"/>
                <a:cs typeface="Meiryo" pitchFamily="34" charset="-120"/>
              </a:rPr>
              <a:t>南（デジ戦）がv1.1パイロット回答（ESG企画室・海外BU川端氏）を受けて「拠点への設問として不要」と判断した81件（当初検出した60件に加え、「【回答】」形式で記載されていた21件を追加検証）を、プロの戦略コンサルタント・システムコンサルタントの視点で再検証しました。</a:t>
            </a:r>
            <a:endParaRPr lang="en-US" sz="1200" dirty="0"/>
          </a:p>
          <a:p>
            <a:pPr marL="177800" indent="-177800">
              <a:lnSpc>
                <a:spcPct val="120000"/>
              </a:lnSpc>
              <a:spcAft>
                <a:spcPts val="1200"/>
              </a:spcAft>
              <a:buSzPct val="100000"/>
              <a:buChar char="■"/>
            </a:pPr>
            <a:r>
              <a:rPr lang="en-US" sz="1200" dirty="0">
                <a:solidFill>
                  <a:srgbClr val="E6ECF7"/>
                </a:solidFill>
                <a:latin typeface="Meiryo" pitchFamily="34" charset="0"/>
                <a:ea typeface="Meiryo" pitchFamily="34" charset="-122"/>
                <a:cs typeface="Meiryo" pitchFamily="34" charset="-120"/>
              </a:rPr>
              <a:t>削除理由が妥当で、リスクが軽微または別の仕組みで担保されている48件は【削除に同意】とし、以後のリスク一覧からは外しています。</a:t>
            </a:r>
            <a:endParaRPr lang="en-US" sz="1200" dirty="0"/>
          </a:p>
          <a:p>
            <a:pPr marL="177800" indent="-177800">
              <a:lnSpc>
                <a:spcPct val="120000"/>
              </a:lnSpc>
              <a:buSzPct val="100000"/>
              <a:buChar char="■"/>
            </a:pPr>
            <a:r>
              <a:rPr lang="en-US" sz="1200" dirty="0">
                <a:solidFill>
                  <a:srgbClr val="E6ECF7"/>
                </a:solidFill>
                <a:latin typeface="Meiryo" pitchFamily="34" charset="0"/>
                <a:ea typeface="Meiryo" pitchFamily="34" charset="-122"/>
                <a:cs typeface="Meiryo" pitchFamily="34" charset="-120"/>
              </a:rPr>
              <a:t>削除理由に論理的な誤り・対応不足がある、または理由自体は妥当でもシステム導入・コンプライアンス上のリスクが残る33件を【要注意】として、拠点配布前の再確認を推奨します（うち3件は、いったん削除に同意した後にユーザーからの指摘を受けて再分類した項目です）。</a:t>
            </a:r>
            <a:endParaRPr lang="en-US" sz="1200" dirty="0"/>
          </a:p>
        </p:txBody>
      </p:sp>
      <p:sp>
        <p:nvSpPr>
          <p:cNvPr id="8" name="Text 6"/>
          <p:cNvSpPr txBox="1"/>
          <p:nvPr/>
        </p:nvSpPr>
        <p:spPr>
          <a:xfrm>
            <a:off x="822960" y="6492240"/>
            <a:ext cx="5486400" cy="274320"/>
          </a:xfrm>
          <a:prstGeom prst="rect">
            <a:avLst/>
          </a:prstGeom>
          <a:noFill/>
          <a:ln/>
        </p:spPr>
        <p:txBody>
          <a:bodyPr wrap="square" lIns="0" tIns="0" rIns="0" bIns="0" rtlCol="0" anchor="ctr"/>
          <a:lstStyle/>
          <a:p>
            <a:pPr indent="0" marL="0">
              <a:buNone/>
            </a:pPr>
            <a:r>
              <a:rPr lang="en-US" sz="900" dirty="0">
                <a:solidFill>
                  <a:srgbClr val="8797B5"/>
                </a:solidFill>
                <a:latin typeface="Meiryo" pitchFamily="34" charset="0"/>
                <a:ea typeface="Meiryo" pitchFamily="34" charset="-122"/>
                <a:cs typeface="Meiryo" pitchFamily="34" charset="-120"/>
              </a:rPr>
              <a:t>©LION Corporation / デジタル戦略部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サマリー</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81件をレビューし、削除に同意した項目と要注意項目を区分</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sp>
        <p:nvSpPr>
          <p:cNvPr id="6" name="Shape 4"/>
          <p:cNvSpPr/>
          <p:nvPr/>
        </p:nvSpPr>
        <p:spPr>
          <a:xfrm>
            <a:off x="502920" y="1234440"/>
            <a:ext cx="3520440" cy="1463040"/>
          </a:xfrm>
          <a:prstGeom prst="roundRect">
            <a:avLst>
              <a:gd name="adj" fmla="val 5000"/>
            </a:avLst>
          </a:prstGeom>
          <a:solidFill>
            <a:srgbClr val="F5F8FD"/>
          </a:solidFill>
          <a:ln/>
          <a:effectLst>
            <a:outerShdw sx="100000" sy="100000" kx="0" ky="0" algn="bl" rotWithShape="0" blurRad="76200" dist="25400" dir="5400000">
              <a:srgbClr val="9AA7BC">
                <a:alpha val="25000"/>
              </a:srgbClr>
            </a:outerShdw>
          </a:effectLst>
        </p:spPr>
      </p:sp>
      <p:sp>
        <p:nvSpPr>
          <p:cNvPr id="7" name="Text 5"/>
          <p:cNvSpPr txBox="1"/>
          <p:nvPr/>
        </p:nvSpPr>
        <p:spPr>
          <a:xfrm>
            <a:off x="502920" y="1371600"/>
            <a:ext cx="3520440" cy="594360"/>
          </a:xfrm>
          <a:prstGeom prst="rect">
            <a:avLst/>
          </a:prstGeom>
          <a:noFill/>
          <a:ln/>
        </p:spPr>
        <p:txBody>
          <a:bodyPr wrap="square" lIns="0" tIns="0" rIns="0" bIns="0" rtlCol="0" anchor="ctr"/>
          <a:lstStyle/>
          <a:p>
            <a:pPr algn="ctr" indent="0" marL="0">
              <a:buNone/>
            </a:pPr>
            <a:r>
              <a:rPr lang="en-US" sz="2800" b="1" dirty="0">
                <a:solidFill>
                  <a:srgbClr val="1F3864"/>
                </a:solidFill>
                <a:latin typeface="Meiryo" pitchFamily="34" charset="0"/>
                <a:ea typeface="Meiryo" pitchFamily="34" charset="-122"/>
                <a:cs typeface="Meiryo" pitchFamily="34" charset="-120"/>
              </a:rPr>
              <a:t>81件</a:t>
            </a:r>
            <a:endParaRPr lang="en-US" sz="2800" dirty="0"/>
          </a:p>
        </p:txBody>
      </p:sp>
      <p:sp>
        <p:nvSpPr>
          <p:cNvPr id="8" name="Text 6"/>
          <p:cNvSpPr txBox="1"/>
          <p:nvPr/>
        </p:nvSpPr>
        <p:spPr>
          <a:xfrm>
            <a:off x="640080" y="2057400"/>
            <a:ext cx="3246120" cy="54864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レビュー対象（重複統合等4件は除く）</a:t>
            </a:r>
            <a:endParaRPr lang="en-US" sz="1050" dirty="0"/>
          </a:p>
        </p:txBody>
      </p:sp>
      <p:sp>
        <p:nvSpPr>
          <p:cNvPr id="9" name="Shape 7"/>
          <p:cNvSpPr/>
          <p:nvPr/>
        </p:nvSpPr>
        <p:spPr>
          <a:xfrm>
            <a:off x="4251960" y="1234440"/>
            <a:ext cx="3520440" cy="1463040"/>
          </a:xfrm>
          <a:prstGeom prst="roundRect">
            <a:avLst>
              <a:gd name="adj" fmla="val 5000"/>
            </a:avLst>
          </a:prstGeom>
          <a:solidFill>
            <a:srgbClr val="E2EFDA"/>
          </a:solidFill>
          <a:ln/>
          <a:effectLst>
            <a:outerShdw sx="100000" sy="100000" kx="0" ky="0" algn="bl" rotWithShape="0" blurRad="76200" dist="25400" dir="5400000">
              <a:srgbClr val="9AA7BC">
                <a:alpha val="25000"/>
              </a:srgbClr>
            </a:outerShdw>
          </a:effectLst>
        </p:spPr>
      </p:sp>
      <p:sp>
        <p:nvSpPr>
          <p:cNvPr id="10" name="Text 8"/>
          <p:cNvSpPr txBox="1"/>
          <p:nvPr/>
        </p:nvSpPr>
        <p:spPr>
          <a:xfrm>
            <a:off x="4251960" y="1371600"/>
            <a:ext cx="3520440" cy="594360"/>
          </a:xfrm>
          <a:prstGeom prst="rect">
            <a:avLst/>
          </a:prstGeom>
          <a:noFill/>
          <a:ln/>
        </p:spPr>
        <p:txBody>
          <a:bodyPr wrap="square" lIns="0" tIns="0" rIns="0" bIns="0" rtlCol="0" anchor="ctr"/>
          <a:lstStyle/>
          <a:p>
            <a:pPr algn="ctr" indent="0" marL="0">
              <a:buNone/>
            </a:pPr>
            <a:r>
              <a:rPr lang="en-US" sz="2800" b="1" dirty="0">
                <a:solidFill>
                  <a:srgbClr val="2E7D32"/>
                </a:solidFill>
                <a:latin typeface="Meiryo" pitchFamily="34" charset="0"/>
                <a:ea typeface="Meiryo" pitchFamily="34" charset="-122"/>
                <a:cs typeface="Meiryo" pitchFamily="34" charset="-120"/>
              </a:rPr>
              <a:t>48件</a:t>
            </a:r>
            <a:endParaRPr lang="en-US" sz="2800" dirty="0"/>
          </a:p>
        </p:txBody>
      </p:sp>
      <p:sp>
        <p:nvSpPr>
          <p:cNvPr id="11" name="Text 9"/>
          <p:cNvSpPr txBox="1"/>
          <p:nvPr/>
        </p:nvSpPr>
        <p:spPr>
          <a:xfrm>
            <a:off x="4389120" y="2057400"/>
            <a:ext cx="3246120" cy="54864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削除に同意（理由妥当・リスク軽微）</a:t>
            </a:r>
            <a:endParaRPr lang="en-US" sz="1050" dirty="0"/>
          </a:p>
        </p:txBody>
      </p:sp>
      <p:sp>
        <p:nvSpPr>
          <p:cNvPr id="12" name="Shape 10"/>
          <p:cNvSpPr/>
          <p:nvPr/>
        </p:nvSpPr>
        <p:spPr>
          <a:xfrm>
            <a:off x="8001000" y="1234440"/>
            <a:ext cx="3520440" cy="1463040"/>
          </a:xfrm>
          <a:prstGeom prst="roundRect">
            <a:avLst>
              <a:gd name="adj" fmla="val 5000"/>
            </a:avLst>
          </a:prstGeom>
          <a:solidFill>
            <a:srgbClr val="F8CBAD"/>
          </a:solidFill>
          <a:ln/>
          <a:effectLst>
            <a:outerShdw sx="100000" sy="100000" kx="0" ky="0" algn="bl" rotWithShape="0" blurRad="76200" dist="25400" dir="5400000">
              <a:srgbClr val="9AA7BC">
                <a:alpha val="25000"/>
              </a:srgbClr>
            </a:outerShdw>
          </a:effectLst>
        </p:spPr>
      </p:sp>
      <p:sp>
        <p:nvSpPr>
          <p:cNvPr id="13" name="Text 11"/>
          <p:cNvSpPr txBox="1"/>
          <p:nvPr/>
        </p:nvSpPr>
        <p:spPr>
          <a:xfrm>
            <a:off x="8001000" y="1371600"/>
            <a:ext cx="3520440" cy="594360"/>
          </a:xfrm>
          <a:prstGeom prst="rect">
            <a:avLst/>
          </a:prstGeom>
          <a:noFill/>
          <a:ln/>
        </p:spPr>
        <p:txBody>
          <a:bodyPr wrap="square" lIns="0" tIns="0" rIns="0" bIns="0" rtlCol="0" anchor="ctr"/>
          <a:lstStyle/>
          <a:p>
            <a:pPr algn="ctr" indent="0" marL="0">
              <a:buNone/>
            </a:pPr>
            <a:r>
              <a:rPr lang="en-US" sz="2800" b="1" dirty="0">
                <a:solidFill>
                  <a:srgbClr val="8A3B12"/>
                </a:solidFill>
                <a:latin typeface="Meiryo" pitchFamily="34" charset="0"/>
                <a:ea typeface="Meiryo" pitchFamily="34" charset="-122"/>
                <a:cs typeface="Meiryo" pitchFamily="34" charset="-120"/>
              </a:rPr>
              <a:t>33件</a:t>
            </a:r>
            <a:endParaRPr lang="en-US" sz="2800" dirty="0"/>
          </a:p>
        </p:txBody>
      </p:sp>
      <p:sp>
        <p:nvSpPr>
          <p:cNvPr id="14" name="Text 12"/>
          <p:cNvSpPr txBox="1"/>
          <p:nvPr/>
        </p:nvSpPr>
        <p:spPr>
          <a:xfrm>
            <a:off x="8138160" y="2057400"/>
            <a:ext cx="3246120" cy="54864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要注意（理由不十分または残存リスク）</a:t>
            </a:r>
            <a:endParaRPr lang="en-US" sz="1050" dirty="0"/>
          </a:p>
        </p:txBody>
      </p:sp>
      <p:sp>
        <p:nvSpPr>
          <p:cNvPr id="15" name="Text 13"/>
          <p:cNvSpPr txBox="1"/>
          <p:nvPr/>
        </p:nvSpPr>
        <p:spPr>
          <a:xfrm>
            <a:off x="502920" y="3063240"/>
            <a:ext cx="5486400" cy="320040"/>
          </a:xfrm>
          <a:prstGeom prst="rect">
            <a:avLst/>
          </a:prstGeom>
          <a:noFill/>
          <a:ln/>
        </p:spPr>
        <p:txBody>
          <a:bodyPr wrap="square" lIns="0" tIns="0" rIns="0" bIns="0" rtlCol="0" anchor="ctr"/>
          <a:lstStyle/>
          <a:p>
            <a:pPr indent="0" marL="0">
              <a:buNone/>
            </a:pPr>
            <a:r>
              <a:rPr lang="en-US" sz="1300" b="1" dirty="0">
                <a:solidFill>
                  <a:srgbClr val="1F3864"/>
                </a:solidFill>
                <a:latin typeface="Meiryo" pitchFamily="34" charset="0"/>
                <a:ea typeface="Meiryo" pitchFamily="34" charset="-122"/>
                <a:cs typeface="Meiryo" pitchFamily="34" charset="-120"/>
              </a:rPr>
              <a:t>要注意33件の内訳</a:t>
            </a:r>
            <a:endParaRPr lang="en-US" sz="1300" dirty="0"/>
          </a:p>
        </p:txBody>
      </p:sp>
      <p:sp>
        <p:nvSpPr>
          <p:cNvPr id="16" name="Shape 14"/>
          <p:cNvSpPr/>
          <p:nvPr/>
        </p:nvSpPr>
        <p:spPr>
          <a:xfrm>
            <a:off x="502920" y="3474720"/>
            <a:ext cx="11155680" cy="868680"/>
          </a:xfrm>
          <a:prstGeom prst="roundRect">
            <a:avLst>
              <a:gd name="adj" fmla="val 6316"/>
            </a:avLst>
          </a:prstGeom>
          <a:solidFill>
            <a:srgbClr val="F5F8FD"/>
          </a:solidFill>
          <a:ln/>
        </p:spPr>
      </p:sp>
      <p:sp>
        <p:nvSpPr>
          <p:cNvPr id="17" name="Text 15"/>
          <p:cNvSpPr txBox="1"/>
          <p:nvPr/>
        </p:nvSpPr>
        <p:spPr>
          <a:xfrm>
            <a:off x="685800" y="3547872"/>
            <a:ext cx="3657600" cy="320040"/>
          </a:xfrm>
          <a:prstGeom prst="rect">
            <a:avLst/>
          </a:prstGeom>
          <a:noFill/>
          <a:ln/>
        </p:spPr>
        <p:txBody>
          <a:bodyPr wrap="square" lIns="0" tIns="0" rIns="0" bIns="0" rtlCol="0" anchor="ctr"/>
          <a:lstStyle/>
          <a:p>
            <a:pPr indent="0" marL="0">
              <a:buNone/>
            </a:pPr>
            <a:r>
              <a:rPr lang="en-US" sz="1100" b="1" dirty="0">
                <a:solidFill>
                  <a:srgbClr val="1F3864"/>
                </a:solidFill>
                <a:latin typeface="Meiryo" pitchFamily="34" charset="0"/>
                <a:ea typeface="Meiryo" pitchFamily="34" charset="-122"/>
                <a:cs typeface="Meiryo" pitchFamily="34" charset="-120"/>
              </a:rPr>
              <a:t>理由不十分・誤り（12件）</a:t>
            </a:r>
            <a:endParaRPr lang="en-US" sz="1100" dirty="0"/>
          </a:p>
        </p:txBody>
      </p:sp>
      <p:sp>
        <p:nvSpPr>
          <p:cNvPr id="18" name="Text 16"/>
          <p:cNvSpPr txBox="1"/>
          <p:nvPr/>
        </p:nvSpPr>
        <p:spPr>
          <a:xfrm>
            <a:off x="685800" y="3858768"/>
            <a:ext cx="10789920" cy="438912"/>
          </a:xfrm>
          <a:prstGeom prst="rect">
            <a:avLst/>
          </a:prstGeom>
          <a:noFill/>
          <a:ln/>
        </p:spPr>
        <p:txBody>
          <a:bodyPr wrap="square" lIns="0" tIns="0" rIns="0" bIns="0" rtlCol="0" anchor="ctr"/>
          <a:lstStyle/>
          <a:p>
            <a:pPr indent="0" marL="0">
              <a:buNone/>
            </a:pPr>
            <a:r>
              <a:rPr lang="en-US" sz="950" dirty="0">
                <a:solidFill>
                  <a:srgbClr val="26303B"/>
                </a:solidFill>
                <a:latin typeface="Meiryo" pitchFamily="34" charset="0"/>
                <a:ea typeface="Meiryo" pitchFamily="34" charset="-122"/>
                <a:cs typeface="Meiryo" pitchFamily="34" charset="-120"/>
              </a:rPr>
              <a:t>設問と回答が対応していない、質問対象を誤っている、対応が未完了等、削除の論理自体に問題がある</a:t>
            </a:r>
            <a:endParaRPr lang="en-US" sz="950" dirty="0"/>
          </a:p>
        </p:txBody>
      </p:sp>
      <p:sp>
        <p:nvSpPr>
          <p:cNvPr id="19" name="Shape 17"/>
          <p:cNvSpPr/>
          <p:nvPr/>
        </p:nvSpPr>
        <p:spPr>
          <a:xfrm>
            <a:off x="502920" y="4526280"/>
            <a:ext cx="11155680" cy="868680"/>
          </a:xfrm>
          <a:prstGeom prst="roundRect">
            <a:avLst>
              <a:gd name="adj" fmla="val 6316"/>
            </a:avLst>
          </a:prstGeom>
          <a:solidFill>
            <a:srgbClr val="F5F8FD"/>
          </a:solidFill>
          <a:ln/>
        </p:spPr>
      </p:sp>
      <p:sp>
        <p:nvSpPr>
          <p:cNvPr id="20" name="Text 18"/>
          <p:cNvSpPr txBox="1"/>
          <p:nvPr/>
        </p:nvSpPr>
        <p:spPr>
          <a:xfrm>
            <a:off x="685800" y="4599432"/>
            <a:ext cx="3657600" cy="320040"/>
          </a:xfrm>
          <a:prstGeom prst="rect">
            <a:avLst/>
          </a:prstGeom>
          <a:noFill/>
          <a:ln/>
        </p:spPr>
        <p:txBody>
          <a:bodyPr wrap="square" lIns="0" tIns="0" rIns="0" bIns="0" rtlCol="0" anchor="ctr"/>
          <a:lstStyle/>
          <a:p>
            <a:pPr indent="0" marL="0">
              <a:buNone/>
            </a:pPr>
            <a:r>
              <a:rPr lang="en-US" sz="1100" b="1" dirty="0">
                <a:solidFill>
                  <a:srgbClr val="1F3864"/>
                </a:solidFill>
                <a:latin typeface="Meiryo" pitchFamily="34" charset="0"/>
                <a:ea typeface="Meiryo" pitchFamily="34" charset="-122"/>
                <a:cs typeface="Meiryo" pitchFamily="34" charset="-120"/>
              </a:rPr>
              <a:t>理由は妥当だがリスク残存（21件）</a:t>
            </a:r>
            <a:endParaRPr lang="en-US" sz="1100" dirty="0"/>
          </a:p>
        </p:txBody>
      </p:sp>
      <p:sp>
        <p:nvSpPr>
          <p:cNvPr id="21" name="Text 19"/>
          <p:cNvSpPr txBox="1"/>
          <p:nvPr/>
        </p:nvSpPr>
        <p:spPr>
          <a:xfrm>
            <a:off x="685800" y="4910328"/>
            <a:ext cx="10789920" cy="438912"/>
          </a:xfrm>
          <a:prstGeom prst="rect">
            <a:avLst/>
          </a:prstGeom>
          <a:noFill/>
          <a:ln/>
        </p:spPr>
        <p:txBody>
          <a:bodyPr wrap="square" lIns="0" tIns="0" rIns="0" bIns="0" rtlCol="0" anchor="ctr"/>
          <a:lstStyle/>
          <a:p>
            <a:pPr indent="0" marL="0">
              <a:buNone/>
            </a:pPr>
            <a:r>
              <a:rPr lang="en-US" sz="950" dirty="0">
                <a:solidFill>
                  <a:srgbClr val="26303B"/>
                </a:solidFill>
                <a:latin typeface="Meiryo" pitchFamily="34" charset="0"/>
                <a:ea typeface="Meiryo" pitchFamily="34" charset="-122"/>
                <a:cs typeface="Meiryo" pitchFamily="34" charset="-120"/>
              </a:rPr>
              <a:t>判断の方向性は妥当だが、パイロット2件のみでの一般化・コンプライアンス上の懸念・投資判断の根拠不足等が残る</a:t>
            </a:r>
            <a:endParaRPr lang="en-US" sz="950" dirty="0"/>
          </a:p>
        </p:txBody>
      </p:sp>
      <p:sp>
        <p:nvSpPr>
          <p:cNvPr id="22" name="Shape 20"/>
          <p:cNvSpPr/>
          <p:nvPr/>
        </p:nvSpPr>
        <p:spPr>
          <a:xfrm>
            <a:off x="502920" y="5715000"/>
            <a:ext cx="11183112" cy="685800"/>
          </a:xfrm>
          <a:prstGeom prst="roundRect">
            <a:avLst>
              <a:gd name="adj" fmla="val 8000"/>
            </a:avLst>
          </a:prstGeom>
          <a:solidFill>
            <a:srgbClr val="EAF1FA"/>
          </a:solidFill>
          <a:ln/>
        </p:spPr>
      </p:sp>
      <p:sp>
        <p:nvSpPr>
          <p:cNvPr id="23" name="Text 21"/>
          <p:cNvSpPr txBox="1"/>
          <p:nvPr/>
        </p:nvSpPr>
        <p:spPr>
          <a:xfrm>
            <a:off x="713232" y="5715000"/>
            <a:ext cx="10789920" cy="685800"/>
          </a:xfrm>
          <a:prstGeom prst="rect">
            <a:avLst/>
          </a:prstGeom>
          <a:noFill/>
          <a:ln/>
        </p:spPr>
        <p:txBody>
          <a:bodyPr wrap="square" lIns="0" tIns="0" rIns="0" bIns="0" rtlCol="0" anchor="ctr"/>
          <a:lstStyle/>
          <a:p>
            <a:pPr indent="0" marL="0">
              <a:buNone/>
            </a:pPr>
            <a:r>
              <a:rPr lang="en-US" sz="1000" b="1" dirty="0">
                <a:solidFill>
                  <a:srgbClr val="16294A"/>
                </a:solidFill>
                <a:latin typeface="Meiryo" pitchFamily="34" charset="0"/>
                <a:ea typeface="Meiryo" pitchFamily="34" charset="-122"/>
                <a:cs typeface="Meiryo" pitchFamily="34" charset="-120"/>
              </a:rPr>
              <a:t>以降のページで、要注意33件を影響度とともに一覧します。削除に同意した48件は付録として末尾に一覧を掲載しています。</a:t>
            </a:r>
            <a:endParaRPr lang="en-US" sz="1000" dirty="0"/>
          </a:p>
        </p:txBody>
      </p:sp>
      <p:sp>
        <p:nvSpPr>
          <p:cNvPr id="24" name="Text 22"/>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要注意（1/4）</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理由不十分・誤りの可能性がある項目を中心に</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685800"/>
                <a:gridCol w="2331720"/>
                <a:gridCol w="2743200"/>
                <a:gridCol w="1417320"/>
                <a:gridCol w="3730752"/>
                <a:gridCol w="640080"/>
              </a:tblGrid>
              <a:tr h="691515">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南氏の削除理由</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レビュー区分</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専門家コメント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影響度</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(全体・シート2)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貴拠点が報告している非財務データの項目一覧</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ESG企画室が一括管理・記入し拠点配布から外す</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ESG企画室が全拠点のローカル項目を把握しているという前提が調査目的と矛盾。最低限、本社一覧への抜け漏れ確認は残すべき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C-03</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使用期間と請求期間のズレの処理方法</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日割りせず請求期間のまま報告で一致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回答者自身が別項目で「水道代の請求サイクルは拠点ごとにばらつく可能性」と指摘済み。確認せず一律判断するのは危険</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C-07</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拠点独自の係数・ルールの使用有無</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係数・ルールは本社一括管理で一致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同じ回答内で「海外はGHGプロトコル基準で温対法とは別」と記載あり。『本社一括管理』は不正確</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C-14</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業務システムからデータを取り出せるか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主要システムは出力可で一致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回答者は本社側の立場。34拠点のシステム連携可否をパイロット2件で代表させるのは根拠が弱い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C-22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年間で最も負荷が高い月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1〜3月がピークで一致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国内決算スケジュール前提の可能性が高く、決算月が異なる海外拠点には当てはまらないおそれ</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C-26</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推計・概算で報告している割合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按分は小田原研究所の外部テナントに限られると把握</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回答内容は「按分」（C-25の話）で、C-26が問う推計割合には未回答。設問と回答が対応していない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C-28</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証憑が個人PC・メールにしかないか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実態を把握できたため削除（具体事例で対応）</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把握できたのは2つの具体事例のみ。他拠点の同様の記録の有無は未確認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C-35</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工場・現場のPC・ネットワーク環境</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全拠点でPC使用・入力可能で一致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回答者が現場のネットワーク環境を直接把握しているか不明。海外工場の制限は既知の懸念点</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要注意（2/4）</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理由は妥当でもリスクが残る項目</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685800"/>
                <a:gridCol w="2331720"/>
                <a:gridCol w="2743200"/>
                <a:gridCol w="1417320"/>
                <a:gridCol w="3730752"/>
                <a:gridCol w="640080"/>
              </a:tblGrid>
              <a:tr h="691515">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南氏の削除理由</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レビュー区分</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専門家コメント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影響度</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10-01</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開示範囲の解釈に迷うか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ESG企画室の回答で代替できるため不要</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現場の解釈の迷いを、送り手である本社の自己評価で代替する論理が成立しない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10-02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本社ルール変更の伝達の時差</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ESG企画室の回答で代替できるため不要</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10-01と同様。送り手の自己評価では受け手側の実態を代替できない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10-05</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外部からのデータ入手の遅れ</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頻度：稀／影響度：大という評価を前提に設計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評価は請求データ（電気・ガス等）を想定。Scope3の委託先データ等には当てはまらない可能性</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H3-04</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入力タイミング（月初何営業日目か）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月次リマインドは不要という前提で設計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南氏自身が『本設問は要否でなく強度を決めるもの』と説明済み。要否のみでの判断は目的とズレる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H3-05</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締切に間に合わない月の有無</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水道の請求サイクルを締切設計の前提に反映</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特定拠点の知見のみ。他拠点（海外・異なる契約形態）の請求パターンは未確認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H3-08</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組織変更時のデータ連続性の担保方法</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拠点単位の連続性は不要と判断</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理由が誤りの可能性</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SSBJ等の開示基準は過年度比較（ベースイヤー継続性）を規制要件として求める可能性が高く、拠点の意向では代替できない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H4-01</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使用係数の名称・出典・年度版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係数は本社一括管理のため不要</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C-07と同根の問題。海外拠点の独自係数の出典・版が管理から漏れるリスク</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H4-07</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小さな排出源の集計の網羅性</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本社側でチェックリスト化して補う方針</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方向性は妥当だが、本社が海外拠点の小口設備まで正確に把握できるかは未検証</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要注意（3/4）</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海外拠点固有・コンプライアンスに関わる項目</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685800"/>
                <a:gridCol w="2331720"/>
                <a:gridCol w="2743200"/>
                <a:gridCol w="1417320"/>
                <a:gridCol w="3730752"/>
                <a:gridCol w="640080"/>
              </a:tblGrid>
              <a:tr h="614680">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南氏の削除理由</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レビュー区分</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専門家コメント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影響度</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H4-08</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冷媒（フロン類）の充填・漏えい量</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充填記録を証憑化。海外は報告対象外</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根拠不明確</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海外除外の根拠が不明。海外製造拠点も冷媒を使用する可能性が高く、Scope1完全性のリスク</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H4-09</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水（取水源別・排水量）の実態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原則メーター記録、地下水は有無のみ確認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リスク残存（軽微）</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妥当な簡略化だが、地下水利用が多い拠点で使用量を過小評価するおそれが残る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H5-01</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証憑の種類・保管場所の全量</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把握できた実態で保管先の集約範囲を設計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シート2・C-28と同根。個人管理・ローカル保管の実態を全拠点的に把握できていない</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H6-02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異常値の定義・閾値と対応者</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閾値はESG企画室の机上設定で進める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リスク残存（理由は妥当）</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当初のリスク（机上設定で拠点実態を反映しない）を解消しておらず、受容している状態。初期は保守的な閾値を推奨</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H9-02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現地排出係数の種類と入手元</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既に検証済みの係数を正とする前提</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H4-01と同根。『検証済み』の対象範囲（拠点・年度）が不明確で、全海外拠点に当てはまるか未確認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H9-05</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現地事情による欠測・遅延の頻度</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バングラデシュでも致命的遅延なしと判断</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バングラデシュは電力・通信インフラの課題が指摘されやすい国。現場実態の把握精度に疑問が残る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H9-07</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現地経営層の関与度・承認追加の実現性</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承認フローとして不要と判断</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一部の国・地域ではESGデータへの現地法定代表者の承認が法制度上求められる可能性がある（CSRD等）</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1468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C-06</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拠点側での計算実施範囲</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海外法人向けは削除。国内は実態をESGに確認のうえ調整</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リスク残存・理由不十分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海外BU自身が「生産拠点では自前で算定をしている」と明言。削除は当初のリスク（拠点独自計算による数値連続性の断絶）を放置。国内分はステータス『保留』のまま未決着</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C-11</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証憑添付必須化時の対応可否</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海外は提出方法の指示自体がなく前提不成立のため削除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設問の前提不成立の指摘は妥当だが、『必須化した場合に運用が回るか』という論点自体は未解消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要注意（4/4）</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追加検証分（「【回答】」形式で記載されていた項目・ユーザー指摘による再分類分）</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685800"/>
                <a:gridCol w="2331720"/>
                <a:gridCol w="2743200"/>
                <a:gridCol w="1417320"/>
                <a:gridCol w="3730752"/>
                <a:gridCol w="640080"/>
              </a:tblGrid>
              <a:tr h="691515">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南氏の削除理由</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レビュー区分</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専門家コメント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影響度</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C-17</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非財務データ業務の月間工数（詳細含む）</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本社推定で進める。拠点への設問（詳細①〜⑤）は削除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リスク残存（データなし）</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回答者コメントは「まともに実施したことがない」「推測で進めてください」「質問が分からなかった」＝実質未回答。ROI試算の分母が未検証のまま確定する、最も影響が大きい項目</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C-32</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入力ファイル・システムのアクセス権</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計算用Excelを想定した設問だったため削除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『誰でも編集できる状態か』という統制上の論点自体は未解消。改ざんリスクの指摘可能性が残る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H3-07</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メーター交換・契約変更時のデータ処理手順</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校正済みとして交換の影響を無視し削除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根拠不明確</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『影響を無視する』根拠が示されていない。頻度は低いが精度への影響は未確認</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7A5B00"/>
                          </a:solidFill>
                          <a:latin typeface="Meiryo" pitchFamily="34" charset="0"/>
                          <a:ea typeface="Meiryo" pitchFamily="34" charset="-122"/>
                          <a:cs typeface="Meiryo" pitchFamily="34" charset="-120"/>
                        </a:rPr>
                        <a:t>中</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H7-05</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過去に定着しなかったシステムとその理由</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ESG室の末武さんに確認する予定として削除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対応未完了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『確認する』は未完了のToDo。定着リスクの最重要インプットであり実施状況の確認を要する</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H9-08</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本社未報告の現地環境・安全データ</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本社チェックリストで補う方針に切替し削除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H4-07と同根。本社チェックリストが全海外拠点の未報告データを洗い出せる網羅性は不透明</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C-19</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多言語UI・現地サポートなしでの運用可否</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多言語対応をRFPに含める前提で設計し削除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「厚めに実装すれば安全」との理由づけは、翻訳コスト・ベンダー減少・価格上昇という当初の指摘を無視。過剰要求は選定失敗に直結（ユーザー指摘により再分類）</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91515">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H9-01</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業務・帳票・システムの言語と翻訳体制</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多言語対応をRFPに含める前提で設計し削除</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8A3B12"/>
                          </a:solidFill>
                          <a:latin typeface="Meiryo" pitchFamily="34" charset="0"/>
                          <a:ea typeface="Meiryo" pitchFamily="34" charset="-122"/>
                          <a:cs typeface="Meiryo" pitchFamily="34" charset="-120"/>
                        </a:rPr>
                        <a:t>理由不十分</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C-19と同じ問題。「厚めに実装すれば安全」はコスト増・ベンダー減少という当初のリスクを無視（ユーザー指摘により再分類）</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00" b="1" dirty="0">
                          <a:solidFill>
                            <a:srgbClr val="000000"/>
                          </a:solidFill>
                          <a:latin typeface="Meiryo" pitchFamily="34" charset="0"/>
                          <a:ea typeface="Meiryo" pitchFamily="34" charset="-122"/>
                          <a:cs typeface="Meiryo" pitchFamily="34" charset="-120"/>
                        </a:rPr>
                        <a:t>10-09</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再計算への不安</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拠点は計算していないため本社機能として設計</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750" b="1" dirty="0">
                          <a:solidFill>
                            <a:srgbClr val="7A5B00"/>
                          </a:solidFill>
                          <a:latin typeface="Meiryo" pitchFamily="34" charset="0"/>
                          <a:ea typeface="Meiryo" pitchFamily="34" charset="-122"/>
                          <a:cs typeface="Meiryo" pitchFamily="34" charset="-120"/>
                        </a:rPr>
                        <a:t>リスク残存</a:t>
                      </a:r>
                      <a:endParaRPr lang="en-US" sz="7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c>
                  <a:txBody>
                    <a:bodyPr/>
                    <a:lstStyle/>
                    <a:p>
                      <a:pPr indent="0" marL="0">
                        <a:buNone/>
                      </a:pPr>
                      <a:r>
                        <a:rPr lang="en-US" sz="730" dirty="0">
                          <a:solidFill>
                            <a:srgbClr val="000000"/>
                          </a:solidFill>
                          <a:latin typeface="Meiryo" pitchFamily="34" charset="0"/>
                          <a:ea typeface="Meiryo" pitchFamily="34" charset="-122"/>
                          <a:cs typeface="Meiryo" pitchFamily="34" charset="-120"/>
                        </a:rPr>
                        <a:t>安全網としていたC-06自体の削除判断に問題があると判明（海外BUが自前算定を証言）。前提の再検証が必要（ユーザー指摘により再分類）</a:t>
                      </a:r>
                      <a:endParaRPr lang="en-US" sz="73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850" b="1" dirty="0">
                          <a:solidFill>
                            <a:srgbClr val="8A3B12"/>
                          </a:solidFill>
                          <a:latin typeface="Meiryo" pitchFamily="34" charset="0"/>
                          <a:ea typeface="Meiryo" pitchFamily="34" charset="-122"/>
                          <a:cs typeface="Meiryo" pitchFamily="34" charset="-120"/>
                        </a:rPr>
                        <a:t>高</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付録｜削除に同意した48件</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1/3（C・10系）</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1005840"/>
                <a:gridCol w="2743200"/>
                <a:gridCol w="3291840"/>
                <a:gridCol w="4507992"/>
              </a:tblGrid>
              <a:tr h="395151">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削除理由の要旨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同意コメント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C-01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手順書の有無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両拠点とも手順書なしで一致</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仮に手順書がある拠点があっても不利益は軽微</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C-09</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証憑の保管形式</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PDF・Excelが中心と把握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保管容量を多めに見れば対応可能</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C-13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変更履歴の有無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変更履歴を必須要件として確定</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機能を厚めに実装、実態違いも吸収可能</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抜け漏れ・遅延の主な原因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5つの原因を要件に反映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汎用的な原因で妥当性が高い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C-27</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妥当性チェック方法</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標準閾値はESG企画室が設定</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拠点実態に関わらず妥当な方針</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C-29</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証憑を探す時間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BOX運用前提で保存・検索機能を必須化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機能を厚めに実装、実態違いも問題なし</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C-31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確定・ロックの概念</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本社が確定・ロックを行っている</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本社主導の統制で拠点実態に非依存</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C-34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スマートメーター等の有無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自動計測は対象外、OCR検討へ振替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意図的なスコープ決定で機会損失は自覚済み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C-37</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属人化の有無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一部属人化前提でマニュアル整備を要件化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保守的な前提で支障は小さい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10-06</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抜け漏れの構造的発生</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事後の早期修正で担保</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リスクを別の仕組みで正面から対応</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10-07</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単位換算・按分の計算ミス</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実績を閾値設計に反映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エビデンスに基づく設計判断</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10-08</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異常値照会の往復</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照会機能を優先度高い要件とする</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リスクを認識した上で正面から対応</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395151">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10-11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証拠探しの負荷</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国内浸透・海外未浸透を前提に反映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誤りがあっても移行見積り誤差程度で軽微</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10-12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フィードバック機能の要否</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費用対効果で判断する保留項目</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無視でなく先送りの判断で妥当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付録｜削除に同意した48件</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2/3（H系）</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1005840"/>
                <a:gridCol w="2743200"/>
                <a:gridCol w="3291840"/>
                <a:gridCol w="4507992"/>
              </a:tblGrid>
              <a:tr h="251460">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削除理由の要旨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同意コメント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H3-01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手順書の形式等</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システム入力マニュアル以外の手順書はない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C-01と同様、低リスク</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H3-02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手順書と実態の乖離</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手順の明文化を導入時タスクに含める</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対応がリスクを正面から解消</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H3-06</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データ欠測の穴埋め方法</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欠測は例外的としシステム外の補完を許容</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例外処理を許容する設計判断で妥当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H3-09</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複数報告間の食い違い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多目的出力を要件化、様式変更は別途調整</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主要リスクは解消、CDP対応のみ先送り</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H4-02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係数更新時の再計算</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更新・再計算可能性を要件に反映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H4-03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按分の管理者・根拠資料</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対象一覧をESG企画室が提示</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情報源の変更のみ。運用ToDoとして管理</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H4-04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按分基準の見直し頻度</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按分基準は年度ごとに保持する設計</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保守的な設計で妥当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H4-12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製品LCA用データ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ESG企画室との事前決定待ち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意思決定プロセスを踏んだ先送りで妥当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H4-13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人事・安全データの独自解釈</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本社側の指標定義の問題として整理</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対応の道筋が明確で妥当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H5-02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保存年限</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ESG企画室と決定のうえ要件反映</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意思決定プロセスを踏んだ判断で妥当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H5-04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第三者保有証憑の入手性</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請求ありは入手可、なしは推定・除外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明確な運用ルールで妥当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H5-06</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過去の指摘事項の記録所在</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ESG企画室の共有フォルダにあると把握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監査対応の集約業務であり妥当性が高い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H6-01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チェック記録の有無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証跡はシステム内に残す前提</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H6-03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入力ミスの流出経験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現行の修正要否確認を維持</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既存の安全策を維持する保守的判断</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H6-04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拠点長の関与頻度</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承認者ルールは事務局で設計</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トップダウンの設計方針として妥当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H6-07</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内部監査・ISO審査の指摘内容</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ISO監査は数値誤りを対象外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数値精度の検証は第三者保証が担う。理由は妥当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H7-03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子メーターの設置状況</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拠点単位で足り部門別粒度は対象外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意図的なスコープ決定で妥当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H7-04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ITサポート体制</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現地IT支援は期待せず本社支援を計画</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最悪ケース前提の保守的計画で妥当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H8-01</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本社照会・差し戻し件数</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実績値を効果試算の基準値とする</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実データに基づく判断で妥当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H8-02</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業務関与人数・兼務状況</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Scope1・2で3名を前提に試算</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Scope3の見直しを自ら明記し妥当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25146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H9-03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CSRD等の追加開示要求</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豪州子会社分を将来要件として記録</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判明事実を要件に反映し妥当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H9-06</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現地委託先データの入手性</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取れないデータは推定・除外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明確な運用ルールで妥当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付録｜削除に同意した48件</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3/3（追加検証分）</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11548872" cy="914400"/>
        </p:xfrm>
        <a:graphic>
          <a:graphicData uri="http://schemas.openxmlformats.org/drawingml/2006/table">
            <a:tbl>
              <a:tblPr/>
              <a:tblGrid>
                <a:gridCol w="1005840"/>
                <a:gridCol w="2743200"/>
                <a:gridCol w="3291840"/>
                <a:gridCol w="4507992"/>
              </a:tblGrid>
              <a:tr h="461010">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ID</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元の設問（要旨）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削除理由の要旨</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c>
                  <a:txBody>
                    <a:bodyPr/>
                    <a:lstStyle/>
                    <a:p>
                      <a:pPr algn="ctr" indent="0" marL="0">
                        <a:buNone/>
                      </a:pPr>
                      <a:r>
                        <a:rPr lang="en-US" sz="900" b="1" dirty="0">
                          <a:solidFill>
                            <a:srgbClr val="FFFFFF"/>
                          </a:solidFill>
                          <a:latin typeface="Meiryo" pitchFamily="34" charset="0"/>
                          <a:ea typeface="Meiryo" pitchFamily="34" charset="-122"/>
                          <a:cs typeface="Meiryo" pitchFamily="34" charset="-120"/>
                        </a:rPr>
                        <a:t>同意コメント</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2E7D32"/>
                    </a:solidFill>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報告後のデータ修正頻度</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算定前の桁間違い修正が毎年発生する実態を踏まえ修正機能を実装前提化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C-05</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主担当不在時の報告継続性</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1拠点でも止まると全体が遅れるため代理承認を実装前提化</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保守的な機能実装で妥当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C-10</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証憑への遡及可能性</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保存年限決定後に判断し、必要な場合は事前相談する段階的対応</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意思決定プロセスを踏んだ判断で妥当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C-20</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月次で最も時間がかかるステップ</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ステップ案をESG室へ確認する対応に切替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全拠点調査の代替として合理的</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過年度データの遡及修正経験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過年度修正機能を要件に含める方向</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C-25</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単位換算・按分の実施有無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換算・按分をシステム側で行う基本方針</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C-36</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電子承認の導入有無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入力担当者向けでなくシステム担当者向けの技術確認事項として切り出し</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質問対象の適正化として妥当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H5-05</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記録引継ぎの実態</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本社からデータ・証憑を明示する方式に切替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別の仕組みで正面から対応し妥当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H5-07</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改ざん防止の仕組み</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権限分離・確定ロック・変更履歴としてシステム側で担保</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機能を厚めに実装する対応で妥当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H6-08</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データ信頼性のヒヤリ経験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自己申告でなく本社側の指摘・修正記録から傾向を把握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客観的データへの切替で妥当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46101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H8-03</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担当者のスキル自己評価</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スキルを前提にせず入力作業をマニュアル化する方針</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設計思想の転換として妥当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r h="0">
                <a:tc>
                  <a:txBody>
                    <a:bodyPr/>
                    <a:lstStyle/>
                    <a:p>
                      <a:pPr algn="ctr" indent="0" marL="0">
                        <a:buNone/>
                      </a:pPr>
                      <a:r>
                        <a:rPr lang="en-US" sz="780" b="1" dirty="0">
                          <a:solidFill>
                            <a:srgbClr val="000000"/>
                          </a:solidFill>
                          <a:latin typeface="Meiryo" pitchFamily="34" charset="0"/>
                          <a:ea typeface="Meiryo" pitchFamily="34" charset="-122"/>
                          <a:cs typeface="Meiryo" pitchFamily="34" charset="-120"/>
                        </a:rPr>
                        <a:t>H8-04</a:t>
                      </a:r>
                      <a:endParaRPr lang="en-US" sz="78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業務の拠点内での位置づけ</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000000"/>
                          </a:solidFill>
                          <a:latin typeface="Meiryo" pitchFamily="34" charset="0"/>
                          <a:ea typeface="Meiryo" pitchFamily="34" charset="-122"/>
                          <a:cs typeface="Meiryo" pitchFamily="34" charset="-120"/>
                        </a:rPr>
                        <a:t>自己申告でなく実際の対応状況で督促強度を判断</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760" dirty="0">
                          <a:solidFill>
                            <a:srgbClr val="6B7280"/>
                          </a:solidFill>
                          <a:latin typeface="Meiryo" pitchFamily="34" charset="0"/>
                          <a:ea typeface="Meiryo" pitchFamily="34" charset="-122"/>
                          <a:cs typeface="Meiryo" pitchFamily="34" charset="-120"/>
                        </a:rPr>
                        <a:t>客観的データへの切替で妥当</a:t>
                      </a:r>
                      <a:endParaRPr lang="en-US" sz="76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まとめ</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本レビューの位置づけと今後の対応</a:t>
            </a:r>
            <a:endParaRPr lang="en-US" sz="1000" dirty="0"/>
          </a:p>
        </p:txBody>
      </p:sp>
      <p:sp>
        <p:nvSpPr>
          <p:cNvPr id="5" name="Text 3"/>
          <p:cNvSpPr txBox="1"/>
          <p:nvPr/>
        </p:nvSpPr>
        <p:spPr>
          <a:xfrm>
            <a:off x="8961120" y="109728"/>
            <a:ext cx="292608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 ｜専門家レビュー版</a:t>
            </a:r>
            <a:endParaRPr lang="en-US" sz="900" dirty="0"/>
          </a:p>
        </p:txBody>
      </p:sp>
      <p:sp>
        <p:nvSpPr>
          <p:cNvPr id="6" name="Shape 4"/>
          <p:cNvSpPr/>
          <p:nvPr/>
        </p:nvSpPr>
        <p:spPr>
          <a:xfrm>
            <a:off x="502920" y="1188720"/>
            <a:ext cx="11183112" cy="4846320"/>
          </a:xfrm>
          <a:prstGeom prst="roundRect">
            <a:avLst>
              <a:gd name="adj" fmla="val 1509"/>
            </a:avLst>
          </a:prstGeom>
          <a:solidFill>
            <a:srgbClr val="F5F8FD"/>
          </a:solidFill>
          <a:ln/>
          <a:effectLst>
            <a:outerShdw sx="100000" sy="100000" kx="0" ky="0" algn="bl" rotWithShape="0" blurRad="76200" dist="25400" dir="5400000">
              <a:srgbClr val="9AA7BC">
                <a:alpha val="28000"/>
              </a:srgbClr>
            </a:outerShdw>
          </a:effectLst>
        </p:spPr>
      </p:sp>
      <p:sp>
        <p:nvSpPr>
          <p:cNvPr id="7" name="Text 5"/>
          <p:cNvSpPr txBox="1"/>
          <p:nvPr/>
        </p:nvSpPr>
        <p:spPr>
          <a:xfrm>
            <a:off x="868680" y="1508760"/>
            <a:ext cx="10424160" cy="4297680"/>
          </a:xfrm>
          <a:prstGeom prst="rect">
            <a:avLst/>
          </a:prstGeom>
          <a:noFill/>
          <a:ln/>
        </p:spPr>
        <p:txBody>
          <a:bodyPr wrap="square" lIns="0" tIns="0" rIns="0" bIns="0" rtlCol="0" anchor="t"/>
          <a:lstStyle/>
          <a:p>
            <a:pPr marL="203200" indent="-203200">
              <a:lnSpc>
                <a:spcPct val="122000"/>
              </a:lnSpc>
              <a:spcAft>
                <a:spcPts val="1400"/>
              </a:spcAft>
              <a:buSzPct val="100000"/>
              <a:buChar char="■"/>
            </a:pPr>
            <a:r>
              <a:rPr lang="en-US" sz="1150" dirty="0">
                <a:solidFill>
                  <a:srgbClr val="26303B"/>
                </a:solidFill>
                <a:latin typeface="Meiryo" pitchFamily="34" charset="0"/>
                <a:ea typeface="Meiryo" pitchFamily="34" charset="-122"/>
                <a:cs typeface="Meiryo" pitchFamily="34" charset="-120"/>
              </a:rPr>
              <a:t>南（デジ戦）が判断した81件の削除について、専門家の視点で再検証した結果、48件は削除に同意、33件を要注意としました。</a:t>
            </a:r>
            <a:endParaRPr lang="en-US" sz="1150" dirty="0"/>
          </a:p>
          <a:p>
            <a:pPr marL="203200" indent="-203200">
              <a:lnSpc>
                <a:spcPct val="122000"/>
              </a:lnSpc>
              <a:spcAft>
                <a:spcPts val="1400"/>
              </a:spcAft>
              <a:buSzPct val="100000"/>
              <a:buChar char="■"/>
            </a:pPr>
            <a:r>
              <a:rPr lang="en-US" sz="1150" dirty="0">
                <a:solidFill>
                  <a:srgbClr val="26303B"/>
                </a:solidFill>
                <a:latin typeface="Meiryo" pitchFamily="34" charset="0"/>
                <a:ea typeface="Meiryo" pitchFamily="34" charset="-122"/>
                <a:cs typeface="Meiryo" pitchFamily="34" charset="-120"/>
              </a:rPr>
              <a:t>要注意33件のうち12件は削除理由に論理的な誤り・対応不足があり、設問を残すか別の形で確認することを推奨します。</a:t>
            </a:r>
            <a:endParaRPr lang="en-US" sz="1150" dirty="0"/>
          </a:p>
          <a:p>
            <a:pPr marL="203200" indent="-203200">
              <a:lnSpc>
                <a:spcPct val="122000"/>
              </a:lnSpc>
              <a:spcAft>
                <a:spcPts val="1400"/>
              </a:spcAft>
              <a:buSzPct val="100000"/>
              <a:buChar char="■"/>
            </a:pPr>
            <a:r>
              <a:rPr lang="en-US" sz="1150" dirty="0">
                <a:solidFill>
                  <a:srgbClr val="26303B"/>
                </a:solidFill>
                <a:latin typeface="Meiryo" pitchFamily="34" charset="0"/>
                <a:ea typeface="Meiryo" pitchFamily="34" charset="-122"/>
                <a:cs typeface="Meiryo" pitchFamily="34" charset="-120"/>
              </a:rPr>
              <a:t>残り21件は判断の方向性自体は妥当ですが、パイロット回答者（ESG企画室・海外BU）が本社・広域担当という立場であることに起因する一般化のリスクや、コンプライアンス上の懸念が残ります。</a:t>
            </a:r>
            <a:endParaRPr lang="en-US" sz="1150" dirty="0"/>
          </a:p>
          <a:p>
            <a:pPr marL="203200" indent="-203200">
              <a:lnSpc>
                <a:spcPct val="122000"/>
              </a:lnSpc>
              <a:spcAft>
                <a:spcPts val="1400"/>
              </a:spcAft>
              <a:buSzPct val="100000"/>
              <a:buChar char="■"/>
            </a:pPr>
            <a:r>
              <a:rPr lang="en-US" sz="1150" dirty="0">
                <a:solidFill>
                  <a:srgbClr val="26303B"/>
                </a:solidFill>
                <a:latin typeface="Meiryo" pitchFamily="34" charset="0"/>
                <a:ea typeface="Meiryo" pitchFamily="34" charset="-122"/>
                <a:cs typeface="Meiryo" pitchFamily="34" charset="-120"/>
              </a:rPr>
              <a:t>特にH3-08（過年度比較）・H9-07（現地承認）は、拠点の意向によらず開示基準・現地法制度側の要求が優先される可能性があるため、要求定義確定前の再確認を強く推奨します。C-06・C-17（拠点側計算範囲・月間工数）は、投資判断（ROI試算）や算定アーキテクチャの根幹に関わるにもかかわらず実質未回答のまま本社推定に切り替わっており、最優先で対応すべき項目です。</a:t>
            </a:r>
            <a:endParaRPr lang="en-US" sz="1150" dirty="0"/>
          </a:p>
          <a:p>
            <a:pPr marL="203200" indent="-203200">
              <a:lnSpc>
                <a:spcPct val="122000"/>
              </a:lnSpc>
              <a:buSzPct val="100000"/>
              <a:buChar char="■"/>
            </a:pPr>
            <a:r>
              <a:rPr lang="en-US" sz="1150" dirty="0">
                <a:solidFill>
                  <a:srgbClr val="26303B"/>
                </a:solidFill>
                <a:latin typeface="Meiryo" pitchFamily="34" charset="0"/>
                <a:ea typeface="Meiryo" pitchFamily="34" charset="-122"/>
                <a:cs typeface="Meiryo" pitchFamily="34" charset="-120"/>
              </a:rPr>
              <a:t>C-19・H9-01（多言語対応）は当初「RFPに含める前提で設計すれば安全」として削除に同意していましたが、『機能を厚めに実装すれば安全』という理由づけは、翻訳コスト・対応可能ベンダーの減少・価格上昇という当初の指摘そのものを無視するものであり、要求定義の目的（過不足のない要求水準の見極め）と矛盾するため要注意に再分類しました。10-09も、安全網としていたC-06自体の削除判断に問題があると判明したため合わせて再分類しています。</a:t>
            </a:r>
            <a:endParaRPr lang="en-US" sz="1150" dirty="0"/>
          </a:p>
        </p:txBody>
      </p:sp>
      <p:sp>
        <p:nvSpPr>
          <p:cNvPr id="8" name="Text 6"/>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デジタル戦略部</dc:creator>
  <cp:lastModifiedBy>デジタル戦略部</cp:lastModifiedBy>
  <cp:revision>1</cp:revision>
  <dcterms:created xsi:type="dcterms:W3CDTF">2026-09-17T12:22:59Z</dcterms:created>
  <dcterms:modified xsi:type="dcterms:W3CDTF">2026-09-17T12:22:59Z</dcterms:modified>
</cp:coreProperties>
</file>