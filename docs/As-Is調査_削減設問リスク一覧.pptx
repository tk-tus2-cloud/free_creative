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6294A"/>
          </a:solidFill>
          <a:ln/>
        </p:spPr>
      </p:sp>
      <p:sp>
        <p:nvSpPr>
          <p:cNvPr id="3" name="Text 1"/>
          <p:cNvSpPr txBox="1"/>
          <p:nvPr/>
        </p:nvSpPr>
        <p:spPr>
          <a:xfrm>
            <a:off x="822960" y="1005840"/>
            <a:ext cx="10515600" cy="822960"/>
          </a:xfrm>
          <a:prstGeom prst="rect">
            <a:avLst/>
          </a:prstGeom>
          <a:noFill/>
          <a:ln/>
        </p:spPr>
        <p:txBody>
          <a:bodyPr wrap="square" lIns="0" tIns="0" rIns="0" bIns="0" rtlCol="0" anchor="ctr"/>
          <a:lstStyle/>
          <a:p>
            <a:pPr indent="0" marL="0">
              <a:buNone/>
            </a:pPr>
            <a:r>
              <a:rPr lang="en-US" sz="3000" b="1" dirty="0">
                <a:solidFill>
                  <a:srgbClr val="FFFFFF"/>
                </a:solidFill>
                <a:latin typeface="Meiryo" pitchFamily="34" charset="0"/>
                <a:ea typeface="Meiryo" pitchFamily="34" charset="-122"/>
                <a:cs typeface="Meiryo" pitchFamily="34" charset="-120"/>
              </a:rPr>
              <a:t>削減設問リスク一覧（専門家レビュー版）</a:t>
            </a:r>
            <a:endParaRPr lang="en-US" sz="3000" dirty="0"/>
          </a:p>
        </p:txBody>
      </p:sp>
      <p:sp>
        <p:nvSpPr>
          <p:cNvPr id="4" name="Text 2"/>
          <p:cNvSpPr txBox="1"/>
          <p:nvPr/>
        </p:nvSpPr>
        <p:spPr>
          <a:xfrm>
            <a:off x="822960" y="1783080"/>
            <a:ext cx="10515600" cy="457200"/>
          </a:xfrm>
          <a:prstGeom prst="rect">
            <a:avLst/>
          </a:prstGeom>
          <a:noFill/>
          <a:ln/>
        </p:spPr>
        <p:txBody>
          <a:bodyPr wrap="square" lIns="0" tIns="0" rIns="0" bIns="0" rtlCol="0" anchor="ctr"/>
          <a:lstStyle/>
          <a:p>
            <a:pPr indent="0" marL="0">
              <a:buNone/>
            </a:pPr>
            <a:r>
              <a:rPr lang="en-US" sz="1400" dirty="0">
                <a:solidFill>
                  <a:srgbClr val="CBD6EA"/>
                </a:solidFill>
                <a:latin typeface="Meiryo" pitchFamily="34" charset="0"/>
                <a:ea typeface="Meiryo" pitchFamily="34" charset="-122"/>
                <a:cs typeface="Meiryo" pitchFamily="34" charset="-120"/>
              </a:rPr>
              <a:t>v1.1パイロット回答を受けた81件の削除判断を再検証し、削除に同意した項目と要注意項目を区分</a:t>
            </a:r>
            <a:endParaRPr lang="en-US" sz="1400" dirty="0"/>
          </a:p>
        </p:txBody>
      </p:sp>
      <p:sp>
        <p:nvSpPr>
          <p:cNvPr id="5" name="Shape 3"/>
          <p:cNvSpPr/>
          <p:nvPr/>
        </p:nvSpPr>
        <p:spPr>
          <a:xfrm>
            <a:off x="822960" y="2514600"/>
            <a:ext cx="10515600" cy="2834640"/>
          </a:xfrm>
          <a:prstGeom prst="roundRect">
            <a:avLst>
              <a:gd name="adj" fmla="val 2581"/>
            </a:avLst>
          </a:prstGeom>
          <a:solidFill>
            <a:srgbClr val="22335A"/>
          </a:solidFill>
          <a:ln/>
        </p:spPr>
      </p:sp>
      <p:sp>
        <p:nvSpPr>
          <p:cNvPr id="6" name="Text 4"/>
          <p:cNvSpPr txBox="1"/>
          <p:nvPr/>
        </p:nvSpPr>
        <p:spPr>
          <a:xfrm>
            <a:off x="1097280" y="2697480"/>
            <a:ext cx="9966960" cy="365760"/>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レビューの考え方</a:t>
            </a:r>
            <a:endParaRPr lang="en-US" sz="1400" dirty="0"/>
          </a:p>
        </p:txBody>
      </p:sp>
      <p:sp>
        <p:nvSpPr>
          <p:cNvPr id="7" name="Text 5"/>
          <p:cNvSpPr txBox="1"/>
          <p:nvPr/>
        </p:nvSpPr>
        <p:spPr>
          <a:xfrm>
            <a:off x="1097280" y="3154680"/>
            <a:ext cx="9966960" cy="2103120"/>
          </a:xfrm>
          <a:prstGeom prst="rect">
            <a:avLst/>
          </a:prstGeom>
          <a:noFill/>
          <a:ln/>
        </p:spPr>
        <p:txBody>
          <a:bodyPr wrap="square" lIns="0" tIns="0" rIns="0" bIns="0" rtlCol="0" anchor="t"/>
          <a:lstStyle/>
          <a:p>
            <a:pPr marL="177800" indent="-177800">
              <a:lnSpc>
                <a:spcPct val="120000"/>
              </a:lnSpc>
              <a:spcAft>
                <a:spcPts val="1200"/>
              </a:spcAft>
              <a:buSzPct val="100000"/>
              <a:buChar char="■"/>
            </a:pPr>
            <a:r>
              <a:rPr lang="en-US" sz="1200" dirty="0">
                <a:solidFill>
                  <a:srgbClr val="E6ECF7"/>
                </a:solidFill>
                <a:latin typeface="Meiryo" pitchFamily="34" charset="0"/>
                <a:ea typeface="Meiryo" pitchFamily="34" charset="-122"/>
                <a:cs typeface="Meiryo" pitchFamily="34" charset="-120"/>
              </a:rPr>
              <a:t>南（デジ戦）がv1.1パイロット回答（ESG企画室・海外BU川端氏）を受けて「拠点への設問として不要」と判断した81件（当初検出した60件に加え、「【回答】」形式で記載されていた21件を追加検証）を、プロの戦略コンサルタント・システムコンサルタントの視点で再検証しました。</a:t>
            </a:r>
            <a:endParaRPr lang="en-US" sz="1200" dirty="0"/>
          </a:p>
          <a:p>
            <a:pPr marL="177800" indent="-177800">
              <a:lnSpc>
                <a:spcPct val="120000"/>
              </a:lnSpc>
              <a:spcAft>
                <a:spcPts val="1200"/>
              </a:spcAft>
              <a:buSzPct val="100000"/>
              <a:buChar char="■"/>
            </a:pPr>
            <a:r>
              <a:rPr lang="en-US" sz="1200" dirty="0">
                <a:solidFill>
                  <a:srgbClr val="E6ECF7"/>
                </a:solidFill>
                <a:latin typeface="Meiryo" pitchFamily="34" charset="0"/>
                <a:ea typeface="Meiryo" pitchFamily="34" charset="-122"/>
                <a:cs typeface="Meiryo" pitchFamily="34" charset="-120"/>
              </a:rPr>
              <a:t>削除理由が妥当で、リスクが軽微または別の仕組みで担保されている51件は【削除に同意】とし、以後のリスク一覧からは外しています。</a:t>
            </a:r>
            <a:endParaRPr lang="en-US" sz="1200" dirty="0"/>
          </a:p>
          <a:p>
            <a:pPr marL="177800" indent="-177800">
              <a:lnSpc>
                <a:spcPct val="120000"/>
              </a:lnSpc>
              <a:buSzPct val="100000"/>
              <a:buChar char="■"/>
            </a:pPr>
            <a:r>
              <a:rPr lang="en-US" sz="1200" dirty="0">
                <a:solidFill>
                  <a:srgbClr val="E6ECF7"/>
                </a:solidFill>
                <a:latin typeface="Meiryo" pitchFamily="34" charset="0"/>
                <a:ea typeface="Meiryo" pitchFamily="34" charset="-122"/>
                <a:cs typeface="Meiryo" pitchFamily="34" charset="-120"/>
              </a:rPr>
              <a:t>削除理由に論理的な誤り・対応不足がある、または理由自体は妥当でもシステム導入・コンプライアンス上のリスクが残る30件を【要注意】として、拠点配布前の再確認を推奨します。</a:t>
            </a:r>
            <a:endParaRPr lang="en-US" sz="1200" dirty="0"/>
          </a:p>
        </p:txBody>
      </p:sp>
      <p:sp>
        <p:nvSpPr>
          <p:cNvPr id="8" name="Text 6"/>
          <p:cNvSpPr txBox="1"/>
          <p:nvPr/>
        </p:nvSpPr>
        <p:spPr>
          <a:xfrm>
            <a:off x="822960" y="6492240"/>
            <a:ext cx="5486400" cy="274320"/>
          </a:xfrm>
          <a:prstGeom prst="rect">
            <a:avLst/>
          </a:prstGeom>
          <a:noFill/>
          <a:ln/>
        </p:spPr>
        <p:txBody>
          <a:bodyPr wrap="square" lIns="0" tIns="0" rIns="0" bIns="0" rtlCol="0" anchor="ctr"/>
          <a:lstStyle/>
          <a:p>
            <a:pPr indent="0" marL="0">
              <a:buNone/>
            </a:pPr>
            <a:r>
              <a:rPr lang="en-US" sz="900" dirty="0">
                <a:solidFill>
                  <a:srgbClr val="8797B5"/>
                </a:solidFill>
                <a:latin typeface="Meiryo" pitchFamily="34" charset="0"/>
                <a:ea typeface="Meiryo" pitchFamily="34" charset="-122"/>
                <a:cs typeface="Meiryo" pitchFamily="34" charset="-120"/>
              </a:rPr>
              <a:t>©LION Corporation / デジタル戦略部</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F3864"/>
          </a:solidFill>
          <a:ln/>
        </p:spPr>
      </p:sp>
      <p:sp>
        <p:nvSpPr>
          <p:cNvPr id="3" name="Text 1"/>
          <p:cNvSpPr txBox="1"/>
          <p:nvPr/>
        </p:nvSpPr>
        <p:spPr>
          <a:xfrm>
            <a:off x="457200" y="109728"/>
            <a:ext cx="9601200" cy="45720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サマリー</a:t>
            </a:r>
            <a:endParaRPr lang="en-US" sz="2200" dirty="0"/>
          </a:p>
        </p:txBody>
      </p:sp>
      <p:sp>
        <p:nvSpPr>
          <p:cNvPr id="4" name="Text 2"/>
          <p:cNvSpPr txBox="1"/>
          <p:nvPr/>
        </p:nvSpPr>
        <p:spPr>
          <a:xfrm>
            <a:off x="457200" y="512064"/>
            <a:ext cx="11247120" cy="292608"/>
          </a:xfrm>
          <a:prstGeom prst="rect">
            <a:avLst/>
          </a:prstGeom>
          <a:noFill/>
          <a:ln/>
        </p:spPr>
        <p:txBody>
          <a:bodyPr wrap="square" lIns="0" tIns="0" rIns="0" bIns="0" rtlCol="0" anchor="ctr"/>
          <a:lstStyle/>
          <a:p>
            <a:pPr indent="0" marL="0">
              <a:buNone/>
            </a:pPr>
            <a:r>
              <a:rPr lang="en-US" sz="1000" dirty="0">
                <a:solidFill>
                  <a:srgbClr val="CBD6EA"/>
                </a:solidFill>
                <a:latin typeface="Meiryo" pitchFamily="34" charset="0"/>
                <a:ea typeface="Meiryo" pitchFamily="34" charset="-122"/>
                <a:cs typeface="Meiryo" pitchFamily="34" charset="-120"/>
              </a:rPr>
              <a:t>81件をレビューし、削除に同意した項目と要注意項目を区分</a:t>
            </a:r>
            <a:endParaRPr lang="en-US" sz="1000" dirty="0"/>
          </a:p>
        </p:txBody>
      </p:sp>
      <p:sp>
        <p:nvSpPr>
          <p:cNvPr id="5" name="Text 3"/>
          <p:cNvSpPr txBox="1"/>
          <p:nvPr/>
        </p:nvSpPr>
        <p:spPr>
          <a:xfrm>
            <a:off x="8961120" y="109728"/>
            <a:ext cx="2926080" cy="274320"/>
          </a:xfrm>
          <a:prstGeom prst="rect">
            <a:avLst/>
          </a:prstGeom>
          <a:noFill/>
          <a:ln/>
        </p:spPr>
        <p:txBody>
          <a:bodyPr wrap="square" lIns="0" tIns="0" rIns="0" bIns="0" rtlCol="0" anchor="ctr"/>
          <a:lstStyle/>
          <a:p>
            <a:pPr algn="r" indent="0" marL="0">
              <a:buNone/>
            </a:pPr>
            <a:r>
              <a:rPr lang="en-US" sz="900" dirty="0">
                <a:solidFill>
                  <a:srgbClr val="CBD6EA"/>
                </a:solidFill>
                <a:latin typeface="Meiryo" pitchFamily="34" charset="0"/>
                <a:ea typeface="Meiryo" pitchFamily="34" charset="-122"/>
                <a:cs typeface="Meiryo" pitchFamily="34" charset="-120"/>
              </a:rPr>
              <a:t>As-Is調査 v1.1 ｜専門家レビュー版</a:t>
            </a:r>
            <a:endParaRPr lang="en-US" sz="900" dirty="0"/>
          </a:p>
        </p:txBody>
      </p:sp>
      <p:sp>
        <p:nvSpPr>
          <p:cNvPr id="6" name="Shape 4"/>
          <p:cNvSpPr/>
          <p:nvPr/>
        </p:nvSpPr>
        <p:spPr>
          <a:xfrm>
            <a:off x="502920" y="1234440"/>
            <a:ext cx="3520440" cy="1463040"/>
          </a:xfrm>
          <a:prstGeom prst="roundRect">
            <a:avLst>
              <a:gd name="adj" fmla="val 5000"/>
            </a:avLst>
          </a:prstGeom>
          <a:solidFill>
            <a:srgbClr val="F5F8FD"/>
          </a:solidFill>
          <a:ln/>
          <a:effectLst>
            <a:outerShdw sx="100000" sy="100000" kx="0" ky="0" algn="bl" rotWithShape="0" blurRad="76200" dist="25400" dir="5400000">
              <a:srgbClr val="9AA7BC">
                <a:alpha val="25000"/>
              </a:srgbClr>
            </a:outerShdw>
          </a:effectLst>
        </p:spPr>
      </p:sp>
      <p:sp>
        <p:nvSpPr>
          <p:cNvPr id="7" name="Text 5"/>
          <p:cNvSpPr txBox="1"/>
          <p:nvPr/>
        </p:nvSpPr>
        <p:spPr>
          <a:xfrm>
            <a:off x="502920" y="1371600"/>
            <a:ext cx="3520440" cy="594360"/>
          </a:xfrm>
          <a:prstGeom prst="rect">
            <a:avLst/>
          </a:prstGeom>
          <a:noFill/>
          <a:ln/>
        </p:spPr>
        <p:txBody>
          <a:bodyPr wrap="square" lIns="0" tIns="0" rIns="0" bIns="0" rtlCol="0" anchor="ctr"/>
          <a:lstStyle/>
          <a:p>
            <a:pPr algn="ctr" indent="0" marL="0">
              <a:buNone/>
            </a:pPr>
            <a:r>
              <a:rPr lang="en-US" sz="2800" b="1" dirty="0">
                <a:solidFill>
                  <a:srgbClr val="1F3864"/>
                </a:solidFill>
                <a:latin typeface="Meiryo" pitchFamily="34" charset="0"/>
                <a:ea typeface="Meiryo" pitchFamily="34" charset="-122"/>
                <a:cs typeface="Meiryo" pitchFamily="34" charset="-120"/>
              </a:rPr>
              <a:t>81件</a:t>
            </a:r>
            <a:endParaRPr lang="en-US" sz="2800" dirty="0"/>
          </a:p>
        </p:txBody>
      </p:sp>
      <p:sp>
        <p:nvSpPr>
          <p:cNvPr id="8" name="Text 6"/>
          <p:cNvSpPr txBox="1"/>
          <p:nvPr/>
        </p:nvSpPr>
        <p:spPr>
          <a:xfrm>
            <a:off x="640080" y="2057400"/>
            <a:ext cx="3246120" cy="548640"/>
          </a:xfrm>
          <a:prstGeom prst="rect">
            <a:avLst/>
          </a:prstGeom>
          <a:noFill/>
          <a:ln/>
        </p:spPr>
        <p:txBody>
          <a:bodyPr wrap="square" lIns="0" tIns="0" rIns="0" bIns="0" rtlCol="0" anchor="ctr"/>
          <a:lstStyle/>
          <a:p>
            <a:pPr algn="ctr" indent="0" marL="0">
              <a:buNone/>
            </a:pPr>
            <a:r>
              <a:rPr lang="en-US" sz="1050" dirty="0">
                <a:solidFill>
                  <a:srgbClr val="26303B"/>
                </a:solidFill>
                <a:latin typeface="Meiryo" pitchFamily="34" charset="0"/>
                <a:ea typeface="Meiryo" pitchFamily="34" charset="-122"/>
                <a:cs typeface="Meiryo" pitchFamily="34" charset="-120"/>
              </a:rPr>
              <a:t>レビュー対象（重複統合等4件は除く）</a:t>
            </a:r>
            <a:endParaRPr lang="en-US" sz="1050" dirty="0"/>
          </a:p>
        </p:txBody>
      </p:sp>
      <p:sp>
        <p:nvSpPr>
          <p:cNvPr id="9" name="Shape 7"/>
          <p:cNvSpPr/>
          <p:nvPr/>
        </p:nvSpPr>
        <p:spPr>
          <a:xfrm>
            <a:off x="4251960" y="1234440"/>
            <a:ext cx="3520440" cy="1463040"/>
          </a:xfrm>
          <a:prstGeom prst="roundRect">
            <a:avLst>
              <a:gd name="adj" fmla="val 5000"/>
            </a:avLst>
          </a:prstGeom>
          <a:solidFill>
            <a:srgbClr val="E2EFDA"/>
          </a:solidFill>
          <a:ln/>
          <a:effectLst>
            <a:outerShdw sx="100000" sy="100000" kx="0" ky="0" algn="bl" rotWithShape="0" blurRad="76200" dist="25400" dir="5400000">
              <a:srgbClr val="9AA7BC">
                <a:alpha val="25000"/>
              </a:srgbClr>
            </a:outerShdw>
          </a:effectLst>
        </p:spPr>
      </p:sp>
      <p:sp>
        <p:nvSpPr>
          <p:cNvPr id="10" name="Text 8"/>
          <p:cNvSpPr txBox="1"/>
          <p:nvPr/>
        </p:nvSpPr>
        <p:spPr>
          <a:xfrm>
            <a:off x="4251960" y="1371600"/>
            <a:ext cx="3520440" cy="594360"/>
          </a:xfrm>
          <a:prstGeom prst="rect">
            <a:avLst/>
          </a:prstGeom>
          <a:noFill/>
          <a:ln/>
        </p:spPr>
        <p:txBody>
          <a:bodyPr wrap="square" lIns="0" tIns="0" rIns="0" bIns="0" rtlCol="0" anchor="ctr"/>
          <a:lstStyle/>
          <a:p>
            <a:pPr algn="ctr" indent="0" marL="0">
              <a:buNone/>
            </a:pPr>
            <a:r>
              <a:rPr lang="en-US" sz="2800" b="1" dirty="0">
                <a:solidFill>
                  <a:srgbClr val="2E7D32"/>
                </a:solidFill>
                <a:latin typeface="Meiryo" pitchFamily="34" charset="0"/>
                <a:ea typeface="Meiryo" pitchFamily="34" charset="-122"/>
                <a:cs typeface="Meiryo" pitchFamily="34" charset="-120"/>
              </a:rPr>
              <a:t>51件</a:t>
            </a:r>
            <a:endParaRPr lang="en-US" sz="2800" dirty="0"/>
          </a:p>
        </p:txBody>
      </p:sp>
      <p:sp>
        <p:nvSpPr>
          <p:cNvPr id="11" name="Text 9"/>
          <p:cNvSpPr txBox="1"/>
          <p:nvPr/>
        </p:nvSpPr>
        <p:spPr>
          <a:xfrm>
            <a:off x="4389120" y="2057400"/>
            <a:ext cx="3246120" cy="548640"/>
          </a:xfrm>
          <a:prstGeom prst="rect">
            <a:avLst/>
          </a:prstGeom>
          <a:noFill/>
          <a:ln/>
        </p:spPr>
        <p:txBody>
          <a:bodyPr wrap="square" lIns="0" tIns="0" rIns="0" bIns="0" rtlCol="0" anchor="ctr"/>
          <a:lstStyle/>
          <a:p>
            <a:pPr algn="ctr" indent="0" marL="0">
              <a:buNone/>
            </a:pPr>
            <a:r>
              <a:rPr lang="en-US" sz="1050" dirty="0">
                <a:solidFill>
                  <a:srgbClr val="26303B"/>
                </a:solidFill>
                <a:latin typeface="Meiryo" pitchFamily="34" charset="0"/>
                <a:ea typeface="Meiryo" pitchFamily="34" charset="-122"/>
                <a:cs typeface="Meiryo" pitchFamily="34" charset="-120"/>
              </a:rPr>
              <a:t>削除に同意（理由妥当・リスク軽微）</a:t>
            </a:r>
            <a:endParaRPr lang="en-US" sz="1050" dirty="0"/>
          </a:p>
        </p:txBody>
      </p:sp>
      <p:sp>
        <p:nvSpPr>
          <p:cNvPr id="12" name="Shape 10"/>
          <p:cNvSpPr/>
          <p:nvPr/>
        </p:nvSpPr>
        <p:spPr>
          <a:xfrm>
            <a:off x="8001000" y="1234440"/>
            <a:ext cx="3520440" cy="1463040"/>
          </a:xfrm>
          <a:prstGeom prst="roundRect">
            <a:avLst>
              <a:gd name="adj" fmla="val 5000"/>
            </a:avLst>
          </a:prstGeom>
          <a:solidFill>
            <a:srgbClr val="F8CBAD"/>
          </a:solidFill>
          <a:ln/>
          <a:effectLst>
            <a:outerShdw sx="100000" sy="100000" kx="0" ky="0" algn="bl" rotWithShape="0" blurRad="76200" dist="25400" dir="5400000">
              <a:srgbClr val="9AA7BC">
                <a:alpha val="25000"/>
              </a:srgbClr>
            </a:outerShdw>
          </a:effectLst>
        </p:spPr>
      </p:sp>
      <p:sp>
        <p:nvSpPr>
          <p:cNvPr id="13" name="Text 11"/>
          <p:cNvSpPr txBox="1"/>
          <p:nvPr/>
        </p:nvSpPr>
        <p:spPr>
          <a:xfrm>
            <a:off x="8001000" y="1371600"/>
            <a:ext cx="3520440" cy="594360"/>
          </a:xfrm>
          <a:prstGeom prst="rect">
            <a:avLst/>
          </a:prstGeom>
          <a:noFill/>
          <a:ln/>
        </p:spPr>
        <p:txBody>
          <a:bodyPr wrap="square" lIns="0" tIns="0" rIns="0" bIns="0" rtlCol="0" anchor="ctr"/>
          <a:lstStyle/>
          <a:p>
            <a:pPr algn="ctr" indent="0" marL="0">
              <a:buNone/>
            </a:pPr>
            <a:r>
              <a:rPr lang="en-US" sz="2800" b="1" dirty="0">
                <a:solidFill>
                  <a:srgbClr val="8A3B12"/>
                </a:solidFill>
                <a:latin typeface="Meiryo" pitchFamily="34" charset="0"/>
                <a:ea typeface="Meiryo" pitchFamily="34" charset="-122"/>
                <a:cs typeface="Meiryo" pitchFamily="34" charset="-120"/>
              </a:rPr>
              <a:t>30件</a:t>
            </a:r>
            <a:endParaRPr lang="en-US" sz="2800" dirty="0"/>
          </a:p>
        </p:txBody>
      </p:sp>
      <p:sp>
        <p:nvSpPr>
          <p:cNvPr id="14" name="Text 12"/>
          <p:cNvSpPr txBox="1"/>
          <p:nvPr/>
        </p:nvSpPr>
        <p:spPr>
          <a:xfrm>
            <a:off x="8138160" y="2057400"/>
            <a:ext cx="3246120" cy="548640"/>
          </a:xfrm>
          <a:prstGeom prst="rect">
            <a:avLst/>
          </a:prstGeom>
          <a:noFill/>
          <a:ln/>
        </p:spPr>
        <p:txBody>
          <a:bodyPr wrap="square" lIns="0" tIns="0" rIns="0" bIns="0" rtlCol="0" anchor="ctr"/>
          <a:lstStyle/>
          <a:p>
            <a:pPr algn="ctr" indent="0" marL="0">
              <a:buNone/>
            </a:pPr>
            <a:r>
              <a:rPr lang="en-US" sz="1050" dirty="0">
                <a:solidFill>
                  <a:srgbClr val="26303B"/>
                </a:solidFill>
                <a:latin typeface="Meiryo" pitchFamily="34" charset="0"/>
                <a:ea typeface="Meiryo" pitchFamily="34" charset="-122"/>
                <a:cs typeface="Meiryo" pitchFamily="34" charset="-120"/>
              </a:rPr>
              <a:t>要注意（理由不十分または残存リスク）</a:t>
            </a:r>
            <a:endParaRPr lang="en-US" sz="1050" dirty="0"/>
          </a:p>
        </p:txBody>
      </p:sp>
      <p:sp>
        <p:nvSpPr>
          <p:cNvPr id="15" name="Text 13"/>
          <p:cNvSpPr txBox="1"/>
          <p:nvPr/>
        </p:nvSpPr>
        <p:spPr>
          <a:xfrm>
            <a:off x="502920" y="3063240"/>
            <a:ext cx="5486400" cy="320040"/>
          </a:xfrm>
          <a:prstGeom prst="rect">
            <a:avLst/>
          </a:prstGeom>
          <a:noFill/>
          <a:ln/>
        </p:spPr>
        <p:txBody>
          <a:bodyPr wrap="square" lIns="0" tIns="0" rIns="0" bIns="0" rtlCol="0" anchor="ctr"/>
          <a:lstStyle/>
          <a:p>
            <a:pPr indent="0" marL="0">
              <a:buNone/>
            </a:pPr>
            <a:r>
              <a:rPr lang="en-US" sz="1300" b="1" dirty="0">
                <a:solidFill>
                  <a:srgbClr val="1F3864"/>
                </a:solidFill>
                <a:latin typeface="Meiryo" pitchFamily="34" charset="0"/>
                <a:ea typeface="Meiryo" pitchFamily="34" charset="-122"/>
                <a:cs typeface="Meiryo" pitchFamily="34" charset="-120"/>
              </a:rPr>
              <a:t>要注意30件の内訳</a:t>
            </a:r>
            <a:endParaRPr lang="en-US" sz="1300" dirty="0"/>
          </a:p>
        </p:txBody>
      </p:sp>
      <p:sp>
        <p:nvSpPr>
          <p:cNvPr id="16" name="Shape 14"/>
          <p:cNvSpPr/>
          <p:nvPr/>
        </p:nvSpPr>
        <p:spPr>
          <a:xfrm>
            <a:off x="502920" y="3474720"/>
            <a:ext cx="11155680" cy="868680"/>
          </a:xfrm>
          <a:prstGeom prst="roundRect">
            <a:avLst>
              <a:gd name="adj" fmla="val 6316"/>
            </a:avLst>
          </a:prstGeom>
          <a:solidFill>
            <a:srgbClr val="F5F8FD"/>
          </a:solidFill>
          <a:ln/>
        </p:spPr>
      </p:sp>
      <p:sp>
        <p:nvSpPr>
          <p:cNvPr id="17" name="Text 15"/>
          <p:cNvSpPr txBox="1"/>
          <p:nvPr/>
        </p:nvSpPr>
        <p:spPr>
          <a:xfrm>
            <a:off x="685800" y="3547872"/>
            <a:ext cx="3657600" cy="320040"/>
          </a:xfrm>
          <a:prstGeom prst="rect">
            <a:avLst/>
          </a:prstGeom>
          <a:noFill/>
          <a:ln/>
        </p:spPr>
        <p:txBody>
          <a:bodyPr wrap="square" lIns="0" tIns="0" rIns="0" bIns="0" rtlCol="0" anchor="ctr"/>
          <a:lstStyle/>
          <a:p>
            <a:pPr indent="0" marL="0">
              <a:buNone/>
            </a:pPr>
            <a:r>
              <a:rPr lang="en-US" sz="1100" b="1" dirty="0">
                <a:solidFill>
                  <a:srgbClr val="1F3864"/>
                </a:solidFill>
                <a:latin typeface="Meiryo" pitchFamily="34" charset="0"/>
                <a:ea typeface="Meiryo" pitchFamily="34" charset="-122"/>
                <a:cs typeface="Meiryo" pitchFamily="34" charset="-120"/>
              </a:rPr>
              <a:t>理由不十分・誤り（10件）</a:t>
            </a:r>
            <a:endParaRPr lang="en-US" sz="1100" dirty="0"/>
          </a:p>
        </p:txBody>
      </p:sp>
      <p:sp>
        <p:nvSpPr>
          <p:cNvPr id="18" name="Text 16"/>
          <p:cNvSpPr txBox="1"/>
          <p:nvPr/>
        </p:nvSpPr>
        <p:spPr>
          <a:xfrm>
            <a:off x="685800" y="3858768"/>
            <a:ext cx="10789920" cy="438912"/>
          </a:xfrm>
          <a:prstGeom prst="rect">
            <a:avLst/>
          </a:prstGeom>
          <a:noFill/>
          <a:ln/>
        </p:spPr>
        <p:txBody>
          <a:bodyPr wrap="square" lIns="0" tIns="0" rIns="0" bIns="0" rtlCol="0" anchor="ctr"/>
          <a:lstStyle/>
          <a:p>
            <a:pPr indent="0" marL="0">
              <a:buNone/>
            </a:pPr>
            <a:r>
              <a:rPr lang="en-US" sz="950" dirty="0">
                <a:solidFill>
                  <a:srgbClr val="26303B"/>
                </a:solidFill>
                <a:latin typeface="Meiryo" pitchFamily="34" charset="0"/>
                <a:ea typeface="Meiryo" pitchFamily="34" charset="-122"/>
                <a:cs typeface="Meiryo" pitchFamily="34" charset="-120"/>
              </a:rPr>
              <a:t>設問と回答が対応していない、質問対象を誤っている、対応が未完了等、削除の論理自体に問題がある</a:t>
            </a:r>
            <a:endParaRPr lang="en-US" sz="950" dirty="0"/>
          </a:p>
        </p:txBody>
      </p:sp>
      <p:sp>
        <p:nvSpPr>
          <p:cNvPr id="19" name="Shape 17"/>
          <p:cNvSpPr/>
          <p:nvPr/>
        </p:nvSpPr>
        <p:spPr>
          <a:xfrm>
            <a:off x="502920" y="4526280"/>
            <a:ext cx="11155680" cy="868680"/>
          </a:xfrm>
          <a:prstGeom prst="roundRect">
            <a:avLst>
              <a:gd name="adj" fmla="val 6316"/>
            </a:avLst>
          </a:prstGeom>
          <a:solidFill>
            <a:srgbClr val="F5F8FD"/>
          </a:solidFill>
          <a:ln/>
        </p:spPr>
      </p:sp>
      <p:sp>
        <p:nvSpPr>
          <p:cNvPr id="20" name="Text 18"/>
          <p:cNvSpPr txBox="1"/>
          <p:nvPr/>
        </p:nvSpPr>
        <p:spPr>
          <a:xfrm>
            <a:off x="685800" y="4599432"/>
            <a:ext cx="3657600" cy="320040"/>
          </a:xfrm>
          <a:prstGeom prst="rect">
            <a:avLst/>
          </a:prstGeom>
          <a:noFill/>
          <a:ln/>
        </p:spPr>
        <p:txBody>
          <a:bodyPr wrap="square" lIns="0" tIns="0" rIns="0" bIns="0" rtlCol="0" anchor="ctr"/>
          <a:lstStyle/>
          <a:p>
            <a:pPr indent="0" marL="0">
              <a:buNone/>
            </a:pPr>
            <a:r>
              <a:rPr lang="en-US" sz="1100" b="1" dirty="0">
                <a:solidFill>
                  <a:srgbClr val="1F3864"/>
                </a:solidFill>
                <a:latin typeface="Meiryo" pitchFamily="34" charset="0"/>
                <a:ea typeface="Meiryo" pitchFamily="34" charset="-122"/>
                <a:cs typeface="Meiryo" pitchFamily="34" charset="-120"/>
              </a:rPr>
              <a:t>理由は妥当だがリスク残存（20件）</a:t>
            </a:r>
            <a:endParaRPr lang="en-US" sz="1100" dirty="0"/>
          </a:p>
        </p:txBody>
      </p:sp>
      <p:sp>
        <p:nvSpPr>
          <p:cNvPr id="21" name="Text 19"/>
          <p:cNvSpPr txBox="1"/>
          <p:nvPr/>
        </p:nvSpPr>
        <p:spPr>
          <a:xfrm>
            <a:off x="685800" y="4910328"/>
            <a:ext cx="10789920" cy="438912"/>
          </a:xfrm>
          <a:prstGeom prst="rect">
            <a:avLst/>
          </a:prstGeom>
          <a:noFill/>
          <a:ln/>
        </p:spPr>
        <p:txBody>
          <a:bodyPr wrap="square" lIns="0" tIns="0" rIns="0" bIns="0" rtlCol="0" anchor="ctr"/>
          <a:lstStyle/>
          <a:p>
            <a:pPr indent="0" marL="0">
              <a:buNone/>
            </a:pPr>
            <a:r>
              <a:rPr lang="en-US" sz="950" dirty="0">
                <a:solidFill>
                  <a:srgbClr val="26303B"/>
                </a:solidFill>
                <a:latin typeface="Meiryo" pitchFamily="34" charset="0"/>
                <a:ea typeface="Meiryo" pitchFamily="34" charset="-122"/>
                <a:cs typeface="Meiryo" pitchFamily="34" charset="-120"/>
              </a:rPr>
              <a:t>判断の方向性は妥当だが、パイロット2件のみでの一般化・コンプライアンス上の懸念・投資判断の根拠不足等が残る</a:t>
            </a:r>
            <a:endParaRPr lang="en-US" sz="950" dirty="0"/>
          </a:p>
        </p:txBody>
      </p:sp>
      <p:sp>
        <p:nvSpPr>
          <p:cNvPr id="22" name="Shape 20"/>
          <p:cNvSpPr/>
          <p:nvPr/>
        </p:nvSpPr>
        <p:spPr>
          <a:xfrm>
            <a:off x="502920" y="5715000"/>
            <a:ext cx="11183112" cy="685800"/>
          </a:xfrm>
          <a:prstGeom prst="roundRect">
            <a:avLst>
              <a:gd name="adj" fmla="val 8000"/>
            </a:avLst>
          </a:prstGeom>
          <a:solidFill>
            <a:srgbClr val="EAF1FA"/>
          </a:solidFill>
          <a:ln/>
        </p:spPr>
      </p:sp>
      <p:sp>
        <p:nvSpPr>
          <p:cNvPr id="23" name="Text 21"/>
          <p:cNvSpPr txBox="1"/>
          <p:nvPr/>
        </p:nvSpPr>
        <p:spPr>
          <a:xfrm>
            <a:off x="713232" y="5715000"/>
            <a:ext cx="10789920" cy="685800"/>
          </a:xfrm>
          <a:prstGeom prst="rect">
            <a:avLst/>
          </a:prstGeom>
          <a:noFill/>
          <a:ln/>
        </p:spPr>
        <p:txBody>
          <a:bodyPr wrap="square" lIns="0" tIns="0" rIns="0" bIns="0" rtlCol="0" anchor="ctr"/>
          <a:lstStyle/>
          <a:p>
            <a:pPr indent="0" marL="0">
              <a:buNone/>
            </a:pPr>
            <a:r>
              <a:rPr lang="en-US" sz="1000" b="1" dirty="0">
                <a:solidFill>
                  <a:srgbClr val="16294A"/>
                </a:solidFill>
                <a:latin typeface="Meiryo" pitchFamily="34" charset="0"/>
                <a:ea typeface="Meiryo" pitchFamily="34" charset="-122"/>
                <a:cs typeface="Meiryo" pitchFamily="34" charset="-120"/>
              </a:rPr>
              <a:t>以降のページで、要注意30件を影響度とともに一覧します。削除に同意した51件は付録として末尾に一覧を掲載しています。</a:t>
            </a:r>
            <a:endParaRPr lang="en-US" sz="1000" dirty="0"/>
          </a:p>
        </p:txBody>
      </p:sp>
      <p:sp>
        <p:nvSpPr>
          <p:cNvPr id="24" name="Text 22"/>
          <p:cNvSpPr txBox="1"/>
          <p:nvPr/>
        </p:nvSpPr>
        <p:spPr>
          <a:xfrm>
            <a:off x="11750040" y="6537960"/>
            <a:ext cx="365760" cy="256032"/>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F3864"/>
          </a:solidFill>
          <a:ln/>
        </p:spPr>
      </p:sp>
      <p:sp>
        <p:nvSpPr>
          <p:cNvPr id="3" name="Text 1"/>
          <p:cNvSpPr txBox="1"/>
          <p:nvPr/>
        </p:nvSpPr>
        <p:spPr>
          <a:xfrm>
            <a:off x="457200" y="109728"/>
            <a:ext cx="9601200" cy="45720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要注意（1/4）</a:t>
            </a:r>
            <a:endParaRPr lang="en-US" sz="2200" dirty="0"/>
          </a:p>
        </p:txBody>
      </p:sp>
      <p:sp>
        <p:nvSpPr>
          <p:cNvPr id="4" name="Text 2"/>
          <p:cNvSpPr txBox="1"/>
          <p:nvPr/>
        </p:nvSpPr>
        <p:spPr>
          <a:xfrm>
            <a:off x="457200" y="512064"/>
            <a:ext cx="11247120" cy="292608"/>
          </a:xfrm>
          <a:prstGeom prst="rect">
            <a:avLst/>
          </a:prstGeom>
          <a:noFill/>
          <a:ln/>
        </p:spPr>
        <p:txBody>
          <a:bodyPr wrap="square" lIns="0" tIns="0" rIns="0" bIns="0" rtlCol="0" anchor="ctr"/>
          <a:lstStyle/>
          <a:p>
            <a:pPr indent="0" marL="0">
              <a:buNone/>
            </a:pPr>
            <a:r>
              <a:rPr lang="en-US" sz="1000" dirty="0">
                <a:solidFill>
                  <a:srgbClr val="CBD6EA"/>
                </a:solidFill>
                <a:latin typeface="Meiryo" pitchFamily="34" charset="0"/>
                <a:ea typeface="Meiryo" pitchFamily="34" charset="-122"/>
                <a:cs typeface="Meiryo" pitchFamily="34" charset="-120"/>
              </a:rPr>
              <a:t>理由不十分・誤りの可能性がある項目を中心に</a:t>
            </a:r>
            <a:endParaRPr lang="en-US" sz="1000" dirty="0"/>
          </a:p>
        </p:txBody>
      </p:sp>
      <p:sp>
        <p:nvSpPr>
          <p:cNvPr id="5" name="Text 3"/>
          <p:cNvSpPr txBox="1"/>
          <p:nvPr/>
        </p:nvSpPr>
        <p:spPr>
          <a:xfrm>
            <a:off x="8961120" y="109728"/>
            <a:ext cx="2926080" cy="274320"/>
          </a:xfrm>
          <a:prstGeom prst="rect">
            <a:avLst/>
          </a:prstGeom>
          <a:noFill/>
          <a:ln/>
        </p:spPr>
        <p:txBody>
          <a:bodyPr wrap="square" lIns="0" tIns="0" rIns="0" bIns="0" rtlCol="0" anchor="ctr"/>
          <a:lstStyle/>
          <a:p>
            <a:pPr algn="r" indent="0" marL="0">
              <a:buNone/>
            </a:pPr>
            <a:r>
              <a:rPr lang="en-US" sz="900" dirty="0">
                <a:solidFill>
                  <a:srgbClr val="CBD6EA"/>
                </a:solidFill>
                <a:latin typeface="Meiryo" pitchFamily="34" charset="0"/>
                <a:ea typeface="Meiryo" pitchFamily="34" charset="-122"/>
                <a:cs typeface="Meiryo" pitchFamily="34" charset="-120"/>
              </a:rPr>
              <a:t>As-Is調査 v1.1 ｜専門家レビュー版</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20040" y="1005840"/>
          <a:ext cx="11548872" cy="914400"/>
        </p:xfrm>
        <a:graphic>
          <a:graphicData uri="http://schemas.openxmlformats.org/drawingml/2006/table">
            <a:tbl>
              <a:tblPr/>
              <a:tblGrid>
                <a:gridCol w="685800"/>
                <a:gridCol w="2331720"/>
                <a:gridCol w="2743200"/>
                <a:gridCol w="1417320"/>
                <a:gridCol w="3730752"/>
                <a:gridCol w="640080"/>
              </a:tblGrid>
              <a:tr h="691515">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ID</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1F3864"/>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元の設問（要旨）</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1F3864"/>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南氏の削除理由</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1F3864"/>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レビュー区分</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1F3864"/>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専門家コメント</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1F3864"/>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影響度</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1F3864"/>
                    </a:solidFill>
                  </a:tcPr>
                </a:tc>
              </a:tr>
              <a:tr h="691515">
                <a:tc>
                  <a:txBody>
                    <a:bodyPr/>
                    <a:lstStyle/>
                    <a:p>
                      <a:pPr algn="ctr" indent="0" marL="0">
                        <a:buNone/>
                      </a:pPr>
                      <a:r>
                        <a:rPr lang="en-US" sz="800" b="1" dirty="0">
                          <a:solidFill>
                            <a:srgbClr val="000000"/>
                          </a:solidFill>
                          <a:latin typeface="Meiryo" pitchFamily="34" charset="0"/>
                          <a:ea typeface="Meiryo" pitchFamily="34" charset="-122"/>
                          <a:cs typeface="Meiryo" pitchFamily="34" charset="-120"/>
                        </a:rPr>
                        <a:t>(全体・シート2)</a:t>
                      </a:r>
                      <a:endParaRPr lang="en-US" sz="8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貴拠点が報告している非財務データの項目一覧</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ESG企画室が一括管理・記入し拠点配布から外す</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750" b="1" dirty="0">
                          <a:solidFill>
                            <a:srgbClr val="8A3B12"/>
                          </a:solidFill>
                          <a:latin typeface="Meiryo" pitchFamily="34" charset="0"/>
                          <a:ea typeface="Meiryo" pitchFamily="34" charset="-122"/>
                          <a:cs typeface="Meiryo" pitchFamily="34" charset="-120"/>
                        </a:rPr>
                        <a:t>理由不十分</a:t>
                      </a:r>
                      <a:endParaRPr lang="en-US" sz="7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8CBAD"/>
                    </a:solidFill>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ESG企画室が全拠点のローカル項目を把握しているという前提が調査目的と矛盾。最低限、本社一覧への抜け漏れ確認は残すべき</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850" b="1" dirty="0">
                          <a:solidFill>
                            <a:srgbClr val="8A3B12"/>
                          </a:solidFill>
                          <a:latin typeface="Meiryo" pitchFamily="34" charset="0"/>
                          <a:ea typeface="Meiryo" pitchFamily="34" charset="-122"/>
                          <a:cs typeface="Meiryo" pitchFamily="34" charset="-120"/>
                        </a:rPr>
                        <a:t>高</a:t>
                      </a:r>
                      <a:endParaRPr lang="en-US" sz="8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8CBAD"/>
                    </a:solidFill>
                  </a:tcPr>
                </a:tc>
              </a:tr>
              <a:tr h="691515">
                <a:tc>
                  <a:txBody>
                    <a:bodyPr/>
                    <a:lstStyle/>
                    <a:p>
                      <a:pPr algn="ctr" indent="0" marL="0">
                        <a:buNone/>
                      </a:pPr>
                      <a:r>
                        <a:rPr lang="en-US" sz="800" b="1" dirty="0">
                          <a:solidFill>
                            <a:srgbClr val="000000"/>
                          </a:solidFill>
                          <a:latin typeface="Meiryo" pitchFamily="34" charset="0"/>
                          <a:ea typeface="Meiryo" pitchFamily="34" charset="-122"/>
                          <a:cs typeface="Meiryo" pitchFamily="34" charset="-120"/>
                        </a:rPr>
                        <a:t>C-03</a:t>
                      </a:r>
                      <a:endParaRPr lang="en-US" sz="8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使用期間と請求期間のズレの処理方法</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日割りせず請求期間のまま報告で一致</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750" b="1" dirty="0">
                          <a:solidFill>
                            <a:srgbClr val="7A5B00"/>
                          </a:solidFill>
                          <a:latin typeface="Meiryo" pitchFamily="34" charset="0"/>
                          <a:ea typeface="Meiryo" pitchFamily="34" charset="-122"/>
                          <a:cs typeface="Meiryo" pitchFamily="34" charset="-120"/>
                        </a:rPr>
                        <a:t>リスク残存</a:t>
                      </a:r>
                      <a:endParaRPr lang="en-US" sz="7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FE699"/>
                    </a:solidFill>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回答者自身が別項目で「水道代の請求サイクルは拠点ごとにばらつく可能性」と指摘済み。確認せず一律判断するのは危険</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850" b="1" dirty="0">
                          <a:solidFill>
                            <a:srgbClr val="8A3B12"/>
                          </a:solidFill>
                          <a:latin typeface="Meiryo" pitchFamily="34" charset="0"/>
                          <a:ea typeface="Meiryo" pitchFamily="34" charset="-122"/>
                          <a:cs typeface="Meiryo" pitchFamily="34" charset="-120"/>
                        </a:rPr>
                        <a:t>高</a:t>
                      </a:r>
                      <a:endParaRPr lang="en-US" sz="8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8CBAD"/>
                    </a:solidFill>
                  </a:tcPr>
                </a:tc>
              </a:tr>
              <a:tr h="691515">
                <a:tc>
                  <a:txBody>
                    <a:bodyPr/>
                    <a:lstStyle/>
                    <a:p>
                      <a:pPr algn="ctr" indent="0" marL="0">
                        <a:buNone/>
                      </a:pPr>
                      <a:r>
                        <a:rPr lang="en-US" sz="800" b="1" dirty="0">
                          <a:solidFill>
                            <a:srgbClr val="000000"/>
                          </a:solidFill>
                          <a:latin typeface="Meiryo" pitchFamily="34" charset="0"/>
                          <a:ea typeface="Meiryo" pitchFamily="34" charset="-122"/>
                          <a:cs typeface="Meiryo" pitchFamily="34" charset="-120"/>
                        </a:rPr>
                        <a:t>C-07</a:t>
                      </a:r>
                      <a:endParaRPr lang="en-US" sz="8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拠点独自の係数・ルールの使用有無</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係数・ルールは本社一括管理で一致</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750" b="1" dirty="0">
                          <a:solidFill>
                            <a:srgbClr val="7A5B00"/>
                          </a:solidFill>
                          <a:latin typeface="Meiryo" pitchFamily="34" charset="0"/>
                          <a:ea typeface="Meiryo" pitchFamily="34" charset="-122"/>
                          <a:cs typeface="Meiryo" pitchFamily="34" charset="-120"/>
                        </a:rPr>
                        <a:t>リスク残存</a:t>
                      </a:r>
                      <a:endParaRPr lang="en-US" sz="7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FE699"/>
                    </a:solidFill>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同じ回答内で「海外はGHGプロトコル基準で温対法とは別」と記載あり。『本社一括管理』は不正確</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850" b="1" dirty="0">
                          <a:solidFill>
                            <a:srgbClr val="8A3B12"/>
                          </a:solidFill>
                          <a:latin typeface="Meiryo" pitchFamily="34" charset="0"/>
                          <a:ea typeface="Meiryo" pitchFamily="34" charset="-122"/>
                          <a:cs typeface="Meiryo" pitchFamily="34" charset="-120"/>
                        </a:rPr>
                        <a:t>高</a:t>
                      </a:r>
                      <a:endParaRPr lang="en-US" sz="8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8CBAD"/>
                    </a:solidFill>
                  </a:tcPr>
                </a:tc>
              </a:tr>
              <a:tr h="691515">
                <a:tc>
                  <a:txBody>
                    <a:bodyPr/>
                    <a:lstStyle/>
                    <a:p>
                      <a:pPr algn="ctr" indent="0" marL="0">
                        <a:buNone/>
                      </a:pPr>
                      <a:r>
                        <a:rPr lang="en-US" sz="800" b="1" dirty="0">
                          <a:solidFill>
                            <a:srgbClr val="000000"/>
                          </a:solidFill>
                          <a:latin typeface="Meiryo" pitchFamily="34" charset="0"/>
                          <a:ea typeface="Meiryo" pitchFamily="34" charset="-122"/>
                          <a:cs typeface="Meiryo" pitchFamily="34" charset="-120"/>
                        </a:rPr>
                        <a:t>C-14</a:t>
                      </a:r>
                      <a:endParaRPr lang="en-US" sz="8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業務システムからデータを取り出せるか</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主要システムは出力可で一致</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750" b="1" dirty="0">
                          <a:solidFill>
                            <a:srgbClr val="7A5B00"/>
                          </a:solidFill>
                          <a:latin typeface="Meiryo" pitchFamily="34" charset="0"/>
                          <a:ea typeface="Meiryo" pitchFamily="34" charset="-122"/>
                          <a:cs typeface="Meiryo" pitchFamily="34" charset="-120"/>
                        </a:rPr>
                        <a:t>リスク残存</a:t>
                      </a:r>
                      <a:endParaRPr lang="en-US" sz="7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FE699"/>
                    </a:solidFill>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回答者は本社側の立場。34拠点のシステム連携可否をパイロット2件で代表させるのは根拠が弱い</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850" b="1" dirty="0">
                          <a:solidFill>
                            <a:srgbClr val="8A3B12"/>
                          </a:solidFill>
                          <a:latin typeface="Meiryo" pitchFamily="34" charset="0"/>
                          <a:ea typeface="Meiryo" pitchFamily="34" charset="-122"/>
                          <a:cs typeface="Meiryo" pitchFamily="34" charset="-120"/>
                        </a:rPr>
                        <a:t>高</a:t>
                      </a:r>
                      <a:endParaRPr lang="en-US" sz="8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8CBAD"/>
                    </a:solidFill>
                  </a:tcPr>
                </a:tc>
              </a:tr>
              <a:tr h="691515">
                <a:tc>
                  <a:txBody>
                    <a:bodyPr/>
                    <a:lstStyle/>
                    <a:p>
                      <a:pPr algn="ctr" indent="0" marL="0">
                        <a:buNone/>
                      </a:pPr>
                      <a:r>
                        <a:rPr lang="en-US" sz="800" b="1" dirty="0">
                          <a:solidFill>
                            <a:srgbClr val="000000"/>
                          </a:solidFill>
                          <a:latin typeface="Meiryo" pitchFamily="34" charset="0"/>
                          <a:ea typeface="Meiryo" pitchFamily="34" charset="-122"/>
                          <a:cs typeface="Meiryo" pitchFamily="34" charset="-120"/>
                        </a:rPr>
                        <a:t>C-22</a:t>
                      </a:r>
                      <a:endParaRPr lang="en-US" sz="8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年間で最も負荷が高い月</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1〜3月がピークで一致</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750" b="1" dirty="0">
                          <a:solidFill>
                            <a:srgbClr val="7A5B00"/>
                          </a:solidFill>
                          <a:latin typeface="Meiryo" pitchFamily="34" charset="0"/>
                          <a:ea typeface="Meiryo" pitchFamily="34" charset="-122"/>
                          <a:cs typeface="Meiryo" pitchFamily="34" charset="-120"/>
                        </a:rPr>
                        <a:t>リスク残存</a:t>
                      </a:r>
                      <a:endParaRPr lang="en-US" sz="7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FE699"/>
                    </a:solidFill>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国内決算スケジュール前提の可能性が高く、決算月が異なる海外拠点には当てはまらないおそれ</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850" b="1" dirty="0">
                          <a:solidFill>
                            <a:srgbClr val="7A5B00"/>
                          </a:solidFill>
                          <a:latin typeface="Meiryo" pitchFamily="34" charset="0"/>
                          <a:ea typeface="Meiryo" pitchFamily="34" charset="-122"/>
                          <a:cs typeface="Meiryo" pitchFamily="34" charset="-120"/>
                        </a:rPr>
                        <a:t>中</a:t>
                      </a:r>
                      <a:endParaRPr lang="en-US" sz="8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FE699"/>
                    </a:solidFill>
                  </a:tcPr>
                </a:tc>
              </a:tr>
              <a:tr h="691515">
                <a:tc>
                  <a:txBody>
                    <a:bodyPr/>
                    <a:lstStyle/>
                    <a:p>
                      <a:pPr algn="ctr" indent="0" marL="0">
                        <a:buNone/>
                      </a:pPr>
                      <a:r>
                        <a:rPr lang="en-US" sz="800" b="1" dirty="0">
                          <a:solidFill>
                            <a:srgbClr val="000000"/>
                          </a:solidFill>
                          <a:latin typeface="Meiryo" pitchFamily="34" charset="0"/>
                          <a:ea typeface="Meiryo" pitchFamily="34" charset="-122"/>
                          <a:cs typeface="Meiryo" pitchFamily="34" charset="-120"/>
                        </a:rPr>
                        <a:t>C-26</a:t>
                      </a:r>
                      <a:endParaRPr lang="en-US" sz="8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推計・概算で報告している割合</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按分は小田原研究所の外部テナントに限られると把握</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750" b="1" dirty="0">
                          <a:solidFill>
                            <a:srgbClr val="8A3B12"/>
                          </a:solidFill>
                          <a:latin typeface="Meiryo" pitchFamily="34" charset="0"/>
                          <a:ea typeface="Meiryo" pitchFamily="34" charset="-122"/>
                          <a:cs typeface="Meiryo" pitchFamily="34" charset="-120"/>
                        </a:rPr>
                        <a:t>理由不十分</a:t>
                      </a:r>
                      <a:endParaRPr lang="en-US" sz="7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8CBAD"/>
                    </a:solidFill>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回答内容は「按分」（C-25の話）で、C-26が問う推計割合には未回答。設問と回答が対応していない</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850" b="1" dirty="0">
                          <a:solidFill>
                            <a:srgbClr val="8A3B12"/>
                          </a:solidFill>
                          <a:latin typeface="Meiryo" pitchFamily="34" charset="0"/>
                          <a:ea typeface="Meiryo" pitchFamily="34" charset="-122"/>
                          <a:cs typeface="Meiryo" pitchFamily="34" charset="-120"/>
                        </a:rPr>
                        <a:t>高</a:t>
                      </a:r>
                      <a:endParaRPr lang="en-US" sz="8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8CBAD"/>
                    </a:solidFill>
                  </a:tcPr>
                </a:tc>
              </a:tr>
              <a:tr h="691515">
                <a:tc>
                  <a:txBody>
                    <a:bodyPr/>
                    <a:lstStyle/>
                    <a:p>
                      <a:pPr algn="ctr" indent="0" marL="0">
                        <a:buNone/>
                      </a:pPr>
                      <a:r>
                        <a:rPr lang="en-US" sz="800" b="1" dirty="0">
                          <a:solidFill>
                            <a:srgbClr val="000000"/>
                          </a:solidFill>
                          <a:latin typeface="Meiryo" pitchFamily="34" charset="0"/>
                          <a:ea typeface="Meiryo" pitchFamily="34" charset="-122"/>
                          <a:cs typeface="Meiryo" pitchFamily="34" charset="-120"/>
                        </a:rPr>
                        <a:t>C-28</a:t>
                      </a:r>
                      <a:endParaRPr lang="en-US" sz="8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証憑が個人PC・メールにしかないか</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実態を把握できたため削除（具体事例で対応）</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750" b="1" dirty="0">
                          <a:solidFill>
                            <a:srgbClr val="7A5B00"/>
                          </a:solidFill>
                          <a:latin typeface="Meiryo" pitchFamily="34" charset="0"/>
                          <a:ea typeface="Meiryo" pitchFamily="34" charset="-122"/>
                          <a:cs typeface="Meiryo" pitchFamily="34" charset="-120"/>
                        </a:rPr>
                        <a:t>リスク残存</a:t>
                      </a:r>
                      <a:endParaRPr lang="en-US" sz="7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FE699"/>
                    </a:solidFill>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把握できたのは2つの具体事例のみ。他拠点の同様の記録の有無は未確認</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850" b="1" dirty="0">
                          <a:solidFill>
                            <a:srgbClr val="8A3B12"/>
                          </a:solidFill>
                          <a:latin typeface="Meiryo" pitchFamily="34" charset="0"/>
                          <a:ea typeface="Meiryo" pitchFamily="34" charset="-122"/>
                          <a:cs typeface="Meiryo" pitchFamily="34" charset="-120"/>
                        </a:rPr>
                        <a:t>高</a:t>
                      </a:r>
                      <a:endParaRPr lang="en-US" sz="8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8CBAD"/>
                    </a:solidFill>
                  </a:tcPr>
                </a:tc>
              </a:tr>
              <a:tr h="0">
                <a:tc>
                  <a:txBody>
                    <a:bodyPr/>
                    <a:lstStyle/>
                    <a:p>
                      <a:pPr algn="ctr" indent="0" marL="0">
                        <a:buNone/>
                      </a:pPr>
                      <a:r>
                        <a:rPr lang="en-US" sz="800" b="1" dirty="0">
                          <a:solidFill>
                            <a:srgbClr val="000000"/>
                          </a:solidFill>
                          <a:latin typeface="Meiryo" pitchFamily="34" charset="0"/>
                          <a:ea typeface="Meiryo" pitchFamily="34" charset="-122"/>
                          <a:cs typeface="Meiryo" pitchFamily="34" charset="-120"/>
                        </a:rPr>
                        <a:t>C-35</a:t>
                      </a:r>
                      <a:endParaRPr lang="en-US" sz="8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工場・現場のPC・ネットワーク環境</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全拠点でPC使用・入力可能で一致</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750" b="1" dirty="0">
                          <a:solidFill>
                            <a:srgbClr val="7A5B00"/>
                          </a:solidFill>
                          <a:latin typeface="Meiryo" pitchFamily="34" charset="0"/>
                          <a:ea typeface="Meiryo" pitchFamily="34" charset="-122"/>
                          <a:cs typeface="Meiryo" pitchFamily="34" charset="-120"/>
                        </a:rPr>
                        <a:t>リスク残存</a:t>
                      </a:r>
                      <a:endParaRPr lang="en-US" sz="7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FE699"/>
                    </a:solidFill>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回答者が現場のネットワーク環境を直接把握しているか不明。海外工場の制限は既知の懸念点</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850" b="1" dirty="0">
                          <a:solidFill>
                            <a:srgbClr val="7A5B00"/>
                          </a:solidFill>
                          <a:latin typeface="Meiryo" pitchFamily="34" charset="0"/>
                          <a:ea typeface="Meiryo" pitchFamily="34" charset="-122"/>
                          <a:cs typeface="Meiryo" pitchFamily="34" charset="-120"/>
                        </a:rPr>
                        <a:t>中</a:t>
                      </a:r>
                      <a:endParaRPr lang="en-US" sz="8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FE699"/>
                    </a:solidFill>
                  </a:tcPr>
                </a:tc>
              </a:tr>
            </a:tbl>
          </a:graphicData>
        </a:graphic>
      </p:graphicFrame>
      <p:sp>
        <p:nvSpPr>
          <p:cNvPr id="7" name="Text 4"/>
          <p:cNvSpPr txBox="1"/>
          <p:nvPr/>
        </p:nvSpPr>
        <p:spPr>
          <a:xfrm>
            <a:off x="11750040" y="6537960"/>
            <a:ext cx="365760" cy="256032"/>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F3864"/>
          </a:solidFill>
          <a:ln/>
        </p:spPr>
      </p:sp>
      <p:sp>
        <p:nvSpPr>
          <p:cNvPr id="3" name="Text 1"/>
          <p:cNvSpPr txBox="1"/>
          <p:nvPr/>
        </p:nvSpPr>
        <p:spPr>
          <a:xfrm>
            <a:off x="457200" y="109728"/>
            <a:ext cx="9601200" cy="45720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要注意（2/4）</a:t>
            </a:r>
            <a:endParaRPr lang="en-US" sz="2200" dirty="0"/>
          </a:p>
        </p:txBody>
      </p:sp>
      <p:sp>
        <p:nvSpPr>
          <p:cNvPr id="4" name="Text 2"/>
          <p:cNvSpPr txBox="1"/>
          <p:nvPr/>
        </p:nvSpPr>
        <p:spPr>
          <a:xfrm>
            <a:off x="457200" y="512064"/>
            <a:ext cx="11247120" cy="292608"/>
          </a:xfrm>
          <a:prstGeom prst="rect">
            <a:avLst/>
          </a:prstGeom>
          <a:noFill/>
          <a:ln/>
        </p:spPr>
        <p:txBody>
          <a:bodyPr wrap="square" lIns="0" tIns="0" rIns="0" bIns="0" rtlCol="0" anchor="ctr"/>
          <a:lstStyle/>
          <a:p>
            <a:pPr indent="0" marL="0">
              <a:buNone/>
            </a:pPr>
            <a:r>
              <a:rPr lang="en-US" sz="1000" dirty="0">
                <a:solidFill>
                  <a:srgbClr val="CBD6EA"/>
                </a:solidFill>
                <a:latin typeface="Meiryo" pitchFamily="34" charset="0"/>
                <a:ea typeface="Meiryo" pitchFamily="34" charset="-122"/>
                <a:cs typeface="Meiryo" pitchFamily="34" charset="-120"/>
              </a:rPr>
              <a:t>理由は妥当でもリスクが残る項目</a:t>
            </a:r>
            <a:endParaRPr lang="en-US" sz="1000" dirty="0"/>
          </a:p>
        </p:txBody>
      </p:sp>
      <p:sp>
        <p:nvSpPr>
          <p:cNvPr id="5" name="Text 3"/>
          <p:cNvSpPr txBox="1"/>
          <p:nvPr/>
        </p:nvSpPr>
        <p:spPr>
          <a:xfrm>
            <a:off x="8961120" y="109728"/>
            <a:ext cx="2926080" cy="274320"/>
          </a:xfrm>
          <a:prstGeom prst="rect">
            <a:avLst/>
          </a:prstGeom>
          <a:noFill/>
          <a:ln/>
        </p:spPr>
        <p:txBody>
          <a:bodyPr wrap="square" lIns="0" tIns="0" rIns="0" bIns="0" rtlCol="0" anchor="ctr"/>
          <a:lstStyle/>
          <a:p>
            <a:pPr algn="r" indent="0" marL="0">
              <a:buNone/>
            </a:pPr>
            <a:r>
              <a:rPr lang="en-US" sz="900" dirty="0">
                <a:solidFill>
                  <a:srgbClr val="CBD6EA"/>
                </a:solidFill>
                <a:latin typeface="Meiryo" pitchFamily="34" charset="0"/>
                <a:ea typeface="Meiryo" pitchFamily="34" charset="-122"/>
                <a:cs typeface="Meiryo" pitchFamily="34" charset="-120"/>
              </a:rPr>
              <a:t>As-Is調査 v1.1 ｜専門家レビュー版</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20040" y="1005840"/>
          <a:ext cx="11548872" cy="914400"/>
        </p:xfrm>
        <a:graphic>
          <a:graphicData uri="http://schemas.openxmlformats.org/drawingml/2006/table">
            <a:tbl>
              <a:tblPr/>
              <a:tblGrid>
                <a:gridCol w="685800"/>
                <a:gridCol w="2331720"/>
                <a:gridCol w="2743200"/>
                <a:gridCol w="1417320"/>
                <a:gridCol w="3730752"/>
                <a:gridCol w="640080"/>
              </a:tblGrid>
              <a:tr h="691515">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ID</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1F3864"/>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元の設問（要旨）</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1F3864"/>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南氏の削除理由</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1F3864"/>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レビュー区分</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1F3864"/>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専門家コメント</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1F3864"/>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影響度</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1F3864"/>
                    </a:solidFill>
                  </a:tcPr>
                </a:tc>
              </a:tr>
              <a:tr h="691515">
                <a:tc>
                  <a:txBody>
                    <a:bodyPr/>
                    <a:lstStyle/>
                    <a:p>
                      <a:pPr algn="ctr" indent="0" marL="0">
                        <a:buNone/>
                      </a:pPr>
                      <a:r>
                        <a:rPr lang="en-US" sz="800" b="1" dirty="0">
                          <a:solidFill>
                            <a:srgbClr val="000000"/>
                          </a:solidFill>
                          <a:latin typeface="Meiryo" pitchFamily="34" charset="0"/>
                          <a:ea typeface="Meiryo" pitchFamily="34" charset="-122"/>
                          <a:cs typeface="Meiryo" pitchFamily="34" charset="-120"/>
                        </a:rPr>
                        <a:t>10-01</a:t>
                      </a:r>
                      <a:endParaRPr lang="en-US" sz="8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開示範囲の解釈に迷うか</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ESG企画室の回答で代替できるため不要</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750" b="1" dirty="0">
                          <a:solidFill>
                            <a:srgbClr val="8A3B12"/>
                          </a:solidFill>
                          <a:latin typeface="Meiryo" pitchFamily="34" charset="0"/>
                          <a:ea typeface="Meiryo" pitchFamily="34" charset="-122"/>
                          <a:cs typeface="Meiryo" pitchFamily="34" charset="-120"/>
                        </a:rPr>
                        <a:t>理由不十分</a:t>
                      </a:r>
                      <a:endParaRPr lang="en-US" sz="7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8CBAD"/>
                    </a:solidFill>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現場の解釈の迷いを、送り手である本社の自己評価で代替する論理が成立しない</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850" b="1" dirty="0">
                          <a:solidFill>
                            <a:srgbClr val="8A3B12"/>
                          </a:solidFill>
                          <a:latin typeface="Meiryo" pitchFamily="34" charset="0"/>
                          <a:ea typeface="Meiryo" pitchFamily="34" charset="-122"/>
                          <a:cs typeface="Meiryo" pitchFamily="34" charset="-120"/>
                        </a:rPr>
                        <a:t>高</a:t>
                      </a:r>
                      <a:endParaRPr lang="en-US" sz="8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8CBAD"/>
                    </a:solidFill>
                  </a:tcPr>
                </a:tc>
              </a:tr>
              <a:tr h="691515">
                <a:tc>
                  <a:txBody>
                    <a:bodyPr/>
                    <a:lstStyle/>
                    <a:p>
                      <a:pPr algn="ctr" indent="0" marL="0">
                        <a:buNone/>
                      </a:pPr>
                      <a:r>
                        <a:rPr lang="en-US" sz="800" b="1" dirty="0">
                          <a:solidFill>
                            <a:srgbClr val="000000"/>
                          </a:solidFill>
                          <a:latin typeface="Meiryo" pitchFamily="34" charset="0"/>
                          <a:ea typeface="Meiryo" pitchFamily="34" charset="-122"/>
                          <a:cs typeface="Meiryo" pitchFamily="34" charset="-120"/>
                        </a:rPr>
                        <a:t>10-02</a:t>
                      </a:r>
                      <a:endParaRPr lang="en-US" sz="8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本社ルール変更の伝達の時差</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ESG企画室の回答で代替できるため不要</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750" b="1" dirty="0">
                          <a:solidFill>
                            <a:srgbClr val="8A3B12"/>
                          </a:solidFill>
                          <a:latin typeface="Meiryo" pitchFamily="34" charset="0"/>
                          <a:ea typeface="Meiryo" pitchFamily="34" charset="-122"/>
                          <a:cs typeface="Meiryo" pitchFamily="34" charset="-120"/>
                        </a:rPr>
                        <a:t>理由不十分</a:t>
                      </a:r>
                      <a:endParaRPr lang="en-US" sz="7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8CBAD"/>
                    </a:solidFill>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10-01と同様。送り手の自己評価では受け手側の実態を代替できない</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850" b="1" dirty="0">
                          <a:solidFill>
                            <a:srgbClr val="7A5B00"/>
                          </a:solidFill>
                          <a:latin typeface="Meiryo" pitchFamily="34" charset="0"/>
                          <a:ea typeface="Meiryo" pitchFamily="34" charset="-122"/>
                          <a:cs typeface="Meiryo" pitchFamily="34" charset="-120"/>
                        </a:rPr>
                        <a:t>中</a:t>
                      </a:r>
                      <a:endParaRPr lang="en-US" sz="8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FE699"/>
                    </a:solidFill>
                  </a:tcPr>
                </a:tc>
              </a:tr>
              <a:tr h="691515">
                <a:tc>
                  <a:txBody>
                    <a:bodyPr/>
                    <a:lstStyle/>
                    <a:p>
                      <a:pPr algn="ctr" indent="0" marL="0">
                        <a:buNone/>
                      </a:pPr>
                      <a:r>
                        <a:rPr lang="en-US" sz="800" b="1" dirty="0">
                          <a:solidFill>
                            <a:srgbClr val="000000"/>
                          </a:solidFill>
                          <a:latin typeface="Meiryo" pitchFamily="34" charset="0"/>
                          <a:ea typeface="Meiryo" pitchFamily="34" charset="-122"/>
                          <a:cs typeface="Meiryo" pitchFamily="34" charset="-120"/>
                        </a:rPr>
                        <a:t>10-05</a:t>
                      </a:r>
                      <a:endParaRPr lang="en-US" sz="8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外部からのデータ入手の遅れ</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頻度：稀／影響度：大という評価を前提に設計</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750" b="1" dirty="0">
                          <a:solidFill>
                            <a:srgbClr val="7A5B00"/>
                          </a:solidFill>
                          <a:latin typeface="Meiryo" pitchFamily="34" charset="0"/>
                          <a:ea typeface="Meiryo" pitchFamily="34" charset="-122"/>
                          <a:cs typeface="Meiryo" pitchFamily="34" charset="-120"/>
                        </a:rPr>
                        <a:t>リスク残存</a:t>
                      </a:r>
                      <a:endParaRPr lang="en-US" sz="7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FE699"/>
                    </a:solidFill>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評価は請求データ（電気・ガス等）を想定。Scope3の委託先データ等には当てはまらない可能性</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850" b="1" dirty="0">
                          <a:solidFill>
                            <a:srgbClr val="8A3B12"/>
                          </a:solidFill>
                          <a:latin typeface="Meiryo" pitchFamily="34" charset="0"/>
                          <a:ea typeface="Meiryo" pitchFamily="34" charset="-122"/>
                          <a:cs typeface="Meiryo" pitchFamily="34" charset="-120"/>
                        </a:rPr>
                        <a:t>高</a:t>
                      </a:r>
                      <a:endParaRPr lang="en-US" sz="8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8CBAD"/>
                    </a:solidFill>
                  </a:tcPr>
                </a:tc>
              </a:tr>
              <a:tr h="691515">
                <a:tc>
                  <a:txBody>
                    <a:bodyPr/>
                    <a:lstStyle/>
                    <a:p>
                      <a:pPr algn="ctr" indent="0" marL="0">
                        <a:buNone/>
                      </a:pPr>
                      <a:r>
                        <a:rPr lang="en-US" sz="800" b="1" dirty="0">
                          <a:solidFill>
                            <a:srgbClr val="000000"/>
                          </a:solidFill>
                          <a:latin typeface="Meiryo" pitchFamily="34" charset="0"/>
                          <a:ea typeface="Meiryo" pitchFamily="34" charset="-122"/>
                          <a:cs typeface="Meiryo" pitchFamily="34" charset="-120"/>
                        </a:rPr>
                        <a:t>H3-04</a:t>
                      </a:r>
                      <a:endParaRPr lang="en-US" sz="8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入力タイミング（月初何営業日目か）</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月次リマインドは不要という前提で設計</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750" b="1" dirty="0">
                          <a:solidFill>
                            <a:srgbClr val="8A3B12"/>
                          </a:solidFill>
                          <a:latin typeface="Meiryo" pitchFamily="34" charset="0"/>
                          <a:ea typeface="Meiryo" pitchFamily="34" charset="-122"/>
                          <a:cs typeface="Meiryo" pitchFamily="34" charset="-120"/>
                        </a:rPr>
                        <a:t>理由不十分</a:t>
                      </a:r>
                      <a:endParaRPr lang="en-US" sz="7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8CBAD"/>
                    </a:solidFill>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南氏自身が『本設問は要否でなく強度を決めるもの』と説明済み。要否のみでの判断は目的とズレる</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850" b="1" dirty="0">
                          <a:solidFill>
                            <a:srgbClr val="7A5B00"/>
                          </a:solidFill>
                          <a:latin typeface="Meiryo" pitchFamily="34" charset="0"/>
                          <a:ea typeface="Meiryo" pitchFamily="34" charset="-122"/>
                          <a:cs typeface="Meiryo" pitchFamily="34" charset="-120"/>
                        </a:rPr>
                        <a:t>中</a:t>
                      </a:r>
                      <a:endParaRPr lang="en-US" sz="8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FE699"/>
                    </a:solidFill>
                  </a:tcPr>
                </a:tc>
              </a:tr>
              <a:tr h="691515">
                <a:tc>
                  <a:txBody>
                    <a:bodyPr/>
                    <a:lstStyle/>
                    <a:p>
                      <a:pPr algn="ctr" indent="0" marL="0">
                        <a:buNone/>
                      </a:pPr>
                      <a:r>
                        <a:rPr lang="en-US" sz="800" b="1" dirty="0">
                          <a:solidFill>
                            <a:srgbClr val="000000"/>
                          </a:solidFill>
                          <a:latin typeface="Meiryo" pitchFamily="34" charset="0"/>
                          <a:ea typeface="Meiryo" pitchFamily="34" charset="-122"/>
                          <a:cs typeface="Meiryo" pitchFamily="34" charset="-120"/>
                        </a:rPr>
                        <a:t>H3-05</a:t>
                      </a:r>
                      <a:endParaRPr lang="en-US" sz="8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締切に間に合わない月の有無</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水道の請求サイクルを締切設計の前提に反映</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750" b="1" dirty="0">
                          <a:solidFill>
                            <a:srgbClr val="7A5B00"/>
                          </a:solidFill>
                          <a:latin typeface="Meiryo" pitchFamily="34" charset="0"/>
                          <a:ea typeface="Meiryo" pitchFamily="34" charset="-122"/>
                          <a:cs typeface="Meiryo" pitchFamily="34" charset="-120"/>
                        </a:rPr>
                        <a:t>リスク残存</a:t>
                      </a:r>
                      <a:endParaRPr lang="en-US" sz="7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FE699"/>
                    </a:solidFill>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特定拠点の知見のみ。他拠点（海外・異なる契約形態）の請求パターンは未確認</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850" b="1" dirty="0">
                          <a:solidFill>
                            <a:srgbClr val="8A3B12"/>
                          </a:solidFill>
                          <a:latin typeface="Meiryo" pitchFamily="34" charset="0"/>
                          <a:ea typeface="Meiryo" pitchFamily="34" charset="-122"/>
                          <a:cs typeface="Meiryo" pitchFamily="34" charset="-120"/>
                        </a:rPr>
                        <a:t>高</a:t>
                      </a:r>
                      <a:endParaRPr lang="en-US" sz="8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8CBAD"/>
                    </a:solidFill>
                  </a:tcPr>
                </a:tc>
              </a:tr>
              <a:tr h="691515">
                <a:tc>
                  <a:txBody>
                    <a:bodyPr/>
                    <a:lstStyle/>
                    <a:p>
                      <a:pPr algn="ctr" indent="0" marL="0">
                        <a:buNone/>
                      </a:pPr>
                      <a:r>
                        <a:rPr lang="en-US" sz="800" b="1" dirty="0">
                          <a:solidFill>
                            <a:srgbClr val="000000"/>
                          </a:solidFill>
                          <a:latin typeface="Meiryo" pitchFamily="34" charset="0"/>
                          <a:ea typeface="Meiryo" pitchFamily="34" charset="-122"/>
                          <a:cs typeface="Meiryo" pitchFamily="34" charset="-120"/>
                        </a:rPr>
                        <a:t>H3-08</a:t>
                      </a:r>
                      <a:endParaRPr lang="en-US" sz="8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組織変更時のデータ連続性の担保方法</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拠点単位の連続性は不要と判断</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750" b="1" dirty="0">
                          <a:solidFill>
                            <a:srgbClr val="8A3B12"/>
                          </a:solidFill>
                          <a:latin typeface="Meiryo" pitchFamily="34" charset="0"/>
                          <a:ea typeface="Meiryo" pitchFamily="34" charset="-122"/>
                          <a:cs typeface="Meiryo" pitchFamily="34" charset="-120"/>
                        </a:rPr>
                        <a:t>理由が誤りの可能性</a:t>
                      </a:r>
                      <a:endParaRPr lang="en-US" sz="7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8CBAD"/>
                    </a:solidFill>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SSBJ等の開示基準は過年度比較（ベースイヤー継続性）を規制要件として求める可能性が高く、拠点の意向では代替できない</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850" b="1" dirty="0">
                          <a:solidFill>
                            <a:srgbClr val="8A3B12"/>
                          </a:solidFill>
                          <a:latin typeface="Meiryo" pitchFamily="34" charset="0"/>
                          <a:ea typeface="Meiryo" pitchFamily="34" charset="-122"/>
                          <a:cs typeface="Meiryo" pitchFamily="34" charset="-120"/>
                        </a:rPr>
                        <a:t>高</a:t>
                      </a:r>
                      <a:endParaRPr lang="en-US" sz="8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8CBAD"/>
                    </a:solidFill>
                  </a:tcPr>
                </a:tc>
              </a:tr>
              <a:tr h="691515">
                <a:tc>
                  <a:txBody>
                    <a:bodyPr/>
                    <a:lstStyle/>
                    <a:p>
                      <a:pPr algn="ctr" indent="0" marL="0">
                        <a:buNone/>
                      </a:pPr>
                      <a:r>
                        <a:rPr lang="en-US" sz="800" b="1" dirty="0">
                          <a:solidFill>
                            <a:srgbClr val="000000"/>
                          </a:solidFill>
                          <a:latin typeface="Meiryo" pitchFamily="34" charset="0"/>
                          <a:ea typeface="Meiryo" pitchFamily="34" charset="-122"/>
                          <a:cs typeface="Meiryo" pitchFamily="34" charset="-120"/>
                        </a:rPr>
                        <a:t>H4-01</a:t>
                      </a:r>
                      <a:endParaRPr lang="en-US" sz="8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使用係数の名称・出典・年度版</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係数は本社一括管理のため不要</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750" b="1" dirty="0">
                          <a:solidFill>
                            <a:srgbClr val="7A5B00"/>
                          </a:solidFill>
                          <a:latin typeface="Meiryo" pitchFamily="34" charset="0"/>
                          <a:ea typeface="Meiryo" pitchFamily="34" charset="-122"/>
                          <a:cs typeface="Meiryo" pitchFamily="34" charset="-120"/>
                        </a:rPr>
                        <a:t>リスク残存</a:t>
                      </a:r>
                      <a:endParaRPr lang="en-US" sz="7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FE699"/>
                    </a:solidFill>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C-07と同根の問題。海外拠点の独自係数の出典・版が管理から漏れるリスク</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850" b="1" dirty="0">
                          <a:solidFill>
                            <a:srgbClr val="8A3B12"/>
                          </a:solidFill>
                          <a:latin typeface="Meiryo" pitchFamily="34" charset="0"/>
                          <a:ea typeface="Meiryo" pitchFamily="34" charset="-122"/>
                          <a:cs typeface="Meiryo" pitchFamily="34" charset="-120"/>
                        </a:rPr>
                        <a:t>高</a:t>
                      </a:r>
                      <a:endParaRPr lang="en-US" sz="8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8CBAD"/>
                    </a:solidFill>
                  </a:tcPr>
                </a:tc>
              </a:tr>
              <a:tr h="0">
                <a:tc>
                  <a:txBody>
                    <a:bodyPr/>
                    <a:lstStyle/>
                    <a:p>
                      <a:pPr algn="ctr" indent="0" marL="0">
                        <a:buNone/>
                      </a:pPr>
                      <a:r>
                        <a:rPr lang="en-US" sz="800" b="1" dirty="0">
                          <a:solidFill>
                            <a:srgbClr val="000000"/>
                          </a:solidFill>
                          <a:latin typeface="Meiryo" pitchFamily="34" charset="0"/>
                          <a:ea typeface="Meiryo" pitchFamily="34" charset="-122"/>
                          <a:cs typeface="Meiryo" pitchFamily="34" charset="-120"/>
                        </a:rPr>
                        <a:t>H4-07</a:t>
                      </a:r>
                      <a:endParaRPr lang="en-US" sz="8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小さな排出源の集計の網羅性</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本社側でチェックリスト化して補う方針</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750" b="1" dirty="0">
                          <a:solidFill>
                            <a:srgbClr val="7A5B00"/>
                          </a:solidFill>
                          <a:latin typeface="Meiryo" pitchFamily="34" charset="0"/>
                          <a:ea typeface="Meiryo" pitchFamily="34" charset="-122"/>
                          <a:cs typeface="Meiryo" pitchFamily="34" charset="-120"/>
                        </a:rPr>
                        <a:t>リスク残存</a:t>
                      </a:r>
                      <a:endParaRPr lang="en-US" sz="7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FE699"/>
                    </a:solidFill>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方向性は妥当だが、本社が海外拠点の小口設備まで正確に把握できるかは未検証</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850" b="1" dirty="0">
                          <a:solidFill>
                            <a:srgbClr val="8A3B12"/>
                          </a:solidFill>
                          <a:latin typeface="Meiryo" pitchFamily="34" charset="0"/>
                          <a:ea typeface="Meiryo" pitchFamily="34" charset="-122"/>
                          <a:cs typeface="Meiryo" pitchFamily="34" charset="-120"/>
                        </a:rPr>
                        <a:t>高</a:t>
                      </a:r>
                      <a:endParaRPr lang="en-US" sz="8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8CBAD"/>
                    </a:solidFill>
                  </a:tcPr>
                </a:tc>
              </a:tr>
            </a:tbl>
          </a:graphicData>
        </a:graphic>
      </p:graphicFrame>
      <p:sp>
        <p:nvSpPr>
          <p:cNvPr id="7" name="Text 4"/>
          <p:cNvSpPr txBox="1"/>
          <p:nvPr/>
        </p:nvSpPr>
        <p:spPr>
          <a:xfrm>
            <a:off x="11750040" y="6537960"/>
            <a:ext cx="365760" cy="256032"/>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F3864"/>
          </a:solidFill>
          <a:ln/>
        </p:spPr>
      </p:sp>
      <p:sp>
        <p:nvSpPr>
          <p:cNvPr id="3" name="Text 1"/>
          <p:cNvSpPr txBox="1"/>
          <p:nvPr/>
        </p:nvSpPr>
        <p:spPr>
          <a:xfrm>
            <a:off x="457200" y="109728"/>
            <a:ext cx="9601200" cy="45720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要注意（3/4）</a:t>
            </a:r>
            <a:endParaRPr lang="en-US" sz="2200" dirty="0"/>
          </a:p>
        </p:txBody>
      </p:sp>
      <p:sp>
        <p:nvSpPr>
          <p:cNvPr id="4" name="Text 2"/>
          <p:cNvSpPr txBox="1"/>
          <p:nvPr/>
        </p:nvSpPr>
        <p:spPr>
          <a:xfrm>
            <a:off x="457200" y="512064"/>
            <a:ext cx="11247120" cy="292608"/>
          </a:xfrm>
          <a:prstGeom prst="rect">
            <a:avLst/>
          </a:prstGeom>
          <a:noFill/>
          <a:ln/>
        </p:spPr>
        <p:txBody>
          <a:bodyPr wrap="square" lIns="0" tIns="0" rIns="0" bIns="0" rtlCol="0" anchor="ctr"/>
          <a:lstStyle/>
          <a:p>
            <a:pPr indent="0" marL="0">
              <a:buNone/>
            </a:pPr>
            <a:r>
              <a:rPr lang="en-US" sz="1000" dirty="0">
                <a:solidFill>
                  <a:srgbClr val="CBD6EA"/>
                </a:solidFill>
                <a:latin typeface="Meiryo" pitchFamily="34" charset="0"/>
                <a:ea typeface="Meiryo" pitchFamily="34" charset="-122"/>
                <a:cs typeface="Meiryo" pitchFamily="34" charset="-120"/>
              </a:rPr>
              <a:t>海外拠点固有・コンプライアンスに関わる項目</a:t>
            </a:r>
            <a:endParaRPr lang="en-US" sz="1000" dirty="0"/>
          </a:p>
        </p:txBody>
      </p:sp>
      <p:sp>
        <p:nvSpPr>
          <p:cNvPr id="5" name="Text 3"/>
          <p:cNvSpPr txBox="1"/>
          <p:nvPr/>
        </p:nvSpPr>
        <p:spPr>
          <a:xfrm>
            <a:off x="8961120" y="109728"/>
            <a:ext cx="2926080" cy="274320"/>
          </a:xfrm>
          <a:prstGeom prst="rect">
            <a:avLst/>
          </a:prstGeom>
          <a:noFill/>
          <a:ln/>
        </p:spPr>
        <p:txBody>
          <a:bodyPr wrap="square" lIns="0" tIns="0" rIns="0" bIns="0" rtlCol="0" anchor="ctr"/>
          <a:lstStyle/>
          <a:p>
            <a:pPr algn="r" indent="0" marL="0">
              <a:buNone/>
            </a:pPr>
            <a:r>
              <a:rPr lang="en-US" sz="900" dirty="0">
                <a:solidFill>
                  <a:srgbClr val="CBD6EA"/>
                </a:solidFill>
                <a:latin typeface="Meiryo" pitchFamily="34" charset="0"/>
                <a:ea typeface="Meiryo" pitchFamily="34" charset="-122"/>
                <a:cs typeface="Meiryo" pitchFamily="34" charset="-120"/>
              </a:rPr>
              <a:t>As-Is調査 v1.1 ｜専門家レビュー版</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20040" y="1005840"/>
          <a:ext cx="11548872" cy="914400"/>
        </p:xfrm>
        <a:graphic>
          <a:graphicData uri="http://schemas.openxmlformats.org/drawingml/2006/table">
            <a:tbl>
              <a:tblPr/>
              <a:tblGrid>
                <a:gridCol w="685800"/>
                <a:gridCol w="2331720"/>
                <a:gridCol w="2743200"/>
                <a:gridCol w="1417320"/>
                <a:gridCol w="3730752"/>
                <a:gridCol w="640080"/>
              </a:tblGrid>
              <a:tr h="790303">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ID</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1F3864"/>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元の設問（要旨）</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1F3864"/>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南氏の削除理由</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1F3864"/>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レビュー区分</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1F3864"/>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専門家コメント</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1F3864"/>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影響度</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1F3864"/>
                    </a:solidFill>
                  </a:tcPr>
                </a:tc>
              </a:tr>
              <a:tr h="790303">
                <a:tc>
                  <a:txBody>
                    <a:bodyPr/>
                    <a:lstStyle/>
                    <a:p>
                      <a:pPr algn="ctr" indent="0" marL="0">
                        <a:buNone/>
                      </a:pPr>
                      <a:r>
                        <a:rPr lang="en-US" sz="800" b="1" dirty="0">
                          <a:solidFill>
                            <a:srgbClr val="000000"/>
                          </a:solidFill>
                          <a:latin typeface="Meiryo" pitchFamily="34" charset="0"/>
                          <a:ea typeface="Meiryo" pitchFamily="34" charset="-122"/>
                          <a:cs typeface="Meiryo" pitchFamily="34" charset="-120"/>
                        </a:rPr>
                        <a:t>H4-08</a:t>
                      </a:r>
                      <a:endParaRPr lang="en-US" sz="8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冷媒（フロン類）の充填・漏えい量</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充填記録を証憑化。海外は報告対象外</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750" b="1" dirty="0">
                          <a:solidFill>
                            <a:srgbClr val="8A3B12"/>
                          </a:solidFill>
                          <a:latin typeface="Meiryo" pitchFamily="34" charset="0"/>
                          <a:ea typeface="Meiryo" pitchFamily="34" charset="-122"/>
                          <a:cs typeface="Meiryo" pitchFamily="34" charset="-120"/>
                        </a:rPr>
                        <a:t>根拠不明確</a:t>
                      </a:r>
                      <a:endParaRPr lang="en-US" sz="7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8CBAD"/>
                    </a:solidFill>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海外除外の根拠が不明。海外製造拠点も冷媒を使用する可能性が高く、Scope1完全性のリスク</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850" b="1" dirty="0">
                          <a:solidFill>
                            <a:srgbClr val="7A5B00"/>
                          </a:solidFill>
                          <a:latin typeface="Meiryo" pitchFamily="34" charset="0"/>
                          <a:ea typeface="Meiryo" pitchFamily="34" charset="-122"/>
                          <a:cs typeface="Meiryo" pitchFamily="34" charset="-120"/>
                        </a:rPr>
                        <a:t>中</a:t>
                      </a:r>
                      <a:endParaRPr lang="en-US" sz="8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FE699"/>
                    </a:solidFill>
                  </a:tcPr>
                </a:tc>
              </a:tr>
              <a:tr h="790303">
                <a:tc>
                  <a:txBody>
                    <a:bodyPr/>
                    <a:lstStyle/>
                    <a:p>
                      <a:pPr algn="ctr" indent="0" marL="0">
                        <a:buNone/>
                      </a:pPr>
                      <a:r>
                        <a:rPr lang="en-US" sz="800" b="1" dirty="0">
                          <a:solidFill>
                            <a:srgbClr val="000000"/>
                          </a:solidFill>
                          <a:latin typeface="Meiryo" pitchFamily="34" charset="0"/>
                          <a:ea typeface="Meiryo" pitchFamily="34" charset="-122"/>
                          <a:cs typeface="Meiryo" pitchFamily="34" charset="-120"/>
                        </a:rPr>
                        <a:t>H4-09</a:t>
                      </a:r>
                      <a:endParaRPr lang="en-US" sz="8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水（取水源別・排水量）の実態</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原則メーター記録、地下水は有無のみ確認</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750" b="1" dirty="0">
                          <a:solidFill>
                            <a:srgbClr val="7A5B00"/>
                          </a:solidFill>
                          <a:latin typeface="Meiryo" pitchFamily="34" charset="0"/>
                          <a:ea typeface="Meiryo" pitchFamily="34" charset="-122"/>
                          <a:cs typeface="Meiryo" pitchFamily="34" charset="-120"/>
                        </a:rPr>
                        <a:t>リスク残存（軽微）</a:t>
                      </a:r>
                      <a:endParaRPr lang="en-US" sz="7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FE699"/>
                    </a:solidFill>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妥当な簡略化だが、地下水利用が多い拠点で使用量を過小評価するおそれが残る</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850" b="1" dirty="0">
                          <a:solidFill>
                            <a:srgbClr val="7A5B00"/>
                          </a:solidFill>
                          <a:latin typeface="Meiryo" pitchFamily="34" charset="0"/>
                          <a:ea typeface="Meiryo" pitchFamily="34" charset="-122"/>
                          <a:cs typeface="Meiryo" pitchFamily="34" charset="-120"/>
                        </a:rPr>
                        <a:t>中</a:t>
                      </a:r>
                      <a:endParaRPr lang="en-US" sz="8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FE699"/>
                    </a:solidFill>
                  </a:tcPr>
                </a:tc>
              </a:tr>
              <a:tr h="790303">
                <a:tc>
                  <a:txBody>
                    <a:bodyPr/>
                    <a:lstStyle/>
                    <a:p>
                      <a:pPr algn="ctr" indent="0" marL="0">
                        <a:buNone/>
                      </a:pPr>
                      <a:r>
                        <a:rPr lang="en-US" sz="800" b="1" dirty="0">
                          <a:solidFill>
                            <a:srgbClr val="000000"/>
                          </a:solidFill>
                          <a:latin typeface="Meiryo" pitchFamily="34" charset="0"/>
                          <a:ea typeface="Meiryo" pitchFamily="34" charset="-122"/>
                          <a:cs typeface="Meiryo" pitchFamily="34" charset="-120"/>
                        </a:rPr>
                        <a:t>H5-01</a:t>
                      </a:r>
                      <a:endParaRPr lang="en-US" sz="8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証憑の種類・保管場所の全量</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把握できた実態で保管先の集約範囲を設計</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750" b="1" dirty="0">
                          <a:solidFill>
                            <a:srgbClr val="7A5B00"/>
                          </a:solidFill>
                          <a:latin typeface="Meiryo" pitchFamily="34" charset="0"/>
                          <a:ea typeface="Meiryo" pitchFamily="34" charset="-122"/>
                          <a:cs typeface="Meiryo" pitchFamily="34" charset="-120"/>
                        </a:rPr>
                        <a:t>リスク残存</a:t>
                      </a:r>
                      <a:endParaRPr lang="en-US" sz="7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FE699"/>
                    </a:solidFill>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シート2・C-28と同根。個人管理・ローカル保管の実態を全拠点的に把握できていない</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850" b="1" dirty="0">
                          <a:solidFill>
                            <a:srgbClr val="8A3B12"/>
                          </a:solidFill>
                          <a:latin typeface="Meiryo" pitchFamily="34" charset="0"/>
                          <a:ea typeface="Meiryo" pitchFamily="34" charset="-122"/>
                          <a:cs typeface="Meiryo" pitchFamily="34" charset="-120"/>
                        </a:rPr>
                        <a:t>高</a:t>
                      </a:r>
                      <a:endParaRPr lang="en-US" sz="8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8CBAD"/>
                    </a:solidFill>
                  </a:tcPr>
                </a:tc>
              </a:tr>
              <a:tr h="790303">
                <a:tc>
                  <a:txBody>
                    <a:bodyPr/>
                    <a:lstStyle/>
                    <a:p>
                      <a:pPr algn="ctr" indent="0" marL="0">
                        <a:buNone/>
                      </a:pPr>
                      <a:r>
                        <a:rPr lang="en-US" sz="800" b="1" dirty="0">
                          <a:solidFill>
                            <a:srgbClr val="000000"/>
                          </a:solidFill>
                          <a:latin typeface="Meiryo" pitchFamily="34" charset="0"/>
                          <a:ea typeface="Meiryo" pitchFamily="34" charset="-122"/>
                          <a:cs typeface="Meiryo" pitchFamily="34" charset="-120"/>
                        </a:rPr>
                        <a:t>H6-02</a:t>
                      </a:r>
                      <a:endParaRPr lang="en-US" sz="8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異常値の定義・閾値と対応者</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閾値はESG企画室の机上設定で進める</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750" b="1" dirty="0">
                          <a:solidFill>
                            <a:srgbClr val="7A5B00"/>
                          </a:solidFill>
                          <a:latin typeface="Meiryo" pitchFamily="34" charset="0"/>
                          <a:ea typeface="Meiryo" pitchFamily="34" charset="-122"/>
                          <a:cs typeface="Meiryo" pitchFamily="34" charset="-120"/>
                        </a:rPr>
                        <a:t>リスク残存（理由は妥当）</a:t>
                      </a:r>
                      <a:endParaRPr lang="en-US" sz="7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FE699"/>
                    </a:solidFill>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当初のリスク（机上設定で拠点実態を反映しない）を解消しておらず、受容している状態。初期は保守的な閾値を推奨</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850" b="1" dirty="0">
                          <a:solidFill>
                            <a:srgbClr val="7A5B00"/>
                          </a:solidFill>
                          <a:latin typeface="Meiryo" pitchFamily="34" charset="0"/>
                          <a:ea typeface="Meiryo" pitchFamily="34" charset="-122"/>
                          <a:cs typeface="Meiryo" pitchFamily="34" charset="-120"/>
                        </a:rPr>
                        <a:t>中</a:t>
                      </a:r>
                      <a:endParaRPr lang="en-US" sz="8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FE699"/>
                    </a:solidFill>
                  </a:tcPr>
                </a:tc>
              </a:tr>
              <a:tr h="790303">
                <a:tc>
                  <a:txBody>
                    <a:bodyPr/>
                    <a:lstStyle/>
                    <a:p>
                      <a:pPr algn="ctr" indent="0" marL="0">
                        <a:buNone/>
                      </a:pPr>
                      <a:r>
                        <a:rPr lang="en-US" sz="800" b="1" dirty="0">
                          <a:solidFill>
                            <a:srgbClr val="000000"/>
                          </a:solidFill>
                          <a:latin typeface="Meiryo" pitchFamily="34" charset="0"/>
                          <a:ea typeface="Meiryo" pitchFamily="34" charset="-122"/>
                          <a:cs typeface="Meiryo" pitchFamily="34" charset="-120"/>
                        </a:rPr>
                        <a:t>H9-02</a:t>
                      </a:r>
                      <a:endParaRPr lang="en-US" sz="8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現地排出係数の種類と入手元</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既に検証済みの係数を正とする前提</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750" b="1" dirty="0">
                          <a:solidFill>
                            <a:srgbClr val="7A5B00"/>
                          </a:solidFill>
                          <a:latin typeface="Meiryo" pitchFamily="34" charset="0"/>
                          <a:ea typeface="Meiryo" pitchFamily="34" charset="-122"/>
                          <a:cs typeface="Meiryo" pitchFamily="34" charset="-120"/>
                        </a:rPr>
                        <a:t>リスク残存</a:t>
                      </a:r>
                      <a:endParaRPr lang="en-US" sz="7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FE699"/>
                    </a:solidFill>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H4-01と同根。『検証済み』の対象範囲（拠点・年度）が不明確で、全海外拠点に当てはまるか未確認</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850" b="1" dirty="0">
                          <a:solidFill>
                            <a:srgbClr val="8A3B12"/>
                          </a:solidFill>
                          <a:latin typeface="Meiryo" pitchFamily="34" charset="0"/>
                          <a:ea typeface="Meiryo" pitchFamily="34" charset="-122"/>
                          <a:cs typeface="Meiryo" pitchFamily="34" charset="-120"/>
                        </a:rPr>
                        <a:t>高</a:t>
                      </a:r>
                      <a:endParaRPr lang="en-US" sz="8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8CBAD"/>
                    </a:solidFill>
                  </a:tcPr>
                </a:tc>
              </a:tr>
              <a:tr h="790303">
                <a:tc>
                  <a:txBody>
                    <a:bodyPr/>
                    <a:lstStyle/>
                    <a:p>
                      <a:pPr algn="ctr" indent="0" marL="0">
                        <a:buNone/>
                      </a:pPr>
                      <a:r>
                        <a:rPr lang="en-US" sz="800" b="1" dirty="0">
                          <a:solidFill>
                            <a:srgbClr val="000000"/>
                          </a:solidFill>
                          <a:latin typeface="Meiryo" pitchFamily="34" charset="0"/>
                          <a:ea typeface="Meiryo" pitchFamily="34" charset="-122"/>
                          <a:cs typeface="Meiryo" pitchFamily="34" charset="-120"/>
                        </a:rPr>
                        <a:t>H9-05</a:t>
                      </a:r>
                      <a:endParaRPr lang="en-US" sz="8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現地事情による欠測・遅延の頻度</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バングラデシュでも致命的遅延なしと判断</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750" b="1" dirty="0">
                          <a:solidFill>
                            <a:srgbClr val="7A5B00"/>
                          </a:solidFill>
                          <a:latin typeface="Meiryo" pitchFamily="34" charset="0"/>
                          <a:ea typeface="Meiryo" pitchFamily="34" charset="-122"/>
                          <a:cs typeface="Meiryo" pitchFamily="34" charset="-120"/>
                        </a:rPr>
                        <a:t>リスク残存</a:t>
                      </a:r>
                      <a:endParaRPr lang="en-US" sz="7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FE699"/>
                    </a:solidFill>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バングラデシュは電力・通信インフラの課題が指摘されやすい国。現場実態の把握精度に疑問が残る</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850" b="1" dirty="0">
                          <a:solidFill>
                            <a:srgbClr val="7A5B00"/>
                          </a:solidFill>
                          <a:latin typeface="Meiryo" pitchFamily="34" charset="0"/>
                          <a:ea typeface="Meiryo" pitchFamily="34" charset="-122"/>
                          <a:cs typeface="Meiryo" pitchFamily="34" charset="-120"/>
                        </a:rPr>
                        <a:t>中</a:t>
                      </a:r>
                      <a:endParaRPr lang="en-US" sz="8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FE699"/>
                    </a:solidFill>
                  </a:tcPr>
                </a:tc>
              </a:tr>
              <a:tr h="0">
                <a:tc>
                  <a:txBody>
                    <a:bodyPr/>
                    <a:lstStyle/>
                    <a:p>
                      <a:pPr algn="ctr" indent="0" marL="0">
                        <a:buNone/>
                      </a:pPr>
                      <a:r>
                        <a:rPr lang="en-US" sz="800" b="1" dirty="0">
                          <a:solidFill>
                            <a:srgbClr val="000000"/>
                          </a:solidFill>
                          <a:latin typeface="Meiryo" pitchFamily="34" charset="0"/>
                          <a:ea typeface="Meiryo" pitchFamily="34" charset="-122"/>
                          <a:cs typeface="Meiryo" pitchFamily="34" charset="-120"/>
                        </a:rPr>
                        <a:t>H9-07</a:t>
                      </a:r>
                      <a:endParaRPr lang="en-US" sz="8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現地経営層の関与度・承認追加の実現性</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承認フローとして不要と判断</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750" b="1" dirty="0">
                          <a:solidFill>
                            <a:srgbClr val="7A5B00"/>
                          </a:solidFill>
                          <a:latin typeface="Meiryo" pitchFamily="34" charset="0"/>
                          <a:ea typeface="Meiryo" pitchFamily="34" charset="-122"/>
                          <a:cs typeface="Meiryo" pitchFamily="34" charset="-120"/>
                        </a:rPr>
                        <a:t>リスク残存</a:t>
                      </a:r>
                      <a:endParaRPr lang="en-US" sz="7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FE699"/>
                    </a:solidFill>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一部の国・地域ではESGデータへの現地法定代表者の承認が法制度上求められる可能性がある（CSRD等）</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850" b="1" dirty="0">
                          <a:solidFill>
                            <a:srgbClr val="7A5B00"/>
                          </a:solidFill>
                          <a:latin typeface="Meiryo" pitchFamily="34" charset="0"/>
                          <a:ea typeface="Meiryo" pitchFamily="34" charset="-122"/>
                          <a:cs typeface="Meiryo" pitchFamily="34" charset="-120"/>
                        </a:rPr>
                        <a:t>中</a:t>
                      </a:r>
                      <a:endParaRPr lang="en-US" sz="8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FE699"/>
                    </a:solidFill>
                  </a:tcPr>
                </a:tc>
              </a:tr>
            </a:tbl>
          </a:graphicData>
        </a:graphic>
      </p:graphicFrame>
      <p:sp>
        <p:nvSpPr>
          <p:cNvPr id="7" name="Text 4"/>
          <p:cNvSpPr txBox="1"/>
          <p:nvPr/>
        </p:nvSpPr>
        <p:spPr>
          <a:xfrm>
            <a:off x="11750040" y="6537960"/>
            <a:ext cx="365760" cy="256032"/>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F3864"/>
          </a:solidFill>
          <a:ln/>
        </p:spPr>
      </p:sp>
      <p:sp>
        <p:nvSpPr>
          <p:cNvPr id="3" name="Text 1"/>
          <p:cNvSpPr txBox="1"/>
          <p:nvPr/>
        </p:nvSpPr>
        <p:spPr>
          <a:xfrm>
            <a:off x="457200" y="109728"/>
            <a:ext cx="9601200" cy="45720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要注意（4/4）</a:t>
            </a:r>
            <a:endParaRPr lang="en-US" sz="2200" dirty="0"/>
          </a:p>
        </p:txBody>
      </p:sp>
      <p:sp>
        <p:nvSpPr>
          <p:cNvPr id="4" name="Text 2"/>
          <p:cNvSpPr txBox="1"/>
          <p:nvPr/>
        </p:nvSpPr>
        <p:spPr>
          <a:xfrm>
            <a:off x="457200" y="512064"/>
            <a:ext cx="11247120" cy="292608"/>
          </a:xfrm>
          <a:prstGeom prst="rect">
            <a:avLst/>
          </a:prstGeom>
          <a:noFill/>
          <a:ln/>
        </p:spPr>
        <p:txBody>
          <a:bodyPr wrap="square" lIns="0" tIns="0" rIns="0" bIns="0" rtlCol="0" anchor="ctr"/>
          <a:lstStyle/>
          <a:p>
            <a:pPr indent="0" marL="0">
              <a:buNone/>
            </a:pPr>
            <a:r>
              <a:rPr lang="en-US" sz="1000" dirty="0">
                <a:solidFill>
                  <a:srgbClr val="CBD6EA"/>
                </a:solidFill>
                <a:latin typeface="Meiryo" pitchFamily="34" charset="0"/>
                <a:ea typeface="Meiryo" pitchFamily="34" charset="-122"/>
                <a:cs typeface="Meiryo" pitchFamily="34" charset="-120"/>
              </a:rPr>
              <a:t>追加検証分（「【回答】」形式で記載されていた項目）</a:t>
            </a:r>
            <a:endParaRPr lang="en-US" sz="1000" dirty="0"/>
          </a:p>
        </p:txBody>
      </p:sp>
      <p:sp>
        <p:nvSpPr>
          <p:cNvPr id="5" name="Text 3"/>
          <p:cNvSpPr txBox="1"/>
          <p:nvPr/>
        </p:nvSpPr>
        <p:spPr>
          <a:xfrm>
            <a:off x="8961120" y="109728"/>
            <a:ext cx="2926080" cy="274320"/>
          </a:xfrm>
          <a:prstGeom prst="rect">
            <a:avLst/>
          </a:prstGeom>
          <a:noFill/>
          <a:ln/>
        </p:spPr>
        <p:txBody>
          <a:bodyPr wrap="square" lIns="0" tIns="0" rIns="0" bIns="0" rtlCol="0" anchor="ctr"/>
          <a:lstStyle/>
          <a:p>
            <a:pPr algn="r" indent="0" marL="0">
              <a:buNone/>
            </a:pPr>
            <a:r>
              <a:rPr lang="en-US" sz="900" dirty="0">
                <a:solidFill>
                  <a:srgbClr val="CBD6EA"/>
                </a:solidFill>
                <a:latin typeface="Meiryo" pitchFamily="34" charset="0"/>
                <a:ea typeface="Meiryo" pitchFamily="34" charset="-122"/>
                <a:cs typeface="Meiryo" pitchFamily="34" charset="-120"/>
              </a:rPr>
              <a:t>As-Is調査 v1.1 ｜専門家レビュー版</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20040" y="1005840"/>
          <a:ext cx="11548872" cy="914400"/>
        </p:xfrm>
        <a:graphic>
          <a:graphicData uri="http://schemas.openxmlformats.org/drawingml/2006/table">
            <a:tbl>
              <a:tblPr/>
              <a:tblGrid>
                <a:gridCol w="685800"/>
                <a:gridCol w="2331720"/>
                <a:gridCol w="2743200"/>
                <a:gridCol w="1417320"/>
                <a:gridCol w="3730752"/>
                <a:gridCol w="640080"/>
              </a:tblGrid>
              <a:tr h="790303">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ID</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1F3864"/>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元の設問（要旨）</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1F3864"/>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南氏の削除理由</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1F3864"/>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レビュー区分</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1F3864"/>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専門家コメント</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1F3864"/>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影響度</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1F3864"/>
                    </a:solidFill>
                  </a:tcPr>
                </a:tc>
              </a:tr>
              <a:tr h="790303">
                <a:tc>
                  <a:txBody>
                    <a:bodyPr/>
                    <a:lstStyle/>
                    <a:p>
                      <a:pPr algn="ctr" indent="0" marL="0">
                        <a:buNone/>
                      </a:pPr>
                      <a:r>
                        <a:rPr lang="en-US" sz="800" b="1" dirty="0">
                          <a:solidFill>
                            <a:srgbClr val="000000"/>
                          </a:solidFill>
                          <a:latin typeface="Meiryo" pitchFamily="34" charset="0"/>
                          <a:ea typeface="Meiryo" pitchFamily="34" charset="-122"/>
                          <a:cs typeface="Meiryo" pitchFamily="34" charset="-120"/>
                        </a:rPr>
                        <a:t>C-06</a:t>
                      </a:r>
                      <a:endParaRPr lang="en-US" sz="8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拠点側での計算実施範囲</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海外法人向けは削除。国内は実態をESGに確認のうえ調整</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750" b="1" dirty="0">
                          <a:solidFill>
                            <a:srgbClr val="8A3B12"/>
                          </a:solidFill>
                          <a:latin typeface="Meiryo" pitchFamily="34" charset="0"/>
                          <a:ea typeface="Meiryo" pitchFamily="34" charset="-122"/>
                          <a:cs typeface="Meiryo" pitchFamily="34" charset="-120"/>
                        </a:rPr>
                        <a:t>リスク残存・理由不十分</a:t>
                      </a:r>
                      <a:endParaRPr lang="en-US" sz="7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8CBAD"/>
                    </a:solidFill>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海外BU自身が「生産拠点では自前で算定をしている」と明言。削除は当初のリスク（拠点独自計算による数値連続性の断絶）を放置。国内分はステータス『保留』のまま未決着</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850" b="1" dirty="0">
                          <a:solidFill>
                            <a:srgbClr val="8A3B12"/>
                          </a:solidFill>
                          <a:latin typeface="Meiryo" pitchFamily="34" charset="0"/>
                          <a:ea typeface="Meiryo" pitchFamily="34" charset="-122"/>
                          <a:cs typeface="Meiryo" pitchFamily="34" charset="-120"/>
                        </a:rPr>
                        <a:t>高</a:t>
                      </a:r>
                      <a:endParaRPr lang="en-US" sz="8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8CBAD"/>
                    </a:solidFill>
                  </a:tcPr>
                </a:tc>
              </a:tr>
              <a:tr h="790303">
                <a:tc>
                  <a:txBody>
                    <a:bodyPr/>
                    <a:lstStyle/>
                    <a:p>
                      <a:pPr algn="ctr" indent="0" marL="0">
                        <a:buNone/>
                      </a:pPr>
                      <a:r>
                        <a:rPr lang="en-US" sz="800" b="1" dirty="0">
                          <a:solidFill>
                            <a:srgbClr val="000000"/>
                          </a:solidFill>
                          <a:latin typeface="Meiryo" pitchFamily="34" charset="0"/>
                          <a:ea typeface="Meiryo" pitchFamily="34" charset="-122"/>
                          <a:cs typeface="Meiryo" pitchFamily="34" charset="-120"/>
                        </a:rPr>
                        <a:t>C-11</a:t>
                      </a:r>
                      <a:endParaRPr lang="en-US" sz="8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証憑添付必須化時の対応可否</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海外は提出方法の指示自体がなく前提不成立のため削除</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750" b="1" dirty="0">
                          <a:solidFill>
                            <a:srgbClr val="7A5B00"/>
                          </a:solidFill>
                          <a:latin typeface="Meiryo" pitchFamily="34" charset="0"/>
                          <a:ea typeface="Meiryo" pitchFamily="34" charset="-122"/>
                          <a:cs typeface="Meiryo" pitchFamily="34" charset="-120"/>
                        </a:rPr>
                        <a:t>リスク残存</a:t>
                      </a:r>
                      <a:endParaRPr lang="en-US" sz="7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FE699"/>
                    </a:solidFill>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設問の前提不成立の指摘は妥当だが、『必須化した場合に運用が回るか』という論点自体は未解消</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850" b="1" dirty="0">
                          <a:solidFill>
                            <a:srgbClr val="8A3B12"/>
                          </a:solidFill>
                          <a:latin typeface="Meiryo" pitchFamily="34" charset="0"/>
                          <a:ea typeface="Meiryo" pitchFamily="34" charset="-122"/>
                          <a:cs typeface="Meiryo" pitchFamily="34" charset="-120"/>
                        </a:rPr>
                        <a:t>高</a:t>
                      </a:r>
                      <a:endParaRPr lang="en-US" sz="8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8CBAD"/>
                    </a:solidFill>
                  </a:tcPr>
                </a:tc>
              </a:tr>
              <a:tr h="790303">
                <a:tc>
                  <a:txBody>
                    <a:bodyPr/>
                    <a:lstStyle/>
                    <a:p>
                      <a:pPr algn="ctr" indent="0" marL="0">
                        <a:buNone/>
                      </a:pPr>
                      <a:r>
                        <a:rPr lang="en-US" sz="800" b="1" dirty="0">
                          <a:solidFill>
                            <a:srgbClr val="000000"/>
                          </a:solidFill>
                          <a:latin typeface="Meiryo" pitchFamily="34" charset="0"/>
                          <a:ea typeface="Meiryo" pitchFamily="34" charset="-122"/>
                          <a:cs typeface="Meiryo" pitchFamily="34" charset="-120"/>
                        </a:rPr>
                        <a:t>C-17</a:t>
                      </a:r>
                      <a:endParaRPr lang="en-US" sz="8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非財務データ業務の月間工数（詳細含む）</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本社推定で進める。拠点への設問（詳細①〜⑤）は削除</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750" b="1" dirty="0">
                          <a:solidFill>
                            <a:srgbClr val="7A5B00"/>
                          </a:solidFill>
                          <a:latin typeface="Meiryo" pitchFamily="34" charset="0"/>
                          <a:ea typeface="Meiryo" pitchFamily="34" charset="-122"/>
                          <a:cs typeface="Meiryo" pitchFamily="34" charset="-120"/>
                        </a:rPr>
                        <a:t>リスク残存（データなし）</a:t>
                      </a:r>
                      <a:endParaRPr lang="en-US" sz="7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FE699"/>
                    </a:solidFill>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回答者コメントは「まともに実施したことがない」「推測で進めてください」「質問が分からなかった」＝実質未回答。ROI試算の分母が未検証のまま確定する、最も影響が大きい項目</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850" b="1" dirty="0">
                          <a:solidFill>
                            <a:srgbClr val="8A3B12"/>
                          </a:solidFill>
                          <a:latin typeface="Meiryo" pitchFamily="34" charset="0"/>
                          <a:ea typeface="Meiryo" pitchFamily="34" charset="-122"/>
                          <a:cs typeface="Meiryo" pitchFamily="34" charset="-120"/>
                        </a:rPr>
                        <a:t>高</a:t>
                      </a:r>
                      <a:endParaRPr lang="en-US" sz="8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8CBAD"/>
                    </a:solidFill>
                  </a:tcPr>
                </a:tc>
              </a:tr>
              <a:tr h="790303">
                <a:tc>
                  <a:txBody>
                    <a:bodyPr/>
                    <a:lstStyle/>
                    <a:p>
                      <a:pPr algn="ctr" indent="0" marL="0">
                        <a:buNone/>
                      </a:pPr>
                      <a:r>
                        <a:rPr lang="en-US" sz="800" b="1" dirty="0">
                          <a:solidFill>
                            <a:srgbClr val="000000"/>
                          </a:solidFill>
                          <a:latin typeface="Meiryo" pitchFamily="34" charset="0"/>
                          <a:ea typeface="Meiryo" pitchFamily="34" charset="-122"/>
                          <a:cs typeface="Meiryo" pitchFamily="34" charset="-120"/>
                        </a:rPr>
                        <a:t>C-32</a:t>
                      </a:r>
                      <a:endParaRPr lang="en-US" sz="8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入力ファイル・システムのアクセス権</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計算用Excelを想定した設問だったため削除</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750" b="1" dirty="0">
                          <a:solidFill>
                            <a:srgbClr val="7A5B00"/>
                          </a:solidFill>
                          <a:latin typeface="Meiryo" pitchFamily="34" charset="0"/>
                          <a:ea typeface="Meiryo" pitchFamily="34" charset="-122"/>
                          <a:cs typeface="Meiryo" pitchFamily="34" charset="-120"/>
                        </a:rPr>
                        <a:t>リスク残存</a:t>
                      </a:r>
                      <a:endParaRPr lang="en-US" sz="7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FE699"/>
                    </a:solidFill>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『誰でも編集できる状態か』という統制上の論点自体は未解消。改ざんリスクの指摘可能性が残る</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850" b="1" dirty="0">
                          <a:solidFill>
                            <a:srgbClr val="8A3B12"/>
                          </a:solidFill>
                          <a:latin typeface="Meiryo" pitchFamily="34" charset="0"/>
                          <a:ea typeface="Meiryo" pitchFamily="34" charset="-122"/>
                          <a:cs typeface="Meiryo" pitchFamily="34" charset="-120"/>
                        </a:rPr>
                        <a:t>高</a:t>
                      </a:r>
                      <a:endParaRPr lang="en-US" sz="8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8CBAD"/>
                    </a:solidFill>
                  </a:tcPr>
                </a:tc>
              </a:tr>
              <a:tr h="790303">
                <a:tc>
                  <a:txBody>
                    <a:bodyPr/>
                    <a:lstStyle/>
                    <a:p>
                      <a:pPr algn="ctr" indent="0" marL="0">
                        <a:buNone/>
                      </a:pPr>
                      <a:r>
                        <a:rPr lang="en-US" sz="800" b="1" dirty="0">
                          <a:solidFill>
                            <a:srgbClr val="000000"/>
                          </a:solidFill>
                          <a:latin typeface="Meiryo" pitchFamily="34" charset="0"/>
                          <a:ea typeface="Meiryo" pitchFamily="34" charset="-122"/>
                          <a:cs typeface="Meiryo" pitchFamily="34" charset="-120"/>
                        </a:rPr>
                        <a:t>H3-07</a:t>
                      </a:r>
                      <a:endParaRPr lang="en-US" sz="8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メーター交換・契約変更時のデータ処理手順</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校正済みとして交換の影響を無視し削除</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750" b="1" dirty="0">
                          <a:solidFill>
                            <a:srgbClr val="8A3B12"/>
                          </a:solidFill>
                          <a:latin typeface="Meiryo" pitchFamily="34" charset="0"/>
                          <a:ea typeface="Meiryo" pitchFamily="34" charset="-122"/>
                          <a:cs typeface="Meiryo" pitchFamily="34" charset="-120"/>
                        </a:rPr>
                        <a:t>根拠不明確</a:t>
                      </a:r>
                      <a:endParaRPr lang="en-US" sz="7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8CBAD"/>
                    </a:solidFill>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『影響を無視する』根拠が示されていない。頻度は低いが精度への影響は未確認</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850" b="1" dirty="0">
                          <a:solidFill>
                            <a:srgbClr val="7A5B00"/>
                          </a:solidFill>
                          <a:latin typeface="Meiryo" pitchFamily="34" charset="0"/>
                          <a:ea typeface="Meiryo" pitchFamily="34" charset="-122"/>
                          <a:cs typeface="Meiryo" pitchFamily="34" charset="-120"/>
                        </a:rPr>
                        <a:t>中</a:t>
                      </a:r>
                      <a:endParaRPr lang="en-US" sz="8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FE699"/>
                    </a:solidFill>
                  </a:tcPr>
                </a:tc>
              </a:tr>
              <a:tr h="790303">
                <a:tc>
                  <a:txBody>
                    <a:bodyPr/>
                    <a:lstStyle/>
                    <a:p>
                      <a:pPr algn="ctr" indent="0" marL="0">
                        <a:buNone/>
                      </a:pPr>
                      <a:r>
                        <a:rPr lang="en-US" sz="800" b="1" dirty="0">
                          <a:solidFill>
                            <a:srgbClr val="000000"/>
                          </a:solidFill>
                          <a:latin typeface="Meiryo" pitchFamily="34" charset="0"/>
                          <a:ea typeface="Meiryo" pitchFamily="34" charset="-122"/>
                          <a:cs typeface="Meiryo" pitchFamily="34" charset="-120"/>
                        </a:rPr>
                        <a:t>H7-05</a:t>
                      </a:r>
                      <a:endParaRPr lang="en-US" sz="8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過去に定着しなかったシステムとその理由</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ESG室の末武さんに確認する予定として削除</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750" b="1" dirty="0">
                          <a:solidFill>
                            <a:srgbClr val="7A5B00"/>
                          </a:solidFill>
                          <a:latin typeface="Meiryo" pitchFamily="34" charset="0"/>
                          <a:ea typeface="Meiryo" pitchFamily="34" charset="-122"/>
                          <a:cs typeface="Meiryo" pitchFamily="34" charset="-120"/>
                        </a:rPr>
                        <a:t>対応未完了</a:t>
                      </a:r>
                      <a:endParaRPr lang="en-US" sz="7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FE699"/>
                    </a:solidFill>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『確認する』は未完了のToDo。定着リスクの最重要インプットであり実施状況の確認を要する</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850" b="1" dirty="0">
                          <a:solidFill>
                            <a:srgbClr val="8A3B12"/>
                          </a:solidFill>
                          <a:latin typeface="Meiryo" pitchFamily="34" charset="0"/>
                          <a:ea typeface="Meiryo" pitchFamily="34" charset="-122"/>
                          <a:cs typeface="Meiryo" pitchFamily="34" charset="-120"/>
                        </a:rPr>
                        <a:t>高</a:t>
                      </a:r>
                      <a:endParaRPr lang="en-US" sz="8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8CBAD"/>
                    </a:solidFill>
                  </a:tcPr>
                </a:tc>
              </a:tr>
              <a:tr h="0">
                <a:tc>
                  <a:txBody>
                    <a:bodyPr/>
                    <a:lstStyle/>
                    <a:p>
                      <a:pPr algn="ctr" indent="0" marL="0">
                        <a:buNone/>
                      </a:pPr>
                      <a:r>
                        <a:rPr lang="en-US" sz="800" b="1" dirty="0">
                          <a:solidFill>
                            <a:srgbClr val="000000"/>
                          </a:solidFill>
                          <a:latin typeface="Meiryo" pitchFamily="34" charset="0"/>
                          <a:ea typeface="Meiryo" pitchFamily="34" charset="-122"/>
                          <a:cs typeface="Meiryo" pitchFamily="34" charset="-120"/>
                        </a:rPr>
                        <a:t>H9-08</a:t>
                      </a:r>
                      <a:endParaRPr lang="en-US" sz="8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本社未報告の現地環境・安全データ</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本社チェックリストで補う方針に切替し削除</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750" b="1" dirty="0">
                          <a:solidFill>
                            <a:srgbClr val="7A5B00"/>
                          </a:solidFill>
                          <a:latin typeface="Meiryo" pitchFamily="34" charset="0"/>
                          <a:ea typeface="Meiryo" pitchFamily="34" charset="-122"/>
                          <a:cs typeface="Meiryo" pitchFamily="34" charset="-120"/>
                        </a:rPr>
                        <a:t>リスク残存</a:t>
                      </a:r>
                      <a:endParaRPr lang="en-US" sz="7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FE699"/>
                    </a:solidFill>
                  </a:tcPr>
                </a:tc>
                <a:tc>
                  <a:txBody>
                    <a:bodyPr/>
                    <a:lstStyle/>
                    <a:p>
                      <a:pPr indent="0" marL="0">
                        <a:buNone/>
                      </a:pPr>
                      <a:r>
                        <a:rPr lang="en-US" sz="730" dirty="0">
                          <a:solidFill>
                            <a:srgbClr val="000000"/>
                          </a:solidFill>
                          <a:latin typeface="Meiryo" pitchFamily="34" charset="0"/>
                          <a:ea typeface="Meiryo" pitchFamily="34" charset="-122"/>
                          <a:cs typeface="Meiryo" pitchFamily="34" charset="-120"/>
                        </a:rPr>
                        <a:t>H4-07と同根。本社チェックリストが全海外拠点の未報告データを洗い出せる網羅性は不透明</a:t>
                      </a:r>
                      <a:endParaRPr lang="en-US" sz="73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algn="ctr" indent="0" marL="0">
                        <a:buNone/>
                      </a:pPr>
                      <a:r>
                        <a:rPr lang="en-US" sz="850" b="1" dirty="0">
                          <a:solidFill>
                            <a:srgbClr val="8A3B12"/>
                          </a:solidFill>
                          <a:latin typeface="Meiryo" pitchFamily="34" charset="0"/>
                          <a:ea typeface="Meiryo" pitchFamily="34" charset="-122"/>
                          <a:cs typeface="Meiryo" pitchFamily="34" charset="-120"/>
                        </a:rPr>
                        <a:t>高</a:t>
                      </a:r>
                      <a:endParaRPr lang="en-US" sz="85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F8CBAD"/>
                    </a:solidFill>
                  </a:tcPr>
                </a:tc>
              </a:tr>
            </a:tbl>
          </a:graphicData>
        </a:graphic>
      </p:graphicFrame>
      <p:sp>
        <p:nvSpPr>
          <p:cNvPr id="7" name="Text 4"/>
          <p:cNvSpPr txBox="1"/>
          <p:nvPr/>
        </p:nvSpPr>
        <p:spPr>
          <a:xfrm>
            <a:off x="11750040" y="6537960"/>
            <a:ext cx="365760" cy="256032"/>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F3864"/>
          </a:solidFill>
          <a:ln/>
        </p:spPr>
      </p:sp>
      <p:sp>
        <p:nvSpPr>
          <p:cNvPr id="3" name="Text 1"/>
          <p:cNvSpPr txBox="1"/>
          <p:nvPr/>
        </p:nvSpPr>
        <p:spPr>
          <a:xfrm>
            <a:off x="457200" y="109728"/>
            <a:ext cx="9601200" cy="45720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付録｜削除に同意した51件</a:t>
            </a:r>
            <a:endParaRPr lang="en-US" sz="2200" dirty="0"/>
          </a:p>
        </p:txBody>
      </p:sp>
      <p:sp>
        <p:nvSpPr>
          <p:cNvPr id="4" name="Text 2"/>
          <p:cNvSpPr txBox="1"/>
          <p:nvPr/>
        </p:nvSpPr>
        <p:spPr>
          <a:xfrm>
            <a:off x="457200" y="512064"/>
            <a:ext cx="11247120" cy="292608"/>
          </a:xfrm>
          <a:prstGeom prst="rect">
            <a:avLst/>
          </a:prstGeom>
          <a:noFill/>
          <a:ln/>
        </p:spPr>
        <p:txBody>
          <a:bodyPr wrap="square" lIns="0" tIns="0" rIns="0" bIns="0" rtlCol="0" anchor="ctr"/>
          <a:lstStyle/>
          <a:p>
            <a:pPr indent="0" marL="0">
              <a:buNone/>
            </a:pPr>
            <a:r>
              <a:rPr lang="en-US" sz="1000" dirty="0">
                <a:solidFill>
                  <a:srgbClr val="CBD6EA"/>
                </a:solidFill>
                <a:latin typeface="Meiryo" pitchFamily="34" charset="0"/>
                <a:ea typeface="Meiryo" pitchFamily="34" charset="-122"/>
                <a:cs typeface="Meiryo" pitchFamily="34" charset="-120"/>
              </a:rPr>
              <a:t>1/3（C・10系）</a:t>
            </a:r>
            <a:endParaRPr lang="en-US" sz="1000" dirty="0"/>
          </a:p>
        </p:txBody>
      </p:sp>
      <p:sp>
        <p:nvSpPr>
          <p:cNvPr id="5" name="Text 3"/>
          <p:cNvSpPr txBox="1"/>
          <p:nvPr/>
        </p:nvSpPr>
        <p:spPr>
          <a:xfrm>
            <a:off x="8961120" y="109728"/>
            <a:ext cx="2926080" cy="274320"/>
          </a:xfrm>
          <a:prstGeom prst="rect">
            <a:avLst/>
          </a:prstGeom>
          <a:noFill/>
          <a:ln/>
        </p:spPr>
        <p:txBody>
          <a:bodyPr wrap="square" lIns="0" tIns="0" rIns="0" bIns="0" rtlCol="0" anchor="ctr"/>
          <a:lstStyle/>
          <a:p>
            <a:pPr algn="r" indent="0" marL="0">
              <a:buNone/>
            </a:pPr>
            <a:r>
              <a:rPr lang="en-US" sz="900" dirty="0">
                <a:solidFill>
                  <a:srgbClr val="CBD6EA"/>
                </a:solidFill>
                <a:latin typeface="Meiryo" pitchFamily="34" charset="0"/>
                <a:ea typeface="Meiryo" pitchFamily="34" charset="-122"/>
                <a:cs typeface="Meiryo" pitchFamily="34" charset="-120"/>
              </a:rPr>
              <a:t>As-Is調査 v1.1 ｜専門家レビュー版</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20040" y="1005840"/>
          <a:ext cx="11548872" cy="914400"/>
        </p:xfrm>
        <a:graphic>
          <a:graphicData uri="http://schemas.openxmlformats.org/drawingml/2006/table">
            <a:tbl>
              <a:tblPr/>
              <a:tblGrid>
                <a:gridCol w="1005840"/>
                <a:gridCol w="2743200"/>
                <a:gridCol w="3291840"/>
                <a:gridCol w="4507992"/>
              </a:tblGrid>
              <a:tr h="368808">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ID</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2E7D32"/>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元の設問（要旨）</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2E7D32"/>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削除理由の要旨</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2E7D32"/>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同意コメント</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2E7D32"/>
                    </a:solidFill>
                  </a:tcPr>
                </a:tc>
              </a:tr>
              <a:tr h="368808">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C-01</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手順書の有無</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両拠点とも手順書なしで一致</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仮に手順書がある拠点があっても不利益は軽微</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368808">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C-09</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証憑の保管形式</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PDF・Excelが中心と把握</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保管容量を多めに見れば対応可能</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368808">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C-13</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変更履歴の有無</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変更履歴を必須要件として確定</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機能を厚めに実装、実態違いも吸収可能</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368808">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C-23</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抜け漏れ・遅延の主な原因</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5つの原因を要件に反映</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汎用的な原因で妥当性が高い</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368808">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C-27</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妥当性チェック方法</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標準閾値はESG企画室が設定</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拠点実態に関わらず妥当な方針</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368808">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C-29</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証憑を探す時間</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BOX運用前提で保存・検索機能を必須化</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機能を厚めに実装、実態違いも問題なし</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368808">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C-31</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確定・ロックの概念</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本社が確定・ロックを行っている</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本社主導の統制で拠点実態に非依存</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368808">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C-34</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スマートメーター等の有無</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自動計測は対象外、OCR検討へ振替</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意図的なスコープ決定で機会損失は自覚済み</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368808">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C-37</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属人化の有無</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一部属人化前提でマニュアル整備を要件化</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保守的な前提で支障は小さい</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368808">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10-06</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抜け漏れの構造的発生</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事後の早期修正で担保</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リスクを別の仕組みで正面から対応</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368808">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10-07</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単位換算・按分の計算ミス</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実績を閾値設計に反映</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エビデンスに基づく設計判断</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368808">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10-08</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異常値照会の往復</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照会機能を優先度高い要件とする</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リスクを認識した上で正面から対応</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368808">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10-09</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再計算への不安</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拠点は計算していないため本社機能として設計</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C-06が引き続き生きた設問として安全網になる</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368808">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10-11</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証拠探しの負荷</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国内浸透・海外未浸透を前提に反映</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誤りがあっても移行見積り誤差程度で軽微</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0">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10-12</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フィードバック機能の要否</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費用対効果で判断する保留項目</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無視でなく先送りの判断で妥当</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bl>
          </a:graphicData>
        </a:graphic>
      </p:graphicFrame>
      <p:sp>
        <p:nvSpPr>
          <p:cNvPr id="7" name="Text 4"/>
          <p:cNvSpPr txBox="1"/>
          <p:nvPr/>
        </p:nvSpPr>
        <p:spPr>
          <a:xfrm>
            <a:off x="11750040" y="6537960"/>
            <a:ext cx="365760" cy="256032"/>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F3864"/>
          </a:solidFill>
          <a:ln/>
        </p:spPr>
      </p:sp>
      <p:sp>
        <p:nvSpPr>
          <p:cNvPr id="3" name="Text 1"/>
          <p:cNvSpPr txBox="1"/>
          <p:nvPr/>
        </p:nvSpPr>
        <p:spPr>
          <a:xfrm>
            <a:off x="457200" y="109728"/>
            <a:ext cx="9601200" cy="45720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付録｜削除に同意した51件</a:t>
            </a:r>
            <a:endParaRPr lang="en-US" sz="2200" dirty="0"/>
          </a:p>
        </p:txBody>
      </p:sp>
      <p:sp>
        <p:nvSpPr>
          <p:cNvPr id="4" name="Text 2"/>
          <p:cNvSpPr txBox="1"/>
          <p:nvPr/>
        </p:nvSpPr>
        <p:spPr>
          <a:xfrm>
            <a:off x="457200" y="512064"/>
            <a:ext cx="11247120" cy="292608"/>
          </a:xfrm>
          <a:prstGeom prst="rect">
            <a:avLst/>
          </a:prstGeom>
          <a:noFill/>
          <a:ln/>
        </p:spPr>
        <p:txBody>
          <a:bodyPr wrap="square" lIns="0" tIns="0" rIns="0" bIns="0" rtlCol="0" anchor="ctr"/>
          <a:lstStyle/>
          <a:p>
            <a:pPr indent="0" marL="0">
              <a:buNone/>
            </a:pPr>
            <a:r>
              <a:rPr lang="en-US" sz="1000" dirty="0">
                <a:solidFill>
                  <a:srgbClr val="CBD6EA"/>
                </a:solidFill>
                <a:latin typeface="Meiryo" pitchFamily="34" charset="0"/>
                <a:ea typeface="Meiryo" pitchFamily="34" charset="-122"/>
                <a:cs typeface="Meiryo" pitchFamily="34" charset="-120"/>
              </a:rPr>
              <a:t>2/3（H系）</a:t>
            </a:r>
            <a:endParaRPr lang="en-US" sz="1000" dirty="0"/>
          </a:p>
        </p:txBody>
      </p:sp>
      <p:sp>
        <p:nvSpPr>
          <p:cNvPr id="5" name="Text 3"/>
          <p:cNvSpPr txBox="1"/>
          <p:nvPr/>
        </p:nvSpPr>
        <p:spPr>
          <a:xfrm>
            <a:off x="8961120" y="109728"/>
            <a:ext cx="2926080" cy="274320"/>
          </a:xfrm>
          <a:prstGeom prst="rect">
            <a:avLst/>
          </a:prstGeom>
          <a:noFill/>
          <a:ln/>
        </p:spPr>
        <p:txBody>
          <a:bodyPr wrap="square" lIns="0" tIns="0" rIns="0" bIns="0" rtlCol="0" anchor="ctr"/>
          <a:lstStyle/>
          <a:p>
            <a:pPr algn="r" indent="0" marL="0">
              <a:buNone/>
            </a:pPr>
            <a:r>
              <a:rPr lang="en-US" sz="900" dirty="0">
                <a:solidFill>
                  <a:srgbClr val="CBD6EA"/>
                </a:solidFill>
                <a:latin typeface="Meiryo" pitchFamily="34" charset="0"/>
                <a:ea typeface="Meiryo" pitchFamily="34" charset="-122"/>
                <a:cs typeface="Meiryo" pitchFamily="34" charset="-120"/>
              </a:rPr>
              <a:t>As-Is調査 v1.1 ｜専門家レビュー版</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20040" y="1005840"/>
          <a:ext cx="11548872" cy="914400"/>
        </p:xfrm>
        <a:graphic>
          <a:graphicData uri="http://schemas.openxmlformats.org/drawingml/2006/table">
            <a:tbl>
              <a:tblPr/>
              <a:tblGrid>
                <a:gridCol w="1005840"/>
                <a:gridCol w="2743200"/>
                <a:gridCol w="3291840"/>
                <a:gridCol w="4507992"/>
              </a:tblGrid>
              <a:tr h="251460">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ID</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2E7D32"/>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元の設問（要旨）</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2E7D32"/>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削除理由の要旨</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2E7D32"/>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同意コメント</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2E7D32"/>
                    </a:solidFill>
                  </a:tcPr>
                </a:tc>
              </a:tr>
              <a:tr h="251460">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H3-01</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手順書の形式等</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システム入力マニュアル以外の手順書はない</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C-01と同様、低リスク</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251460">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H3-02</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手順書と実態の乖離</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手順の明文化を導入時タスクに含める</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対応がリスクを正面から解消</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251460">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H3-06</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データ欠測の穴埋め方法</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欠測は例外的としシステム外の補完を許容</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例外処理を許容する設計判断で妥当</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251460">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H3-09</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複数報告間の食い違い</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多目的出力を要件化、様式変更は別途調整</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主要リスクは解消、CDP対応のみ先送り</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251460">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H4-02</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係数更新時の再計算</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更新・再計算可能性を要件に反映</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機能を厚めに実装する対応で妥当</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251460">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H4-03</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按分の管理者・根拠資料</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対象一覧をESG企画室が提示</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情報源の変更のみ。運用ToDoとして管理</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251460">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H4-04</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按分基準の見直し頻度</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按分基準は年度ごとに保持する設計</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保守的な設計で妥当</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251460">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H4-12</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製品LCA用データ</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ESG企画室との事前決定待ち</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意思決定プロセスを踏んだ先送りで妥当</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251460">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H4-13</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人事・安全データの独自解釈</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本社側の指標定義の問題として整理</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対応の道筋が明確で妥当</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251460">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H5-02</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保存年限</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ESG企画室と決定のうえ要件反映</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意思決定プロセスを踏んだ判断で妥当</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251460">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H5-04</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第三者保有証憑の入手性</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請求ありは入手可、なしは推定・除外</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明確な運用ルールで妥当</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251460">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H5-06</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過去の指摘事項の記録所在</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ESG企画室の共有フォルダにあると把握</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監査対応の集約業務であり妥当性が高い</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251460">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H6-01</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チェック記録の有無</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証跡はシステム内に残す前提</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機能を厚めに実装する対応で妥当</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251460">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H6-03</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入力ミスの流出経験</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現行の修正要否確認を維持</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既存の安全策を維持する保守的判断</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251460">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H6-04</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拠点長の関与頻度</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承認者ルールは事務局で設計</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トップダウンの設計方針として妥当</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251460">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H6-07</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内部監査・ISO審査の指摘内容</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ISO監査は数値誤りを対象外</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数値精度の検証は第三者保証が担う。理由は妥当</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251460">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H7-03</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子メーターの設置状況</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拠点単位で足り部門別粒度は対象外</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意図的なスコープ決定で妥当</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251460">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H7-04</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ITサポート体制</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現地IT支援は期待せず本社支援を計画</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最悪ケース前提の保守的計画で妥当</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251460">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H8-01</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本社照会・差し戻し件数</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実績値を効果試算の基準値とする</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実データに基づく判断で妥当</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251460">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H8-02</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業務関与人数・兼務状況</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Scope1・2で3名を前提に試算</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Scope3の見直しを自ら明記し妥当</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251460">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H9-03</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CSRD等の追加開示要求</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豪州子会社分を将来要件として記録</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判明事実を要件に反映し妥当</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0">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H9-06</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現地委託先データの入手性</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取れないデータは推定・除外</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明確な運用ルールで妥当</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bl>
          </a:graphicData>
        </a:graphic>
      </p:graphicFrame>
      <p:sp>
        <p:nvSpPr>
          <p:cNvPr id="7" name="Text 4"/>
          <p:cNvSpPr txBox="1"/>
          <p:nvPr/>
        </p:nvSpPr>
        <p:spPr>
          <a:xfrm>
            <a:off x="11750040" y="6537960"/>
            <a:ext cx="365760" cy="256032"/>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F3864"/>
          </a:solidFill>
          <a:ln/>
        </p:spPr>
      </p:sp>
      <p:sp>
        <p:nvSpPr>
          <p:cNvPr id="3" name="Text 1"/>
          <p:cNvSpPr txBox="1"/>
          <p:nvPr/>
        </p:nvSpPr>
        <p:spPr>
          <a:xfrm>
            <a:off x="457200" y="109728"/>
            <a:ext cx="9601200" cy="45720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付録｜削除に同意した51件</a:t>
            </a:r>
            <a:endParaRPr lang="en-US" sz="2200" dirty="0"/>
          </a:p>
        </p:txBody>
      </p:sp>
      <p:sp>
        <p:nvSpPr>
          <p:cNvPr id="4" name="Text 2"/>
          <p:cNvSpPr txBox="1"/>
          <p:nvPr/>
        </p:nvSpPr>
        <p:spPr>
          <a:xfrm>
            <a:off x="457200" y="512064"/>
            <a:ext cx="11247120" cy="292608"/>
          </a:xfrm>
          <a:prstGeom prst="rect">
            <a:avLst/>
          </a:prstGeom>
          <a:noFill/>
          <a:ln/>
        </p:spPr>
        <p:txBody>
          <a:bodyPr wrap="square" lIns="0" tIns="0" rIns="0" bIns="0" rtlCol="0" anchor="ctr"/>
          <a:lstStyle/>
          <a:p>
            <a:pPr indent="0" marL="0">
              <a:buNone/>
            </a:pPr>
            <a:r>
              <a:rPr lang="en-US" sz="1000" dirty="0">
                <a:solidFill>
                  <a:srgbClr val="CBD6EA"/>
                </a:solidFill>
                <a:latin typeface="Meiryo" pitchFamily="34" charset="0"/>
                <a:ea typeface="Meiryo" pitchFamily="34" charset="-122"/>
                <a:cs typeface="Meiryo" pitchFamily="34" charset="-120"/>
              </a:rPr>
              <a:t>3/3（追加検証分）</a:t>
            </a:r>
            <a:endParaRPr lang="en-US" sz="1000" dirty="0"/>
          </a:p>
        </p:txBody>
      </p:sp>
      <p:sp>
        <p:nvSpPr>
          <p:cNvPr id="5" name="Text 3"/>
          <p:cNvSpPr txBox="1"/>
          <p:nvPr/>
        </p:nvSpPr>
        <p:spPr>
          <a:xfrm>
            <a:off x="8961120" y="109728"/>
            <a:ext cx="2926080" cy="274320"/>
          </a:xfrm>
          <a:prstGeom prst="rect">
            <a:avLst/>
          </a:prstGeom>
          <a:noFill/>
          <a:ln/>
        </p:spPr>
        <p:txBody>
          <a:bodyPr wrap="square" lIns="0" tIns="0" rIns="0" bIns="0" rtlCol="0" anchor="ctr"/>
          <a:lstStyle/>
          <a:p>
            <a:pPr algn="r" indent="0" marL="0">
              <a:buNone/>
            </a:pPr>
            <a:r>
              <a:rPr lang="en-US" sz="900" dirty="0">
                <a:solidFill>
                  <a:srgbClr val="CBD6EA"/>
                </a:solidFill>
                <a:latin typeface="Meiryo" pitchFamily="34" charset="0"/>
                <a:ea typeface="Meiryo" pitchFamily="34" charset="-122"/>
                <a:cs typeface="Meiryo" pitchFamily="34" charset="-120"/>
              </a:rPr>
              <a:t>As-Is調査 v1.1 ｜専門家レビュー版</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20040" y="1005840"/>
          <a:ext cx="11548872" cy="914400"/>
        </p:xfrm>
        <a:graphic>
          <a:graphicData uri="http://schemas.openxmlformats.org/drawingml/2006/table">
            <a:tbl>
              <a:tblPr/>
              <a:tblGrid>
                <a:gridCol w="1005840"/>
                <a:gridCol w="2743200"/>
                <a:gridCol w="3291840"/>
                <a:gridCol w="4507992"/>
              </a:tblGrid>
              <a:tr h="395151">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ID</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2E7D32"/>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元の設問（要旨）</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2E7D32"/>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削除理由の要旨</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2E7D32"/>
                    </a:solidFill>
                  </a:tcPr>
                </a:tc>
                <a:tc>
                  <a:txBody>
                    <a:bodyPr/>
                    <a:lstStyle/>
                    <a:p>
                      <a:pPr algn="ctr" indent="0" marL="0">
                        <a:buNone/>
                      </a:pPr>
                      <a:r>
                        <a:rPr lang="en-US" sz="900" b="1" dirty="0">
                          <a:solidFill>
                            <a:srgbClr val="FFFFFF"/>
                          </a:solidFill>
                          <a:latin typeface="Meiryo" pitchFamily="34" charset="0"/>
                          <a:ea typeface="Meiryo" pitchFamily="34" charset="-122"/>
                          <a:cs typeface="Meiryo" pitchFamily="34" charset="-120"/>
                        </a:rPr>
                        <a:t>同意コメント</a:t>
                      </a:r>
                      <a:endParaRPr lang="en-US" sz="90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solidFill>
                      <a:srgbClr val="2E7D32"/>
                    </a:solidFill>
                  </a:tcPr>
                </a:tc>
              </a:tr>
              <a:tr h="395151">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C-04</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報告後のデータ修正頻度</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算定前の桁間違い修正が毎年発生する実態を踏まえ修正機能を実装前提化</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機能を厚めに実装する対応で妥当</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395151">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C-05</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主担当不在時の報告継続性</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1拠点でも止まると全体が遅れるため代理承認を実装前提化</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保守的な機能実装で妥当</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395151">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C-10</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証憑への遡及可能性</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保存年限決定後に判断し、必要な場合は事前相談する段階的対応</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意思決定プロセスを踏んだ判断で妥当</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395151">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C-19</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多言語UI・現地サポートなしでの運用可否</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多言語対応をRFPに含める前提で設計</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機能を厚めに実装する対応で妥当</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395151">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C-20</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月次で最も時間がかかるステップ</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ステップ案をESG室へ確認する対応に切替</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全拠点調査の代替として合理的</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395151">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C-24</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過年度データの遡及修正経験</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過年度修正機能を要件に含める方向</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機能を厚めに実装する対応で妥当</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395151">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C-25</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単位換算・按分の実施有無</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換算・按分をシステム側で行う基本方針</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機能を厚めに実装する対応で妥当</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395151">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C-36</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電子承認の導入有無</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入力担当者向けでなくシステム担当者向けの技術確認事項として切り出し</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質問対象の適正化として妥当</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395151">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H5-05</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記録引継ぎの実態</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本社からデータ・証憑を明示する方式に切替</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別の仕組みで正面から対応し妥当</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395151">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H5-07</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改ざん防止の仕組み</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権限分離・確定ロック・変更履歴としてシステム側で担保</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機能を厚めに実装する対応で妥当</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395151">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H6-08</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データ信頼性のヒヤリ経験</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自己申告でなく本社側の指摘・修正記録から傾向を把握</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客観的データへの切替で妥当</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395151">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H8-03</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担当者のスキル自己評価</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スキルを前提にせず入力作業をマニュアル化する方針</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設計思想の転換として妥当</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395151">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H8-04</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業務の拠点内での位置づけ</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自己申告でなく実際の対応状況で督促強度を判断</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客観的データへの切替で妥当</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r h="0">
                <a:tc>
                  <a:txBody>
                    <a:bodyPr/>
                    <a:lstStyle/>
                    <a:p>
                      <a:pPr algn="ctr" indent="0" marL="0">
                        <a:buNone/>
                      </a:pPr>
                      <a:r>
                        <a:rPr lang="en-US" sz="780" b="1" dirty="0">
                          <a:solidFill>
                            <a:srgbClr val="000000"/>
                          </a:solidFill>
                          <a:latin typeface="Meiryo" pitchFamily="34" charset="0"/>
                          <a:ea typeface="Meiryo" pitchFamily="34" charset="-122"/>
                          <a:cs typeface="Meiryo" pitchFamily="34" charset="-120"/>
                        </a:rPr>
                        <a:t>H9-01</a:t>
                      </a:r>
                      <a:endParaRPr lang="en-US" sz="78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言語・翻訳体制</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000000"/>
                          </a:solidFill>
                          <a:latin typeface="Meiryo" pitchFamily="34" charset="0"/>
                          <a:ea typeface="Meiryo" pitchFamily="34" charset="-122"/>
                          <a:cs typeface="Meiryo" pitchFamily="34" charset="-120"/>
                        </a:rPr>
                        <a:t>多言語対応をRFPに含める前提で設計</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c>
                  <a:txBody>
                    <a:bodyPr/>
                    <a:lstStyle/>
                    <a:p>
                      <a:pPr indent="0" marL="0">
                        <a:buNone/>
                      </a:pPr>
                      <a:r>
                        <a:rPr lang="en-US" sz="760" dirty="0">
                          <a:solidFill>
                            <a:srgbClr val="6B7280"/>
                          </a:solidFill>
                          <a:latin typeface="Meiryo" pitchFamily="34" charset="0"/>
                          <a:ea typeface="Meiryo" pitchFamily="34" charset="-122"/>
                          <a:cs typeface="Meiryo" pitchFamily="34" charset="-120"/>
                        </a:rPr>
                        <a:t>機能を厚めに実装する対応で妥当</a:t>
                      </a:r>
                      <a:endParaRPr lang="en-US" sz="760" dirty="0">
                        <a:latin typeface="Meiryo" charset="0"/>
                        <a:ea typeface="Meiryo" charset="0"/>
                        <a:cs typeface="Meiryo" charset="0"/>
                      </a:endParaRPr>
                    </a:p>
                  </a:txBody>
                  <a:tcPr marL="91440" marR="91440" marT="45720" marB="45720" anchor="ctr">
                    <a:lnL w="6350" cap="flat" cmpd="sng" algn="ctr">
                      <a:solidFill>
                        <a:srgbClr val="C9D5E6"/>
                      </a:solidFill>
                      <a:prstDash val="solid"/>
                      <a:round/>
                      <a:headEnd type="none" w="med" len="med"/>
                      <a:tailEnd type="none" w="med" len="med"/>
                    </a:lnL>
                    <a:lnR w="6350" cap="flat" cmpd="sng" algn="ctr">
                      <a:solidFill>
                        <a:srgbClr val="C9D5E6"/>
                      </a:solidFill>
                      <a:prstDash val="solid"/>
                      <a:round/>
                      <a:headEnd type="none" w="med" len="med"/>
                      <a:tailEnd type="none" w="med" len="med"/>
                    </a:lnR>
                    <a:lnT w="6350" cap="flat" cmpd="sng" algn="ctr">
                      <a:solidFill>
                        <a:srgbClr val="C9D5E6"/>
                      </a:solidFill>
                      <a:prstDash val="solid"/>
                      <a:round/>
                      <a:headEnd type="none" w="med" len="med"/>
                      <a:tailEnd type="none" w="med" len="med"/>
                    </a:lnT>
                    <a:lnB w="6350" cap="flat" cmpd="sng" algn="ctr">
                      <a:solidFill>
                        <a:srgbClr val="C9D5E6"/>
                      </a:solidFill>
                      <a:prstDash val="solid"/>
                      <a:round/>
                      <a:headEnd type="none" w="med" len="med"/>
                      <a:tailEnd type="none" w="med" len="med"/>
                    </a:lnB>
                  </a:tcPr>
                </a:tc>
              </a:tr>
            </a:tbl>
          </a:graphicData>
        </a:graphic>
      </p:graphicFrame>
      <p:sp>
        <p:nvSpPr>
          <p:cNvPr id="7" name="Text 4"/>
          <p:cNvSpPr txBox="1"/>
          <p:nvPr/>
        </p:nvSpPr>
        <p:spPr>
          <a:xfrm>
            <a:off x="11750040" y="6537960"/>
            <a:ext cx="365760" cy="256032"/>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68680"/>
          </a:xfrm>
          <a:prstGeom prst="rect">
            <a:avLst/>
          </a:prstGeom>
          <a:solidFill>
            <a:srgbClr val="1F3864"/>
          </a:solidFill>
          <a:ln/>
        </p:spPr>
      </p:sp>
      <p:sp>
        <p:nvSpPr>
          <p:cNvPr id="3" name="Text 1"/>
          <p:cNvSpPr txBox="1"/>
          <p:nvPr/>
        </p:nvSpPr>
        <p:spPr>
          <a:xfrm>
            <a:off x="457200" y="109728"/>
            <a:ext cx="9601200" cy="457200"/>
          </a:xfrm>
          <a:prstGeom prst="rect">
            <a:avLst/>
          </a:prstGeom>
          <a:noFill/>
          <a:ln/>
        </p:spPr>
        <p:txBody>
          <a:bodyPr wrap="square" lIns="0" tIns="0" rIns="0" bIns="0" rtlCol="0" anchor="ctr"/>
          <a:lstStyle/>
          <a:p>
            <a:pPr indent="0" marL="0">
              <a:buNone/>
            </a:pPr>
            <a:r>
              <a:rPr lang="en-US" sz="2200" b="1" dirty="0">
                <a:solidFill>
                  <a:srgbClr val="FFFFFF"/>
                </a:solidFill>
                <a:latin typeface="Meiryo" pitchFamily="34" charset="0"/>
                <a:ea typeface="Meiryo" pitchFamily="34" charset="-122"/>
                <a:cs typeface="Meiryo" pitchFamily="34" charset="-120"/>
              </a:rPr>
              <a:t>まとめ</a:t>
            </a:r>
            <a:endParaRPr lang="en-US" sz="2200" dirty="0"/>
          </a:p>
        </p:txBody>
      </p:sp>
      <p:sp>
        <p:nvSpPr>
          <p:cNvPr id="4" name="Text 2"/>
          <p:cNvSpPr txBox="1"/>
          <p:nvPr/>
        </p:nvSpPr>
        <p:spPr>
          <a:xfrm>
            <a:off x="457200" y="512064"/>
            <a:ext cx="11247120" cy="292608"/>
          </a:xfrm>
          <a:prstGeom prst="rect">
            <a:avLst/>
          </a:prstGeom>
          <a:noFill/>
          <a:ln/>
        </p:spPr>
        <p:txBody>
          <a:bodyPr wrap="square" lIns="0" tIns="0" rIns="0" bIns="0" rtlCol="0" anchor="ctr"/>
          <a:lstStyle/>
          <a:p>
            <a:pPr indent="0" marL="0">
              <a:buNone/>
            </a:pPr>
            <a:r>
              <a:rPr lang="en-US" sz="1000" dirty="0">
                <a:solidFill>
                  <a:srgbClr val="CBD6EA"/>
                </a:solidFill>
                <a:latin typeface="Meiryo" pitchFamily="34" charset="0"/>
                <a:ea typeface="Meiryo" pitchFamily="34" charset="-122"/>
                <a:cs typeface="Meiryo" pitchFamily="34" charset="-120"/>
              </a:rPr>
              <a:t>本レビューの位置づけと今後の対応</a:t>
            </a:r>
            <a:endParaRPr lang="en-US" sz="1000" dirty="0"/>
          </a:p>
        </p:txBody>
      </p:sp>
      <p:sp>
        <p:nvSpPr>
          <p:cNvPr id="5" name="Text 3"/>
          <p:cNvSpPr txBox="1"/>
          <p:nvPr/>
        </p:nvSpPr>
        <p:spPr>
          <a:xfrm>
            <a:off x="8961120" y="109728"/>
            <a:ext cx="2926080" cy="274320"/>
          </a:xfrm>
          <a:prstGeom prst="rect">
            <a:avLst/>
          </a:prstGeom>
          <a:noFill/>
          <a:ln/>
        </p:spPr>
        <p:txBody>
          <a:bodyPr wrap="square" lIns="0" tIns="0" rIns="0" bIns="0" rtlCol="0" anchor="ctr"/>
          <a:lstStyle/>
          <a:p>
            <a:pPr algn="r" indent="0" marL="0">
              <a:buNone/>
            </a:pPr>
            <a:r>
              <a:rPr lang="en-US" sz="900" dirty="0">
                <a:solidFill>
                  <a:srgbClr val="CBD6EA"/>
                </a:solidFill>
                <a:latin typeface="Meiryo" pitchFamily="34" charset="0"/>
                <a:ea typeface="Meiryo" pitchFamily="34" charset="-122"/>
                <a:cs typeface="Meiryo" pitchFamily="34" charset="-120"/>
              </a:rPr>
              <a:t>As-Is調査 v1.1 ｜専門家レビュー版</a:t>
            </a:r>
            <a:endParaRPr lang="en-US" sz="900" dirty="0"/>
          </a:p>
        </p:txBody>
      </p:sp>
      <p:sp>
        <p:nvSpPr>
          <p:cNvPr id="6" name="Shape 4"/>
          <p:cNvSpPr/>
          <p:nvPr/>
        </p:nvSpPr>
        <p:spPr>
          <a:xfrm>
            <a:off x="502920" y="1188720"/>
            <a:ext cx="11183112" cy="4846320"/>
          </a:xfrm>
          <a:prstGeom prst="roundRect">
            <a:avLst>
              <a:gd name="adj" fmla="val 1509"/>
            </a:avLst>
          </a:prstGeom>
          <a:solidFill>
            <a:srgbClr val="F5F8FD"/>
          </a:solidFill>
          <a:ln/>
          <a:effectLst>
            <a:outerShdw sx="100000" sy="100000" kx="0" ky="0" algn="bl" rotWithShape="0" blurRad="76200" dist="25400" dir="5400000">
              <a:srgbClr val="9AA7BC">
                <a:alpha val="28000"/>
              </a:srgbClr>
            </a:outerShdw>
          </a:effectLst>
        </p:spPr>
      </p:sp>
      <p:sp>
        <p:nvSpPr>
          <p:cNvPr id="7" name="Text 5"/>
          <p:cNvSpPr txBox="1"/>
          <p:nvPr/>
        </p:nvSpPr>
        <p:spPr>
          <a:xfrm>
            <a:off x="868680" y="1508760"/>
            <a:ext cx="10424160" cy="4297680"/>
          </a:xfrm>
          <a:prstGeom prst="rect">
            <a:avLst/>
          </a:prstGeom>
          <a:noFill/>
          <a:ln/>
        </p:spPr>
        <p:txBody>
          <a:bodyPr wrap="square" lIns="0" tIns="0" rIns="0" bIns="0" rtlCol="0" anchor="t"/>
          <a:lstStyle/>
          <a:p>
            <a:pPr marL="203200" indent="-203200">
              <a:lnSpc>
                <a:spcPct val="122000"/>
              </a:lnSpc>
              <a:spcAft>
                <a:spcPts val="1400"/>
              </a:spcAft>
              <a:buSzPct val="100000"/>
              <a:buChar char="■"/>
            </a:pPr>
            <a:r>
              <a:rPr lang="en-US" sz="1150" dirty="0">
                <a:solidFill>
                  <a:srgbClr val="26303B"/>
                </a:solidFill>
                <a:latin typeface="Meiryo" pitchFamily="34" charset="0"/>
                <a:ea typeface="Meiryo" pitchFamily="34" charset="-122"/>
                <a:cs typeface="Meiryo" pitchFamily="34" charset="-120"/>
              </a:rPr>
              <a:t>南（デジ戦）が判断した81件の削除について、専門家の視点で再検証した結果、51件は削除に同意、30件を要注意としました。</a:t>
            </a:r>
            <a:endParaRPr lang="en-US" sz="1150" dirty="0"/>
          </a:p>
          <a:p>
            <a:pPr marL="203200" indent="-203200">
              <a:lnSpc>
                <a:spcPct val="122000"/>
              </a:lnSpc>
              <a:spcAft>
                <a:spcPts val="1400"/>
              </a:spcAft>
              <a:buSzPct val="100000"/>
              <a:buChar char="■"/>
            </a:pPr>
            <a:r>
              <a:rPr lang="en-US" sz="1150" dirty="0">
                <a:solidFill>
                  <a:srgbClr val="26303B"/>
                </a:solidFill>
                <a:latin typeface="Meiryo" pitchFamily="34" charset="0"/>
                <a:ea typeface="Meiryo" pitchFamily="34" charset="-122"/>
                <a:cs typeface="Meiryo" pitchFamily="34" charset="-120"/>
              </a:rPr>
              <a:t>要注意30件のうち10件は削除理由に論理的な誤り・対応不足があり、設問を残すか別の形で確認することを推奨します。</a:t>
            </a:r>
            <a:endParaRPr lang="en-US" sz="1150" dirty="0"/>
          </a:p>
          <a:p>
            <a:pPr marL="203200" indent="-203200">
              <a:lnSpc>
                <a:spcPct val="122000"/>
              </a:lnSpc>
              <a:spcAft>
                <a:spcPts val="1400"/>
              </a:spcAft>
              <a:buSzPct val="100000"/>
              <a:buChar char="■"/>
            </a:pPr>
            <a:r>
              <a:rPr lang="en-US" sz="1150" dirty="0">
                <a:solidFill>
                  <a:srgbClr val="26303B"/>
                </a:solidFill>
                <a:latin typeface="Meiryo" pitchFamily="34" charset="0"/>
                <a:ea typeface="Meiryo" pitchFamily="34" charset="-122"/>
                <a:cs typeface="Meiryo" pitchFamily="34" charset="-120"/>
              </a:rPr>
              <a:t>残り20件は判断の方向性自体は妥当ですが、パイロット回答者（ESG企画室・海外BU）が本社・広域担当という立場であることに起因する一般化のリスクや、コンプライアンス上の懸念が残ります。</a:t>
            </a:r>
            <a:endParaRPr lang="en-US" sz="1150" dirty="0"/>
          </a:p>
          <a:p>
            <a:pPr marL="203200" indent="-203200">
              <a:lnSpc>
                <a:spcPct val="122000"/>
              </a:lnSpc>
              <a:buSzPct val="100000"/>
              <a:buChar char="■"/>
            </a:pPr>
            <a:r>
              <a:rPr lang="en-US" sz="1150" dirty="0">
                <a:solidFill>
                  <a:srgbClr val="26303B"/>
                </a:solidFill>
                <a:latin typeface="Meiryo" pitchFamily="34" charset="0"/>
                <a:ea typeface="Meiryo" pitchFamily="34" charset="-122"/>
                <a:cs typeface="Meiryo" pitchFamily="34" charset="-120"/>
              </a:rPr>
              <a:t>特にH3-08（過年度比較）・H9-07（現地承認）は、拠点の意向によらず開示基準・現地法制度側の要求が優先される可能性があるため、要求定義確定前の再確認を強く推奨します。C-06・C-17（拠点側計算範囲・月間工数）は、投資判断（ROI試算）や算定アーキテクチャの根幹に関わるにもかかわらず実質未回答のまま本社推定に切り替わっており、最優先で対応すべき項目です。</a:t>
            </a:r>
            <a:endParaRPr lang="en-US" sz="1150" dirty="0"/>
          </a:p>
        </p:txBody>
      </p:sp>
      <p:sp>
        <p:nvSpPr>
          <p:cNvPr id="8" name="Text 6"/>
          <p:cNvSpPr txBox="1"/>
          <p:nvPr/>
        </p:nvSpPr>
        <p:spPr>
          <a:xfrm>
            <a:off x="11750040" y="6537960"/>
            <a:ext cx="365760" cy="256032"/>
          </a:xfrm>
          <a:prstGeom prst="rect">
            <a:avLst/>
          </a:prstGeom>
          <a:noFill/>
          <a:ln/>
        </p:spPr>
        <p:txBody>
          <a:bodyPr wrap="square" lIns="0" tIns="0" rIns="0" bIns="0" rtlCol="0" anchor="ctr"/>
          <a:lstStyle/>
          <a:p>
            <a:pPr indent="0" marL="0">
              <a:buNone/>
            </a:pPr>
            <a:r>
              <a:rPr lang="en-US" sz="900" dirty="0">
                <a:solidFill>
                  <a:srgbClr val="6B7280"/>
                </a:solidFill>
                <a:latin typeface="Meiryo" pitchFamily="34" charset="0"/>
                <a:ea typeface="Meiryo" pitchFamily="34" charset="-122"/>
                <a:cs typeface="Meiryo"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デジタル戦略部</dc:creator>
  <cp:lastModifiedBy>デジタル戦略部</cp:lastModifiedBy>
  <cp:revision>1</cp:revision>
  <dcterms:created xsi:type="dcterms:W3CDTF">2026-09-17T12:00:15Z</dcterms:created>
  <dcterms:modified xsi:type="dcterms:W3CDTF">2026-09-17T12:00:15Z</dcterms:modified>
</cp:coreProperties>
</file>