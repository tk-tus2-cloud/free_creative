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6294A"/>
          </a:solidFill>
          <a:ln/>
        </p:spPr>
      </p:sp>
      <p:sp>
        <p:nvSpPr>
          <p:cNvPr id="3" name="Text 1"/>
          <p:cNvSpPr txBox="1"/>
          <p:nvPr/>
        </p:nvSpPr>
        <p:spPr>
          <a:xfrm>
            <a:off x="822960" y="109728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Meiryo" pitchFamily="34" charset="0"/>
                <a:ea typeface="Meiryo" pitchFamily="34" charset="-122"/>
                <a:cs typeface="Meiryo" pitchFamily="34" charset="-120"/>
              </a:rPr>
              <a:t>削減設問リスク一覧</a:t>
            </a:r>
            <a:endParaRPr lang="en-US" sz="3400" dirty="0"/>
          </a:p>
        </p:txBody>
      </p:sp>
      <p:sp>
        <p:nvSpPr>
          <p:cNvPr id="4" name="Text 2"/>
          <p:cNvSpPr txBox="1"/>
          <p:nvPr/>
        </p:nvSpPr>
        <p:spPr>
          <a:xfrm>
            <a:off x="822960" y="1874520"/>
            <a:ext cx="10515600" cy="457200"/>
          </a:xfrm>
          <a:prstGeom prst="rect">
            <a:avLst/>
          </a:prstGeom>
          <a:noFill/>
          <a:ln/>
        </p:spPr>
        <p:txBody>
          <a:bodyPr wrap="square" lIns="0" tIns="0" rIns="0" bIns="0" rtlCol="0" anchor="ctr"/>
          <a:lstStyle/>
          <a:p>
            <a:pPr indent="0" marL="0">
              <a:buNone/>
            </a:pPr>
            <a:r>
              <a:rPr lang="en-US" sz="1500" dirty="0">
                <a:solidFill>
                  <a:srgbClr val="CBD6EA"/>
                </a:solidFill>
                <a:latin typeface="Meiryo" pitchFamily="34" charset="0"/>
                <a:ea typeface="Meiryo" pitchFamily="34" charset="-122"/>
                <a:cs typeface="Meiryo" pitchFamily="34" charset="-120"/>
              </a:rPr>
              <a:t>As-Is調査 v1.1 パイロット回答を受けた設問削減と、帰責の考え方</a:t>
            </a:r>
            <a:endParaRPr lang="en-US" sz="1500" dirty="0"/>
          </a:p>
        </p:txBody>
      </p:sp>
      <p:sp>
        <p:nvSpPr>
          <p:cNvPr id="5" name="Shape 3"/>
          <p:cNvSpPr/>
          <p:nvPr/>
        </p:nvSpPr>
        <p:spPr>
          <a:xfrm>
            <a:off x="822960" y="2651760"/>
            <a:ext cx="10515600" cy="2514600"/>
          </a:xfrm>
          <a:prstGeom prst="roundRect">
            <a:avLst>
              <a:gd name="adj" fmla="val 2909"/>
            </a:avLst>
          </a:prstGeom>
          <a:solidFill>
            <a:srgbClr val="22335A"/>
          </a:solidFill>
          <a:ln/>
        </p:spPr>
      </p:sp>
      <p:sp>
        <p:nvSpPr>
          <p:cNvPr id="6" name="Text 4"/>
          <p:cNvSpPr txBox="1"/>
          <p:nvPr/>
        </p:nvSpPr>
        <p:spPr>
          <a:xfrm>
            <a:off x="1097280" y="2834640"/>
            <a:ext cx="9966960" cy="365760"/>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帰責の考え方</a:t>
            </a:r>
            <a:endParaRPr lang="en-US" sz="1400" dirty="0"/>
          </a:p>
        </p:txBody>
      </p:sp>
      <p:sp>
        <p:nvSpPr>
          <p:cNvPr id="7" name="Text 5"/>
          <p:cNvSpPr txBox="1"/>
          <p:nvPr/>
        </p:nvSpPr>
        <p:spPr>
          <a:xfrm>
            <a:off x="1097280" y="3291840"/>
            <a:ext cx="9966960" cy="1737360"/>
          </a:xfrm>
          <a:prstGeom prst="rect">
            <a:avLst/>
          </a:prstGeom>
          <a:noFill/>
          <a:ln/>
        </p:spPr>
        <p:txBody>
          <a:bodyPr wrap="square" lIns="0" tIns="0" rIns="0" bIns="0" rtlCol="0" anchor="t"/>
          <a:lstStyle/>
          <a:p>
            <a:pPr marL="177800" indent="-177800">
              <a:lnSpc>
                <a:spcPct val="118000"/>
              </a:lnSpc>
              <a:spcAft>
                <a:spcPts val="1000"/>
              </a:spcAft>
              <a:buSzPct val="100000"/>
              <a:buChar char="■"/>
            </a:pPr>
            <a:r>
              <a:rPr lang="en-US" sz="1150" dirty="0">
                <a:solidFill>
                  <a:srgbClr val="E6ECF7"/>
                </a:solidFill>
                <a:latin typeface="Meiryo" pitchFamily="34" charset="0"/>
                <a:ea typeface="Meiryo" pitchFamily="34" charset="-122"/>
                <a:cs typeface="Meiryo" pitchFamily="34" charset="-120"/>
              </a:rPr>
              <a:t>ESG企画室・海外BU（川端氏）によるパイロット回答をもとに、南（デジ戦）が「拠点への設問として不要」と判断した設問は、全拠点共通の前提（デフォルト）に置き換え、以後は個別の拠点には配布しません。</a:t>
            </a:r>
            <a:endParaRPr lang="en-US" sz="1150" dirty="0"/>
          </a:p>
          <a:p>
            <a:pPr marL="177800" indent="-177800">
              <a:lnSpc>
                <a:spcPct val="118000"/>
              </a:lnSpc>
              <a:spcAft>
                <a:spcPts val="1000"/>
              </a:spcAft>
              <a:buSzPct val="100000"/>
              <a:buChar char="■"/>
            </a:pPr>
            <a:r>
              <a:rPr lang="en-US" sz="1150" dirty="0">
                <a:solidFill>
                  <a:srgbClr val="E6ECF7"/>
                </a:solidFill>
                <a:latin typeface="Meiryo" pitchFamily="34" charset="0"/>
                <a:ea typeface="Meiryo" pitchFamily="34" charset="-122"/>
                <a:cs typeface="Meiryo" pitchFamily="34" charset="-120"/>
              </a:rPr>
              <a:t>各設問は今回の調査プロセスの中で拠点に確認する機会が一度あったものとして扱います。</a:t>
            </a:r>
            <a:endParaRPr lang="en-US" sz="1150" dirty="0"/>
          </a:p>
          <a:p>
            <a:pPr marL="177800" indent="-177800">
              <a:lnSpc>
                <a:spcPct val="118000"/>
              </a:lnSpc>
              <a:buSzPct val="100000"/>
              <a:buChar char="■"/>
            </a:pPr>
            <a:r>
              <a:rPr lang="en-US" sz="1150" dirty="0">
                <a:solidFill>
                  <a:srgbClr val="E6ECF7"/>
                </a:solidFill>
                <a:latin typeface="Meiryo" pitchFamily="34" charset="0"/>
                <a:ea typeface="Meiryo" pitchFamily="34" charset="-122"/>
                <a:cs typeface="Meiryo" pitchFamily="34" charset="-120"/>
              </a:rPr>
              <a:t>前提と実際の拠点の状況が異なる場合でも、拠点側からの積極的な申告がなければ、要件確定後・稼働後に判明した相違に伴う追加の要件変更・改修・遅延の費用・工数は、該当拠点（回答側）の負担・責任として記録します。</a:t>
            </a:r>
            <a:endParaRPr lang="en-US" sz="1150" dirty="0"/>
          </a:p>
        </p:txBody>
      </p:sp>
      <p:sp>
        <p:nvSpPr>
          <p:cNvPr id="8" name="Text 6"/>
          <p:cNvSpPr txBox="1"/>
          <p:nvPr/>
        </p:nvSpPr>
        <p:spPr>
          <a:xfrm>
            <a:off x="822960" y="6492240"/>
            <a:ext cx="5486400" cy="274320"/>
          </a:xfrm>
          <a:prstGeom prst="rect">
            <a:avLst/>
          </a:prstGeom>
          <a:noFill/>
          <a:ln/>
        </p:spPr>
        <p:txBody>
          <a:bodyPr wrap="square" lIns="0" tIns="0" rIns="0" bIns="0" rtlCol="0" anchor="ctr"/>
          <a:lstStyle/>
          <a:p>
            <a:pPr indent="0" marL="0">
              <a:buNone/>
            </a:pPr>
            <a:r>
              <a:rPr lang="en-US" sz="900" dirty="0">
                <a:solidFill>
                  <a:srgbClr val="8797B5"/>
                </a:solidFill>
                <a:latin typeface="Meiryo" pitchFamily="34" charset="0"/>
                <a:ea typeface="Meiryo" pitchFamily="34" charset="-122"/>
                <a:cs typeface="Meiryo" pitchFamily="34" charset="-120"/>
              </a:rPr>
              <a:t>©LION Corporation / デジタル戦略部</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サマリー</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今回の削減件数と影響度の内訳（単純な重複統合を除く）</a:t>
            </a:r>
            <a:endParaRPr lang="en-US" sz="1000" dirty="0"/>
          </a:p>
        </p:txBody>
      </p:sp>
      <p:sp>
        <p:nvSpPr>
          <p:cNvPr id="5" name="Text 3"/>
          <p:cNvSpPr txBox="1"/>
          <p:nvPr/>
        </p:nvSpPr>
        <p:spPr>
          <a:xfrm>
            <a:off x="10058400" y="109728"/>
            <a:ext cx="182880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a:t>
            </a:r>
            <a:endParaRPr lang="en-US" sz="900" dirty="0"/>
          </a:p>
        </p:txBody>
      </p:sp>
      <p:sp>
        <p:nvSpPr>
          <p:cNvPr id="6" name="Shape 4"/>
          <p:cNvSpPr/>
          <p:nvPr/>
        </p:nvSpPr>
        <p:spPr>
          <a:xfrm>
            <a:off x="502920" y="1234440"/>
            <a:ext cx="2606040" cy="1371600"/>
          </a:xfrm>
          <a:prstGeom prst="roundRect">
            <a:avLst>
              <a:gd name="adj" fmla="val 5333"/>
            </a:avLst>
          </a:prstGeom>
          <a:solidFill>
            <a:srgbClr val="F5F8FD"/>
          </a:solidFill>
          <a:ln/>
          <a:effectLst>
            <a:outerShdw sx="100000" sy="100000" kx="0" ky="0" algn="bl" rotWithShape="0" blurRad="76200" dist="25400" dir="5400000">
              <a:srgbClr val="9AA7BC">
                <a:alpha val="28000"/>
              </a:srgbClr>
            </a:outerShdw>
          </a:effectLst>
        </p:spPr>
      </p:sp>
      <p:sp>
        <p:nvSpPr>
          <p:cNvPr id="7" name="Text 5"/>
          <p:cNvSpPr txBox="1"/>
          <p:nvPr/>
        </p:nvSpPr>
        <p:spPr>
          <a:xfrm>
            <a:off x="502920" y="1399032"/>
            <a:ext cx="2606040" cy="594360"/>
          </a:xfrm>
          <a:prstGeom prst="rect">
            <a:avLst/>
          </a:prstGeom>
          <a:noFill/>
          <a:ln/>
        </p:spPr>
        <p:txBody>
          <a:bodyPr wrap="square" lIns="0" tIns="0" rIns="0" bIns="0" rtlCol="0" anchor="ctr"/>
          <a:lstStyle/>
          <a:p>
            <a:pPr algn="ctr" indent="0" marL="0">
              <a:buNone/>
            </a:pPr>
            <a:r>
              <a:rPr lang="en-US" sz="2600" b="1" dirty="0">
                <a:solidFill>
                  <a:srgbClr val="1F3864"/>
                </a:solidFill>
                <a:latin typeface="Meiryo" pitchFamily="34" charset="0"/>
                <a:ea typeface="Meiryo" pitchFamily="34" charset="-122"/>
                <a:cs typeface="Meiryo" pitchFamily="34" charset="-120"/>
              </a:rPr>
              <a:t>60件</a:t>
            </a:r>
            <a:endParaRPr lang="en-US" sz="2600" dirty="0"/>
          </a:p>
        </p:txBody>
      </p:sp>
      <p:sp>
        <p:nvSpPr>
          <p:cNvPr id="8" name="Text 6"/>
          <p:cNvSpPr txBox="1"/>
          <p:nvPr/>
        </p:nvSpPr>
        <p:spPr>
          <a:xfrm>
            <a:off x="594360" y="2057400"/>
            <a:ext cx="2423160" cy="457200"/>
          </a:xfrm>
          <a:prstGeom prst="rect">
            <a:avLst/>
          </a:prstGeom>
          <a:noFill/>
          <a:ln/>
        </p:spPr>
        <p:txBody>
          <a:bodyPr wrap="square" lIns="0" tIns="0" rIns="0" bIns="0" rtlCol="0" anchor="ctr"/>
          <a:lstStyle/>
          <a:p>
            <a:pPr algn="ctr" indent="0" marL="0">
              <a:buNone/>
            </a:pPr>
            <a:r>
              <a:rPr lang="en-US" sz="1050" dirty="0">
                <a:solidFill>
                  <a:srgbClr val="26303B"/>
                </a:solidFill>
                <a:latin typeface="Meiryo" pitchFamily="34" charset="0"/>
                <a:ea typeface="Meiryo" pitchFamily="34" charset="-122"/>
                <a:cs typeface="Meiryo" pitchFamily="34" charset="-120"/>
              </a:rPr>
              <a:t>今回削減した設問数</a:t>
            </a:r>
            <a:endParaRPr lang="en-US" sz="1050" dirty="0"/>
          </a:p>
        </p:txBody>
      </p:sp>
      <p:sp>
        <p:nvSpPr>
          <p:cNvPr id="9" name="Shape 7"/>
          <p:cNvSpPr/>
          <p:nvPr/>
        </p:nvSpPr>
        <p:spPr>
          <a:xfrm>
            <a:off x="3291840" y="1234440"/>
            <a:ext cx="2606040" cy="1371600"/>
          </a:xfrm>
          <a:prstGeom prst="roundRect">
            <a:avLst>
              <a:gd name="adj" fmla="val 5333"/>
            </a:avLst>
          </a:prstGeom>
          <a:solidFill>
            <a:srgbClr val="F5F8FD"/>
          </a:solidFill>
          <a:ln/>
          <a:effectLst>
            <a:outerShdw sx="100000" sy="100000" kx="0" ky="0" algn="bl" rotWithShape="0" blurRad="76200" dist="25400" dir="5400000">
              <a:srgbClr val="9AA7BC">
                <a:alpha val="28000"/>
              </a:srgbClr>
            </a:outerShdw>
          </a:effectLst>
        </p:spPr>
      </p:sp>
      <p:sp>
        <p:nvSpPr>
          <p:cNvPr id="10" name="Text 8"/>
          <p:cNvSpPr txBox="1"/>
          <p:nvPr/>
        </p:nvSpPr>
        <p:spPr>
          <a:xfrm>
            <a:off x="3291840" y="1399032"/>
            <a:ext cx="2606040" cy="594360"/>
          </a:xfrm>
          <a:prstGeom prst="rect">
            <a:avLst/>
          </a:prstGeom>
          <a:noFill/>
          <a:ln/>
        </p:spPr>
        <p:txBody>
          <a:bodyPr wrap="square" lIns="0" tIns="0" rIns="0" bIns="0" rtlCol="0" anchor="ctr"/>
          <a:lstStyle/>
          <a:p>
            <a:pPr algn="ctr" indent="0" marL="0">
              <a:buNone/>
            </a:pPr>
            <a:r>
              <a:rPr lang="en-US" sz="2600" b="1" dirty="0">
                <a:solidFill>
                  <a:srgbClr val="1F3864"/>
                </a:solidFill>
                <a:latin typeface="Meiryo" pitchFamily="34" charset="0"/>
                <a:ea typeface="Meiryo" pitchFamily="34" charset="-122"/>
                <a:cs typeface="Meiryo" pitchFamily="34" charset="-120"/>
              </a:rPr>
              <a:t>26件</a:t>
            </a:r>
            <a:endParaRPr lang="en-US" sz="2600" dirty="0"/>
          </a:p>
        </p:txBody>
      </p:sp>
      <p:sp>
        <p:nvSpPr>
          <p:cNvPr id="11" name="Text 9"/>
          <p:cNvSpPr txBox="1"/>
          <p:nvPr/>
        </p:nvSpPr>
        <p:spPr>
          <a:xfrm>
            <a:off x="3383280" y="2057400"/>
            <a:ext cx="2423160" cy="457200"/>
          </a:xfrm>
          <a:prstGeom prst="rect">
            <a:avLst/>
          </a:prstGeom>
          <a:noFill/>
          <a:ln/>
        </p:spPr>
        <p:txBody>
          <a:bodyPr wrap="square" lIns="0" tIns="0" rIns="0" bIns="0" rtlCol="0" anchor="ctr"/>
          <a:lstStyle/>
          <a:p>
            <a:pPr algn="ctr" indent="0" marL="0">
              <a:buNone/>
            </a:pPr>
            <a:r>
              <a:rPr lang="en-US" sz="1050" dirty="0">
                <a:solidFill>
                  <a:srgbClr val="26303B"/>
                </a:solidFill>
                <a:latin typeface="Meiryo" pitchFamily="34" charset="0"/>
                <a:ea typeface="Meiryo" pitchFamily="34" charset="-122"/>
                <a:cs typeface="Meiryo" pitchFamily="34" charset="-120"/>
              </a:rPr>
              <a:t>影響度「高」</a:t>
            </a:r>
            <a:endParaRPr lang="en-US" sz="1050" dirty="0"/>
          </a:p>
        </p:txBody>
      </p:sp>
      <p:sp>
        <p:nvSpPr>
          <p:cNvPr id="12" name="Shape 10"/>
          <p:cNvSpPr/>
          <p:nvPr/>
        </p:nvSpPr>
        <p:spPr>
          <a:xfrm>
            <a:off x="6080760" y="1234440"/>
            <a:ext cx="2606040" cy="1371600"/>
          </a:xfrm>
          <a:prstGeom prst="roundRect">
            <a:avLst>
              <a:gd name="adj" fmla="val 5333"/>
            </a:avLst>
          </a:prstGeom>
          <a:solidFill>
            <a:srgbClr val="F5F8FD"/>
          </a:solidFill>
          <a:ln/>
          <a:effectLst>
            <a:outerShdw sx="100000" sy="100000" kx="0" ky="0" algn="bl" rotWithShape="0" blurRad="76200" dist="25400" dir="5400000">
              <a:srgbClr val="9AA7BC">
                <a:alpha val="28000"/>
              </a:srgbClr>
            </a:outerShdw>
          </a:effectLst>
        </p:spPr>
      </p:sp>
      <p:sp>
        <p:nvSpPr>
          <p:cNvPr id="13" name="Text 11"/>
          <p:cNvSpPr txBox="1"/>
          <p:nvPr/>
        </p:nvSpPr>
        <p:spPr>
          <a:xfrm>
            <a:off x="6080760" y="1399032"/>
            <a:ext cx="2606040" cy="594360"/>
          </a:xfrm>
          <a:prstGeom prst="rect">
            <a:avLst/>
          </a:prstGeom>
          <a:noFill/>
          <a:ln/>
        </p:spPr>
        <p:txBody>
          <a:bodyPr wrap="square" lIns="0" tIns="0" rIns="0" bIns="0" rtlCol="0" anchor="ctr"/>
          <a:lstStyle/>
          <a:p>
            <a:pPr algn="ctr" indent="0" marL="0">
              <a:buNone/>
            </a:pPr>
            <a:r>
              <a:rPr lang="en-US" sz="2600" b="1" dirty="0">
                <a:solidFill>
                  <a:srgbClr val="1F3864"/>
                </a:solidFill>
                <a:latin typeface="Meiryo" pitchFamily="34" charset="0"/>
                <a:ea typeface="Meiryo" pitchFamily="34" charset="-122"/>
                <a:cs typeface="Meiryo" pitchFamily="34" charset="-120"/>
              </a:rPr>
              <a:t>34件</a:t>
            </a:r>
            <a:endParaRPr lang="en-US" sz="2600" dirty="0"/>
          </a:p>
        </p:txBody>
      </p:sp>
      <p:sp>
        <p:nvSpPr>
          <p:cNvPr id="14" name="Text 12"/>
          <p:cNvSpPr txBox="1"/>
          <p:nvPr/>
        </p:nvSpPr>
        <p:spPr>
          <a:xfrm>
            <a:off x="6172200" y="2057400"/>
            <a:ext cx="2423160" cy="457200"/>
          </a:xfrm>
          <a:prstGeom prst="rect">
            <a:avLst/>
          </a:prstGeom>
          <a:noFill/>
          <a:ln/>
        </p:spPr>
        <p:txBody>
          <a:bodyPr wrap="square" lIns="0" tIns="0" rIns="0" bIns="0" rtlCol="0" anchor="ctr"/>
          <a:lstStyle/>
          <a:p>
            <a:pPr algn="ctr" indent="0" marL="0">
              <a:buNone/>
            </a:pPr>
            <a:r>
              <a:rPr lang="en-US" sz="1050" dirty="0">
                <a:solidFill>
                  <a:srgbClr val="26303B"/>
                </a:solidFill>
                <a:latin typeface="Meiryo" pitchFamily="34" charset="0"/>
                <a:ea typeface="Meiryo" pitchFamily="34" charset="-122"/>
                <a:cs typeface="Meiryo" pitchFamily="34" charset="-120"/>
              </a:rPr>
              <a:t>影響度「中」</a:t>
            </a:r>
            <a:endParaRPr lang="en-US" sz="1050" dirty="0"/>
          </a:p>
        </p:txBody>
      </p:sp>
      <p:sp>
        <p:nvSpPr>
          <p:cNvPr id="15" name="Shape 13"/>
          <p:cNvSpPr/>
          <p:nvPr/>
        </p:nvSpPr>
        <p:spPr>
          <a:xfrm>
            <a:off x="8869680" y="1234440"/>
            <a:ext cx="2606040" cy="1371600"/>
          </a:xfrm>
          <a:prstGeom prst="roundRect">
            <a:avLst>
              <a:gd name="adj" fmla="val 5333"/>
            </a:avLst>
          </a:prstGeom>
          <a:solidFill>
            <a:srgbClr val="F5F8FD"/>
          </a:solidFill>
          <a:ln/>
          <a:effectLst>
            <a:outerShdw sx="100000" sy="100000" kx="0" ky="0" algn="bl" rotWithShape="0" blurRad="76200" dist="25400" dir="5400000">
              <a:srgbClr val="9AA7BC">
                <a:alpha val="28000"/>
              </a:srgbClr>
            </a:outerShdw>
          </a:effectLst>
        </p:spPr>
      </p:sp>
      <p:sp>
        <p:nvSpPr>
          <p:cNvPr id="16" name="Text 14"/>
          <p:cNvSpPr txBox="1"/>
          <p:nvPr/>
        </p:nvSpPr>
        <p:spPr>
          <a:xfrm>
            <a:off x="8869680" y="1399032"/>
            <a:ext cx="2606040" cy="594360"/>
          </a:xfrm>
          <a:prstGeom prst="rect">
            <a:avLst/>
          </a:prstGeom>
          <a:noFill/>
          <a:ln/>
        </p:spPr>
        <p:txBody>
          <a:bodyPr wrap="square" lIns="0" tIns="0" rIns="0" bIns="0" rtlCol="0" anchor="ctr"/>
          <a:lstStyle/>
          <a:p>
            <a:pPr algn="ctr" indent="0" marL="0">
              <a:buNone/>
            </a:pPr>
            <a:r>
              <a:rPr lang="en-US" sz="2600" b="1" dirty="0">
                <a:solidFill>
                  <a:srgbClr val="1F3864"/>
                </a:solidFill>
                <a:latin typeface="Meiryo" pitchFamily="34" charset="0"/>
                <a:ea typeface="Meiryo" pitchFamily="34" charset="-122"/>
                <a:cs typeface="Meiryo" pitchFamily="34" charset="-120"/>
              </a:rPr>
              <a:t>101→56→今後</a:t>
            </a:r>
            <a:endParaRPr lang="en-US" sz="2600" dirty="0"/>
          </a:p>
        </p:txBody>
      </p:sp>
      <p:sp>
        <p:nvSpPr>
          <p:cNvPr id="17" name="Text 15"/>
          <p:cNvSpPr txBox="1"/>
          <p:nvPr/>
        </p:nvSpPr>
        <p:spPr>
          <a:xfrm>
            <a:off x="8961120" y="2057400"/>
            <a:ext cx="2423160" cy="457200"/>
          </a:xfrm>
          <a:prstGeom prst="rect">
            <a:avLst/>
          </a:prstGeom>
          <a:noFill/>
          <a:ln/>
        </p:spPr>
        <p:txBody>
          <a:bodyPr wrap="square" lIns="0" tIns="0" rIns="0" bIns="0" rtlCol="0" anchor="ctr"/>
          <a:lstStyle/>
          <a:p>
            <a:pPr algn="ctr" indent="0" marL="0">
              <a:buNone/>
            </a:pPr>
            <a:r>
              <a:rPr lang="en-US" sz="1050" dirty="0">
                <a:solidFill>
                  <a:srgbClr val="26303B"/>
                </a:solidFill>
                <a:latin typeface="Meiryo" pitchFamily="34" charset="0"/>
                <a:ea typeface="Meiryo" pitchFamily="34" charset="-122"/>
                <a:cs typeface="Meiryo" pitchFamily="34" charset="-120"/>
              </a:rPr>
              <a:t>原本101問からの削減の推移</a:t>
            </a:r>
            <a:endParaRPr lang="en-US" sz="1050" dirty="0"/>
          </a:p>
        </p:txBody>
      </p:sp>
      <p:sp>
        <p:nvSpPr>
          <p:cNvPr id="18" name="Text 16"/>
          <p:cNvSpPr txBox="1"/>
          <p:nvPr/>
        </p:nvSpPr>
        <p:spPr>
          <a:xfrm>
            <a:off x="502920" y="2834640"/>
            <a:ext cx="5486400" cy="320040"/>
          </a:xfrm>
          <a:prstGeom prst="rect">
            <a:avLst/>
          </a:prstGeom>
          <a:noFill/>
          <a:ln/>
        </p:spPr>
        <p:txBody>
          <a:bodyPr wrap="square" lIns="0" tIns="0" rIns="0" bIns="0" rtlCol="0" anchor="ctr"/>
          <a:lstStyle/>
          <a:p>
            <a:pPr indent="0" marL="0">
              <a:buNone/>
            </a:pPr>
            <a:r>
              <a:rPr lang="en-US" sz="1300" b="1" dirty="0">
                <a:solidFill>
                  <a:srgbClr val="1F3864"/>
                </a:solidFill>
                <a:latin typeface="Meiryo" pitchFamily="34" charset="0"/>
                <a:ea typeface="Meiryo" pitchFamily="34" charset="-122"/>
                <a:cs typeface="Meiryo" pitchFamily="34" charset="-120"/>
              </a:rPr>
              <a:t>シート別 削減件数</a:t>
            </a:r>
            <a:endParaRPr lang="en-US" sz="1300" dirty="0"/>
          </a:p>
        </p:txBody>
      </p:sp>
      <p:sp>
        <p:nvSpPr>
          <p:cNvPr id="19" name="Text 17"/>
          <p:cNvSpPr txBox="1"/>
          <p:nvPr/>
        </p:nvSpPr>
        <p:spPr>
          <a:xfrm>
            <a:off x="502920" y="3246120"/>
            <a:ext cx="3017520" cy="292608"/>
          </a:xfrm>
          <a:prstGeom prst="rect">
            <a:avLst/>
          </a:prstGeom>
          <a:noFill/>
          <a:ln/>
        </p:spPr>
        <p:txBody>
          <a:bodyPr wrap="square" lIns="0" tIns="0" rIns="0" bIns="0" rtlCol="0" anchor="ctr"/>
          <a:lstStyle/>
          <a:p>
            <a:pPr indent="0" marL="0">
              <a:buNone/>
            </a:pPr>
            <a:r>
              <a:rPr lang="en-US" sz="1000" dirty="0">
                <a:solidFill>
                  <a:srgbClr val="26303B"/>
                </a:solidFill>
                <a:latin typeface="Meiryo" pitchFamily="34" charset="0"/>
                <a:ea typeface="Meiryo" pitchFamily="34" charset="-122"/>
                <a:cs typeface="Meiryo" pitchFamily="34" charset="-120"/>
              </a:rPr>
              <a:t>2.データ項目インベントリ</a:t>
            </a:r>
            <a:endParaRPr lang="en-US" sz="1000" dirty="0"/>
          </a:p>
        </p:txBody>
      </p:sp>
      <p:sp>
        <p:nvSpPr>
          <p:cNvPr id="20" name="Shape 18"/>
          <p:cNvSpPr/>
          <p:nvPr/>
        </p:nvSpPr>
        <p:spPr>
          <a:xfrm>
            <a:off x="3611880" y="3300984"/>
            <a:ext cx="4754880" cy="182880"/>
          </a:xfrm>
          <a:prstGeom prst="roundRect">
            <a:avLst>
              <a:gd name="adj" fmla="val 25000"/>
            </a:avLst>
          </a:prstGeom>
          <a:solidFill>
            <a:srgbClr val="E3E8F0"/>
          </a:solidFill>
          <a:ln/>
        </p:spPr>
      </p:sp>
      <p:sp>
        <p:nvSpPr>
          <p:cNvPr id="21" name="Shape 19"/>
          <p:cNvSpPr/>
          <p:nvPr/>
        </p:nvSpPr>
        <p:spPr>
          <a:xfrm>
            <a:off x="3611880" y="3300984"/>
            <a:ext cx="4754880" cy="182880"/>
          </a:xfrm>
          <a:prstGeom prst="roundRect">
            <a:avLst>
              <a:gd name="adj" fmla="val 25000"/>
            </a:avLst>
          </a:prstGeom>
          <a:solidFill>
            <a:srgbClr val="1F3864"/>
          </a:solidFill>
          <a:ln/>
        </p:spPr>
      </p:sp>
      <p:sp>
        <p:nvSpPr>
          <p:cNvPr id="22" name="Text 20"/>
          <p:cNvSpPr txBox="1"/>
          <p:nvPr/>
        </p:nvSpPr>
        <p:spPr>
          <a:xfrm>
            <a:off x="8503920" y="3246120"/>
            <a:ext cx="731520" cy="292608"/>
          </a:xfrm>
          <a:prstGeom prst="rect">
            <a:avLst/>
          </a:prstGeom>
          <a:noFill/>
          <a:ln/>
        </p:spPr>
        <p:txBody>
          <a:bodyPr wrap="square" lIns="0" tIns="0" rIns="0" bIns="0" rtlCol="0" anchor="ctr"/>
          <a:lstStyle/>
          <a:p>
            <a:pPr indent="0" marL="0">
              <a:buNone/>
            </a:pPr>
            <a:r>
              <a:rPr lang="en-US" sz="1000" b="1" dirty="0">
                <a:solidFill>
                  <a:srgbClr val="1F3864"/>
                </a:solidFill>
                <a:latin typeface="Meiryo" pitchFamily="34" charset="0"/>
                <a:ea typeface="Meiryo" pitchFamily="34" charset="-122"/>
                <a:cs typeface="Meiryo" pitchFamily="34" charset="-120"/>
              </a:rPr>
              <a:t>1件</a:t>
            </a:r>
            <a:endParaRPr lang="en-US" sz="1000" dirty="0"/>
          </a:p>
        </p:txBody>
      </p:sp>
      <p:sp>
        <p:nvSpPr>
          <p:cNvPr id="23" name="Text 21"/>
          <p:cNvSpPr txBox="1"/>
          <p:nvPr/>
        </p:nvSpPr>
        <p:spPr>
          <a:xfrm>
            <a:off x="502920" y="3703320"/>
            <a:ext cx="3017520" cy="292608"/>
          </a:xfrm>
          <a:prstGeom prst="rect">
            <a:avLst/>
          </a:prstGeom>
          <a:noFill/>
          <a:ln/>
        </p:spPr>
        <p:txBody>
          <a:bodyPr wrap="square" lIns="0" tIns="0" rIns="0" bIns="0" rtlCol="0" anchor="ctr"/>
          <a:lstStyle/>
          <a:p>
            <a:pPr indent="0" marL="0">
              <a:buNone/>
            </a:pPr>
            <a:r>
              <a:rPr lang="en-US" sz="1000" dirty="0">
                <a:solidFill>
                  <a:srgbClr val="26303B"/>
                </a:solidFill>
                <a:latin typeface="Meiryo" pitchFamily="34" charset="0"/>
                <a:ea typeface="Meiryo" pitchFamily="34" charset="-122"/>
                <a:cs typeface="Meiryo" pitchFamily="34" charset="-120"/>
              </a:rPr>
              <a:t>3.コア設問</a:t>
            </a:r>
            <a:endParaRPr lang="en-US" sz="1000" dirty="0"/>
          </a:p>
        </p:txBody>
      </p:sp>
      <p:sp>
        <p:nvSpPr>
          <p:cNvPr id="24" name="Shape 22"/>
          <p:cNvSpPr/>
          <p:nvPr/>
        </p:nvSpPr>
        <p:spPr>
          <a:xfrm>
            <a:off x="3611880" y="3758184"/>
            <a:ext cx="4754880" cy="182880"/>
          </a:xfrm>
          <a:prstGeom prst="roundRect">
            <a:avLst>
              <a:gd name="adj" fmla="val 25000"/>
            </a:avLst>
          </a:prstGeom>
          <a:solidFill>
            <a:srgbClr val="E3E8F0"/>
          </a:solidFill>
          <a:ln/>
        </p:spPr>
      </p:sp>
      <p:sp>
        <p:nvSpPr>
          <p:cNvPr id="25" name="Shape 23"/>
          <p:cNvSpPr/>
          <p:nvPr/>
        </p:nvSpPr>
        <p:spPr>
          <a:xfrm>
            <a:off x="3611880" y="3758184"/>
            <a:ext cx="1267968" cy="182880"/>
          </a:xfrm>
          <a:prstGeom prst="roundRect">
            <a:avLst>
              <a:gd name="adj" fmla="val 25000"/>
            </a:avLst>
          </a:prstGeom>
          <a:solidFill>
            <a:srgbClr val="1F3864"/>
          </a:solidFill>
          <a:ln/>
        </p:spPr>
      </p:sp>
      <p:sp>
        <p:nvSpPr>
          <p:cNvPr id="26" name="Text 24"/>
          <p:cNvSpPr txBox="1"/>
          <p:nvPr/>
        </p:nvSpPr>
        <p:spPr>
          <a:xfrm>
            <a:off x="8503920" y="3703320"/>
            <a:ext cx="731520" cy="292608"/>
          </a:xfrm>
          <a:prstGeom prst="rect">
            <a:avLst/>
          </a:prstGeom>
          <a:noFill/>
          <a:ln/>
        </p:spPr>
        <p:txBody>
          <a:bodyPr wrap="square" lIns="0" tIns="0" rIns="0" bIns="0" rtlCol="0" anchor="ctr"/>
          <a:lstStyle/>
          <a:p>
            <a:pPr indent="0" marL="0">
              <a:buNone/>
            </a:pPr>
            <a:r>
              <a:rPr lang="en-US" sz="1000" b="1" dirty="0">
                <a:solidFill>
                  <a:srgbClr val="1F3864"/>
                </a:solidFill>
                <a:latin typeface="Meiryo" pitchFamily="34" charset="0"/>
                <a:ea typeface="Meiryo" pitchFamily="34" charset="-122"/>
                <a:cs typeface="Meiryo" pitchFamily="34" charset="-120"/>
              </a:rPr>
              <a:t>16件</a:t>
            </a:r>
            <a:endParaRPr lang="en-US" sz="1000" dirty="0"/>
          </a:p>
        </p:txBody>
      </p:sp>
      <p:sp>
        <p:nvSpPr>
          <p:cNvPr id="27" name="Text 25"/>
          <p:cNvSpPr txBox="1"/>
          <p:nvPr/>
        </p:nvSpPr>
        <p:spPr>
          <a:xfrm>
            <a:off x="502920" y="4160520"/>
            <a:ext cx="3017520" cy="292608"/>
          </a:xfrm>
          <a:prstGeom prst="rect">
            <a:avLst/>
          </a:prstGeom>
          <a:noFill/>
          <a:ln/>
        </p:spPr>
        <p:txBody>
          <a:bodyPr wrap="square" lIns="0" tIns="0" rIns="0" bIns="0" rtlCol="0" anchor="ctr"/>
          <a:lstStyle/>
          <a:p>
            <a:pPr indent="0" marL="0">
              <a:buNone/>
            </a:pPr>
            <a:r>
              <a:rPr lang="en-US" sz="1000" dirty="0">
                <a:solidFill>
                  <a:srgbClr val="26303B"/>
                </a:solidFill>
                <a:latin typeface="Meiryo" pitchFamily="34" charset="0"/>
                <a:ea typeface="Meiryo" pitchFamily="34" charset="-122"/>
                <a:cs typeface="Meiryo" pitchFamily="34" charset="-120"/>
              </a:rPr>
              <a:t>4.難所チェック</a:t>
            </a:r>
            <a:endParaRPr lang="en-US" sz="1000" dirty="0"/>
          </a:p>
        </p:txBody>
      </p:sp>
      <p:sp>
        <p:nvSpPr>
          <p:cNvPr id="28" name="Shape 26"/>
          <p:cNvSpPr/>
          <p:nvPr/>
        </p:nvSpPr>
        <p:spPr>
          <a:xfrm>
            <a:off x="3611880" y="4215384"/>
            <a:ext cx="4754880" cy="182880"/>
          </a:xfrm>
          <a:prstGeom prst="roundRect">
            <a:avLst>
              <a:gd name="adj" fmla="val 25000"/>
            </a:avLst>
          </a:prstGeom>
          <a:solidFill>
            <a:srgbClr val="E3E8F0"/>
          </a:solidFill>
          <a:ln/>
        </p:spPr>
      </p:sp>
      <p:sp>
        <p:nvSpPr>
          <p:cNvPr id="29" name="Shape 27"/>
          <p:cNvSpPr/>
          <p:nvPr/>
        </p:nvSpPr>
        <p:spPr>
          <a:xfrm>
            <a:off x="3611880" y="4215384"/>
            <a:ext cx="713232" cy="182880"/>
          </a:xfrm>
          <a:prstGeom prst="roundRect">
            <a:avLst>
              <a:gd name="adj" fmla="val 25000"/>
            </a:avLst>
          </a:prstGeom>
          <a:solidFill>
            <a:srgbClr val="1F3864"/>
          </a:solidFill>
          <a:ln/>
        </p:spPr>
      </p:sp>
      <p:sp>
        <p:nvSpPr>
          <p:cNvPr id="30" name="Text 28"/>
          <p:cNvSpPr txBox="1"/>
          <p:nvPr/>
        </p:nvSpPr>
        <p:spPr>
          <a:xfrm>
            <a:off x="8503920" y="4160520"/>
            <a:ext cx="731520" cy="292608"/>
          </a:xfrm>
          <a:prstGeom prst="rect">
            <a:avLst/>
          </a:prstGeom>
          <a:noFill/>
          <a:ln/>
        </p:spPr>
        <p:txBody>
          <a:bodyPr wrap="square" lIns="0" tIns="0" rIns="0" bIns="0" rtlCol="0" anchor="ctr"/>
          <a:lstStyle/>
          <a:p>
            <a:pPr indent="0" marL="0">
              <a:buNone/>
            </a:pPr>
            <a:r>
              <a:rPr lang="en-US" sz="1000" b="1" dirty="0">
                <a:solidFill>
                  <a:srgbClr val="1F3864"/>
                </a:solidFill>
                <a:latin typeface="Meiryo" pitchFamily="34" charset="0"/>
                <a:ea typeface="Meiryo" pitchFamily="34" charset="-122"/>
                <a:cs typeface="Meiryo" pitchFamily="34" charset="-120"/>
              </a:rPr>
              <a:t>9件</a:t>
            </a:r>
            <a:endParaRPr lang="en-US" sz="1000" dirty="0"/>
          </a:p>
        </p:txBody>
      </p:sp>
      <p:sp>
        <p:nvSpPr>
          <p:cNvPr id="31" name="Text 29"/>
          <p:cNvSpPr txBox="1"/>
          <p:nvPr/>
        </p:nvSpPr>
        <p:spPr>
          <a:xfrm>
            <a:off x="502920" y="4617720"/>
            <a:ext cx="3017520" cy="292608"/>
          </a:xfrm>
          <a:prstGeom prst="rect">
            <a:avLst/>
          </a:prstGeom>
          <a:noFill/>
          <a:ln/>
        </p:spPr>
        <p:txBody>
          <a:bodyPr wrap="square" lIns="0" tIns="0" rIns="0" bIns="0" rtlCol="0" anchor="ctr"/>
          <a:lstStyle/>
          <a:p>
            <a:pPr indent="0" marL="0">
              <a:buNone/>
            </a:pPr>
            <a:r>
              <a:rPr lang="en-US" sz="1000" dirty="0">
                <a:solidFill>
                  <a:srgbClr val="26303B"/>
                </a:solidFill>
                <a:latin typeface="Meiryo" pitchFamily="34" charset="0"/>
                <a:ea typeface="Meiryo" pitchFamily="34" charset="-122"/>
                <a:cs typeface="Meiryo" pitchFamily="34" charset="-120"/>
              </a:rPr>
              <a:t>5.選抜拠点ヒアリング</a:t>
            </a:r>
            <a:endParaRPr lang="en-US" sz="1000" dirty="0"/>
          </a:p>
        </p:txBody>
      </p:sp>
      <p:sp>
        <p:nvSpPr>
          <p:cNvPr id="32" name="Shape 30"/>
          <p:cNvSpPr/>
          <p:nvPr/>
        </p:nvSpPr>
        <p:spPr>
          <a:xfrm>
            <a:off x="3611880" y="4672584"/>
            <a:ext cx="4754880" cy="182880"/>
          </a:xfrm>
          <a:prstGeom prst="roundRect">
            <a:avLst>
              <a:gd name="adj" fmla="val 25000"/>
            </a:avLst>
          </a:prstGeom>
          <a:solidFill>
            <a:srgbClr val="E3E8F0"/>
          </a:solidFill>
          <a:ln/>
        </p:spPr>
      </p:sp>
      <p:sp>
        <p:nvSpPr>
          <p:cNvPr id="33" name="Shape 31"/>
          <p:cNvSpPr/>
          <p:nvPr/>
        </p:nvSpPr>
        <p:spPr>
          <a:xfrm>
            <a:off x="3611880" y="4672584"/>
            <a:ext cx="2694432" cy="182880"/>
          </a:xfrm>
          <a:prstGeom prst="roundRect">
            <a:avLst>
              <a:gd name="adj" fmla="val 25000"/>
            </a:avLst>
          </a:prstGeom>
          <a:solidFill>
            <a:srgbClr val="1F3864"/>
          </a:solidFill>
          <a:ln/>
        </p:spPr>
      </p:sp>
      <p:sp>
        <p:nvSpPr>
          <p:cNvPr id="34" name="Text 32"/>
          <p:cNvSpPr txBox="1"/>
          <p:nvPr/>
        </p:nvSpPr>
        <p:spPr>
          <a:xfrm>
            <a:off x="8503920" y="4617720"/>
            <a:ext cx="731520" cy="292608"/>
          </a:xfrm>
          <a:prstGeom prst="rect">
            <a:avLst/>
          </a:prstGeom>
          <a:noFill/>
          <a:ln/>
        </p:spPr>
        <p:txBody>
          <a:bodyPr wrap="square" lIns="0" tIns="0" rIns="0" bIns="0" rtlCol="0" anchor="ctr"/>
          <a:lstStyle/>
          <a:p>
            <a:pPr indent="0" marL="0">
              <a:buNone/>
            </a:pPr>
            <a:r>
              <a:rPr lang="en-US" sz="1000" b="1" dirty="0">
                <a:solidFill>
                  <a:srgbClr val="1F3864"/>
                </a:solidFill>
                <a:latin typeface="Meiryo" pitchFamily="34" charset="0"/>
                <a:ea typeface="Meiryo" pitchFamily="34" charset="-122"/>
                <a:cs typeface="Meiryo" pitchFamily="34" charset="-120"/>
              </a:rPr>
              <a:t>34件</a:t>
            </a:r>
            <a:endParaRPr lang="en-US" sz="1000" dirty="0"/>
          </a:p>
        </p:txBody>
      </p:sp>
      <p:sp>
        <p:nvSpPr>
          <p:cNvPr id="35" name="Text 33"/>
          <p:cNvSpPr txBox="1"/>
          <p:nvPr/>
        </p:nvSpPr>
        <p:spPr>
          <a:xfrm>
            <a:off x="8732520" y="2834640"/>
            <a:ext cx="2926080" cy="320040"/>
          </a:xfrm>
          <a:prstGeom prst="rect">
            <a:avLst/>
          </a:prstGeom>
          <a:noFill/>
          <a:ln/>
        </p:spPr>
        <p:txBody>
          <a:bodyPr wrap="square" lIns="0" tIns="0" rIns="0" bIns="0" rtlCol="0" anchor="ctr"/>
          <a:lstStyle/>
          <a:p>
            <a:pPr indent="0" marL="0">
              <a:buNone/>
            </a:pPr>
            <a:r>
              <a:rPr lang="en-US" sz="1300" b="1" dirty="0">
                <a:solidFill>
                  <a:srgbClr val="1F3864"/>
                </a:solidFill>
                <a:latin typeface="Meiryo" pitchFamily="34" charset="0"/>
                <a:ea typeface="Meiryo" pitchFamily="34" charset="-122"/>
                <a:cs typeface="Meiryo" pitchFamily="34" charset="-120"/>
              </a:rPr>
              <a:t>影響度の傾向</a:t>
            </a:r>
            <a:endParaRPr lang="en-US" sz="1300" dirty="0"/>
          </a:p>
        </p:txBody>
      </p:sp>
      <p:sp>
        <p:nvSpPr>
          <p:cNvPr id="36" name="Shape 34"/>
          <p:cNvSpPr/>
          <p:nvPr/>
        </p:nvSpPr>
        <p:spPr>
          <a:xfrm>
            <a:off x="8732520" y="3246120"/>
            <a:ext cx="2926080" cy="1188720"/>
          </a:xfrm>
          <a:prstGeom prst="roundRect">
            <a:avLst>
              <a:gd name="adj" fmla="val 6154"/>
            </a:avLst>
          </a:prstGeom>
          <a:solidFill>
            <a:srgbClr val="F8CBAD"/>
          </a:solidFill>
          <a:ln/>
        </p:spPr>
      </p:sp>
      <p:sp>
        <p:nvSpPr>
          <p:cNvPr id="37" name="Text 35"/>
          <p:cNvSpPr txBox="1"/>
          <p:nvPr/>
        </p:nvSpPr>
        <p:spPr>
          <a:xfrm>
            <a:off x="8915400" y="3337560"/>
            <a:ext cx="2560320" cy="1005840"/>
          </a:xfrm>
          <a:prstGeom prst="rect">
            <a:avLst/>
          </a:prstGeom>
          <a:noFill/>
          <a:ln/>
        </p:spPr>
        <p:txBody>
          <a:bodyPr wrap="square" lIns="0" tIns="0" rIns="0" bIns="0" rtlCol="0" anchor="t"/>
          <a:lstStyle/>
          <a:p>
            <a:pPr indent="0" marL="0">
              <a:buNone/>
            </a:pPr>
            <a:r>
              <a:rPr lang="en-US" sz="2000" b="1" dirty="0">
                <a:solidFill>
                  <a:srgbClr val="8A3B12"/>
                </a:solidFill>
                <a:latin typeface="Meiryo" pitchFamily="34" charset="0"/>
                <a:ea typeface="Meiryo" pitchFamily="34" charset="-122"/>
                <a:cs typeface="Meiryo" pitchFamily="34" charset="-120"/>
              </a:rPr>
              <a:t>26件</a:t>
            </a:r>
            <a:endParaRPr lang="en-US" sz="850" dirty="0"/>
          </a:p>
          <a:p>
            <a:pPr indent="0" marL="0">
              <a:buNone/>
            </a:pPr>
            <a:r>
              <a:rPr lang="en-US" sz="850" dirty="0">
                <a:solidFill>
                  <a:srgbClr val="8A3B12"/>
                </a:solidFill>
                <a:latin typeface="Meiryo" pitchFamily="34" charset="0"/>
                <a:ea typeface="Meiryo" pitchFamily="34" charset="-122"/>
                <a:cs typeface="Meiryo" pitchFamily="34" charset="-120"/>
              </a:rPr>
              <a:t>影響度「高」— 係数・証憑・粒度など、</a:t>
            </a:r>
            <a:endParaRPr lang="en-US" sz="850" dirty="0"/>
          </a:p>
          <a:p>
            <a:pPr indent="0" marL="0">
              <a:buNone/>
            </a:pPr>
            <a:r>
              <a:rPr lang="en-US" sz="850" dirty="0">
                <a:solidFill>
                  <a:srgbClr val="8A3B12"/>
                </a:solidFill>
                <a:latin typeface="Meiryo" pitchFamily="34" charset="0"/>
                <a:ea typeface="Meiryo" pitchFamily="34" charset="-122"/>
                <a:cs typeface="Meiryo" pitchFamily="34" charset="-120"/>
              </a:rPr>
              <a:t>監査・保証対応に直結する項目</a:t>
            </a:r>
            <a:endParaRPr lang="en-US" sz="850" dirty="0"/>
          </a:p>
        </p:txBody>
      </p:sp>
      <p:sp>
        <p:nvSpPr>
          <p:cNvPr id="38" name="Shape 36"/>
          <p:cNvSpPr/>
          <p:nvPr/>
        </p:nvSpPr>
        <p:spPr>
          <a:xfrm>
            <a:off x="8732520" y="4572000"/>
            <a:ext cx="2926080" cy="1188720"/>
          </a:xfrm>
          <a:prstGeom prst="roundRect">
            <a:avLst>
              <a:gd name="adj" fmla="val 6154"/>
            </a:avLst>
          </a:prstGeom>
          <a:solidFill>
            <a:srgbClr val="FFE699"/>
          </a:solidFill>
          <a:ln/>
        </p:spPr>
      </p:sp>
      <p:sp>
        <p:nvSpPr>
          <p:cNvPr id="39" name="Text 37"/>
          <p:cNvSpPr txBox="1"/>
          <p:nvPr/>
        </p:nvSpPr>
        <p:spPr>
          <a:xfrm>
            <a:off x="8915400" y="4663440"/>
            <a:ext cx="2560320" cy="1005840"/>
          </a:xfrm>
          <a:prstGeom prst="rect">
            <a:avLst/>
          </a:prstGeom>
          <a:noFill/>
          <a:ln/>
        </p:spPr>
        <p:txBody>
          <a:bodyPr wrap="square" lIns="0" tIns="0" rIns="0" bIns="0" rtlCol="0" anchor="t"/>
          <a:lstStyle/>
          <a:p>
            <a:pPr indent="0" marL="0">
              <a:buNone/>
            </a:pPr>
            <a:r>
              <a:rPr lang="en-US" sz="2000" b="1" dirty="0">
                <a:solidFill>
                  <a:srgbClr val="7A5B00"/>
                </a:solidFill>
                <a:latin typeface="Meiryo" pitchFamily="34" charset="0"/>
                <a:ea typeface="Meiryo" pitchFamily="34" charset="-122"/>
                <a:cs typeface="Meiryo" pitchFamily="34" charset="-120"/>
              </a:rPr>
              <a:t>34件</a:t>
            </a:r>
            <a:endParaRPr lang="en-US" sz="850" dirty="0"/>
          </a:p>
          <a:p>
            <a:pPr indent="0" marL="0">
              <a:buNone/>
            </a:pPr>
            <a:r>
              <a:rPr lang="en-US" sz="850" dirty="0">
                <a:solidFill>
                  <a:srgbClr val="7A5B00"/>
                </a:solidFill>
                <a:latin typeface="Meiryo" pitchFamily="34" charset="0"/>
                <a:ea typeface="Meiryo" pitchFamily="34" charset="-122"/>
                <a:cs typeface="Meiryo" pitchFamily="34" charset="-120"/>
              </a:rPr>
              <a:t>影響度「中」— 主に運用・設計</a:t>
            </a:r>
            <a:endParaRPr lang="en-US" sz="850" dirty="0"/>
          </a:p>
          <a:p>
            <a:pPr indent="0" marL="0">
              <a:buNone/>
            </a:pPr>
            <a:r>
              <a:rPr lang="en-US" sz="850" dirty="0">
                <a:solidFill>
                  <a:srgbClr val="7A5B00"/>
                </a:solidFill>
                <a:latin typeface="Meiryo" pitchFamily="34" charset="0"/>
                <a:ea typeface="Meiryo" pitchFamily="34" charset="-122"/>
                <a:cs typeface="Meiryo" pitchFamily="34" charset="-120"/>
              </a:rPr>
              <a:t>フェーズでの手戻り要因となる項目</a:t>
            </a:r>
            <a:endParaRPr lang="en-US" sz="850" dirty="0"/>
          </a:p>
        </p:txBody>
      </p:sp>
      <p:sp>
        <p:nvSpPr>
          <p:cNvPr id="40" name="Shape 38"/>
          <p:cNvSpPr/>
          <p:nvPr/>
        </p:nvSpPr>
        <p:spPr>
          <a:xfrm>
            <a:off x="502920" y="5897880"/>
            <a:ext cx="11183112" cy="594360"/>
          </a:xfrm>
          <a:prstGeom prst="roundRect">
            <a:avLst>
              <a:gd name="adj" fmla="val 9231"/>
            </a:avLst>
          </a:prstGeom>
          <a:solidFill>
            <a:srgbClr val="EAF1FA"/>
          </a:solidFill>
          <a:ln/>
        </p:spPr>
      </p:sp>
      <p:sp>
        <p:nvSpPr>
          <p:cNvPr id="41" name="Text 39"/>
          <p:cNvSpPr txBox="1"/>
          <p:nvPr/>
        </p:nvSpPr>
        <p:spPr>
          <a:xfrm>
            <a:off x="713232" y="5897880"/>
            <a:ext cx="10789920" cy="594360"/>
          </a:xfrm>
          <a:prstGeom prst="rect">
            <a:avLst/>
          </a:prstGeom>
          <a:noFill/>
          <a:ln/>
        </p:spPr>
        <p:txBody>
          <a:bodyPr wrap="square" lIns="0" tIns="0" rIns="0" bIns="0" rtlCol="0" anchor="ctr"/>
          <a:lstStyle/>
          <a:p>
            <a:pPr indent="0" marL="0">
              <a:buNone/>
            </a:pPr>
            <a:r>
              <a:rPr lang="en-US" sz="950" b="1" dirty="0">
                <a:solidFill>
                  <a:srgbClr val="16294A"/>
                </a:solidFill>
                <a:latin typeface="Meiryo" pitchFamily="34" charset="0"/>
                <a:ea typeface="Meiryo" pitchFamily="34" charset="-122"/>
                <a:cs typeface="Meiryo" pitchFamily="34" charset="-120"/>
              </a:rPr>
              <a:t>いずれも「ESG企画室・海外BU1拠点の回答を全拠点に一般化した前提」への置き換えです。以降のページで、この一般化した前提が実態と異なった場合の具体的なリスクをシート別に構造化して示します。</a:t>
            </a:r>
            <a:endParaRPr lang="en-US" sz="950" dirty="0"/>
          </a:p>
        </p:txBody>
      </p:sp>
      <p:sp>
        <p:nvSpPr>
          <p:cNvPr id="42" name="Text 40"/>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シート2・シート3｜削減設問（1/2）</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データ項目インベントリ（1件）＋ コア設問 前半（8件）</a:t>
            </a:r>
            <a:endParaRPr lang="en-US" sz="1000" dirty="0"/>
          </a:p>
        </p:txBody>
      </p:sp>
      <p:sp>
        <p:nvSpPr>
          <p:cNvPr id="5" name="Text 3"/>
          <p:cNvSpPr txBox="1"/>
          <p:nvPr/>
        </p:nvSpPr>
        <p:spPr>
          <a:xfrm>
            <a:off x="10058400" y="109728"/>
            <a:ext cx="182880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65992" cy="914400"/>
        </p:xfrm>
        <a:graphic>
          <a:graphicData uri="http://schemas.openxmlformats.org/drawingml/2006/table">
            <a:tbl>
              <a:tblPr/>
              <a:tblGrid>
                <a:gridCol w="640080"/>
                <a:gridCol w="2880360"/>
                <a:gridCol w="3200400"/>
                <a:gridCol w="3913632"/>
                <a:gridCol w="731520"/>
              </a:tblGrid>
              <a:tr h="609600">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ID</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元の設問（要旨）</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適用する前提</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前提から外れた場合のリスク</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影響度</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r>
              <a:tr h="60960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(全体)</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貴拠点が報告している非財務データの項目一覧</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ESG企画室が一括管理・記入し、拠点配布から外す</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拠点独自のローカル報告項目が把握できず、データ項目マスタから漏れる。稼働後の項目追加改修費用が発生する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0960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C-01</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データ入力・報告の手順書はあるか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両拠点一致「手順書なし」→全拠点「手順書なし・属人」を前提</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実際に手順書を持つ拠点があれば、文書化根拠を活かせず個別ヒアリングをやり直す手間が生じる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60960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C-03</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使用期間と請求期間のズレの処理方法</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両拠点一致「請求期間のまま報告」を全拠点に適用</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日割り処理をしている拠点があれば按分機能がなく、データを正しく扱えない</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0960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C-07</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拠点独自の係数・ルールの使用有無</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「係数・ルールは本社一括管理」で一致</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独自係数を使う拠点が実在すれば、設定機能がなく数値不整合が生じ、監査で説明できなくなる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0960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C-09</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数値の根拠となる証憑の保管形式</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「PDF・Excelが中心」と把握し設計の前提とする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紙中心の拠点があればスキャン運用・容量設計が不足し、追加対応が必要になる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60960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C-13</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データの変更履歴は残るか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履歴は残らない前提で、変更履歴を必須要件として確定（保守的な決定）</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決定自体の漏れは小さいが、拠点固有の監査対応ルール等の個別要件が見過ごされ得る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0960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C-14</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業務システムからデータを取り出せるか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「主要システムは出力可」で一致し連携設計を進める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出力できない拠点があれば連携設計から漏れ、後日の見直しが必要になる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0960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C-22</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年間で最も負荷が高い月</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「1〜3月がピーク」を締切設計の前提とする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決算月がずれる拠点は締切カレンダーが実態と合わず、常に遅延が発生する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C-23</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抜け漏れ・遅延の主な原因</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回答で判明した5つの原因のみを要件に反映</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挙げられていない拠点固有の原因があれば、その拠点の遅延は改善されない</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シート3｜削減設問（2/2）</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コア設問 後半（8件）</a:t>
            </a:r>
            <a:endParaRPr lang="en-US" sz="1000" dirty="0"/>
          </a:p>
        </p:txBody>
      </p:sp>
      <p:sp>
        <p:nvSpPr>
          <p:cNvPr id="5" name="Text 3"/>
          <p:cNvSpPr txBox="1"/>
          <p:nvPr/>
        </p:nvSpPr>
        <p:spPr>
          <a:xfrm>
            <a:off x="10058400" y="109728"/>
            <a:ext cx="182880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65992" cy="914400"/>
        </p:xfrm>
        <a:graphic>
          <a:graphicData uri="http://schemas.openxmlformats.org/drawingml/2006/table">
            <a:tbl>
              <a:tblPr/>
              <a:tblGrid>
                <a:gridCol w="640080"/>
                <a:gridCol w="2880360"/>
                <a:gridCol w="3200400"/>
                <a:gridCol w="3913632"/>
                <a:gridCol w="731520"/>
              </a:tblGrid>
              <a:tr h="685800">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ID</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元の設問（要旨）</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適用する前提</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前提から外れた場合のリスク</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影響度</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r>
              <a:tr h="68580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C-26</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推計・概算で報告している割合</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「按分は小田原研究所の外部テナントに限られる」と把握</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他拠点にも推計・按分が必要な項目があれば、精度の低いデータがそのまま開示に使われる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8580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C-27</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計算結果の妥当性チェック方法</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「標準閾値はESG企画室が設定」する前提</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拠点固有の変動要因を考慮しない一律閾値になり、異常値の誤検知・見逃しが増える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68580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C-28</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証憑が個人PC・個人メールにしかないか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把握済みの証憑のみ保存対象に含める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未把握の個人PC上の証憑が移行前に退避されず、検証時に証憑を提示できなくなる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68580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C-29</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証憑を探すのにかかった時間</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「BOX運用で対応」と把握し保存・検索機能を必須化</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BOX以外の運用をしている拠点は、データ移行方法が計画から漏れる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68580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C-31</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データの確定・ロックの概念</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「本社が確定・ロックを行っている」で一致</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拠点独自のロック運用（有無問わず）があれば、統制が効かない拠点が見過ごされる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68580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C-34</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スマートメーター・BEMS等の有無</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自動計測は対象外、OCR検討に振替</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既に導入済みの拠点は自動連携できるのに手入力運用が続き、効果を取り損なう</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68580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C-35</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工場・現場のPC・ネットワーク環境</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「全拠点でPC使用・入力可能」で一致</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ネットワーク制限・PC不足がある拠点は、稼働後に入力トラブルが発生する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C-37</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「自分しかできない」業務の有無</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「一部属人化」前提でマニュアル整備を要件に含める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「ほぼ全て属人化」のより深刻な拠点は、引き継ぎリスクが解消されない</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シート4｜削減設問（1/2）</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難所チェック 前半（5件）</a:t>
            </a:r>
            <a:endParaRPr lang="en-US" sz="1000" dirty="0"/>
          </a:p>
        </p:txBody>
      </p:sp>
      <p:sp>
        <p:nvSpPr>
          <p:cNvPr id="5" name="Text 3"/>
          <p:cNvSpPr txBox="1"/>
          <p:nvPr/>
        </p:nvSpPr>
        <p:spPr>
          <a:xfrm>
            <a:off x="10058400" y="109728"/>
            <a:ext cx="182880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65992" cy="914400"/>
        </p:xfrm>
        <a:graphic>
          <a:graphicData uri="http://schemas.openxmlformats.org/drawingml/2006/table">
            <a:tbl>
              <a:tblPr/>
              <a:tblGrid>
                <a:gridCol w="640080"/>
                <a:gridCol w="2880360"/>
                <a:gridCol w="3200400"/>
                <a:gridCol w="3913632"/>
                <a:gridCol w="731520"/>
              </a:tblGrid>
              <a:tr h="1097280">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ID</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元の設問（要旨）</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適用する前提</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前提から外れた場合のリスク</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影響度</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r>
              <a:tr h="109728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10-01</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開示範囲の解釈に迷うか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ESG企画室の回答で代替</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拠点側の解釈の迷いが個別に拾えず、拠点ごとに異なる解釈で運用され続ける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109728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10-02</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本社ルール変更の伝達の時差</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ESG企画室の回答で代替</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実際の伝達の遅れ・漏れの程度が把握されず、周知の仕組みが不十分になる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109728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10-05</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外部からのデータ入手の遅れ</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「頻度：稀／影響度：大」を全拠点の前提とする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委託先が多い拠点等で実際に頻発する場合、連携の優先度が過小評価される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109728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10-06</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抜け漏れの構造的発生</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「未然の発見は困難」とし事後修正で対応</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構造的な抜け漏れが特に多い拠点は、修正対応の負荷が恒常的に生じる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10-07</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単位換算・按分の計算ミス</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「毎年1〜2拠点で発生」を閾値設計に反映</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想定より多い拠点で発生すれば、チェックだけでは防げず誤った数値が開示される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シート4・シート5｜削減設問（2/2・1/5）</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難所チェック 後半（4件）＋ 選抜拠点ヒアリング H3系（開始）</a:t>
            </a:r>
            <a:endParaRPr lang="en-US" sz="1000" dirty="0"/>
          </a:p>
        </p:txBody>
      </p:sp>
      <p:sp>
        <p:nvSpPr>
          <p:cNvPr id="5" name="Text 3"/>
          <p:cNvSpPr txBox="1"/>
          <p:nvPr/>
        </p:nvSpPr>
        <p:spPr>
          <a:xfrm>
            <a:off x="10058400" y="109728"/>
            <a:ext cx="182880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65992" cy="914400"/>
        </p:xfrm>
        <a:graphic>
          <a:graphicData uri="http://schemas.openxmlformats.org/drawingml/2006/table">
            <a:tbl>
              <a:tblPr/>
              <a:tblGrid>
                <a:gridCol w="640080"/>
                <a:gridCol w="2880360"/>
                <a:gridCol w="3200400"/>
                <a:gridCol w="3913632"/>
                <a:gridCol w="731520"/>
              </a:tblGrid>
              <a:tr h="783771">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ID</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元の設問（要旨）</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適用する前提</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前提から外れた場合のリスク</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影響度</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10-08</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異常値の照会・確認での往復</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毎年発生する前提で照会機能を優先実装</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往復頻度が特に高い拠点は、追加サポートが計画されず確定作業が遅延する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10-09</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係数変更時の再計算への不安</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「拠点は計算していない」を全拠点に適用</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拠点側で計算をしている拠点（本社未把握）があれば、再計算機能から漏れる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10-11</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監査・検証のたびの証拠探し</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「国内浸透・海外未浸透」を移行計画の前提とする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国内にもPDF化が進んでいない拠点は、証憑移行に想定以上の時間がかかる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10-12</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入力・報告のみでフィードバックがない</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費用対効果で判断する保留項目として整理</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拠点の定着意欲の実態を把握できず、「使われないシステム」の兆候を早期に捉えられない</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H3-01</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手順書の形式・保管場所・最終更新時期</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「システム入力マニュアル以外の手順書はない」で一致</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独自の手順書を持つ拠点があれば、その内容が要件に反映されない</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H3-02</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手順書と実運用の乖離・独自の工夫</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手順書がないため明文化を導入時タスクに含める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独自の工夫（暗黙知）をしている拠点があれば、移行時にそれが失われる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H3-04</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入力タイミング（月初何営業日目か）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月次リマインドは不要という前提で設計</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入力タイミングが遅い拠点は、入力遅延を早期に検知できない</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シート5｜削減設問（2/5）</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選抜拠点ヒアリング H3系（続き）＋ H4系（前半）</a:t>
            </a:r>
            <a:endParaRPr lang="en-US" sz="1000" dirty="0"/>
          </a:p>
        </p:txBody>
      </p:sp>
      <p:sp>
        <p:nvSpPr>
          <p:cNvPr id="5" name="Text 3"/>
          <p:cNvSpPr txBox="1"/>
          <p:nvPr/>
        </p:nvSpPr>
        <p:spPr>
          <a:xfrm>
            <a:off x="10058400" y="109728"/>
            <a:ext cx="182880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65992" cy="914400"/>
        </p:xfrm>
        <a:graphic>
          <a:graphicData uri="http://schemas.openxmlformats.org/drawingml/2006/table">
            <a:tbl>
              <a:tblPr/>
              <a:tblGrid>
                <a:gridCol w="640080"/>
                <a:gridCol w="2880360"/>
                <a:gridCol w="3200400"/>
                <a:gridCol w="3913632"/>
                <a:gridCol w="731520"/>
              </a:tblGrid>
              <a:tr h="783771">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ID</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元の設問（要旨）</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適用する前提</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前提から外れた場合のリスク</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影響度</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H3-05</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締切に間に合わない月の有無</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「水道2か月に1回、1月中下旬着」を締切設計に反映</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異なる請求サイクルの拠点は、締切に間に合わない状態が常態化する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H3-06</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データ欠測の典型パターンと穴埋め方法</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欠測は例外的とし、システム外の補完を許容</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欠測が頻発する拠点は、補完運用に負荷が集中し報告品質が偏る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H3-08</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組織変更時のデータ連続性の担保方法</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拠点単位の連続性は不要と判断</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将来組織再編がある拠点で連続性が必要だった場合、過年度比較要件を満たせない</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H3-09</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複数報告間で数値が食い違う経験と原因</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多目的出力を要件化、様式変更対応はESG企画室と別途調整</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拠点特有の食い違い要因が把握されないまま統一設計され、要件に反映されない</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H4-01</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使用係数の名称・出典・年度版</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係数は本社一括管理のため不要と判断</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独自係数を使う拠点が実在すれば、係数マスタに登録されず監査で説明できなくなる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H4-02</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係数更新の連絡方法・再計算の有無</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検証期間中の更新・再計算可能性を要件に反映（保守的）</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対応自体の漏れは小さいが、拠点固有の運用（通知の受け手等）が未確認のまま残る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H4-03</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割り振り（按分）の管理者・根拠資料</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対象拠点・項目の一覧をESG企画室が提示する前提</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未把握の拠点独自の按分があれば、按分ロジックの対象から漏れる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シート5｜削減設問（3/5）</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選抜拠点ヒアリング H4系（後半）</a:t>
            </a:r>
            <a:endParaRPr lang="en-US" sz="1000" dirty="0"/>
          </a:p>
        </p:txBody>
      </p:sp>
      <p:sp>
        <p:nvSpPr>
          <p:cNvPr id="5" name="Text 3"/>
          <p:cNvSpPr txBox="1"/>
          <p:nvPr/>
        </p:nvSpPr>
        <p:spPr>
          <a:xfrm>
            <a:off x="10058400" y="109728"/>
            <a:ext cx="182880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65992" cy="914400"/>
        </p:xfrm>
        <a:graphic>
          <a:graphicData uri="http://schemas.openxmlformats.org/drawingml/2006/table">
            <a:tbl>
              <a:tblPr/>
              <a:tblGrid>
                <a:gridCol w="640080"/>
                <a:gridCol w="2880360"/>
                <a:gridCol w="3200400"/>
                <a:gridCol w="3913632"/>
                <a:gridCol w="731520"/>
              </a:tblGrid>
              <a:tr h="1097280">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ID</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元の設問（要旨）</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適用する前提</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前提から外れた場合のリスク</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影響度</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r>
              <a:tr h="109728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H4-04</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割り振り（按分）基準の見直し頻度</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按分基準は年度ごとに保持する設計</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年度中に基準が変わる拠点は、古い基準で計算され続ける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109728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H4-07</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小さな排出源の集計の網羅性</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本社側のチェックリストで補う方針</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チェックリスト外の拠点固有の小口設備があれば、バウンダリの完全性が損なわれる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109728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H4-08</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冷媒（フロン類）の充填・漏えい量</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充填記録を証憑とし、海外は報告対象外</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海外拠点で将来冷媒管理が必要になった場合、証憑の仕組みがなく後手になる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109728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H4-09</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水（取水源別・排水量）の実態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原則メーター記録、地下水は有無のみ確認</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地下水使用量が多い拠点は、実態を過小評価したまま開示数値に反映される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H4-12</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製品LCA用データの提供可否と粒度</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ESG企画室との事前決定待ち、決定まで対象外</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決定が遅れると製品別データの収集可否確認が止まり、CFP即応の検証が遅れる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シート5｜削減設問（4/5）</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選抜拠点ヒアリング H4系（続き）＋ H5系</a:t>
            </a:r>
            <a:endParaRPr lang="en-US" sz="1000" dirty="0"/>
          </a:p>
        </p:txBody>
      </p:sp>
      <p:sp>
        <p:nvSpPr>
          <p:cNvPr id="5" name="Text 3"/>
          <p:cNvSpPr txBox="1"/>
          <p:nvPr/>
        </p:nvSpPr>
        <p:spPr>
          <a:xfrm>
            <a:off x="10058400" y="109728"/>
            <a:ext cx="182880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65992" cy="914400"/>
        </p:xfrm>
        <a:graphic>
          <a:graphicData uri="http://schemas.openxmlformats.org/drawingml/2006/table">
            <a:tbl>
              <a:tblPr/>
              <a:tblGrid>
                <a:gridCol w="640080"/>
                <a:gridCol w="2880360"/>
                <a:gridCol w="3200400"/>
                <a:gridCol w="3913632"/>
                <a:gridCol w="731520"/>
              </a:tblGrid>
              <a:tr h="1097280">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ID</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元の設問（要旨）</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適用する前提</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前提から外れた場合のリスク</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影響度</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r>
              <a:tr h="109728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H4-13</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人事・労働安全データの拠点独自解釈</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本社側の指標定義の問題として整理</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拠点独自の解釈が実在する場合、本社定義の統一だけでは解消されない</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109728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H5-01</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証憑の種類・保管場所の全量</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把握できた実態で保管先の集約範囲を設計</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未把握の証憑保管パターン（個人PC等）があれば、移行計画から漏れ消失リスクが残る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109728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H5-02</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証憑の保存年限のルールと実態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ESG企画室と決定のうえシステム要件に反映</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拠点の実際の保存実態を確認しないまま年限を決めると、証憑不足の拠点が出る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109728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H5-04</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第三者保有証憑の入手性</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「請求ありは入手可、なしは推定・除外」を前提とする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証憑として必要だが請求がない項目があれば、除外判断が誤り証憑不足になる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H5-06</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過去の検証での指摘事項と記録所在</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「ESG企画室の共有フォルダにある」と把握</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共有フォルダに含まれない拠点固有の指摘があれば、同じ指摘を繰り返す</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シート5｜削減設問（5/5）</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選抜拠点ヒアリング H6系・H7系</a:t>
            </a:r>
            <a:endParaRPr lang="en-US" sz="1000" dirty="0"/>
          </a:p>
        </p:txBody>
      </p:sp>
      <p:sp>
        <p:nvSpPr>
          <p:cNvPr id="5" name="Text 3"/>
          <p:cNvSpPr txBox="1"/>
          <p:nvPr/>
        </p:nvSpPr>
        <p:spPr>
          <a:xfrm>
            <a:off x="10058400" y="109728"/>
            <a:ext cx="182880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65992" cy="914400"/>
        </p:xfrm>
        <a:graphic>
          <a:graphicData uri="http://schemas.openxmlformats.org/drawingml/2006/table">
            <a:tbl>
              <a:tblPr/>
              <a:tblGrid>
                <a:gridCol w="640080"/>
                <a:gridCol w="2880360"/>
                <a:gridCol w="3200400"/>
                <a:gridCol w="3913632"/>
                <a:gridCol w="731520"/>
              </a:tblGrid>
              <a:tr h="783771">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ID</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元の設問（要旨）</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適用する前提</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前提から外れた場合のリスク</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影響度</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H6-01</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チェックした事実の記録有無</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証跡はシステム内に残す前提とする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拠点固有の追加チェック（現地統制ルール等）が統制設計から漏れる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H6-02</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異常値の定義・閾値と対応者</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閾値はESG企画室の机上設定で進める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拠点ごとの変動特性を反映しない一律閾値になり、誤検知・見逃しが生じる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H6-03</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入力ミスが本社集計まで流れた経験</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現行の修正要否確認プロセスを維持する設計</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現行プロセスでも防げなかった拠点固有のミス経路が新システムでも再発する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H6-04</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拠点長・工場長がデータを見る機会</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承認者ルールは事務局が設計し拠点へ説明</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拠点長の関与が薄い拠点で承認ルールへの抵抗が生じ、定着が遅れる可能性を把握できない</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H6-07</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内部監査・ISO審査の対象経験と指摘</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ISO監査は数値誤りを対象外として要件影響なしと整理</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数値関連の指摘を受けた拠点（対象外）があれば、その指摘内容が要件に反映されない</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H7-03</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子メーター（部門別・建屋別）の設置状況</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拠点単位で足り、部門別粒度は対象外</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部門別データが必要な拠点（複数事業混在等）は開示要件を満たせない</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H7-04</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ITサポート体制と導入時の協力可否</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現地IT支援は期待せず、本社リモート支援を計画</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通信環境が弱い拠点はリモート支援が届きにくく、導入トラブルの解消が遅れる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シート5｜削減設問（補遺）</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選抜拠点ヒアリング H8系・H9系</a:t>
            </a:r>
            <a:endParaRPr lang="en-US" sz="1000" dirty="0"/>
          </a:p>
        </p:txBody>
      </p:sp>
      <p:sp>
        <p:nvSpPr>
          <p:cNvPr id="5" name="Text 3"/>
          <p:cNvSpPr txBox="1"/>
          <p:nvPr/>
        </p:nvSpPr>
        <p:spPr>
          <a:xfrm>
            <a:off x="10058400" y="109728"/>
            <a:ext cx="182880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65992" cy="914400"/>
        </p:xfrm>
        <a:graphic>
          <a:graphicData uri="http://schemas.openxmlformats.org/drawingml/2006/table">
            <a:tbl>
              <a:tblPr/>
              <a:tblGrid>
                <a:gridCol w="640080"/>
                <a:gridCol w="2880360"/>
                <a:gridCol w="3200400"/>
                <a:gridCol w="3913632"/>
                <a:gridCol w="731520"/>
              </a:tblGrid>
              <a:tr h="783771">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ID</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元の設問（要旨）</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適用する前提</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前提から外れた場合のリスク</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影響度</a:t>
                      </a:r>
                      <a:endParaRPr lang="en-US" sz="9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1F3864"/>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H8-01</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本社照会・差し戻し対応の件数・時間</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把握済みの実績値を効果試算の基準値とする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差し戻しが特に多い拠点があれば、ROI試算の基準値が実態より小さく見積られる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H8-02</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業務に関わる人数・兼務状況</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Scope1・2で3名を前提にライセンス数を試算</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3名を超える拠点が多い場合、ライセンス数が不足し追加費用が発生する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H9-02</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現地排出係数の種類と入手元</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既に検証済みの係数を正とする前提</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未検証の独自係数を使う海外拠点があれば、その数値が保証で説明できなくなる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8A3B12"/>
                          </a:solidFill>
                          <a:latin typeface="Meiryo" pitchFamily="34" charset="0"/>
                          <a:ea typeface="Meiryo" pitchFamily="34" charset="-122"/>
                          <a:cs typeface="Meiryo" pitchFamily="34" charset="-120"/>
                        </a:rPr>
                        <a:t>高</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8CBAD"/>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H9-03</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CSRD等の追加開示要求の有無</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オーストラリア子会社分のみ将来要件として記録</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他の海外拠点で同様の規制・要求が発生した場合、拡張性要件から漏れる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H9-05</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現地事情による欠測・遅延の頻度</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「致命的遅延なし」を前提にオフライン機能を見送る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停電・通信障害が多い他拠点で欠測が頻発する場合、運用が止まる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783771">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H9-06</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現地委託先からのデータ入手性</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取れないデータは推定・除外する原則で整理</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委託先データの欠落が多い拠点は、開示数値の精度・説明力が低下する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r h="0">
                <a:tc>
                  <a:txBody>
                    <a:bodyPr/>
                    <a:lstStyle/>
                    <a:p>
                      <a:pPr algn="ctr" indent="0" marL="0">
                        <a:buNone/>
                      </a:pPr>
                      <a:r>
                        <a:rPr lang="en-US" sz="850" b="1" dirty="0">
                          <a:solidFill>
                            <a:srgbClr val="000000"/>
                          </a:solidFill>
                          <a:latin typeface="Meiryo" pitchFamily="34" charset="0"/>
                          <a:ea typeface="Meiryo" pitchFamily="34" charset="-122"/>
                          <a:cs typeface="Meiryo" pitchFamily="34" charset="-120"/>
                        </a:rPr>
                        <a:t>H9-07</a:t>
                      </a:r>
                      <a:endParaRPr lang="en-US" sz="85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現地経営層の関与度・承認追加の実現性</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承認フローとして不要と判断</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indent="0" marL="0">
                        <a:buNone/>
                      </a:pPr>
                      <a:r>
                        <a:rPr lang="en-US" sz="800" dirty="0">
                          <a:solidFill>
                            <a:srgbClr val="000000"/>
                          </a:solidFill>
                          <a:latin typeface="Meiryo" pitchFamily="34" charset="0"/>
                          <a:ea typeface="Meiryo" pitchFamily="34" charset="-122"/>
                          <a:cs typeface="Meiryo" pitchFamily="34" charset="-120"/>
                        </a:rPr>
                        <a:t>現地の法制度上、現地経営層の承認が必須な拠点は、コンプライアンス上の問題になる</a:t>
                      </a:r>
                      <a:endParaRPr lang="en-US" sz="8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tcPr>
                </a:tc>
                <a:tc>
                  <a:txBody>
                    <a:bodyPr/>
                    <a:lstStyle/>
                    <a:p>
                      <a:pPr algn="ctr" indent="0" marL="0">
                        <a:buNone/>
                      </a:pPr>
                      <a:r>
                        <a:rPr lang="en-US" sz="900" b="1" dirty="0">
                          <a:solidFill>
                            <a:srgbClr val="7A5B00"/>
                          </a:solidFill>
                          <a:latin typeface="Meiryo" pitchFamily="34" charset="0"/>
                          <a:ea typeface="Meiryo" pitchFamily="34" charset="-122"/>
                          <a:cs typeface="Meiryo" pitchFamily="34" charset="-120"/>
                        </a:rPr>
                        <a:t>中</a:t>
                      </a:r>
                      <a:endParaRPr lang="en-US" sz="900" dirty="0">
                        <a:latin typeface="Meiryo" charset="0"/>
                        <a:ea typeface="Meiryo" charset="0"/>
                        <a:cs typeface="Meiryo" charset="0"/>
                      </a:endParaRPr>
                    </a:p>
                  </a:txBody>
                  <a:tcPr marL="91440" marR="91440" marT="45720" marB="45720" anchor="ctr">
                    <a:lnL w="6350" cap="flat" cmpd="sng" algn="ctr">
                      <a:solidFill>
                        <a:srgbClr val="C9D5E6"/>
                      </a:solidFill>
                      <a:prstDash val="solid"/>
                      <a:round/>
                      <a:headEnd type="none" w="med" len="med"/>
                      <a:tailEnd type="none" w="med" len="med"/>
                    </a:lnL>
                    <a:lnR w="6350" cap="flat" cmpd="sng" algn="ctr">
                      <a:solidFill>
                        <a:srgbClr val="C9D5E6"/>
                      </a:solidFill>
                      <a:prstDash val="solid"/>
                      <a:round/>
                      <a:headEnd type="none" w="med" len="med"/>
                      <a:tailEnd type="none" w="med" len="med"/>
                    </a:lnR>
                    <a:lnT w="6350" cap="flat" cmpd="sng" algn="ctr">
                      <a:solidFill>
                        <a:srgbClr val="C9D5E6"/>
                      </a:solidFill>
                      <a:prstDash val="solid"/>
                      <a:round/>
                      <a:headEnd type="none" w="med" len="med"/>
                      <a:tailEnd type="none" w="med" len="med"/>
                    </a:lnT>
                    <a:lnB w="6350" cap="flat" cmpd="sng" algn="ctr">
                      <a:solidFill>
                        <a:srgbClr val="C9D5E6"/>
                      </a:solidFill>
                      <a:prstDash val="solid"/>
                      <a:round/>
                      <a:headEnd type="none" w="med" len="med"/>
                      <a:tailEnd type="none" w="med" len="med"/>
                    </a:lnB>
                    <a:solidFill>
                      <a:srgbClr val="FFE699"/>
                    </a:solidFill>
                  </a:tcPr>
                </a:tc>
              </a:tr>
            </a:tbl>
          </a:graphicData>
        </a:graphic>
      </p:graphicFrame>
      <p:sp>
        <p:nvSpPr>
          <p:cNvPr id="7" name="Text 4"/>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1F3864"/>
          </a:solidFill>
          <a:ln/>
        </p:spPr>
      </p:sp>
      <p:sp>
        <p:nvSpPr>
          <p:cNvPr id="3" name="Text 1"/>
          <p:cNvSpPr txBox="1"/>
          <p:nvPr/>
        </p:nvSpPr>
        <p:spPr>
          <a:xfrm>
            <a:off x="457200" y="109728"/>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まとめ</a:t>
            </a:r>
            <a:endParaRPr lang="en-US" sz="2200" dirty="0"/>
          </a:p>
        </p:txBody>
      </p:sp>
      <p:sp>
        <p:nvSpPr>
          <p:cNvPr id="4" name="Text 2"/>
          <p:cNvSpPr txBox="1"/>
          <p:nvPr/>
        </p:nvSpPr>
        <p:spPr>
          <a:xfrm>
            <a:off x="457200" y="512064"/>
            <a:ext cx="11247120" cy="292608"/>
          </a:xfrm>
          <a:prstGeom prst="rect">
            <a:avLst/>
          </a:prstGeom>
          <a:noFill/>
          <a:ln/>
        </p:spPr>
        <p:txBody>
          <a:bodyPr wrap="square" lIns="0" tIns="0" rIns="0" bIns="0" rtlCol="0" anchor="ctr"/>
          <a:lstStyle/>
          <a:p>
            <a:pPr indent="0" marL="0">
              <a:buNone/>
            </a:pPr>
            <a:r>
              <a:rPr lang="en-US" sz="1000" dirty="0">
                <a:solidFill>
                  <a:srgbClr val="CBD6EA"/>
                </a:solidFill>
                <a:latin typeface="Meiryo" pitchFamily="34" charset="0"/>
                <a:ea typeface="Meiryo" pitchFamily="34" charset="-122"/>
                <a:cs typeface="Meiryo" pitchFamily="34" charset="-120"/>
              </a:rPr>
              <a:t>本資料の位置づけと今後の運用</a:t>
            </a:r>
            <a:endParaRPr lang="en-US" sz="1000" dirty="0"/>
          </a:p>
        </p:txBody>
      </p:sp>
      <p:sp>
        <p:nvSpPr>
          <p:cNvPr id="5" name="Text 3"/>
          <p:cNvSpPr txBox="1"/>
          <p:nvPr/>
        </p:nvSpPr>
        <p:spPr>
          <a:xfrm>
            <a:off x="10058400" y="109728"/>
            <a:ext cx="1828800" cy="274320"/>
          </a:xfrm>
          <a:prstGeom prst="rect">
            <a:avLst/>
          </a:prstGeom>
          <a:noFill/>
          <a:ln/>
        </p:spPr>
        <p:txBody>
          <a:bodyPr wrap="square" lIns="0" tIns="0" rIns="0" bIns="0" rtlCol="0" anchor="ctr"/>
          <a:lstStyle/>
          <a:p>
            <a:pPr algn="r" indent="0" marL="0">
              <a:buNone/>
            </a:pPr>
            <a:r>
              <a:rPr lang="en-US" sz="900" dirty="0">
                <a:solidFill>
                  <a:srgbClr val="CBD6EA"/>
                </a:solidFill>
                <a:latin typeface="Meiryo" pitchFamily="34" charset="0"/>
                <a:ea typeface="Meiryo" pitchFamily="34" charset="-122"/>
                <a:cs typeface="Meiryo" pitchFamily="34" charset="-120"/>
              </a:rPr>
              <a:t>As-Is調査 v1.1</a:t>
            </a:r>
            <a:endParaRPr lang="en-US" sz="900" dirty="0"/>
          </a:p>
        </p:txBody>
      </p:sp>
      <p:sp>
        <p:nvSpPr>
          <p:cNvPr id="6" name="Shape 4"/>
          <p:cNvSpPr/>
          <p:nvPr/>
        </p:nvSpPr>
        <p:spPr>
          <a:xfrm>
            <a:off x="502920" y="1188720"/>
            <a:ext cx="11183112" cy="4663440"/>
          </a:xfrm>
          <a:prstGeom prst="roundRect">
            <a:avLst>
              <a:gd name="adj" fmla="val 1569"/>
            </a:avLst>
          </a:prstGeom>
          <a:solidFill>
            <a:srgbClr val="F5F8FD"/>
          </a:solidFill>
          <a:ln/>
          <a:effectLst>
            <a:outerShdw sx="100000" sy="100000" kx="0" ky="0" algn="bl" rotWithShape="0" blurRad="76200" dist="25400" dir="5400000">
              <a:srgbClr val="9AA7BC">
                <a:alpha val="28000"/>
              </a:srgbClr>
            </a:outerShdw>
          </a:effectLst>
        </p:spPr>
      </p:sp>
      <p:sp>
        <p:nvSpPr>
          <p:cNvPr id="7" name="Text 5"/>
          <p:cNvSpPr txBox="1"/>
          <p:nvPr/>
        </p:nvSpPr>
        <p:spPr>
          <a:xfrm>
            <a:off x="868680" y="1508760"/>
            <a:ext cx="10424160" cy="4114800"/>
          </a:xfrm>
          <a:prstGeom prst="rect">
            <a:avLst/>
          </a:prstGeom>
          <a:noFill/>
          <a:ln/>
        </p:spPr>
        <p:txBody>
          <a:bodyPr wrap="square" lIns="0" tIns="0" rIns="0" bIns="0" rtlCol="0" anchor="t"/>
          <a:lstStyle/>
          <a:p>
            <a:pPr marL="203200" indent="-203200">
              <a:lnSpc>
                <a:spcPct val="125000"/>
              </a:lnSpc>
              <a:spcAft>
                <a:spcPts val="1800"/>
              </a:spcAft>
              <a:buSzPct val="100000"/>
              <a:buChar char="■"/>
            </a:pPr>
            <a:r>
              <a:rPr lang="en-US" sz="1300" dirty="0">
                <a:solidFill>
                  <a:srgbClr val="26303B"/>
                </a:solidFill>
                <a:latin typeface="Meiryo" pitchFamily="34" charset="0"/>
                <a:ea typeface="Meiryo" pitchFamily="34" charset="-122"/>
                <a:cs typeface="Meiryo" pitchFamily="34" charset="-120"/>
              </a:rPr>
              <a:t>本資料は、v1.1パイロット回答（ESG企画室・海外BU川端氏）に基づき「拠点への設問として不要」と判断した60件について、適用する前提と、前提から外れた場合のリスクを整理したものです。</a:t>
            </a:r>
            <a:endParaRPr lang="en-US" sz="1300" dirty="0"/>
          </a:p>
          <a:p>
            <a:pPr marL="203200" indent="-203200">
              <a:lnSpc>
                <a:spcPct val="125000"/>
              </a:lnSpc>
              <a:spcAft>
                <a:spcPts val="1800"/>
              </a:spcAft>
              <a:buSzPct val="100000"/>
              <a:buChar char="■"/>
            </a:pPr>
            <a:r>
              <a:rPr lang="en-US" sz="1300" dirty="0">
                <a:solidFill>
                  <a:srgbClr val="26303B"/>
                </a:solidFill>
                <a:latin typeface="Meiryo" pitchFamily="34" charset="0"/>
                <a:ea typeface="Meiryo" pitchFamily="34" charset="-122"/>
                <a:cs typeface="Meiryo" pitchFamily="34" charset="-120"/>
              </a:rPr>
              <a:t>対象拠点への配布時には、本資料の内容（削除した設問・適用する前提）を事前に共有し、「この前提と実態が異なる場合は事前に申告してください」と明記した上で配布します。</a:t>
            </a:r>
            <a:endParaRPr lang="en-US" sz="1300" dirty="0"/>
          </a:p>
          <a:p>
            <a:pPr marL="203200" indent="-203200">
              <a:lnSpc>
                <a:spcPct val="125000"/>
              </a:lnSpc>
              <a:spcAft>
                <a:spcPts val="1800"/>
              </a:spcAft>
              <a:buSzPct val="100000"/>
              <a:buChar char="■"/>
            </a:pPr>
            <a:r>
              <a:rPr lang="en-US" sz="1300" dirty="0">
                <a:solidFill>
                  <a:srgbClr val="26303B"/>
                </a:solidFill>
                <a:latin typeface="Meiryo" pitchFamily="34" charset="0"/>
                <a:ea typeface="Meiryo" pitchFamily="34" charset="-122"/>
                <a:cs typeface="Meiryo" pitchFamily="34" charset="-120"/>
              </a:rPr>
              <a:t>配布後に申告がなく、後日相違が判明した場合の追加費用・工数は、該当拠点（回答側）の負担として記録・報告します。</a:t>
            </a:r>
            <a:endParaRPr lang="en-US" sz="1300" dirty="0"/>
          </a:p>
          <a:p>
            <a:pPr marL="203200" indent="-203200">
              <a:lnSpc>
                <a:spcPct val="125000"/>
              </a:lnSpc>
              <a:buSzPct val="100000"/>
              <a:buChar char="■"/>
            </a:pPr>
            <a:r>
              <a:rPr lang="en-US" sz="1300" dirty="0">
                <a:solidFill>
                  <a:srgbClr val="26303B"/>
                </a:solidFill>
                <a:latin typeface="Meiryo" pitchFamily="34" charset="0"/>
                <a:ea typeface="Meiryo" pitchFamily="34" charset="-122"/>
                <a:cs typeface="Meiryo" pitchFamily="34" charset="-120"/>
              </a:rPr>
              <a:t>影響度「高」の26件は、特に監査・保証対応・アーキテクチャの根幹に関わるため、要求定義確定の前に、可能な範囲でESG企画室・海外BUへの再確認を推奨します。</a:t>
            </a:r>
            <a:endParaRPr lang="en-US" sz="1300" dirty="0"/>
          </a:p>
        </p:txBody>
      </p:sp>
      <p:sp>
        <p:nvSpPr>
          <p:cNvPr id="8" name="Text 6"/>
          <p:cNvSpPr txBox="1"/>
          <p:nvPr/>
        </p:nvSpPr>
        <p:spPr>
          <a:xfrm>
            <a:off x="11750040" y="6537960"/>
            <a:ext cx="365760"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デジタル戦略部</dc:creator>
  <cp:lastModifiedBy>デジタル戦略部</cp:lastModifiedBy>
  <cp:revision>1</cp:revision>
  <dcterms:created xsi:type="dcterms:W3CDTF">2026-09-17T11:16:49Z</dcterms:created>
  <dcterms:modified xsi:type="dcterms:W3CDTF">2026-09-17T11:16:49Z</dcterms:modified>
</cp:coreProperties>
</file>