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74320" y="91440"/>
            <a:ext cx="9326880" cy="384048"/>
          </a:xfrm>
          <a:prstGeom prst="rect">
            <a:avLst/>
          </a:prstGeom>
          <a:noFill/>
          <a:ln/>
        </p:spPr>
        <p:txBody>
          <a:bodyPr wrap="square" lIns="0" tIns="0" rIns="0" bIns="0" rtlCol="0" anchor="ctr"/>
          <a:lstStyle/>
          <a:p>
            <a:pPr indent="0" marL="0">
              <a:buNone/>
            </a:pPr>
            <a:r>
              <a:rPr lang="en-US" sz="1700" b="1" dirty="0">
                <a:solidFill>
                  <a:srgbClr val="1F3D20"/>
                </a:solidFill>
                <a:latin typeface="Meiryo UI" pitchFamily="34" charset="0"/>
                <a:ea typeface="Meiryo UI" pitchFamily="34" charset="-122"/>
                <a:cs typeface="Meiryo UI" pitchFamily="34" charset="-120"/>
              </a:rPr>
              <a:t>工場「生産性向上検討」との統合整理 — 過去検討は資産である</a:t>
            </a:r>
            <a:endParaRPr lang="en-US" sz="1700" dirty="0"/>
          </a:p>
        </p:txBody>
      </p:sp>
      <p:sp>
        <p:nvSpPr>
          <p:cNvPr id="3" name="Text 1"/>
          <p:cNvSpPr/>
          <p:nvPr/>
        </p:nvSpPr>
        <p:spPr>
          <a:xfrm>
            <a:off x="9601200" y="91440"/>
            <a:ext cx="2313432" cy="384048"/>
          </a:xfrm>
          <a:prstGeom prst="rect">
            <a:avLst/>
          </a:prstGeom>
          <a:noFill/>
          <a:ln/>
        </p:spPr>
        <p:txBody>
          <a:bodyPr wrap="square" lIns="0" tIns="0" rIns="0" bIns="0" rtlCol="0" anchor="ctr"/>
          <a:lstStyle/>
          <a:p>
            <a:pPr algn="r" indent="0" marL="0">
              <a:buNone/>
            </a:pPr>
            <a:r>
              <a:rPr lang="en-US" sz="700" dirty="0">
                <a:solidFill>
                  <a:srgbClr val="595959"/>
                </a:solidFill>
                <a:latin typeface="Meiryo UI" pitchFamily="34" charset="0"/>
                <a:ea typeface="Meiryo UI" pitchFamily="34" charset="-122"/>
                <a:cs typeface="Meiryo UI" pitchFamily="34" charset="-120"/>
              </a:rPr>
              <a:t>2026/8/28 意見交換｜入力: 明工・生技G資料(8/27)+BPR資料</a:t>
            </a:r>
            <a:endParaRPr lang="en-US" sz="700" dirty="0"/>
          </a:p>
        </p:txBody>
      </p:sp>
      <p:sp>
        <p:nvSpPr>
          <p:cNvPr id="4" name="Shape 2"/>
          <p:cNvSpPr/>
          <p:nvPr/>
        </p:nvSpPr>
        <p:spPr>
          <a:xfrm>
            <a:off x="274320" y="530352"/>
            <a:ext cx="11640312" cy="566928"/>
          </a:xfrm>
          <a:prstGeom prst="roundRect">
            <a:avLst>
              <a:gd name="adj" fmla="val 9677"/>
            </a:avLst>
          </a:prstGeom>
          <a:solidFill>
            <a:srgbClr val="2C5F2D"/>
          </a:solidFill>
          <a:ln w="12700">
            <a:solidFill>
              <a:srgbClr val="2C5F2D"/>
            </a:solidFill>
            <a:prstDash val="solid"/>
          </a:ln>
        </p:spPr>
      </p:sp>
      <p:sp>
        <p:nvSpPr>
          <p:cNvPr id="5" name="Text 3"/>
          <p:cNvSpPr/>
          <p:nvPr/>
        </p:nvSpPr>
        <p:spPr>
          <a:xfrm>
            <a:off x="420624" y="530352"/>
            <a:ext cx="11338560" cy="566928"/>
          </a:xfrm>
          <a:prstGeom prst="rect">
            <a:avLst/>
          </a:prstGeom>
          <a:noFill/>
          <a:ln/>
        </p:spPr>
        <p:txBody>
          <a:bodyPr wrap="square" lIns="0" tIns="0" rIns="0" bIns="0" rtlCol="0" anchor="ctr"/>
          <a:lstStyle/>
          <a:p>
            <a:pPr indent="0" marL="0">
              <a:lnSpc>
                <a:spcPct val="105000"/>
              </a:lnSpc>
              <a:buNone/>
            </a:pPr>
            <a:r>
              <a:rPr lang="en-US" sz="1050" b="1" dirty="0">
                <a:solidFill>
                  <a:srgbClr val="FFFFFF"/>
                </a:solidFill>
                <a:latin typeface="Meiryo UI" pitchFamily="34" charset="0"/>
                <a:ea typeface="Meiryo UI" pitchFamily="34" charset="-122"/>
                <a:cs typeface="Meiryo UI" pitchFamily="34" charset="-120"/>
              </a:rPr>
              <a:t>過去の検討をやり直すのではない。</a:t>
            </a:r>
            <a:pPr indent="0" marL="0">
              <a:lnSpc>
                <a:spcPct val="105000"/>
              </a:lnSpc>
              <a:buNone/>
            </a:pPr>
            <a:r>
              <a:rPr lang="en-US" sz="1050" dirty="0">
                <a:solidFill>
                  <a:srgbClr val="FFFFFF"/>
                </a:solidFill>
                <a:latin typeface="Meiryo UI" pitchFamily="34" charset="0"/>
                <a:ea typeface="Meiryo UI" pitchFamily="34" charset="-122"/>
                <a:cs typeface="Meiryo UI" pitchFamily="34" charset="-120"/>
              </a:rPr>
              <a:t>工場の過去の見積もり・スコープアウト判断を台帳の中核資産とし、変わった前提(技術・賃金・目標水準・品質データ)だけを更新して再評価する。</a:t>
            </a:r>
            <a:endParaRPr lang="en-US" sz="1050" dirty="0"/>
          </a:p>
        </p:txBody>
      </p:sp>
      <p:sp>
        <p:nvSpPr>
          <p:cNvPr id="6" name="Text 4"/>
          <p:cNvSpPr/>
          <p:nvPr/>
        </p:nvSpPr>
        <p:spPr>
          <a:xfrm>
            <a:off x="274320" y="1225296"/>
            <a:ext cx="11640312" cy="219456"/>
          </a:xfrm>
          <a:prstGeom prst="rect">
            <a:avLst/>
          </a:prstGeom>
          <a:noFill/>
          <a:ln/>
        </p:spPr>
        <p:txBody>
          <a:bodyPr wrap="square" lIns="0" tIns="0" rIns="0" bIns="0" rtlCol="0" anchor="ctr"/>
          <a:lstStyle/>
          <a:p>
            <a:pPr indent="0" marL="0">
              <a:buNone/>
            </a:pPr>
            <a:r>
              <a:rPr lang="en-US" sz="1000" b="1" dirty="0">
                <a:solidFill>
                  <a:srgbClr val="1F3D20"/>
                </a:solidFill>
                <a:latin typeface="Meiryo UI" pitchFamily="34" charset="0"/>
                <a:ea typeface="Meiryo UI" pitchFamily="34" charset="-122"/>
                <a:cs typeface="Meiryo UI" pitchFamily="34" charset="-120"/>
              </a:rPr>
              <a:t>工場の過去検討3案件が示していること — いずれも「現行の作業・資材仕様を所与とした自動化(③)単独」の検討で、あと一歩で停止している</a:t>
            </a:r>
            <a:endParaRPr lang="en-US" sz="10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274320" y="1481328"/>
          <a:ext cx="11640312" cy="914400"/>
        </p:xfrm>
        <a:graphic>
          <a:graphicData uri="http://schemas.openxmlformats.org/drawingml/2006/table">
            <a:tbl>
              <a:tblPr/>
              <a:tblGrid>
                <a:gridCol w="2286000"/>
                <a:gridCol w="1417320"/>
                <a:gridCol w="2331720"/>
                <a:gridCol w="5605272"/>
              </a:tblGrid>
              <a:tr h="256032">
                <a:tc>
                  <a:txBody>
                    <a:bodyPr/>
                    <a:lstStyle/>
                    <a:p>
                      <a:pPr algn="ctr" indent="0" marL="0">
                        <a:buNone/>
                      </a:pPr>
                      <a:r>
                        <a:rPr lang="en-US" sz="800" b="1" dirty="0">
                          <a:solidFill>
                            <a:srgbClr val="FFFFFF"/>
                          </a:solidFill>
                          <a:latin typeface="Meiryo UI" pitchFamily="34" charset="0"/>
                          <a:ea typeface="Meiryo UI" pitchFamily="34" charset="-122"/>
                          <a:cs typeface="Meiryo UI" pitchFamily="34" charset="-120"/>
                        </a:rPr>
                        <a:t>過去案件(工場資料より)</a:t>
                      </a:r>
                      <a:endParaRPr lang="en-US" sz="80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2C5F2D"/>
                    </a:solidFill>
                  </a:tcPr>
                </a:tc>
                <a:tc>
                  <a:txBody>
                    <a:bodyPr/>
                    <a:lstStyle/>
                    <a:p>
                      <a:pPr algn="ctr" indent="0" marL="0">
                        <a:buNone/>
                      </a:pPr>
                      <a:r>
                        <a:rPr lang="en-US" sz="800" b="1" dirty="0">
                          <a:solidFill>
                            <a:srgbClr val="FFFFFF"/>
                          </a:solidFill>
                          <a:latin typeface="Meiryo UI" pitchFamily="34" charset="0"/>
                          <a:ea typeface="Meiryo UI" pitchFamily="34" charset="-122"/>
                          <a:cs typeface="Meiryo UI" pitchFamily="34" charset="-120"/>
                        </a:rPr>
                        <a:t>見積もり</a:t>
                      </a:r>
                      <a:endParaRPr lang="en-US" sz="80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2C5F2D"/>
                    </a:solidFill>
                  </a:tcPr>
                </a:tc>
                <a:tc>
                  <a:txBody>
                    <a:bodyPr/>
                    <a:lstStyle/>
                    <a:p>
                      <a:pPr algn="ctr" indent="0" marL="0">
                        <a:buNone/>
                      </a:pPr>
                      <a:r>
                        <a:rPr lang="en-US" sz="800" b="1" dirty="0">
                          <a:solidFill>
                            <a:srgbClr val="FFFFFF"/>
                          </a:solidFill>
                          <a:latin typeface="Meiryo UI" pitchFamily="34" charset="0"/>
                          <a:ea typeface="Meiryo UI" pitchFamily="34" charset="-122"/>
                          <a:cs typeface="Meiryo UI" pitchFamily="34" charset="-120"/>
                        </a:rPr>
                        <a:t>停止した理由</a:t>
                      </a:r>
                      <a:endParaRPr lang="en-US" sz="80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2C5F2D"/>
                    </a:solidFill>
                  </a:tcPr>
                </a:tc>
                <a:tc>
                  <a:txBody>
                    <a:bodyPr/>
                    <a:lstStyle/>
                    <a:p>
                      <a:pPr algn="ctr" indent="0" marL="0">
                        <a:buNone/>
                      </a:pPr>
                      <a:r>
                        <a:rPr lang="en-US" sz="800" b="1" dirty="0">
                          <a:solidFill>
                            <a:srgbClr val="FFFFFF"/>
                          </a:solidFill>
                          <a:latin typeface="Meiryo UI" pitchFamily="34" charset="0"/>
                          <a:ea typeface="Meiryo UI" pitchFamily="34" charset="-122"/>
                          <a:cs typeface="Meiryo UI" pitchFamily="34" charset="-120"/>
                        </a:rPr>
                        <a:t>①無くす・②減らすを先に当てた場合の再評価仮説</a:t>
                      </a:r>
                      <a:endParaRPr lang="en-US" sz="80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2C5F2D"/>
                    </a:solidFill>
                  </a:tcPr>
                </a:tc>
              </a:tr>
              <a:tr h="566928">
                <a:tc>
                  <a:txBody>
                    <a:bodyPr/>
                    <a:lstStyle/>
                    <a:p>
                      <a:pPr indent="0" marL="0">
                        <a:buNone/>
                      </a:pPr>
                      <a:r>
                        <a:rPr lang="en-US" sz="780" b="1" dirty="0">
                          <a:solidFill>
                            <a:srgbClr val="2B2B2B"/>
                          </a:solidFill>
                          <a:latin typeface="Meiryo UI" pitchFamily="34" charset="0"/>
                          <a:ea typeface="Meiryo UI" pitchFamily="34" charset="-122"/>
                          <a:cs typeface="Meiryo UI" pitchFamily="34" charset="-120"/>
                        </a:rPr>
                        <a:t>チューブ供給自動化(歯磨包装)</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algn="ctr" indent="0" marL="0">
                        <a:buNone/>
                      </a:pPr>
                      <a:r>
                        <a:rPr lang="en-US" sz="780" dirty="0">
                          <a:solidFill>
                            <a:srgbClr val="2B2B2B"/>
                          </a:solidFill>
                          <a:latin typeface="Meiryo UI" pitchFamily="34" charset="0"/>
                          <a:ea typeface="Meiryo UI" pitchFamily="34" charset="-122"/>
                          <a:cs typeface="Meiryo UI" pitchFamily="34" charset="-120"/>
                        </a:rPr>
                        <a:t>76,000千円(▲1名)</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80" dirty="0">
                          <a:solidFill>
                            <a:srgbClr val="B85042"/>
                          </a:solidFill>
                          <a:latin typeface="Meiryo UI" pitchFamily="34" charset="0"/>
                          <a:ea typeface="Meiryo UI" pitchFamily="34" charset="-122"/>
                          <a:cs typeface="Meiryo UI" pitchFamily="34" charset="-120"/>
                        </a:rPr>
                        <a:t>投資基準(39,200千円/名)を超過 → 継続検討中</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80" dirty="0">
                          <a:solidFill>
                            <a:srgbClr val="2B2B2B"/>
                          </a:solidFill>
                          <a:latin typeface="Meiryo UI" pitchFamily="34" charset="0"/>
                          <a:ea typeface="Meiryo UI" pitchFamily="34" charset="-122"/>
                          <a:cs typeface="Meiryo UI" pitchFamily="34" charset="-120"/>
                        </a:rPr>
                        <a:t>見積もりを押し上げるサブルーチン(養生布抜取・定数チェック・PL天地反転)を資材仕様・受入基準の変更で消せば、装置は「運ぶだけ」に単純化 → 再見積もりで基準内の可能性</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r>
              <a:tr h="502920">
                <a:tc>
                  <a:txBody>
                    <a:bodyPr/>
                    <a:lstStyle/>
                    <a:p>
                      <a:pPr indent="0" marL="0">
                        <a:buNone/>
                      </a:pPr>
                      <a:r>
                        <a:rPr lang="en-US" sz="780" b="1" dirty="0">
                          <a:solidFill>
                            <a:srgbClr val="2B2B2B"/>
                          </a:solidFill>
                          <a:latin typeface="Meiryo UI" pitchFamily="34" charset="0"/>
                          <a:ea typeface="Meiryo UI" pitchFamily="34" charset="-122"/>
                          <a:cs typeface="Meiryo UI" pitchFamily="34" charset="-120"/>
                        </a:rPr>
                        <a:t>中間製品供給機(包装20号)</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algn="ctr" indent="0" marL="0">
                        <a:buNone/>
                      </a:pPr>
                      <a:r>
                        <a:rPr lang="en-US" sz="780" dirty="0">
                          <a:solidFill>
                            <a:srgbClr val="2B2B2B"/>
                          </a:solidFill>
                          <a:latin typeface="Meiryo UI" pitchFamily="34" charset="0"/>
                          <a:ea typeface="Meiryo UI" pitchFamily="34" charset="-122"/>
                          <a:cs typeface="Meiryo UI" pitchFamily="34" charset="-120"/>
                        </a:rPr>
                        <a:t>130,000千円(▲6名/2直)</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80" dirty="0">
                          <a:solidFill>
                            <a:srgbClr val="B85042"/>
                          </a:solidFill>
                          <a:latin typeface="Meiryo UI" pitchFamily="34" charset="0"/>
                          <a:ea typeface="Meiryo UI" pitchFamily="34" charset="-122"/>
                          <a:cs typeface="Meiryo UI" pitchFamily="34" charset="-120"/>
                        </a:rPr>
                        <a:t>スペース切迫で導入不可</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80" dirty="0">
                          <a:solidFill>
                            <a:srgbClr val="2B2B2B"/>
                          </a:solidFill>
                          <a:latin typeface="Meiryo UI" pitchFamily="34" charset="0"/>
                          <a:ea typeface="Meiryo UI" pitchFamily="34" charset="-122"/>
                          <a:cs typeface="Meiryo UI" pitchFamily="34" charset="-120"/>
                        </a:rPr>
                        <a:t>単ライン専用機の前提を離れ、②集約(複数ライン供給の統合・AMR化)でレイアウト前提ごと再検討</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r>
              <a:tr h="566928">
                <a:tc>
                  <a:txBody>
                    <a:bodyPr/>
                    <a:lstStyle/>
                    <a:p>
                      <a:pPr indent="0" marL="0">
                        <a:buNone/>
                      </a:pPr>
                      <a:r>
                        <a:rPr lang="en-US" sz="780" b="1" dirty="0">
                          <a:solidFill>
                            <a:srgbClr val="2B2B2B"/>
                          </a:solidFill>
                          <a:latin typeface="Meiryo UI" pitchFamily="34" charset="0"/>
                          <a:ea typeface="Meiryo UI" pitchFamily="34" charset="-122"/>
                          <a:cs typeface="Meiryo UI" pitchFamily="34" charset="-120"/>
                        </a:rPr>
                        <a:t>ハンドル供給機(植毛31-7,8号)</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algn="ctr" indent="0" marL="0">
                        <a:buNone/>
                      </a:pPr>
                      <a:r>
                        <a:rPr lang="en-US" sz="780" dirty="0">
                          <a:solidFill>
                            <a:srgbClr val="2B2B2B"/>
                          </a:solidFill>
                          <a:latin typeface="Meiryo UI" pitchFamily="34" charset="0"/>
                          <a:ea typeface="Meiryo UI" pitchFamily="34" charset="-122"/>
                          <a:cs typeface="Meiryo UI" pitchFamily="34" charset="-120"/>
                        </a:rPr>
                        <a:t>54,800千円(▲1名)</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80" dirty="0">
                          <a:solidFill>
                            <a:srgbClr val="B85042"/>
                          </a:solidFill>
                          <a:latin typeface="Meiryo UI" pitchFamily="34" charset="0"/>
                          <a:ea typeface="Meiryo UI" pitchFamily="34" charset="-122"/>
                          <a:cs typeface="Meiryo UI" pitchFamily="34" charset="-120"/>
                        </a:rPr>
                        <a:t>費用対効果低 → ヒューマノイド検討中</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80" dirty="0">
                          <a:solidFill>
                            <a:srgbClr val="2B2B2B"/>
                          </a:solidFill>
                          <a:latin typeface="Meiryo UI" pitchFamily="34" charset="0"/>
                          <a:ea typeface="Meiryo UI" pitchFamily="34" charset="-122"/>
                          <a:cs typeface="Meiryo UI" pitchFamily="34" charset="-120"/>
                        </a:rPr>
                        <a:t>ヒューマノイド/フィジカルAIの本質は可搬・複数作業兼務。供給+箱詰め+巡回を1台で束ねれば「1名あたり投資」の計算自体が変わる</a:t>
                      </a:r>
                      <a:endParaRPr lang="en-US" sz="780" dirty="0">
                        <a:latin typeface="Meiryo UI" charset="0"/>
                        <a:ea typeface="Meiryo UI" charset="0"/>
                        <a:cs typeface="Meiryo UI" charset="0"/>
                      </a:endParaRPr>
                    </a:p>
                  </a:txBody>
                  <a:tcPr marL="54864" marR="54864" marT="54864" marB="54864"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r>
            </a:tbl>
          </a:graphicData>
        </a:graphic>
      </p:graphicFrame>
      <p:sp>
        <p:nvSpPr>
          <p:cNvPr id="8" name="Shape 5"/>
          <p:cNvSpPr/>
          <p:nvPr/>
        </p:nvSpPr>
        <p:spPr>
          <a:xfrm>
            <a:off x="274320" y="3566160"/>
            <a:ext cx="11640312" cy="603504"/>
          </a:xfrm>
          <a:prstGeom prst="roundRect">
            <a:avLst>
              <a:gd name="adj" fmla="val 9091"/>
            </a:avLst>
          </a:prstGeom>
          <a:solidFill>
            <a:srgbClr val="FBEDEA"/>
          </a:solidFill>
          <a:ln w="12700">
            <a:solidFill>
              <a:srgbClr val="B85042"/>
            </a:solidFill>
            <a:prstDash val="solid"/>
          </a:ln>
        </p:spPr>
      </p:sp>
      <p:sp>
        <p:nvSpPr>
          <p:cNvPr id="9" name="Text 6"/>
          <p:cNvSpPr/>
          <p:nvPr/>
        </p:nvSpPr>
        <p:spPr>
          <a:xfrm>
            <a:off x="420624" y="3566160"/>
            <a:ext cx="11338560" cy="603504"/>
          </a:xfrm>
          <a:prstGeom prst="rect">
            <a:avLst/>
          </a:prstGeom>
          <a:noFill/>
          <a:ln/>
        </p:spPr>
        <p:txBody>
          <a:bodyPr wrap="square" lIns="0" tIns="0" rIns="0" bIns="0" rtlCol="0" anchor="ctr"/>
          <a:lstStyle/>
          <a:p>
            <a:pPr indent="0" marL="0">
              <a:lnSpc>
                <a:spcPct val="110000"/>
              </a:lnSpc>
              <a:buNone/>
            </a:pPr>
            <a:r>
              <a:rPr lang="en-US" sz="1000" b="1" dirty="0">
                <a:solidFill>
                  <a:srgbClr val="B85042"/>
                </a:solidFill>
                <a:latin typeface="Meiryo UI" pitchFamily="34" charset="0"/>
                <a:ea typeface="Meiryo UI" pitchFamily="34" charset="-122"/>
                <a:cs typeface="Meiryo UI" pitchFamily="34" charset="-120"/>
              </a:rPr>
              <a:t>含意: </a:t>
            </a:r>
            <a:pPr indent="0" marL="0">
              <a:lnSpc>
                <a:spcPct val="110000"/>
              </a:lnSpc>
              <a:buNone/>
            </a:pPr>
            <a:r>
              <a:rPr lang="en-US" sz="900" dirty="0">
                <a:solidFill>
                  <a:srgbClr val="2B2B2B"/>
                </a:solidFill>
                <a:latin typeface="Meiryo UI" pitchFamily="34" charset="0"/>
                <a:ea typeface="Meiryo UI" pitchFamily="34" charset="-122"/>
                <a:cs typeface="Meiryo UI" pitchFamily="34" charset="-120"/>
              </a:rPr>
              <a:t>「何度も検討して今の体制」は事実。ただしその検討はすべて③単独であり、3件とも投資基準・スペースで停止した。必要なのはやり直しではなく、</a:t>
            </a:r>
            <a:pPr indent="0" marL="0">
              <a:lnSpc>
                <a:spcPct val="110000"/>
              </a:lnSpc>
              <a:buNone/>
            </a:pPr>
            <a:r>
              <a:rPr lang="en-US" sz="900" b="1" dirty="0">
                <a:solidFill>
                  <a:srgbClr val="2B2B2B"/>
                </a:solidFill>
                <a:latin typeface="Meiryo UI" pitchFamily="34" charset="0"/>
                <a:ea typeface="Meiryo UI" pitchFamily="34" charset="-122"/>
                <a:cs typeface="Meiryo UI" pitchFamily="34" charset="-120"/>
              </a:rPr>
              <a:t>装置の要求仕様を軽くする前処理(①②)を足して再見積もりすること。</a:t>
            </a:r>
            <a:endParaRPr lang="en-US" sz="1000" dirty="0"/>
          </a:p>
        </p:txBody>
      </p:sp>
      <p:sp>
        <p:nvSpPr>
          <p:cNvPr id="10" name="Text 7"/>
          <p:cNvSpPr/>
          <p:nvPr/>
        </p:nvSpPr>
        <p:spPr>
          <a:xfrm>
            <a:off x="274320" y="4334256"/>
            <a:ext cx="11640312" cy="219456"/>
          </a:xfrm>
          <a:prstGeom prst="rect">
            <a:avLst/>
          </a:prstGeom>
          <a:noFill/>
          <a:ln/>
        </p:spPr>
        <p:txBody>
          <a:bodyPr wrap="square" lIns="0" tIns="0" rIns="0" bIns="0" rtlCol="0" anchor="ctr"/>
          <a:lstStyle/>
          <a:p>
            <a:pPr indent="0" marL="0">
              <a:buNone/>
            </a:pPr>
            <a:r>
              <a:rPr lang="en-US" sz="1000" b="1" dirty="0">
                <a:solidFill>
                  <a:srgbClr val="1F3D20"/>
                </a:solidFill>
                <a:latin typeface="Meiryo UI" pitchFamily="34" charset="0"/>
                <a:ea typeface="Meiryo UI" pitchFamily="34" charset="-122"/>
                <a:cs typeface="Meiryo UI" pitchFamily="34" charset="-120"/>
              </a:rPr>
              <a:t>過去検討の時点から「変わった前提」— 更新するのはこの4つだけ</a:t>
            </a:r>
            <a:endParaRPr lang="en-US" sz="1000" dirty="0"/>
          </a:p>
        </p:txBody>
      </p:sp>
      <p:sp>
        <p:nvSpPr>
          <p:cNvPr id="11" name="Shape 8"/>
          <p:cNvSpPr/>
          <p:nvPr/>
        </p:nvSpPr>
        <p:spPr>
          <a:xfrm>
            <a:off x="274320" y="4590288"/>
            <a:ext cx="2843784" cy="1207008"/>
          </a:xfrm>
          <a:prstGeom prst="roundRect">
            <a:avLst>
              <a:gd name="adj" fmla="val 4545"/>
            </a:avLst>
          </a:prstGeom>
          <a:solidFill>
            <a:srgbClr val="F3F8F1"/>
          </a:solidFill>
          <a:ln w="12700">
            <a:solidFill>
              <a:srgbClr val="C9DCC4"/>
            </a:solidFill>
            <a:prstDash val="solid"/>
          </a:ln>
        </p:spPr>
      </p:sp>
      <p:sp>
        <p:nvSpPr>
          <p:cNvPr id="12" name="Text 9"/>
          <p:cNvSpPr/>
          <p:nvPr/>
        </p:nvSpPr>
        <p:spPr>
          <a:xfrm>
            <a:off x="365760" y="4645152"/>
            <a:ext cx="2660904" cy="201168"/>
          </a:xfrm>
          <a:prstGeom prst="rect">
            <a:avLst/>
          </a:prstGeom>
          <a:noFill/>
          <a:ln/>
        </p:spPr>
        <p:txBody>
          <a:bodyPr wrap="square" lIns="0" tIns="0" rIns="0" bIns="0" rtlCol="0" anchor="ctr"/>
          <a:lstStyle/>
          <a:p>
            <a:pPr indent="0" marL="0">
              <a:buNone/>
            </a:pPr>
            <a:r>
              <a:rPr lang="en-US" sz="950" b="1" dirty="0">
                <a:solidFill>
                  <a:srgbClr val="1F3D20"/>
                </a:solidFill>
                <a:latin typeface="Meiryo UI" pitchFamily="34" charset="0"/>
                <a:ea typeface="Meiryo UI" pitchFamily="34" charset="-122"/>
                <a:cs typeface="Meiryo UI" pitchFamily="34" charset="-120"/>
              </a:rPr>
              <a:t>技術</a:t>
            </a:r>
            <a:endParaRPr lang="en-US" sz="950" dirty="0"/>
          </a:p>
        </p:txBody>
      </p:sp>
      <p:sp>
        <p:nvSpPr>
          <p:cNvPr id="13" name="Text 10"/>
          <p:cNvSpPr/>
          <p:nvPr/>
        </p:nvSpPr>
        <p:spPr>
          <a:xfrm>
            <a:off x="365760" y="4864608"/>
            <a:ext cx="2660904" cy="896112"/>
          </a:xfrm>
          <a:prstGeom prst="rect">
            <a:avLst/>
          </a:prstGeom>
          <a:noFill/>
          <a:ln/>
        </p:spPr>
        <p:txBody>
          <a:bodyPr wrap="square" lIns="0" tIns="0" rIns="0" bIns="0" rtlCol="0" anchor="t"/>
          <a:lstStyle/>
          <a:p>
            <a:pPr indent="0" marL="0">
              <a:lnSpc>
                <a:spcPct val="108000"/>
              </a:lnSpc>
              <a:buNone/>
            </a:pPr>
            <a:r>
              <a:rPr lang="en-US" sz="730" dirty="0">
                <a:solidFill>
                  <a:srgbClr val="2B2B2B"/>
                </a:solidFill>
                <a:latin typeface="Meiryo UI" pitchFamily="34" charset="0"/>
                <a:ea typeface="Meiryo UI" pitchFamily="34" charset="-122"/>
                <a:cs typeface="Meiryo UI" pitchFamily="34" charset="-120"/>
              </a:rPr>
              <a:t>フィジカルAI・画像AIの成熟とコスト低下。工場自身が31-7,8号でヒューマノイドを検討中 — 「1台1作業」前提の過去見積もりを無効化する</a:t>
            </a:r>
            <a:endParaRPr lang="en-US" sz="730" dirty="0"/>
          </a:p>
        </p:txBody>
      </p:sp>
      <p:sp>
        <p:nvSpPr>
          <p:cNvPr id="14" name="Shape 11"/>
          <p:cNvSpPr/>
          <p:nvPr/>
        </p:nvSpPr>
        <p:spPr>
          <a:xfrm>
            <a:off x="3204972" y="4590288"/>
            <a:ext cx="2843784" cy="1207008"/>
          </a:xfrm>
          <a:prstGeom prst="roundRect">
            <a:avLst>
              <a:gd name="adj" fmla="val 4545"/>
            </a:avLst>
          </a:prstGeom>
          <a:solidFill>
            <a:srgbClr val="F3F8F1"/>
          </a:solidFill>
          <a:ln w="12700">
            <a:solidFill>
              <a:srgbClr val="C9DCC4"/>
            </a:solidFill>
            <a:prstDash val="solid"/>
          </a:ln>
        </p:spPr>
      </p:sp>
      <p:sp>
        <p:nvSpPr>
          <p:cNvPr id="15" name="Text 12"/>
          <p:cNvSpPr/>
          <p:nvPr/>
        </p:nvSpPr>
        <p:spPr>
          <a:xfrm>
            <a:off x="3296412" y="4645152"/>
            <a:ext cx="2660904" cy="201168"/>
          </a:xfrm>
          <a:prstGeom prst="rect">
            <a:avLst/>
          </a:prstGeom>
          <a:noFill/>
          <a:ln/>
        </p:spPr>
        <p:txBody>
          <a:bodyPr wrap="square" lIns="0" tIns="0" rIns="0" bIns="0" rtlCol="0" anchor="ctr"/>
          <a:lstStyle/>
          <a:p>
            <a:pPr indent="0" marL="0">
              <a:buNone/>
            </a:pPr>
            <a:r>
              <a:rPr lang="en-US" sz="950" b="1" dirty="0">
                <a:solidFill>
                  <a:srgbClr val="1F3D20"/>
                </a:solidFill>
                <a:latin typeface="Meiryo UI" pitchFamily="34" charset="0"/>
                <a:ea typeface="Meiryo UI" pitchFamily="34" charset="-122"/>
                <a:cs typeface="Meiryo UI" pitchFamily="34" charset="-120"/>
              </a:rPr>
              <a:t>経済</a:t>
            </a:r>
            <a:endParaRPr lang="en-US" sz="950" dirty="0"/>
          </a:p>
        </p:txBody>
      </p:sp>
      <p:sp>
        <p:nvSpPr>
          <p:cNvPr id="16" name="Text 13"/>
          <p:cNvSpPr/>
          <p:nvPr/>
        </p:nvSpPr>
        <p:spPr>
          <a:xfrm>
            <a:off x="3296412" y="4864608"/>
            <a:ext cx="2660904" cy="896112"/>
          </a:xfrm>
          <a:prstGeom prst="rect">
            <a:avLst/>
          </a:prstGeom>
          <a:noFill/>
          <a:ln/>
        </p:spPr>
        <p:txBody>
          <a:bodyPr wrap="square" lIns="0" tIns="0" rIns="0" bIns="0" rtlCol="0" anchor="t"/>
          <a:lstStyle/>
          <a:p>
            <a:pPr indent="0" marL="0">
              <a:lnSpc>
                <a:spcPct val="108000"/>
              </a:lnSpc>
              <a:buNone/>
            </a:pPr>
            <a:r>
              <a:rPr lang="en-US" sz="730" dirty="0">
                <a:solidFill>
                  <a:srgbClr val="2B2B2B"/>
                </a:solidFill>
                <a:latin typeface="Meiryo UI" pitchFamily="34" charset="0"/>
                <a:ea typeface="Meiryo UI" pitchFamily="34" charset="-122"/>
                <a:cs typeface="Meiryo UI" pitchFamily="34" charset="-120"/>
              </a:rPr>
              <a:t>賃上げ5%台の継続 → 投資基準の分母(1名あたり人件費)が上昇。過去に基準超過で死んだ案件が同じ見積もりでも成立圏に入り得る</a:t>
            </a:r>
            <a:endParaRPr lang="en-US" sz="730" dirty="0"/>
          </a:p>
        </p:txBody>
      </p:sp>
      <p:sp>
        <p:nvSpPr>
          <p:cNvPr id="17" name="Shape 14"/>
          <p:cNvSpPr/>
          <p:nvPr/>
        </p:nvSpPr>
        <p:spPr>
          <a:xfrm>
            <a:off x="6135624" y="4590288"/>
            <a:ext cx="2843784" cy="1207008"/>
          </a:xfrm>
          <a:prstGeom prst="roundRect">
            <a:avLst>
              <a:gd name="adj" fmla="val 4545"/>
            </a:avLst>
          </a:prstGeom>
          <a:solidFill>
            <a:srgbClr val="F3F8F1"/>
          </a:solidFill>
          <a:ln w="12700">
            <a:solidFill>
              <a:srgbClr val="C9DCC4"/>
            </a:solidFill>
            <a:prstDash val="solid"/>
          </a:ln>
        </p:spPr>
      </p:sp>
      <p:sp>
        <p:nvSpPr>
          <p:cNvPr id="18" name="Text 15"/>
          <p:cNvSpPr/>
          <p:nvPr/>
        </p:nvSpPr>
        <p:spPr>
          <a:xfrm>
            <a:off x="6227064" y="4645152"/>
            <a:ext cx="2660904" cy="201168"/>
          </a:xfrm>
          <a:prstGeom prst="rect">
            <a:avLst/>
          </a:prstGeom>
          <a:noFill/>
          <a:ln/>
        </p:spPr>
        <p:txBody>
          <a:bodyPr wrap="square" lIns="0" tIns="0" rIns="0" bIns="0" rtlCol="0" anchor="ctr"/>
          <a:lstStyle/>
          <a:p>
            <a:pPr indent="0" marL="0">
              <a:buNone/>
            </a:pPr>
            <a:r>
              <a:rPr lang="en-US" sz="950" b="1" dirty="0">
                <a:solidFill>
                  <a:srgbClr val="1F3D20"/>
                </a:solidFill>
                <a:latin typeface="Meiryo UI" pitchFamily="34" charset="0"/>
                <a:ea typeface="Meiryo UI" pitchFamily="34" charset="-122"/>
                <a:cs typeface="Meiryo UI" pitchFamily="34" charset="-120"/>
              </a:rPr>
              <a:t>目標水準</a:t>
            </a:r>
            <a:endParaRPr lang="en-US" sz="950" dirty="0"/>
          </a:p>
        </p:txBody>
      </p:sp>
      <p:sp>
        <p:nvSpPr>
          <p:cNvPr id="19" name="Text 16"/>
          <p:cNvSpPr/>
          <p:nvPr/>
        </p:nvSpPr>
        <p:spPr>
          <a:xfrm>
            <a:off x="6227064" y="4864608"/>
            <a:ext cx="2660904" cy="896112"/>
          </a:xfrm>
          <a:prstGeom prst="rect">
            <a:avLst/>
          </a:prstGeom>
          <a:noFill/>
          <a:ln/>
        </p:spPr>
        <p:txBody>
          <a:bodyPr wrap="square" lIns="0" tIns="0" rIns="0" bIns="0" rtlCol="0" anchor="t"/>
          <a:lstStyle/>
          <a:p>
            <a:pPr indent="0" marL="0">
              <a:lnSpc>
                <a:spcPct val="108000"/>
              </a:lnSpc>
              <a:buNone/>
            </a:pPr>
            <a:r>
              <a:rPr lang="en-US" sz="730" dirty="0">
                <a:solidFill>
                  <a:srgbClr val="2B2B2B"/>
                </a:solidFill>
                <a:latin typeface="Meiryo UI" pitchFamily="34" charset="0"/>
                <a:ea typeface="Meiryo UI" pitchFamily="34" charset="-122"/>
                <a:cs typeface="Meiryo UI" pitchFamily="34" charset="-120"/>
              </a:rPr>
              <a:t>役員期待が「115→100名」から「半減レベル」へ — 現行体制を最適とした前提条件(目標)自体が変わった</a:t>
            </a:r>
            <a:endParaRPr lang="en-US" sz="730" dirty="0"/>
          </a:p>
        </p:txBody>
      </p:sp>
      <p:sp>
        <p:nvSpPr>
          <p:cNvPr id="20" name="Shape 17"/>
          <p:cNvSpPr/>
          <p:nvPr/>
        </p:nvSpPr>
        <p:spPr>
          <a:xfrm>
            <a:off x="9066276" y="4590288"/>
            <a:ext cx="2843784" cy="1207008"/>
          </a:xfrm>
          <a:prstGeom prst="roundRect">
            <a:avLst>
              <a:gd name="adj" fmla="val 4545"/>
            </a:avLst>
          </a:prstGeom>
          <a:solidFill>
            <a:srgbClr val="F3F8F1"/>
          </a:solidFill>
          <a:ln w="12700">
            <a:solidFill>
              <a:srgbClr val="C9DCC4"/>
            </a:solidFill>
            <a:prstDash val="solid"/>
          </a:ln>
        </p:spPr>
      </p:sp>
      <p:sp>
        <p:nvSpPr>
          <p:cNvPr id="21" name="Text 18"/>
          <p:cNvSpPr/>
          <p:nvPr/>
        </p:nvSpPr>
        <p:spPr>
          <a:xfrm>
            <a:off x="9157716" y="4645152"/>
            <a:ext cx="2660904" cy="201168"/>
          </a:xfrm>
          <a:prstGeom prst="rect">
            <a:avLst/>
          </a:prstGeom>
          <a:noFill/>
          <a:ln/>
        </p:spPr>
        <p:txBody>
          <a:bodyPr wrap="square" lIns="0" tIns="0" rIns="0" bIns="0" rtlCol="0" anchor="ctr"/>
          <a:lstStyle/>
          <a:p>
            <a:pPr indent="0" marL="0">
              <a:buNone/>
            </a:pPr>
            <a:r>
              <a:rPr lang="en-US" sz="950" b="1" dirty="0">
                <a:solidFill>
                  <a:srgbClr val="1F3D20"/>
                </a:solidFill>
                <a:latin typeface="Meiryo UI" pitchFamily="34" charset="0"/>
                <a:ea typeface="Meiryo UI" pitchFamily="34" charset="-122"/>
                <a:cs typeface="Meiryo UI" pitchFamily="34" charset="-120"/>
              </a:rPr>
              <a:t>データ</a:t>
            </a:r>
            <a:endParaRPr lang="en-US" sz="950" dirty="0"/>
          </a:p>
        </p:txBody>
      </p:sp>
      <p:sp>
        <p:nvSpPr>
          <p:cNvPr id="22" name="Text 19"/>
          <p:cNvSpPr/>
          <p:nvPr/>
        </p:nvSpPr>
        <p:spPr>
          <a:xfrm>
            <a:off x="9157716" y="4864608"/>
            <a:ext cx="2660904" cy="896112"/>
          </a:xfrm>
          <a:prstGeom prst="rect">
            <a:avLst/>
          </a:prstGeom>
          <a:noFill/>
          <a:ln/>
        </p:spPr>
        <p:txBody>
          <a:bodyPr wrap="square" lIns="0" tIns="0" rIns="0" bIns="0" rtlCol="0" anchor="t"/>
          <a:lstStyle/>
          <a:p>
            <a:pPr indent="0" marL="0">
              <a:lnSpc>
                <a:spcPct val="108000"/>
              </a:lnSpc>
              <a:buNone/>
            </a:pPr>
            <a:r>
              <a:rPr lang="en-US" sz="730" dirty="0">
                <a:solidFill>
                  <a:srgbClr val="2B2B2B"/>
                </a:solidFill>
                <a:latin typeface="Meiryo UI" pitchFamily="34" charset="0"/>
                <a:ea typeface="Meiryo UI" pitchFamily="34" charset="-122"/>
                <a:cs typeface="Meiryo UI" pitchFamily="34" charset="-120"/>
              </a:rPr>
              <a:t>品質実績(クレーム・工程内不良)の蓄積により、検査33項目の統計的検証が過去より高い精度で可能に</a:t>
            </a:r>
            <a:endParaRPr lang="en-US" sz="730" dirty="0"/>
          </a:p>
        </p:txBody>
      </p:sp>
      <p:sp>
        <p:nvSpPr>
          <p:cNvPr id="23" name="Text 20"/>
          <p:cNvSpPr/>
          <p:nvPr/>
        </p:nvSpPr>
        <p:spPr>
          <a:xfrm>
            <a:off x="274320" y="5943600"/>
            <a:ext cx="11640312" cy="237744"/>
          </a:xfrm>
          <a:prstGeom prst="rect">
            <a:avLst/>
          </a:prstGeom>
          <a:noFill/>
          <a:ln/>
        </p:spPr>
        <p:txBody>
          <a:bodyPr wrap="square" lIns="0" tIns="0" rIns="0" bIns="0" rtlCol="0" anchor="ctr"/>
          <a:lstStyle/>
          <a:p>
            <a:pPr indent="0" marL="0">
              <a:buNone/>
            </a:pPr>
            <a:r>
              <a:rPr lang="en-US" sz="850" b="1" dirty="0">
                <a:solidFill>
                  <a:srgbClr val="2C5F2D"/>
                </a:solidFill>
                <a:latin typeface="Meiryo UI" pitchFamily="34" charset="0"/>
                <a:ea typeface="Meiryo UI" pitchFamily="34" charset="-122"/>
                <a:cs typeface="Meiryo UI" pitchFamily="34" charset="-120"/>
              </a:rPr>
              <a:t>副次効果: 工場資料の要員構成・過去見積もり・スコープアウト理由は台帳(WBS 0.2/2.4)の初期データそのもの — 調査工数を大幅に圧縮できる(=「過去検討は資産」の実証)</a:t>
            </a:r>
            <a:endParaRPr lang="en-US" sz="850" dirty="0"/>
          </a:p>
        </p:txBody>
      </p:sp>
      <p:sp>
        <p:nvSpPr>
          <p:cNvPr id="24" name="Text 21"/>
          <p:cNvSpPr/>
          <p:nvPr/>
        </p:nvSpPr>
        <p:spPr>
          <a:xfrm>
            <a:off x="274320" y="6327648"/>
            <a:ext cx="11640312" cy="201168"/>
          </a:xfrm>
          <a:prstGeom prst="rect">
            <a:avLst/>
          </a:prstGeom>
          <a:noFill/>
          <a:ln/>
        </p:spPr>
        <p:txBody>
          <a:bodyPr wrap="square" lIns="0" tIns="0" rIns="0" bIns="0" rtlCol="0" anchor="ctr"/>
          <a:lstStyle/>
          <a:p>
            <a:pPr indent="0" marL="0">
              <a:buNone/>
            </a:pPr>
            <a:r>
              <a:rPr lang="en-US" sz="650" dirty="0">
                <a:solidFill>
                  <a:srgbClr val="595959"/>
                </a:solidFill>
                <a:latin typeface="Meiryo UI" pitchFamily="34" charset="0"/>
                <a:ea typeface="Meiryo UI" pitchFamily="34" charset="-122"/>
                <a:cs typeface="Meiryo UI" pitchFamily="34" charset="-120"/>
              </a:rPr>
              <a:t>出典: 明工・生技G「生産性向上検討(自動化・自律化検討)に向けた打合せ」(2026/8/27)・BPR資料 ※数値は工場資料より</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74320" y="91440"/>
            <a:ext cx="9144000" cy="384048"/>
          </a:xfrm>
          <a:prstGeom prst="rect">
            <a:avLst/>
          </a:prstGeom>
          <a:noFill/>
          <a:ln/>
        </p:spPr>
        <p:txBody>
          <a:bodyPr wrap="square" lIns="0" tIns="0" rIns="0" bIns="0" rtlCol="0" anchor="ctr"/>
          <a:lstStyle/>
          <a:p>
            <a:pPr indent="0" marL="0">
              <a:buNone/>
            </a:pPr>
            <a:r>
              <a:rPr lang="en-US" sz="1700" b="1" dirty="0">
                <a:solidFill>
                  <a:srgbClr val="1F3D20"/>
                </a:solidFill>
                <a:latin typeface="Meiryo UI" pitchFamily="34" charset="0"/>
                <a:ea typeface="Meiryo UI" pitchFamily="34" charset="-122"/>
                <a:cs typeface="Meiryo UI" pitchFamily="34" charset="-120"/>
              </a:rPr>
              <a:t>検査 — 主打ち手は自動検査機(工場見解と一致)</a:t>
            </a:r>
            <a:endParaRPr lang="en-US" sz="1700" dirty="0"/>
          </a:p>
        </p:txBody>
      </p:sp>
      <p:sp>
        <p:nvSpPr>
          <p:cNvPr id="3" name="Shape 1"/>
          <p:cNvSpPr/>
          <p:nvPr/>
        </p:nvSpPr>
        <p:spPr>
          <a:xfrm>
            <a:off x="274320" y="530352"/>
            <a:ext cx="11640312" cy="566928"/>
          </a:xfrm>
          <a:prstGeom prst="roundRect">
            <a:avLst>
              <a:gd name="adj" fmla="val 9677"/>
            </a:avLst>
          </a:prstGeom>
          <a:solidFill>
            <a:srgbClr val="2C5F2D"/>
          </a:solidFill>
          <a:ln w="12700">
            <a:solidFill>
              <a:srgbClr val="2C5F2D"/>
            </a:solidFill>
            <a:prstDash val="solid"/>
          </a:ln>
        </p:spPr>
      </p:sp>
      <p:sp>
        <p:nvSpPr>
          <p:cNvPr id="4" name="Text 2"/>
          <p:cNvSpPr/>
          <p:nvPr/>
        </p:nvSpPr>
        <p:spPr>
          <a:xfrm>
            <a:off x="420624" y="530352"/>
            <a:ext cx="11338560" cy="566928"/>
          </a:xfrm>
          <a:prstGeom prst="rect">
            <a:avLst/>
          </a:prstGeom>
          <a:noFill/>
          <a:ln/>
        </p:spPr>
        <p:txBody>
          <a:bodyPr wrap="square" lIns="0" tIns="0" rIns="0" bIns="0" rtlCol="0" anchor="ctr"/>
          <a:lstStyle/>
          <a:p>
            <a:pPr indent="0" marL="0">
              <a:lnSpc>
                <a:spcPct val="105000"/>
              </a:lnSpc>
              <a:buNone/>
            </a:pPr>
            <a:r>
              <a:rPr lang="en-US" sz="1050" b="1" dirty="0">
                <a:solidFill>
                  <a:srgbClr val="FFFFFF"/>
                </a:solidFill>
                <a:latin typeface="Meiryo UI" pitchFamily="34" charset="0"/>
                <a:ea typeface="Meiryo UI" pitchFamily="34" charset="-122"/>
                <a:cs typeface="Meiryo UI" pitchFamily="34" charset="-120"/>
              </a:rPr>
              <a:t>「検査機の開発・導入がクリティカルに効く」— 同意。</a:t>
            </a:r>
            <a:pPr indent="0" marL="0">
              <a:lnSpc>
                <a:spcPct val="105000"/>
              </a:lnSpc>
              <a:buNone/>
            </a:pPr>
            <a:r>
              <a:rPr lang="en-US" sz="1050" dirty="0">
                <a:solidFill>
                  <a:srgbClr val="FFFFFF"/>
                </a:solidFill>
                <a:latin typeface="Meiryo UI" pitchFamily="34" charset="0"/>
                <a:ea typeface="Meiryo UI" pitchFamily="34" charset="-122"/>
                <a:cs typeface="Meiryo UI" pitchFamily="34" charset="-120"/>
              </a:rPr>
              <a:t>基準見直しの役割は人を減らすことではなく、検査機の要求仕様を絞り、開発を早く・安く・確実に成立させる「前処理」である。</a:t>
            </a:r>
            <a:endParaRPr lang="en-US" sz="1050" dirty="0"/>
          </a:p>
        </p:txBody>
      </p:sp>
      <p:sp>
        <p:nvSpPr>
          <p:cNvPr id="5" name="Shape 3"/>
          <p:cNvSpPr/>
          <p:nvPr/>
        </p:nvSpPr>
        <p:spPr>
          <a:xfrm>
            <a:off x="274320" y="1261872"/>
            <a:ext cx="4206240" cy="2834640"/>
          </a:xfrm>
          <a:prstGeom prst="roundRect">
            <a:avLst>
              <a:gd name="adj" fmla="val 1935"/>
            </a:avLst>
          </a:prstGeom>
          <a:solidFill>
            <a:srgbClr val="F3F8F1"/>
          </a:solidFill>
          <a:ln w="12700">
            <a:solidFill>
              <a:srgbClr val="C9DCC4"/>
            </a:solidFill>
            <a:prstDash val="solid"/>
          </a:ln>
        </p:spPr>
      </p:sp>
      <p:sp>
        <p:nvSpPr>
          <p:cNvPr id="6" name="Text 4"/>
          <p:cNvSpPr/>
          <p:nvPr/>
        </p:nvSpPr>
        <p:spPr>
          <a:xfrm>
            <a:off x="411480" y="1335024"/>
            <a:ext cx="3931920" cy="219456"/>
          </a:xfrm>
          <a:prstGeom prst="rect">
            <a:avLst/>
          </a:prstGeom>
          <a:noFill/>
          <a:ln/>
        </p:spPr>
        <p:txBody>
          <a:bodyPr wrap="square" lIns="0" tIns="0" rIns="0" bIns="0" rtlCol="0" anchor="ctr"/>
          <a:lstStyle/>
          <a:p>
            <a:pPr indent="0" marL="0">
              <a:buNone/>
            </a:pPr>
            <a:r>
              <a:rPr lang="en-US" sz="1050" b="1" dirty="0">
                <a:solidFill>
                  <a:srgbClr val="1F3D20"/>
                </a:solidFill>
                <a:latin typeface="Meiryo UI" pitchFamily="34" charset="0"/>
                <a:ea typeface="Meiryo UI" pitchFamily="34" charset="-122"/>
                <a:cs typeface="Meiryo UI" pitchFamily="34" charset="-120"/>
              </a:rPr>
              <a:t>現状ファクト(工場資料より)</a:t>
            </a:r>
            <a:endParaRPr lang="en-US" sz="1050" dirty="0"/>
          </a:p>
        </p:txBody>
      </p:sp>
      <p:sp>
        <p:nvSpPr>
          <p:cNvPr id="7" name="Text 5"/>
          <p:cNvSpPr/>
          <p:nvPr/>
        </p:nvSpPr>
        <p:spPr>
          <a:xfrm>
            <a:off x="411480" y="1591056"/>
            <a:ext cx="3931920" cy="2432304"/>
          </a:xfrm>
          <a:prstGeom prst="rect">
            <a:avLst/>
          </a:prstGeom>
          <a:noFill/>
          <a:ln/>
        </p:spPr>
        <p:txBody>
          <a:bodyPr wrap="square" lIns="0" tIns="0" rIns="0" bIns="0" rtlCol="0" anchor="t"/>
          <a:lstStyle/>
          <a:p>
            <a:pPr indent="0" marL="0">
              <a:lnSpc>
                <a:spcPct val="112000"/>
              </a:lnSpc>
              <a:buNone/>
            </a:pPr>
            <a:r>
              <a:rPr lang="en-US" sz="1300" b="1" dirty="0">
                <a:solidFill>
                  <a:srgbClr val="1F3D20"/>
                </a:solidFill>
                <a:latin typeface="Meiryo UI" pitchFamily="34" charset="0"/>
                <a:ea typeface="Meiryo UI" pitchFamily="34" charset="-122"/>
                <a:cs typeface="Meiryo UI" pitchFamily="34" charset="-120"/>
              </a:rPr>
              <a:t>植毛の不良項目 全33項目
</a:t>
            </a:r>
            <a:pPr indent="0" marL="0">
              <a:lnSpc>
                <a:spcPct val="112000"/>
              </a:lnSpc>
              <a:buNone/>
            </a:pPr>
            <a:r>
              <a:rPr lang="en-US" sz="850" dirty="0">
                <a:solidFill>
                  <a:srgbClr val="2B2B2B"/>
                </a:solidFill>
                <a:latin typeface="Meiryo UI" pitchFamily="34" charset="0"/>
                <a:ea typeface="Meiryo UI" pitchFamily="34" charset="-122"/>
                <a:cs typeface="Meiryo UI" pitchFamily="34" charset="-120"/>
              </a:rPr>
              <a:t>うち 18項目 = 設備で流出防止済み(画像処理/センシング)
</a:t>
            </a:r>
            <a:pPr indent="0" marL="0">
              <a:lnSpc>
                <a:spcPct val="112000"/>
              </a:lnSpc>
              <a:buNone/>
            </a:pPr>
            <a:r>
              <a:rPr lang="en-US" sz="1000" b="1" dirty="0">
                <a:solidFill>
                  <a:srgbClr val="B85042"/>
                </a:solidFill>
                <a:latin typeface="Meiryo UI" pitchFamily="34" charset="0"/>
                <a:ea typeface="Meiryo UI" pitchFamily="34" charset="-122"/>
                <a:cs typeface="Meiryo UI" pitchFamily="34" charset="-120"/>
              </a:rPr>
              <a:t>うち 15項目(45%) = 抜き取り検査のみ
</a:t>
            </a:r>
            <a:pPr indent="0" marL="0">
              <a:lnSpc>
                <a:spcPct val="112000"/>
              </a:lnSpc>
              <a:buNone/>
            </a:pPr>
            <a:r>
              <a:rPr lang="en-US" sz="850" i="1" dirty="0">
                <a:solidFill>
                  <a:srgbClr val="2B2B2B"/>
                </a:solidFill>
                <a:latin typeface="Meiryo UI" pitchFamily="34" charset="0"/>
                <a:ea typeface="Meiryo UI" pitchFamily="34" charset="-122"/>
                <a:cs typeface="Meiryo UI" pitchFamily="34" charset="-120"/>
              </a:rPr>
              <a:t>
工場資料の記載: 「全33項目検査可能な仕様で検討が必要」
</a:t>
            </a:r>
            <a:pPr indent="0" marL="0">
              <a:lnSpc>
                <a:spcPct val="112000"/>
              </a:lnSpc>
              <a:buNone/>
            </a:pPr>
            <a:endParaRPr lang="en-US" sz="1300" dirty="0"/>
          </a:p>
          <a:p>
            <a:pPr indent="0" marL="0">
              <a:lnSpc>
                <a:spcPct val="112000"/>
              </a:lnSpc>
              <a:buNone/>
            </a:pPr>
            <a:r>
              <a:rPr lang="en-US" sz="850" b="1" dirty="0">
                <a:solidFill>
                  <a:srgbClr val="B85042"/>
                </a:solidFill>
                <a:latin typeface="Meiryo UI" pitchFamily="34" charset="0"/>
                <a:ea typeface="Meiryo UI" pitchFamily="34" charset="-122"/>
                <a:cs typeface="Meiryo UI" pitchFamily="34" charset="-120"/>
              </a:rPr>
              <a:t>リスク: 33項目フル仕様は開発難度・費用・期間を最大化し、過去3案件と同じ死に方(投資基準超過)をする恐れ</a:t>
            </a:r>
            <a:endParaRPr lang="en-US" sz="1300" dirty="0"/>
          </a:p>
        </p:txBody>
      </p:sp>
      <p:sp>
        <p:nvSpPr>
          <p:cNvPr id="8" name="Text 6"/>
          <p:cNvSpPr/>
          <p:nvPr/>
        </p:nvSpPr>
        <p:spPr>
          <a:xfrm>
            <a:off x="4709160" y="1261872"/>
            <a:ext cx="7205472" cy="219456"/>
          </a:xfrm>
          <a:prstGeom prst="rect">
            <a:avLst/>
          </a:prstGeom>
          <a:noFill/>
          <a:ln/>
        </p:spPr>
        <p:txBody>
          <a:bodyPr wrap="square" lIns="0" tIns="0" rIns="0" bIns="0" rtlCol="0" anchor="ctr"/>
          <a:lstStyle/>
          <a:p>
            <a:pPr indent="0" marL="0">
              <a:buNone/>
            </a:pPr>
            <a:r>
              <a:rPr lang="en-US" sz="1050" b="1" dirty="0">
                <a:solidFill>
                  <a:srgbClr val="1F3D20"/>
                </a:solidFill>
                <a:latin typeface="Meiryo UI" pitchFamily="34" charset="0"/>
                <a:ea typeface="Meiryo UI" pitchFamily="34" charset="-122"/>
                <a:cs typeface="Meiryo UI" pitchFamily="34" charset="-120"/>
              </a:rPr>
              <a:t>進め方 — 検査機開発の「前処理」として基準を検証する</a:t>
            </a:r>
            <a:endParaRPr lang="en-US" sz="1050" dirty="0"/>
          </a:p>
        </p:txBody>
      </p:sp>
      <p:sp>
        <p:nvSpPr>
          <p:cNvPr id="9" name="Shape 7"/>
          <p:cNvSpPr/>
          <p:nvPr/>
        </p:nvSpPr>
        <p:spPr>
          <a:xfrm>
            <a:off x="4709160" y="1536192"/>
            <a:ext cx="1682496" cy="2331720"/>
          </a:xfrm>
          <a:prstGeom prst="roundRect">
            <a:avLst>
              <a:gd name="adj" fmla="val 3261"/>
            </a:avLst>
          </a:prstGeom>
          <a:solidFill>
            <a:srgbClr val="F3F8F1"/>
          </a:solidFill>
          <a:ln w="12700">
            <a:solidFill>
              <a:srgbClr val="2C5F2D"/>
            </a:solidFill>
            <a:prstDash val="solid"/>
          </a:ln>
        </p:spPr>
      </p:sp>
      <p:sp>
        <p:nvSpPr>
          <p:cNvPr id="10" name="Text 8"/>
          <p:cNvSpPr/>
          <p:nvPr/>
        </p:nvSpPr>
        <p:spPr>
          <a:xfrm>
            <a:off x="4782312" y="1609344"/>
            <a:ext cx="1536192" cy="182880"/>
          </a:xfrm>
          <a:prstGeom prst="rect">
            <a:avLst/>
          </a:prstGeom>
          <a:noFill/>
          <a:ln/>
        </p:spPr>
        <p:txBody>
          <a:bodyPr wrap="square" lIns="0" tIns="0" rIns="0" bIns="0" rtlCol="0" anchor="ctr"/>
          <a:lstStyle/>
          <a:p>
            <a:pPr indent="0" marL="0">
              <a:buNone/>
            </a:pPr>
            <a:r>
              <a:rPr lang="en-US" sz="800" b="1" dirty="0">
                <a:solidFill>
                  <a:srgbClr val="B85042"/>
                </a:solidFill>
                <a:latin typeface="Meiryo UI" pitchFamily="34" charset="0"/>
                <a:ea typeface="Meiryo UI" pitchFamily="34" charset="-122"/>
                <a:cs typeface="Meiryo UI" pitchFamily="34" charset="-120"/>
              </a:rPr>
              <a:t>STEP 1</a:t>
            </a:r>
            <a:endParaRPr lang="en-US" sz="800" dirty="0"/>
          </a:p>
        </p:txBody>
      </p:sp>
      <p:sp>
        <p:nvSpPr>
          <p:cNvPr id="11" name="Text 9"/>
          <p:cNvSpPr/>
          <p:nvPr/>
        </p:nvSpPr>
        <p:spPr>
          <a:xfrm>
            <a:off x="4782312" y="1810512"/>
            <a:ext cx="1536192" cy="402336"/>
          </a:xfrm>
          <a:prstGeom prst="rect">
            <a:avLst/>
          </a:prstGeom>
          <a:noFill/>
          <a:ln/>
        </p:spPr>
        <p:txBody>
          <a:bodyPr wrap="square" lIns="0" tIns="0" rIns="0" bIns="0" rtlCol="0" anchor="t"/>
          <a:lstStyle/>
          <a:p>
            <a:pPr indent="0" marL="0">
              <a:lnSpc>
                <a:spcPct val="100000"/>
              </a:lnSpc>
              <a:buNone/>
            </a:pPr>
            <a:r>
              <a:rPr lang="en-US" sz="950" b="1" dirty="0">
                <a:solidFill>
                  <a:srgbClr val="1F3D20"/>
                </a:solidFill>
                <a:latin typeface="Meiryo UI" pitchFamily="34" charset="0"/>
                <a:ea typeface="Meiryo UI" pitchFamily="34" charset="-122"/>
                <a:cs typeface="Meiryo UI" pitchFamily="34" charset="-120"/>
              </a:rPr>
              <a:t>15項目×品質実績の突合</a:t>
            </a:r>
            <a:endParaRPr lang="en-US" sz="950" dirty="0"/>
          </a:p>
        </p:txBody>
      </p:sp>
      <p:sp>
        <p:nvSpPr>
          <p:cNvPr id="12" name="Text 10"/>
          <p:cNvSpPr/>
          <p:nvPr/>
        </p:nvSpPr>
        <p:spPr>
          <a:xfrm>
            <a:off x="4782312" y="2249424"/>
            <a:ext cx="1536192" cy="1545336"/>
          </a:xfrm>
          <a:prstGeom prst="rect">
            <a:avLst/>
          </a:prstGeom>
          <a:noFill/>
          <a:ln/>
        </p:spPr>
        <p:txBody>
          <a:bodyPr wrap="square" lIns="0" tIns="0" rIns="0" bIns="0" rtlCol="0" anchor="t"/>
          <a:lstStyle/>
          <a:p>
            <a:pPr indent="0" marL="0">
              <a:lnSpc>
                <a:spcPct val="108000"/>
              </a:lnSpc>
              <a:buNone/>
            </a:pPr>
            <a:r>
              <a:rPr lang="en-US" sz="720" dirty="0">
                <a:solidFill>
                  <a:srgbClr val="2B2B2B"/>
                </a:solidFill>
                <a:latin typeface="Meiryo UI" pitchFamily="34" charset="0"/>
                <a:ea typeface="Meiryo UI" pitchFamily="34" charset="-122"/>
                <a:cs typeface="Meiryo UI" pitchFamily="34" charset="-120"/>
              </a:rPr>
              <a:t>各項目の市場クレーム実績・工程内検出率・重篤度を並べる(1〜2か月・投資ゼロ。品質保証+工場QA)</a:t>
            </a:r>
            <a:endParaRPr lang="en-US" sz="720" dirty="0"/>
          </a:p>
        </p:txBody>
      </p:sp>
      <p:sp>
        <p:nvSpPr>
          <p:cNvPr id="13" name="Text 11"/>
          <p:cNvSpPr/>
          <p:nvPr/>
        </p:nvSpPr>
        <p:spPr>
          <a:xfrm>
            <a:off x="6373368" y="1536192"/>
            <a:ext cx="192024" cy="2331720"/>
          </a:xfrm>
          <a:prstGeom prst="rect">
            <a:avLst/>
          </a:prstGeom>
          <a:noFill/>
          <a:ln/>
        </p:spPr>
        <p:txBody>
          <a:bodyPr wrap="square" lIns="0" tIns="0" rIns="0" bIns="0" rtlCol="0" anchor="ctr"/>
          <a:lstStyle/>
          <a:p>
            <a:pPr algn="ctr" indent="0" marL="0">
              <a:buNone/>
            </a:pPr>
            <a:r>
              <a:rPr lang="en-US" sz="1000" b="1" dirty="0">
                <a:solidFill>
                  <a:srgbClr val="2C5F2D"/>
                </a:solidFill>
                <a:latin typeface="Meiryo UI" pitchFamily="34" charset="0"/>
                <a:ea typeface="Meiryo UI" pitchFamily="34" charset="-122"/>
                <a:cs typeface="Meiryo UI" pitchFamily="34" charset="-120"/>
              </a:rPr>
              <a:t>▶</a:t>
            </a:r>
            <a:endParaRPr lang="en-US" sz="1000" dirty="0"/>
          </a:p>
        </p:txBody>
      </p:sp>
      <p:sp>
        <p:nvSpPr>
          <p:cNvPr id="14" name="Shape 12"/>
          <p:cNvSpPr/>
          <p:nvPr/>
        </p:nvSpPr>
        <p:spPr>
          <a:xfrm>
            <a:off x="6547104" y="1536192"/>
            <a:ext cx="1682496" cy="2331720"/>
          </a:xfrm>
          <a:prstGeom prst="roundRect">
            <a:avLst>
              <a:gd name="adj" fmla="val 3261"/>
            </a:avLst>
          </a:prstGeom>
          <a:solidFill>
            <a:srgbClr val="F3F8F1"/>
          </a:solidFill>
          <a:ln w="12700">
            <a:solidFill>
              <a:srgbClr val="2C5F2D"/>
            </a:solidFill>
            <a:prstDash val="solid"/>
          </a:ln>
        </p:spPr>
      </p:sp>
      <p:sp>
        <p:nvSpPr>
          <p:cNvPr id="15" name="Text 13"/>
          <p:cNvSpPr/>
          <p:nvPr/>
        </p:nvSpPr>
        <p:spPr>
          <a:xfrm>
            <a:off x="6620256" y="1609344"/>
            <a:ext cx="1536192" cy="182880"/>
          </a:xfrm>
          <a:prstGeom prst="rect">
            <a:avLst/>
          </a:prstGeom>
          <a:noFill/>
          <a:ln/>
        </p:spPr>
        <p:txBody>
          <a:bodyPr wrap="square" lIns="0" tIns="0" rIns="0" bIns="0" rtlCol="0" anchor="ctr"/>
          <a:lstStyle/>
          <a:p>
            <a:pPr indent="0" marL="0">
              <a:buNone/>
            </a:pPr>
            <a:r>
              <a:rPr lang="en-US" sz="800" b="1" dirty="0">
                <a:solidFill>
                  <a:srgbClr val="B85042"/>
                </a:solidFill>
                <a:latin typeface="Meiryo UI" pitchFamily="34" charset="0"/>
                <a:ea typeface="Meiryo UI" pitchFamily="34" charset="-122"/>
                <a:cs typeface="Meiryo UI" pitchFamily="34" charset="-120"/>
              </a:rPr>
              <a:t>STEP 2</a:t>
            </a:r>
            <a:endParaRPr lang="en-US" sz="800" dirty="0"/>
          </a:p>
        </p:txBody>
      </p:sp>
      <p:sp>
        <p:nvSpPr>
          <p:cNvPr id="16" name="Text 14"/>
          <p:cNvSpPr/>
          <p:nvPr/>
        </p:nvSpPr>
        <p:spPr>
          <a:xfrm>
            <a:off x="6620256" y="1810512"/>
            <a:ext cx="1536192" cy="402336"/>
          </a:xfrm>
          <a:prstGeom prst="rect">
            <a:avLst/>
          </a:prstGeom>
          <a:noFill/>
          <a:ln/>
        </p:spPr>
        <p:txBody>
          <a:bodyPr wrap="square" lIns="0" tIns="0" rIns="0" bIns="0" rtlCol="0" anchor="t"/>
          <a:lstStyle/>
          <a:p>
            <a:pPr indent="0" marL="0">
              <a:lnSpc>
                <a:spcPct val="100000"/>
              </a:lnSpc>
              <a:buNone/>
            </a:pPr>
            <a:r>
              <a:rPr lang="en-US" sz="950" b="1" dirty="0">
                <a:solidFill>
                  <a:srgbClr val="1F3D20"/>
                </a:solidFill>
                <a:latin typeface="Meiryo UI" pitchFamily="34" charset="0"/>
                <a:ea typeface="Meiryo UI" pitchFamily="34" charset="-122"/>
                <a:cs typeface="Meiryo UI" pitchFamily="34" charset="-120"/>
              </a:rPr>
              <a:t>3つに仕分け</a:t>
            </a:r>
            <a:endParaRPr lang="en-US" sz="950" dirty="0"/>
          </a:p>
        </p:txBody>
      </p:sp>
      <p:sp>
        <p:nvSpPr>
          <p:cNvPr id="17" name="Text 15"/>
          <p:cNvSpPr/>
          <p:nvPr/>
        </p:nvSpPr>
        <p:spPr>
          <a:xfrm>
            <a:off x="6620256" y="2249424"/>
            <a:ext cx="1536192" cy="1545336"/>
          </a:xfrm>
          <a:prstGeom prst="rect">
            <a:avLst/>
          </a:prstGeom>
          <a:noFill/>
          <a:ln/>
        </p:spPr>
        <p:txBody>
          <a:bodyPr wrap="square" lIns="0" tIns="0" rIns="0" bIns="0" rtlCol="0" anchor="t"/>
          <a:lstStyle/>
          <a:p>
            <a:pPr indent="0" marL="0">
              <a:lnSpc>
                <a:spcPct val="108000"/>
              </a:lnSpc>
              <a:buNone/>
            </a:pPr>
            <a:r>
              <a:rPr lang="en-US" sz="720" dirty="0">
                <a:solidFill>
                  <a:srgbClr val="2B2B2B"/>
                </a:solidFill>
                <a:latin typeface="Meiryo UI" pitchFamily="34" charset="0"/>
                <a:ea typeface="Meiryo UI" pitchFamily="34" charset="-122"/>
                <a:cs typeface="Meiryo UI" pitchFamily="34" charset="-120"/>
              </a:rPr>
              <a:t>(a)流出実績あり重篤→検査機の必須仕様 (b)実績僅少・軽微→統計的管理で代替可否をQAが判定 (c)上流の工程条件で発生源を潰せる→検査不要化</a:t>
            </a:r>
            <a:endParaRPr lang="en-US" sz="720" dirty="0"/>
          </a:p>
        </p:txBody>
      </p:sp>
      <p:sp>
        <p:nvSpPr>
          <p:cNvPr id="18" name="Text 16"/>
          <p:cNvSpPr/>
          <p:nvPr/>
        </p:nvSpPr>
        <p:spPr>
          <a:xfrm>
            <a:off x="8211312" y="1536192"/>
            <a:ext cx="192024" cy="2331720"/>
          </a:xfrm>
          <a:prstGeom prst="rect">
            <a:avLst/>
          </a:prstGeom>
          <a:noFill/>
          <a:ln/>
        </p:spPr>
        <p:txBody>
          <a:bodyPr wrap="square" lIns="0" tIns="0" rIns="0" bIns="0" rtlCol="0" anchor="ctr"/>
          <a:lstStyle/>
          <a:p>
            <a:pPr algn="ctr" indent="0" marL="0">
              <a:buNone/>
            </a:pPr>
            <a:r>
              <a:rPr lang="en-US" sz="1000" b="1" dirty="0">
                <a:solidFill>
                  <a:srgbClr val="2C5F2D"/>
                </a:solidFill>
                <a:latin typeface="Meiryo UI" pitchFamily="34" charset="0"/>
                <a:ea typeface="Meiryo UI" pitchFamily="34" charset="-122"/>
                <a:cs typeface="Meiryo UI" pitchFamily="34" charset="-120"/>
              </a:rPr>
              <a:t>▶</a:t>
            </a:r>
            <a:endParaRPr lang="en-US" sz="1000" dirty="0"/>
          </a:p>
        </p:txBody>
      </p:sp>
      <p:sp>
        <p:nvSpPr>
          <p:cNvPr id="19" name="Shape 17"/>
          <p:cNvSpPr/>
          <p:nvPr/>
        </p:nvSpPr>
        <p:spPr>
          <a:xfrm>
            <a:off x="8385048" y="1536192"/>
            <a:ext cx="1682496" cy="2331720"/>
          </a:xfrm>
          <a:prstGeom prst="roundRect">
            <a:avLst>
              <a:gd name="adj" fmla="val 3261"/>
            </a:avLst>
          </a:prstGeom>
          <a:solidFill>
            <a:srgbClr val="F3F8F1"/>
          </a:solidFill>
          <a:ln w="12700">
            <a:solidFill>
              <a:srgbClr val="2C5F2D"/>
            </a:solidFill>
            <a:prstDash val="solid"/>
          </a:ln>
        </p:spPr>
      </p:sp>
      <p:sp>
        <p:nvSpPr>
          <p:cNvPr id="20" name="Text 18"/>
          <p:cNvSpPr/>
          <p:nvPr/>
        </p:nvSpPr>
        <p:spPr>
          <a:xfrm>
            <a:off x="8458200" y="1609344"/>
            <a:ext cx="1536192" cy="182880"/>
          </a:xfrm>
          <a:prstGeom prst="rect">
            <a:avLst/>
          </a:prstGeom>
          <a:noFill/>
          <a:ln/>
        </p:spPr>
        <p:txBody>
          <a:bodyPr wrap="square" lIns="0" tIns="0" rIns="0" bIns="0" rtlCol="0" anchor="ctr"/>
          <a:lstStyle/>
          <a:p>
            <a:pPr indent="0" marL="0">
              <a:buNone/>
            </a:pPr>
            <a:r>
              <a:rPr lang="en-US" sz="800" b="1" dirty="0">
                <a:solidFill>
                  <a:srgbClr val="B85042"/>
                </a:solidFill>
                <a:latin typeface="Meiryo UI" pitchFamily="34" charset="0"/>
                <a:ea typeface="Meiryo UI" pitchFamily="34" charset="-122"/>
                <a:cs typeface="Meiryo UI" pitchFamily="34" charset="-120"/>
              </a:rPr>
              <a:t>STEP 3</a:t>
            </a:r>
            <a:endParaRPr lang="en-US" sz="800" dirty="0"/>
          </a:p>
        </p:txBody>
      </p:sp>
      <p:sp>
        <p:nvSpPr>
          <p:cNvPr id="21" name="Text 19"/>
          <p:cNvSpPr/>
          <p:nvPr/>
        </p:nvSpPr>
        <p:spPr>
          <a:xfrm>
            <a:off x="8458200" y="1810512"/>
            <a:ext cx="1536192" cy="402336"/>
          </a:xfrm>
          <a:prstGeom prst="rect">
            <a:avLst/>
          </a:prstGeom>
          <a:noFill/>
          <a:ln/>
        </p:spPr>
        <p:txBody>
          <a:bodyPr wrap="square" lIns="0" tIns="0" rIns="0" bIns="0" rtlCol="0" anchor="t"/>
          <a:lstStyle/>
          <a:p>
            <a:pPr indent="0" marL="0">
              <a:lnSpc>
                <a:spcPct val="100000"/>
              </a:lnSpc>
              <a:buNone/>
            </a:pPr>
            <a:r>
              <a:rPr lang="en-US" sz="950" b="1" dirty="0">
                <a:solidFill>
                  <a:srgbClr val="1F3D20"/>
                </a:solidFill>
                <a:latin typeface="Meiryo UI" pitchFamily="34" charset="0"/>
                <a:ea typeface="Meiryo UI" pitchFamily="34" charset="-122"/>
                <a:cs typeface="Meiryo UI" pitchFamily="34" charset="-120"/>
              </a:rPr>
              <a:t>検査機仕様の凍結</a:t>
            </a:r>
            <a:endParaRPr lang="en-US" sz="950" dirty="0"/>
          </a:p>
        </p:txBody>
      </p:sp>
      <p:sp>
        <p:nvSpPr>
          <p:cNvPr id="22" name="Text 20"/>
          <p:cNvSpPr/>
          <p:nvPr/>
        </p:nvSpPr>
        <p:spPr>
          <a:xfrm>
            <a:off x="8458200" y="2249424"/>
            <a:ext cx="1536192" cy="1545336"/>
          </a:xfrm>
          <a:prstGeom prst="rect">
            <a:avLst/>
          </a:prstGeom>
          <a:noFill/>
          <a:ln/>
        </p:spPr>
        <p:txBody>
          <a:bodyPr wrap="square" lIns="0" tIns="0" rIns="0" bIns="0" rtlCol="0" anchor="t"/>
          <a:lstStyle/>
          <a:p>
            <a:pPr indent="0" marL="0">
              <a:lnSpc>
                <a:spcPct val="108000"/>
              </a:lnSpc>
              <a:buNone/>
            </a:pPr>
            <a:r>
              <a:rPr lang="en-US" sz="720" dirty="0">
                <a:solidFill>
                  <a:srgbClr val="2B2B2B"/>
                </a:solidFill>
                <a:latin typeface="Meiryo UI" pitchFamily="34" charset="0"/>
                <a:ea typeface="Meiryo UI" pitchFamily="34" charset="-122"/>
                <a:cs typeface="Meiryo UI" pitchFamily="34" charset="-120"/>
              </a:rPr>
              <a:t>必須仕様を33→(例)25項目前後に絞り込み — 開発資源を本当に必要な項目へ集中</a:t>
            </a:r>
            <a:endParaRPr lang="en-US" sz="720" dirty="0"/>
          </a:p>
        </p:txBody>
      </p:sp>
      <p:sp>
        <p:nvSpPr>
          <p:cNvPr id="23" name="Text 21"/>
          <p:cNvSpPr/>
          <p:nvPr/>
        </p:nvSpPr>
        <p:spPr>
          <a:xfrm>
            <a:off x="10049256" y="1536192"/>
            <a:ext cx="192024" cy="2331720"/>
          </a:xfrm>
          <a:prstGeom prst="rect">
            <a:avLst/>
          </a:prstGeom>
          <a:noFill/>
          <a:ln/>
        </p:spPr>
        <p:txBody>
          <a:bodyPr wrap="square" lIns="0" tIns="0" rIns="0" bIns="0" rtlCol="0" anchor="ctr"/>
          <a:lstStyle/>
          <a:p>
            <a:pPr algn="ctr" indent="0" marL="0">
              <a:buNone/>
            </a:pPr>
            <a:r>
              <a:rPr lang="en-US" sz="1000" b="1" dirty="0">
                <a:solidFill>
                  <a:srgbClr val="2C5F2D"/>
                </a:solidFill>
                <a:latin typeface="Meiryo UI" pitchFamily="34" charset="0"/>
                <a:ea typeface="Meiryo UI" pitchFamily="34" charset="-122"/>
                <a:cs typeface="Meiryo UI" pitchFamily="34" charset="-120"/>
              </a:rPr>
              <a:t>▶</a:t>
            </a:r>
            <a:endParaRPr lang="en-US" sz="1000" dirty="0"/>
          </a:p>
        </p:txBody>
      </p:sp>
      <p:sp>
        <p:nvSpPr>
          <p:cNvPr id="24" name="Shape 22"/>
          <p:cNvSpPr/>
          <p:nvPr/>
        </p:nvSpPr>
        <p:spPr>
          <a:xfrm>
            <a:off x="10222992" y="1536192"/>
            <a:ext cx="1682496" cy="2331720"/>
          </a:xfrm>
          <a:prstGeom prst="roundRect">
            <a:avLst>
              <a:gd name="adj" fmla="val 3261"/>
            </a:avLst>
          </a:prstGeom>
          <a:solidFill>
            <a:srgbClr val="2C5F2D"/>
          </a:solidFill>
          <a:ln w="12700">
            <a:solidFill>
              <a:srgbClr val="2C5F2D"/>
            </a:solidFill>
            <a:prstDash val="solid"/>
          </a:ln>
        </p:spPr>
      </p:sp>
      <p:sp>
        <p:nvSpPr>
          <p:cNvPr id="25" name="Text 23"/>
          <p:cNvSpPr/>
          <p:nvPr/>
        </p:nvSpPr>
        <p:spPr>
          <a:xfrm>
            <a:off x="10296144" y="1609344"/>
            <a:ext cx="1536192" cy="182880"/>
          </a:xfrm>
          <a:prstGeom prst="rect">
            <a:avLst/>
          </a:prstGeom>
          <a:noFill/>
          <a:ln/>
        </p:spPr>
        <p:txBody>
          <a:bodyPr wrap="square" lIns="0" tIns="0" rIns="0" bIns="0" rtlCol="0" anchor="ctr"/>
          <a:lstStyle/>
          <a:p>
            <a:pPr indent="0" marL="0">
              <a:buNone/>
            </a:pPr>
            <a:r>
              <a:rPr lang="en-US" sz="800" b="1" dirty="0">
                <a:solidFill>
                  <a:srgbClr val="D8E8D4"/>
                </a:solidFill>
                <a:latin typeface="Meiryo UI" pitchFamily="34" charset="0"/>
                <a:ea typeface="Meiryo UI" pitchFamily="34" charset="-122"/>
                <a:cs typeface="Meiryo UI" pitchFamily="34" charset="-120"/>
              </a:rPr>
              <a:t>STEP 4</a:t>
            </a:r>
            <a:endParaRPr lang="en-US" sz="800" dirty="0"/>
          </a:p>
        </p:txBody>
      </p:sp>
      <p:sp>
        <p:nvSpPr>
          <p:cNvPr id="26" name="Text 24"/>
          <p:cNvSpPr/>
          <p:nvPr/>
        </p:nvSpPr>
        <p:spPr>
          <a:xfrm>
            <a:off x="10296144" y="1810512"/>
            <a:ext cx="1536192" cy="402336"/>
          </a:xfrm>
          <a:prstGeom prst="rect">
            <a:avLst/>
          </a:prstGeom>
          <a:noFill/>
          <a:ln/>
        </p:spPr>
        <p:txBody>
          <a:bodyPr wrap="square" lIns="0" tIns="0" rIns="0" bIns="0" rtlCol="0" anchor="t"/>
          <a:lstStyle/>
          <a:p>
            <a:pPr indent="0" marL="0">
              <a:lnSpc>
                <a:spcPct val="100000"/>
              </a:lnSpc>
              <a:buNone/>
            </a:pPr>
            <a:r>
              <a:rPr lang="en-US" sz="950" b="1" dirty="0">
                <a:solidFill>
                  <a:srgbClr val="FFFFFF"/>
                </a:solidFill>
                <a:latin typeface="Meiryo UI" pitchFamily="34" charset="0"/>
                <a:ea typeface="Meiryo UI" pitchFamily="34" charset="-122"/>
                <a:cs typeface="Meiryo UI" pitchFamily="34" charset="-120"/>
              </a:rPr>
              <a:t>開発・並行運転</a:t>
            </a:r>
            <a:endParaRPr lang="en-US" sz="950" dirty="0"/>
          </a:p>
        </p:txBody>
      </p:sp>
      <p:sp>
        <p:nvSpPr>
          <p:cNvPr id="27" name="Text 25"/>
          <p:cNvSpPr/>
          <p:nvPr/>
        </p:nvSpPr>
        <p:spPr>
          <a:xfrm>
            <a:off x="10296144" y="2249424"/>
            <a:ext cx="1536192" cy="1545336"/>
          </a:xfrm>
          <a:prstGeom prst="rect">
            <a:avLst/>
          </a:prstGeom>
          <a:noFill/>
          <a:ln/>
        </p:spPr>
        <p:txBody>
          <a:bodyPr wrap="square" lIns="0" tIns="0" rIns="0" bIns="0" rtlCol="0" anchor="t"/>
          <a:lstStyle/>
          <a:p>
            <a:pPr indent="0" marL="0">
              <a:lnSpc>
                <a:spcPct val="108000"/>
              </a:lnSpc>
              <a:buNone/>
            </a:pPr>
            <a:r>
              <a:rPr lang="en-US" sz="720" dirty="0">
                <a:solidFill>
                  <a:srgbClr val="FFFFFF"/>
                </a:solidFill>
                <a:latin typeface="Meiryo UI" pitchFamily="34" charset="0"/>
                <a:ea typeface="Meiryo UI" pitchFamily="34" charset="-122"/>
                <a:cs typeface="Meiryo UI" pitchFamily="34" charset="-120"/>
              </a:rPr>
              <a:t>目視との検出力比較(いずれ必須の検証)。見逃し率ベースライン測定を先行させる</a:t>
            </a:r>
            <a:endParaRPr lang="en-US" sz="720" dirty="0"/>
          </a:p>
        </p:txBody>
      </p:sp>
      <p:sp>
        <p:nvSpPr>
          <p:cNvPr id="28" name="Shape 26"/>
          <p:cNvSpPr/>
          <p:nvPr/>
        </p:nvSpPr>
        <p:spPr>
          <a:xfrm>
            <a:off x="274320" y="4315968"/>
            <a:ext cx="11640312" cy="658368"/>
          </a:xfrm>
          <a:prstGeom prst="roundRect">
            <a:avLst>
              <a:gd name="adj" fmla="val 8333"/>
            </a:avLst>
          </a:prstGeom>
          <a:solidFill>
            <a:srgbClr val="FBEDEA"/>
          </a:solidFill>
          <a:ln w="12700">
            <a:solidFill>
              <a:srgbClr val="B85042"/>
            </a:solidFill>
            <a:prstDash val="solid"/>
          </a:ln>
        </p:spPr>
      </p:sp>
      <p:sp>
        <p:nvSpPr>
          <p:cNvPr id="29" name="Text 27"/>
          <p:cNvSpPr/>
          <p:nvPr/>
        </p:nvSpPr>
        <p:spPr>
          <a:xfrm>
            <a:off x="420624" y="4315968"/>
            <a:ext cx="11338560" cy="658368"/>
          </a:xfrm>
          <a:prstGeom prst="rect">
            <a:avLst/>
          </a:prstGeom>
          <a:noFill/>
          <a:ln/>
        </p:spPr>
        <p:txBody>
          <a:bodyPr wrap="square" lIns="0" tIns="0" rIns="0" bIns="0" rtlCol="0" anchor="ctr"/>
          <a:lstStyle/>
          <a:p>
            <a:pPr indent="0" marL="0">
              <a:lnSpc>
                <a:spcPct val="115000"/>
              </a:lnSpc>
              <a:buNone/>
            </a:pPr>
            <a:r>
              <a:rPr lang="en-US" sz="1050" b="1" dirty="0">
                <a:solidFill>
                  <a:srgbClr val="B85042"/>
                </a:solidFill>
                <a:latin typeface="Meiryo UI" pitchFamily="34" charset="0"/>
                <a:ea typeface="Meiryo UI" pitchFamily="34" charset="-122"/>
                <a:cs typeface="Meiryo UI" pitchFamily="34" charset="-120"/>
              </a:rPr>
              <a:t>「基準か、検査機か」の二択ではない。「基準検証 → 仕様凍結 → 開発」の順序の話である。
</a:t>
            </a:r>
            <a:pPr indent="0" marL="0">
              <a:lnSpc>
                <a:spcPct val="115000"/>
              </a:lnSpc>
              <a:buNone/>
            </a:pPr>
            <a:r>
              <a:rPr lang="en-US" sz="880" dirty="0">
                <a:solidFill>
                  <a:srgbClr val="2B2B2B"/>
                </a:solidFill>
                <a:latin typeface="Meiryo UI" pitchFamily="34" charset="0"/>
                <a:ea typeface="Meiryo UI" pitchFamily="34" charset="-122"/>
                <a:cs typeface="Meiryo UI" pitchFamily="34" charset="-120"/>
              </a:rPr>
              <a:t>基準見直しは検査機の代替ではなく成立条件 — 仕様が軽くなるほど、検査機は投資基準を通りやすくなる。</a:t>
            </a:r>
            <a:endParaRPr lang="en-US" sz="1050" dirty="0"/>
          </a:p>
        </p:txBody>
      </p:sp>
      <p:sp>
        <p:nvSpPr>
          <p:cNvPr id="30" name="Shape 28"/>
          <p:cNvSpPr/>
          <p:nvPr/>
        </p:nvSpPr>
        <p:spPr>
          <a:xfrm>
            <a:off x="274320" y="5166360"/>
            <a:ext cx="11640312" cy="777240"/>
          </a:xfrm>
          <a:prstGeom prst="roundRect">
            <a:avLst>
              <a:gd name="adj" fmla="val 7059"/>
            </a:avLst>
          </a:prstGeom>
          <a:solidFill>
            <a:srgbClr val="F3F8F1"/>
          </a:solidFill>
          <a:ln w="12700">
            <a:solidFill>
              <a:srgbClr val="2C5F2D"/>
            </a:solidFill>
            <a:prstDash val="solid"/>
          </a:ln>
        </p:spPr>
      </p:sp>
      <p:sp>
        <p:nvSpPr>
          <p:cNvPr id="31" name="Text 29"/>
          <p:cNvSpPr/>
          <p:nvPr/>
        </p:nvSpPr>
        <p:spPr>
          <a:xfrm>
            <a:off x="420624" y="5166360"/>
            <a:ext cx="11338560" cy="777240"/>
          </a:xfrm>
          <a:prstGeom prst="rect">
            <a:avLst/>
          </a:prstGeom>
          <a:noFill/>
          <a:ln/>
        </p:spPr>
        <p:txBody>
          <a:bodyPr wrap="square" lIns="0" tIns="0" rIns="0" bIns="0" rtlCol="0" anchor="ctr"/>
          <a:lstStyle/>
          <a:p>
            <a:pPr indent="0" marL="0">
              <a:lnSpc>
                <a:spcPct val="115000"/>
              </a:lnSpc>
              <a:buNone/>
            </a:pPr>
            <a:r>
              <a:rPr lang="en-US" sz="950" b="1" dirty="0">
                <a:solidFill>
                  <a:srgbClr val="1F3D20"/>
                </a:solidFill>
                <a:latin typeface="Meiryo UI" pitchFamily="34" charset="0"/>
                <a:ea typeface="Meiryo UI" pitchFamily="34" charset="-122"/>
                <a:cs typeface="Meiryo UI" pitchFamily="34" charset="-120"/>
              </a:rPr>
              <a:t>本件の効果計上について: </a:t>
            </a:r>
            <a:pPr indent="0" marL="0">
              <a:lnSpc>
                <a:spcPct val="115000"/>
              </a:lnSpc>
              <a:buNone/>
            </a:pPr>
            <a:r>
              <a:rPr lang="en-US" sz="860" dirty="0">
                <a:solidFill>
                  <a:srgbClr val="2B2B2B"/>
                </a:solidFill>
                <a:latin typeface="Meiryo UI" pitchFamily="34" charset="0"/>
                <a:ea typeface="Meiryo UI" pitchFamily="34" charset="-122"/>
                <a:cs typeface="Meiryo UI" pitchFamily="34" charset="-120"/>
              </a:rPr>
              <a:t>BPRフレームでも検査の省人化効果の主体は③(自動検査機)に計上しており、「基準見直し単独で検査の人が減る」とは主張していない。基準見直し(①)の直接効果は記録・点検等の管理業務が中心で、検査領域における①の価値は「③の投資成立性を高めること」にある。</a:t>
            </a:r>
            <a:endParaRPr lang="en-US" sz="950" dirty="0"/>
          </a:p>
        </p:txBody>
      </p:sp>
      <p:sp>
        <p:nvSpPr>
          <p:cNvPr id="32" name="Text 30"/>
          <p:cNvSpPr/>
          <p:nvPr/>
        </p:nvSpPr>
        <p:spPr>
          <a:xfrm>
            <a:off x="274320" y="6327648"/>
            <a:ext cx="11640312" cy="201168"/>
          </a:xfrm>
          <a:prstGeom prst="rect">
            <a:avLst/>
          </a:prstGeom>
          <a:noFill/>
          <a:ln/>
        </p:spPr>
        <p:txBody>
          <a:bodyPr wrap="square" lIns="0" tIns="0" rIns="0" bIns="0" rtlCol="0" anchor="ctr"/>
          <a:lstStyle/>
          <a:p>
            <a:pPr indent="0" marL="0">
              <a:buNone/>
            </a:pPr>
            <a:r>
              <a:rPr lang="en-US" sz="650" dirty="0">
                <a:solidFill>
                  <a:srgbClr val="595959"/>
                </a:solidFill>
                <a:latin typeface="Meiryo UI" pitchFamily="34" charset="0"/>
                <a:ea typeface="Meiryo UI" pitchFamily="34" charset="-122"/>
                <a:cs typeface="Meiryo UI" pitchFamily="34" charset="-120"/>
              </a:rPr>
              <a:t>出典: 明工・生技G資料(2026/8/27)スライド8(不良33項目の内訳)・BPR資料 ※仕分けの結論は品質保証・工場QAの共同検証で確定</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74320" y="91440"/>
            <a:ext cx="8686800" cy="384048"/>
          </a:xfrm>
          <a:prstGeom prst="rect">
            <a:avLst/>
          </a:prstGeom>
          <a:noFill/>
          <a:ln/>
        </p:spPr>
        <p:txBody>
          <a:bodyPr wrap="square" lIns="0" tIns="0" rIns="0" bIns="0" rtlCol="0" anchor="ctr"/>
          <a:lstStyle/>
          <a:p>
            <a:pPr indent="0" marL="0">
              <a:buNone/>
            </a:pPr>
            <a:r>
              <a:rPr lang="en-US" sz="1700" b="1" dirty="0">
                <a:solidFill>
                  <a:srgbClr val="1F3D20"/>
                </a:solidFill>
                <a:latin typeface="Meiryo UI" pitchFamily="34" charset="0"/>
                <a:ea typeface="Meiryo UI" pitchFamily="34" charset="-122"/>
                <a:cs typeface="Meiryo UI" pitchFamily="34" charset="-120"/>
              </a:rPr>
              <a:t>工程×BPRマッピングと意見交換の進め方</a:t>
            </a:r>
            <a:endParaRPr lang="en-US" sz="1700" dirty="0"/>
          </a:p>
        </p:txBody>
      </p:sp>
      <p:sp>
        <p:nvSpPr>
          <p:cNvPr id="3" name="Text 1"/>
          <p:cNvSpPr/>
          <p:nvPr/>
        </p:nvSpPr>
        <p:spPr>
          <a:xfrm>
            <a:off x="274320" y="493776"/>
            <a:ext cx="11640312" cy="219456"/>
          </a:xfrm>
          <a:prstGeom prst="rect">
            <a:avLst/>
          </a:prstGeom>
          <a:noFill/>
          <a:ln/>
        </p:spPr>
        <p:txBody>
          <a:bodyPr wrap="square" lIns="0" tIns="0" rIns="0" bIns="0" rtlCol="0" anchor="ctr"/>
          <a:lstStyle/>
          <a:p>
            <a:pPr indent="0" marL="0">
              <a:buNone/>
            </a:pPr>
            <a:r>
              <a:rPr lang="en-US" sz="950" b="1" dirty="0">
                <a:solidFill>
                  <a:srgbClr val="B85042"/>
                </a:solidFill>
                <a:latin typeface="Meiryo UI" pitchFamily="34" charset="0"/>
                <a:ea typeface="Meiryo UI" pitchFamily="34" charset="-122"/>
                <a:cs typeface="Meiryo UI" pitchFamily="34" charset="-120"/>
              </a:rPr>
              <a:t>工場提示スコープ: 供給・箱詰め 約43名+検査 約23名 = 約66名(75%目標→約50名規模)</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786384"/>
          <a:ext cx="11640312" cy="914400"/>
        </p:xfrm>
        <a:graphic>
          <a:graphicData uri="http://schemas.openxmlformats.org/drawingml/2006/table">
            <a:tbl>
              <a:tblPr/>
              <a:tblGrid>
                <a:gridCol w="1965960"/>
                <a:gridCol w="3657600"/>
                <a:gridCol w="2651760"/>
                <a:gridCol w="3364992"/>
              </a:tblGrid>
              <a:tr h="274320">
                <a:tc>
                  <a:txBody>
                    <a:bodyPr/>
                    <a:lstStyle/>
                    <a:p>
                      <a:pPr algn="ctr" indent="0" marL="0">
                        <a:buNone/>
                      </a:pPr>
                      <a:r>
                        <a:rPr lang="en-US" sz="800" b="1" dirty="0">
                          <a:solidFill>
                            <a:srgbClr val="FFFFFF"/>
                          </a:solidFill>
                          <a:latin typeface="Meiryo UI" pitchFamily="34" charset="0"/>
                          <a:ea typeface="Meiryo UI" pitchFamily="34" charset="-122"/>
                          <a:cs typeface="Meiryo UI" pitchFamily="34" charset="-120"/>
                        </a:rPr>
                        <a:t>工程クラスタ(工場提示)</a:t>
                      </a:r>
                      <a:endParaRPr lang="en-US" sz="80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2C5F2D"/>
                    </a:solidFill>
                  </a:tcPr>
                </a:tc>
                <a:tc>
                  <a:txBody>
                    <a:bodyPr/>
                    <a:lstStyle/>
                    <a:p>
                      <a:pPr algn="ctr" indent="0" marL="0">
                        <a:buNone/>
                      </a:pPr>
                      <a:r>
                        <a:rPr lang="en-US" sz="800" b="1" dirty="0">
                          <a:solidFill>
                            <a:srgbClr val="FFFFFF"/>
                          </a:solidFill>
                          <a:latin typeface="Meiryo UI" pitchFamily="34" charset="0"/>
                          <a:ea typeface="Meiryo UI" pitchFamily="34" charset="-122"/>
                          <a:cs typeface="Meiryo UI" pitchFamily="34" charset="-120"/>
                        </a:rPr>
                        <a:t>① 無くす(基準・資材仕様に遡る)</a:t>
                      </a:r>
                      <a:endParaRPr lang="en-US" sz="80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2C5F2D"/>
                    </a:solidFill>
                  </a:tcPr>
                </a:tc>
                <a:tc>
                  <a:txBody>
                    <a:bodyPr/>
                    <a:lstStyle/>
                    <a:p>
                      <a:pPr algn="ctr" indent="0" marL="0">
                        <a:buNone/>
                      </a:pPr>
                      <a:r>
                        <a:rPr lang="en-US" sz="800" b="1" dirty="0">
                          <a:solidFill>
                            <a:srgbClr val="FFFFFF"/>
                          </a:solidFill>
                          <a:latin typeface="Meiryo UI" pitchFamily="34" charset="0"/>
                          <a:ea typeface="Meiryo UI" pitchFamily="34" charset="-122"/>
                          <a:cs typeface="Meiryo UI" pitchFamily="34" charset="-120"/>
                        </a:rPr>
                        <a:t>② 減らす(集約・簡素化)</a:t>
                      </a:r>
                      <a:endParaRPr lang="en-US" sz="80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2C5F2D"/>
                    </a:solidFill>
                  </a:tcPr>
                </a:tc>
                <a:tc>
                  <a:txBody>
                    <a:bodyPr/>
                    <a:lstStyle/>
                    <a:p>
                      <a:pPr algn="ctr" indent="0" marL="0">
                        <a:buNone/>
                      </a:pPr>
                      <a:r>
                        <a:rPr lang="en-US" sz="800" b="1" dirty="0">
                          <a:solidFill>
                            <a:srgbClr val="FFFFFF"/>
                          </a:solidFill>
                          <a:latin typeface="Meiryo UI" pitchFamily="34" charset="0"/>
                          <a:ea typeface="Meiryo UI" pitchFamily="34" charset="-122"/>
                          <a:cs typeface="Meiryo UI" pitchFamily="34" charset="-120"/>
                        </a:rPr>
                        <a:t>③ 置き換える(工場案を土台に)</a:t>
                      </a:r>
                      <a:endParaRPr lang="en-US" sz="80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2C5F2D"/>
                    </a:solidFill>
                  </a:tcPr>
                </a:tc>
              </a:tr>
              <a:tr h="566928">
                <a:tc>
                  <a:txBody>
                    <a:bodyPr/>
                    <a:lstStyle/>
                    <a:p>
                      <a:pPr indent="0" marL="0">
                        <a:buNone/>
                      </a:pPr>
                      <a:r>
                        <a:rPr lang="en-US" sz="720" b="1" dirty="0">
                          <a:solidFill>
                            <a:srgbClr val="2B2B2B"/>
                          </a:solidFill>
                          <a:latin typeface="Meiryo UI" pitchFamily="34" charset="0"/>
                          <a:ea typeface="Meiryo UI" pitchFamily="34" charset="-122"/>
                          <a:cs typeface="Meiryo UI" pitchFamily="34" charset="-120"/>
                        </a:rPr>
                        <a:t>チューブ供給(5名)</a:t>
                      </a:r>
                      <a:endParaRPr lang="en-US" sz="720" dirty="0">
                        <a:latin typeface="Meiryo UI" charset="0"/>
                        <a:ea typeface="Meiryo UI" charset="0"/>
                        <a:cs typeface="Meiryo UI" charset="0"/>
                      </a:endParaRPr>
                    </a:p>
                    <a:p>
                      <a:pPr indent="0" marL="0">
                        <a:buNone/>
                      </a:pPr>
                      <a:r>
                        <a:rPr lang="en-US" sz="720" b="1" dirty="0">
                          <a:solidFill>
                            <a:srgbClr val="2B2B2B"/>
                          </a:solidFill>
                          <a:latin typeface="Meiryo UI" pitchFamily="34" charset="0"/>
                          <a:ea typeface="Meiryo UI" pitchFamily="34" charset="-122"/>
                          <a:cs typeface="Meiryo UI" pitchFamily="34" charset="-120"/>
                        </a:rPr>
                        <a:t>歯磨包装</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DFEBDB"/>
                    </a:solidFill>
                  </a:tcPr>
                </a:tc>
                <a:tc>
                  <a:txBody>
                    <a:bodyPr/>
                    <a:lstStyle/>
                    <a:p>
                      <a:pPr indent="0" marL="0">
                        <a:buNone/>
                      </a:pPr>
                      <a:r>
                        <a:rPr lang="en-US" sz="720" dirty="0">
                          <a:solidFill>
                            <a:srgbClr val="2B2B2B"/>
                          </a:solidFill>
                          <a:latin typeface="Meiryo UI" pitchFamily="34" charset="0"/>
                          <a:ea typeface="Meiryo UI" pitchFamily="34" charset="-122"/>
                          <a:cs typeface="Meiryo UI" pitchFamily="34" charset="-120"/>
                        </a:rPr>
                        <a:t>養生布の要否(資材仕様)・定数/居残りチェックの方式(重量式等)・PL天地反転の物流条件</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20" dirty="0">
                          <a:solidFill>
                            <a:srgbClr val="2B2B2B"/>
                          </a:solidFill>
                          <a:latin typeface="Meiryo UI" pitchFamily="34" charset="0"/>
                          <a:ea typeface="Meiryo UI" pitchFamily="34" charset="-122"/>
                          <a:cs typeface="Meiryo UI" pitchFamily="34" charset="-120"/>
                        </a:rPr>
                        <a:t>供給頻度・ロットの見直し</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20" b="1" dirty="0">
                          <a:solidFill>
                            <a:srgbClr val="2B2B2B"/>
                          </a:solidFill>
                          <a:latin typeface="Meiryo UI" pitchFamily="34" charset="0"/>
                          <a:ea typeface="Meiryo UI" pitchFamily="34" charset="-122"/>
                          <a:cs typeface="Meiryo UI" pitchFamily="34" charset="-120"/>
                        </a:rPr>
                        <a:t>供給自動化 — 過去見積もり76百万円を①②後仕様で再見積もり</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r>
              <a:tr h="502920">
                <a:tc>
                  <a:txBody>
                    <a:bodyPr/>
                    <a:lstStyle/>
                    <a:p>
                      <a:pPr indent="0" marL="0">
                        <a:buNone/>
                      </a:pPr>
                      <a:r>
                        <a:rPr lang="en-US" sz="720" b="1" dirty="0">
                          <a:solidFill>
                            <a:srgbClr val="2B2B2B"/>
                          </a:solidFill>
                          <a:latin typeface="Meiryo UI" pitchFamily="34" charset="0"/>
                          <a:ea typeface="Meiryo UI" pitchFamily="34" charset="-122"/>
                          <a:cs typeface="Meiryo UI" pitchFamily="34" charset="-120"/>
                        </a:rPr>
                        <a:t>ブラシ供給(16名)</a:t>
                      </a:r>
                      <a:endParaRPr lang="en-US" sz="720" dirty="0">
                        <a:latin typeface="Meiryo UI" charset="0"/>
                        <a:ea typeface="Meiryo UI" charset="0"/>
                        <a:cs typeface="Meiryo UI" charset="0"/>
                      </a:endParaRPr>
                    </a:p>
                    <a:p>
                      <a:pPr indent="0" marL="0">
                        <a:buNone/>
                      </a:pPr>
                      <a:r>
                        <a:rPr lang="en-US" sz="720" b="1" dirty="0">
                          <a:solidFill>
                            <a:srgbClr val="2B2B2B"/>
                          </a:solidFill>
                          <a:latin typeface="Meiryo UI" pitchFamily="34" charset="0"/>
                          <a:ea typeface="Meiryo UI" pitchFamily="34" charset="-122"/>
                          <a:cs typeface="Meiryo UI" pitchFamily="34" charset="-120"/>
                        </a:rPr>
                        <a:t>刷子包装</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DFEBDB"/>
                    </a:solidFill>
                  </a:tcPr>
                </a:tc>
                <a:tc>
                  <a:txBody>
                    <a:bodyPr/>
                    <a:lstStyle/>
                    <a:p>
                      <a:pPr indent="0" marL="0">
                        <a:buNone/>
                      </a:pPr>
                      <a:r>
                        <a:rPr lang="en-US" sz="720" dirty="0">
                          <a:solidFill>
                            <a:srgbClr val="2B2B2B"/>
                          </a:solidFill>
                          <a:latin typeface="Meiryo UI" pitchFamily="34" charset="0"/>
                          <a:ea typeface="Meiryo UI" pitchFamily="34" charset="-122"/>
                          <a:cs typeface="Meiryo UI" pitchFamily="34" charset="-120"/>
                        </a:rPr>
                        <a:t>除電集塵機投入の要否(帯電対策の上流化)</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20" dirty="0">
                          <a:solidFill>
                            <a:srgbClr val="2B2B2B"/>
                          </a:solidFill>
                          <a:latin typeface="Meiryo UI" pitchFamily="34" charset="0"/>
                          <a:ea typeface="Meiryo UI" pitchFamily="34" charset="-122"/>
                          <a:cs typeface="Meiryo UI" pitchFamily="34" charset="-120"/>
                        </a:rPr>
                        <a:t>複数ラインの供給業務集約・AMR統合</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20" dirty="0">
                          <a:solidFill>
                            <a:srgbClr val="2B2B2B"/>
                          </a:solidFill>
                          <a:latin typeface="Meiryo UI" pitchFamily="34" charset="0"/>
                          <a:ea typeface="Meiryo UI" pitchFamily="34" charset="-122"/>
                          <a:cs typeface="Meiryo UI" pitchFamily="34" charset="-120"/>
                        </a:rPr>
                        <a:t>中間製品供給機 — スペース制約は②の集約・レイアウト見直しとセットで再検討</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r>
              <a:tr h="603504">
                <a:tc>
                  <a:txBody>
                    <a:bodyPr/>
                    <a:lstStyle/>
                    <a:p>
                      <a:pPr indent="0" marL="0">
                        <a:buNone/>
                      </a:pPr>
                      <a:r>
                        <a:rPr lang="en-US" sz="720" b="1" dirty="0">
                          <a:solidFill>
                            <a:srgbClr val="2B2B2B"/>
                          </a:solidFill>
                          <a:latin typeface="Meiryo UI" pitchFamily="34" charset="0"/>
                          <a:ea typeface="Meiryo UI" pitchFamily="34" charset="-122"/>
                          <a:cs typeface="Meiryo UI" pitchFamily="34" charset="-120"/>
                        </a:rPr>
                        <a:t>植毛 供給+箱詰め(22名)</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DFEBDB"/>
                    </a:solidFill>
                  </a:tcPr>
                </a:tc>
                <a:tc>
                  <a:txBody>
                    <a:bodyPr/>
                    <a:lstStyle/>
                    <a:p>
                      <a:pPr indent="0" marL="0">
                        <a:buNone/>
                      </a:pPr>
                      <a:r>
                        <a:rPr lang="en-US" sz="720" dirty="0">
                          <a:solidFill>
                            <a:srgbClr val="2B2B2B"/>
                          </a:solidFill>
                          <a:latin typeface="Meiryo UI" pitchFamily="34" charset="0"/>
                          <a:ea typeface="Meiryo UI" pitchFamily="34" charset="-122"/>
                          <a:cs typeface="Meiryo UI" pitchFamily="34" charset="-120"/>
                        </a:rPr>
                        <a:t>段ボール天面カット・フラップ固定(資材仕様変更で作業ごと消す)・定数チェック方式</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20" dirty="0">
                          <a:solidFill>
                            <a:srgbClr val="2B2B2B"/>
                          </a:solidFill>
                          <a:latin typeface="Meiryo UI" pitchFamily="34" charset="0"/>
                          <a:ea typeface="Meiryo UI" pitchFamily="34" charset="-122"/>
                          <a:cs typeface="Meiryo UI" pitchFamily="34" charset="-120"/>
                        </a:rPr>
                        <a:t>空段ボール解体等の間接作業の束ね・複数ライン兼務</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20" b="1" dirty="0">
                          <a:solidFill>
                            <a:srgbClr val="2B2B2B"/>
                          </a:solidFill>
                          <a:latin typeface="Meiryo UI" pitchFamily="34" charset="0"/>
                          <a:ea typeface="Meiryo UI" pitchFamily="34" charset="-122"/>
                          <a:cs typeface="Meiryo UI" pitchFamily="34" charset="-120"/>
                        </a:rPr>
                        <a:t>ヒューマノイド/フィジカルAI — 供給+箱詰め+巡回を1台で束ね「1名あたり投資」を再計算</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r>
              <a:tr h="603504">
                <a:tc>
                  <a:txBody>
                    <a:bodyPr/>
                    <a:lstStyle/>
                    <a:p>
                      <a:pPr indent="0" marL="0">
                        <a:buNone/>
                      </a:pPr>
                      <a:r>
                        <a:rPr lang="en-US" sz="720" b="1" dirty="0">
                          <a:solidFill>
                            <a:srgbClr val="2B2B2B"/>
                          </a:solidFill>
                          <a:latin typeface="Meiryo UI" pitchFamily="34" charset="0"/>
                          <a:ea typeface="Meiryo UI" pitchFamily="34" charset="-122"/>
                          <a:cs typeface="Meiryo UI" pitchFamily="34" charset="-120"/>
                        </a:rPr>
                        <a:t>植毛 検査+長毛(23名)</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DFEBDB"/>
                    </a:solidFill>
                  </a:tcPr>
                </a:tc>
                <a:tc>
                  <a:txBody>
                    <a:bodyPr/>
                    <a:lstStyle/>
                    <a:p>
                      <a:pPr indent="0" marL="0">
                        <a:buNone/>
                      </a:pPr>
                      <a:r>
                        <a:rPr lang="en-US" sz="720" dirty="0">
                          <a:solidFill>
                            <a:srgbClr val="2B2B2B"/>
                          </a:solidFill>
                          <a:latin typeface="Meiryo UI" pitchFamily="34" charset="0"/>
                          <a:ea typeface="Meiryo UI" pitchFamily="34" charset="-122"/>
                          <a:cs typeface="Meiryo UI" pitchFamily="34" charset="-120"/>
                        </a:rPr>
                        <a:t>15項目×品質実績の突合で検査機の必須仕様を絞る(前頁)・長毛は上流の植毛条件で発生源対策</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20" dirty="0">
                          <a:solidFill>
                            <a:srgbClr val="2B2B2B"/>
                          </a:solidFill>
                          <a:latin typeface="Meiryo UI" pitchFamily="34" charset="0"/>
                          <a:ea typeface="Meiryo UI" pitchFamily="34" charset="-122"/>
                          <a:cs typeface="Meiryo UI" pitchFamily="34" charset="-120"/>
                        </a:rPr>
                        <a:t>パトロール検査と全数検査の役割再設計</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20" b="1" dirty="0">
                          <a:solidFill>
                            <a:srgbClr val="2B2B2B"/>
                          </a:solidFill>
                          <a:latin typeface="Meiryo UI" pitchFamily="34" charset="0"/>
                          <a:ea typeface="Meiryo UI" pitchFamily="34" charset="-122"/>
                          <a:cs typeface="Meiryo UI" pitchFamily="34" charset="-120"/>
                        </a:rPr>
                        <a:t>自動検査機(主打ち手・工場見解と一致)。絞った仕様で開発</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r>
              <a:tr h="457200">
                <a:tc>
                  <a:txBody>
                    <a:bodyPr/>
                    <a:lstStyle/>
                    <a:p>
                      <a:pPr indent="0" marL="0">
                        <a:buNone/>
                      </a:pPr>
                      <a:r>
                        <a:rPr lang="en-US" sz="720" b="1" dirty="0">
                          <a:solidFill>
                            <a:srgbClr val="2B2B2B"/>
                          </a:solidFill>
                          <a:latin typeface="Meiryo UI" pitchFamily="34" charset="0"/>
                          <a:ea typeface="Meiryo UI" pitchFamily="34" charset="-122"/>
                          <a:cs typeface="Meiryo UI" pitchFamily="34" charset="-120"/>
                        </a:rPr>
                        <a:t>横断</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solidFill>
                      <a:srgbClr val="DFEBDB"/>
                    </a:solidFill>
                  </a:tcPr>
                </a:tc>
                <a:tc>
                  <a:txBody>
                    <a:bodyPr/>
                    <a:lstStyle/>
                    <a:p>
                      <a:pPr indent="0" marL="0">
                        <a:buNone/>
                      </a:pPr>
                      <a:r>
                        <a:rPr lang="en-US" sz="720" b="1" dirty="0">
                          <a:solidFill>
                            <a:srgbClr val="2B2B2B"/>
                          </a:solidFill>
                          <a:latin typeface="Meiryo UI" pitchFamily="34" charset="0"/>
                          <a:ea typeface="Meiryo UI" pitchFamily="34" charset="-122"/>
                          <a:cs typeface="Meiryo UI" pitchFamily="34" charset="-120"/>
                        </a:rPr>
                        <a:t>投資基準(39,200/44,100千円/名)の前提人件費を賃上げ環境で更新</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indent="0" marL="0">
                        <a:buNone/>
                      </a:pPr>
                      <a:r>
                        <a:rPr lang="en-US" sz="720" dirty="0">
                          <a:solidFill>
                            <a:srgbClr val="2B2B2B"/>
                          </a:solidFill>
                          <a:latin typeface="Meiryo UI" pitchFamily="34" charset="0"/>
                          <a:ea typeface="Meiryo UI" pitchFamily="34" charset="-122"/>
                          <a:cs typeface="Meiryo UI" pitchFamily="34" charset="-120"/>
                        </a:rPr>
                        <a:t>「1台1作業1ライン」の評価枠を「作業束ね・複数ライン共用」へ</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c>
                  <a:txBody>
                    <a:bodyPr/>
                    <a:lstStyle/>
                    <a:p>
                      <a:pPr algn="ctr" indent="0" marL="0">
                        <a:buNone/>
                      </a:pPr>
                      <a:r>
                        <a:rPr lang="en-US" sz="720" dirty="0">
                          <a:solidFill>
                            <a:srgbClr val="595959"/>
                          </a:solidFill>
                          <a:latin typeface="Meiryo UI" pitchFamily="34" charset="0"/>
                          <a:ea typeface="Meiryo UI" pitchFamily="34" charset="-122"/>
                          <a:cs typeface="Meiryo UI" pitchFamily="34" charset="-120"/>
                        </a:rPr>
                        <a:t>—</a:t>
                      </a:r>
                      <a:endParaRPr lang="en-US" sz="720" dirty="0">
                        <a:latin typeface="Meiryo UI" charset="0"/>
                        <a:ea typeface="Meiryo UI" charset="0"/>
                        <a:cs typeface="Meiryo UI" charset="0"/>
                      </a:endParaRPr>
                    </a:p>
                  </a:txBody>
                  <a:tcPr marL="45720" marR="45720" marT="45720" marB="45720" anchor="ctr">
                    <a:lnL w="6350" cap="flat" cmpd="sng" algn="ctr">
                      <a:solidFill>
                        <a:srgbClr val="D3DED0"/>
                      </a:solidFill>
                      <a:prstDash val="solid"/>
                      <a:round/>
                      <a:headEnd type="none" w="med" len="med"/>
                      <a:tailEnd type="none" w="med" len="med"/>
                    </a:lnL>
                    <a:lnR w="6350" cap="flat" cmpd="sng" algn="ctr">
                      <a:solidFill>
                        <a:srgbClr val="D3DED0"/>
                      </a:solidFill>
                      <a:prstDash val="solid"/>
                      <a:round/>
                      <a:headEnd type="none" w="med" len="med"/>
                      <a:tailEnd type="none" w="med" len="med"/>
                    </a:lnR>
                    <a:lnT w="6350" cap="flat" cmpd="sng" algn="ctr">
                      <a:solidFill>
                        <a:srgbClr val="D3DED0"/>
                      </a:solidFill>
                      <a:prstDash val="solid"/>
                      <a:round/>
                      <a:headEnd type="none" w="med" len="med"/>
                      <a:tailEnd type="none" w="med" len="med"/>
                    </a:lnT>
                    <a:lnB w="6350" cap="flat" cmpd="sng" algn="ctr">
                      <a:solidFill>
                        <a:srgbClr val="D3DED0"/>
                      </a:solidFill>
                      <a:prstDash val="solid"/>
                      <a:round/>
                      <a:headEnd type="none" w="med" len="med"/>
                      <a:tailEnd type="none" w="med" len="med"/>
                    </a:lnB>
                  </a:tcPr>
                </a:tc>
              </a:tr>
            </a:tbl>
          </a:graphicData>
        </a:graphic>
      </p:graphicFrame>
      <p:sp>
        <p:nvSpPr>
          <p:cNvPr id="5" name="Shape 2"/>
          <p:cNvSpPr/>
          <p:nvPr/>
        </p:nvSpPr>
        <p:spPr>
          <a:xfrm>
            <a:off x="274320" y="4023360"/>
            <a:ext cx="6858000" cy="1965960"/>
          </a:xfrm>
          <a:prstGeom prst="roundRect">
            <a:avLst>
              <a:gd name="adj" fmla="val 2791"/>
            </a:avLst>
          </a:prstGeom>
          <a:solidFill>
            <a:srgbClr val="F3F8F1"/>
          </a:solidFill>
          <a:ln w="12700">
            <a:solidFill>
              <a:srgbClr val="C9DCC4"/>
            </a:solidFill>
            <a:prstDash val="solid"/>
          </a:ln>
        </p:spPr>
      </p:sp>
      <p:sp>
        <p:nvSpPr>
          <p:cNvPr id="6" name="Text 3"/>
          <p:cNvSpPr/>
          <p:nvPr/>
        </p:nvSpPr>
        <p:spPr>
          <a:xfrm>
            <a:off x="411480" y="4096512"/>
            <a:ext cx="6583680" cy="219456"/>
          </a:xfrm>
          <a:prstGeom prst="rect">
            <a:avLst/>
          </a:prstGeom>
          <a:noFill/>
          <a:ln/>
        </p:spPr>
        <p:txBody>
          <a:bodyPr wrap="square" lIns="0" tIns="0" rIns="0" bIns="0" rtlCol="0" anchor="ctr"/>
          <a:lstStyle/>
          <a:p>
            <a:pPr indent="0" marL="0">
              <a:buNone/>
            </a:pPr>
            <a:r>
              <a:rPr lang="en-US" sz="1050" b="1" dirty="0">
                <a:solidFill>
                  <a:srgbClr val="1F3D20"/>
                </a:solidFill>
                <a:latin typeface="Meiryo UI" pitchFamily="34" charset="0"/>
                <a:ea typeface="Meiryo UI" pitchFamily="34" charset="-122"/>
                <a:cs typeface="Meiryo UI" pitchFamily="34" charset="-120"/>
              </a:rPr>
              <a:t>8/28 意見交換の進め方</a:t>
            </a:r>
            <a:endParaRPr lang="en-US" sz="1050" dirty="0"/>
          </a:p>
        </p:txBody>
      </p:sp>
      <p:sp>
        <p:nvSpPr>
          <p:cNvPr id="7" name="Text 4"/>
          <p:cNvSpPr/>
          <p:nvPr/>
        </p:nvSpPr>
        <p:spPr>
          <a:xfrm>
            <a:off x="411480" y="4352544"/>
            <a:ext cx="6583680" cy="1572768"/>
          </a:xfrm>
          <a:prstGeom prst="rect">
            <a:avLst/>
          </a:prstGeom>
          <a:noFill/>
          <a:ln/>
        </p:spPr>
        <p:txBody>
          <a:bodyPr wrap="square" lIns="0" tIns="0" rIns="0" bIns="0" rtlCol="0" anchor="t"/>
          <a:lstStyle/>
          <a:p>
            <a:pPr indent="0" marL="0">
              <a:lnSpc>
                <a:spcPct val="115000"/>
              </a:lnSpc>
              <a:buNone/>
            </a:pPr>
            <a:r>
              <a:rPr lang="en-US" sz="790" b="1" dirty="0">
                <a:solidFill>
                  <a:srgbClr val="2B2B2B"/>
                </a:solidFill>
                <a:latin typeface="Meiryo UI" pitchFamily="34" charset="0"/>
                <a:ea typeface="Meiryo UI" pitchFamily="34" charset="-122"/>
                <a:cs typeface="Meiryo UI" pitchFamily="34" charset="-120"/>
              </a:rPr>
              <a:t>1. 冒頭で明言: </a:t>
            </a:r>
            <a:pPr indent="0" marL="0">
              <a:lnSpc>
                <a:spcPct val="115000"/>
              </a:lnSpc>
              <a:buNone/>
            </a:pPr>
            <a:r>
              <a:rPr lang="en-US" sz="790" dirty="0">
                <a:solidFill>
                  <a:srgbClr val="2B2B2B"/>
                </a:solidFill>
                <a:latin typeface="Meiryo UI" pitchFamily="34" charset="0"/>
                <a:ea typeface="Meiryo UI" pitchFamily="34" charset="-122"/>
                <a:cs typeface="Meiryo UI" pitchFamily="34" charset="-120"/>
              </a:rPr>
              <a:t>「過去検討のやり直しではない。過去の見積もり・判断は台帳の中核資産。変わった前提だけを更新する」— ワーディングは「ゼロベース」「棚卸し」でなく「前提更新」「検査機仕様を軽くする前処理」
</a:t>
            </a:r>
            <a:pPr indent="0" marL="0">
              <a:lnSpc>
                <a:spcPct val="115000"/>
              </a:lnSpc>
              <a:buNone/>
            </a:pPr>
            <a:r>
              <a:rPr lang="en-US" sz="790" b="1" dirty="0">
                <a:solidFill>
                  <a:srgbClr val="2B2B2B"/>
                </a:solidFill>
                <a:latin typeface="Meiryo UI" pitchFamily="34" charset="0"/>
                <a:ea typeface="Meiryo UI" pitchFamily="34" charset="-122"/>
                <a:cs typeface="Meiryo UI" pitchFamily="34" charset="-120"/>
              </a:rPr>
              <a:t>2. 工場のスコープ候補をそのまま③の候補リストとして承認する</a:t>
            </a:r>
            <a:pPr indent="0" marL="0">
              <a:lnSpc>
                <a:spcPct val="115000"/>
              </a:lnSpc>
              <a:buNone/>
            </a:pPr>
            <a:r>
              <a:rPr lang="en-US" sz="790" dirty="0">
                <a:solidFill>
                  <a:srgbClr val="2B2B2B"/>
                </a:solidFill>
                <a:latin typeface="Meiryo UI" pitchFamily="34" charset="0"/>
                <a:ea typeface="Meiryo UI" pitchFamily="34" charset="-122"/>
                <a:cs typeface="Meiryo UI" pitchFamily="34" charset="-120"/>
              </a:rPr>
              <a:t> — Howから入っていること自体は正当
</a:t>
            </a:r>
            <a:pPr indent="0" marL="0">
              <a:lnSpc>
                <a:spcPct val="115000"/>
              </a:lnSpc>
              <a:buNone/>
            </a:pPr>
            <a:r>
              <a:rPr lang="en-US" sz="790" b="1" dirty="0">
                <a:solidFill>
                  <a:srgbClr val="2B2B2B"/>
                </a:solidFill>
                <a:latin typeface="Meiryo UI" pitchFamily="34" charset="0"/>
                <a:ea typeface="Meiryo UI" pitchFamily="34" charset="-122"/>
                <a:cs typeface="Meiryo UI" pitchFamily="34" charset="-120"/>
              </a:rPr>
              <a:t>3. 1工程だけ演習: </a:t>
            </a:r>
            <a:pPr indent="0" marL="0">
              <a:lnSpc>
                <a:spcPct val="115000"/>
              </a:lnSpc>
              <a:buNone/>
            </a:pPr>
            <a:r>
              <a:rPr lang="en-US" sz="790" dirty="0">
                <a:solidFill>
                  <a:srgbClr val="2B2B2B"/>
                </a:solidFill>
                <a:latin typeface="Meiryo UI" pitchFamily="34" charset="0"/>
                <a:ea typeface="Meiryo UI" pitchFamily="34" charset="-122"/>
                <a:cs typeface="Meiryo UI" pitchFamily="34" charset="-120"/>
              </a:rPr>
              <a:t>チューブ供給(76百万円)で「サブルーチンを消したら見積もりはいくらか」を一緒に概算 — ①②の価値を工場自身の案件の蘇生で見せる
</a:t>
            </a:r>
            <a:pPr indent="0" marL="0">
              <a:lnSpc>
                <a:spcPct val="115000"/>
              </a:lnSpc>
              <a:buNone/>
            </a:pPr>
            <a:r>
              <a:rPr lang="en-US" sz="790" b="1" dirty="0">
                <a:solidFill>
                  <a:srgbClr val="2B2B2B"/>
                </a:solidFill>
                <a:latin typeface="Meiryo UI" pitchFamily="34" charset="0"/>
                <a:ea typeface="Meiryo UI" pitchFamily="34" charset="-122"/>
                <a:cs typeface="Meiryo UI" pitchFamily="34" charset="-120"/>
              </a:rPr>
              <a:t>4. 検査は前頁の整理を提示: </a:t>
            </a:r>
            <a:pPr indent="0" marL="0">
              <a:lnSpc>
                <a:spcPct val="115000"/>
              </a:lnSpc>
              <a:buNone/>
            </a:pPr>
            <a:r>
              <a:rPr lang="en-US" sz="790" dirty="0">
                <a:solidFill>
                  <a:srgbClr val="2B2B2B"/>
                </a:solidFill>
                <a:latin typeface="Meiryo UI" pitchFamily="34" charset="0"/>
                <a:ea typeface="Meiryo UI" pitchFamily="34" charset="-122"/>
                <a:cs typeface="Meiryo UI" pitchFamily="34" charset="-120"/>
              </a:rPr>
              <a:t>15項目×実績突合を品質保証+工場QAの共同タスクとして提案(投資ゼロ)</a:t>
            </a:r>
            <a:endParaRPr lang="en-US" sz="790" dirty="0"/>
          </a:p>
        </p:txBody>
      </p:sp>
      <p:sp>
        <p:nvSpPr>
          <p:cNvPr id="8" name="Shape 5"/>
          <p:cNvSpPr/>
          <p:nvPr/>
        </p:nvSpPr>
        <p:spPr>
          <a:xfrm>
            <a:off x="7269480" y="4023360"/>
            <a:ext cx="4645152" cy="1965960"/>
          </a:xfrm>
          <a:prstGeom prst="roundRect">
            <a:avLst>
              <a:gd name="adj" fmla="val 2791"/>
            </a:avLst>
          </a:prstGeom>
          <a:solidFill>
            <a:srgbClr val="2C5F2D"/>
          </a:solidFill>
          <a:ln w="12700">
            <a:solidFill>
              <a:srgbClr val="2C5F2D"/>
            </a:solidFill>
            <a:prstDash val="solid"/>
          </a:ln>
        </p:spPr>
      </p:sp>
      <p:sp>
        <p:nvSpPr>
          <p:cNvPr id="9" name="Text 6"/>
          <p:cNvSpPr/>
          <p:nvPr/>
        </p:nvSpPr>
        <p:spPr>
          <a:xfrm>
            <a:off x="7406640" y="4096512"/>
            <a:ext cx="4370832" cy="219456"/>
          </a:xfrm>
          <a:prstGeom prst="rect">
            <a:avLst/>
          </a:prstGeom>
          <a:noFill/>
          <a:ln/>
        </p:spPr>
        <p:txBody>
          <a:bodyPr wrap="square" lIns="0" tIns="0" rIns="0" bIns="0" rtlCol="0" anchor="ctr"/>
          <a:lstStyle/>
          <a:p>
            <a:pPr indent="0" marL="0">
              <a:buNone/>
            </a:pPr>
            <a:r>
              <a:rPr lang="en-US" sz="1050" b="1" dirty="0">
                <a:solidFill>
                  <a:srgbClr val="D8E8D4"/>
                </a:solidFill>
                <a:latin typeface="Meiryo UI" pitchFamily="34" charset="0"/>
                <a:ea typeface="Meiryo UI" pitchFamily="34" charset="-122"/>
                <a:cs typeface="Meiryo UI" pitchFamily="34" charset="-120"/>
              </a:rPr>
              <a:t>この場で決めること(3点)</a:t>
            </a:r>
            <a:endParaRPr lang="en-US" sz="1050" dirty="0"/>
          </a:p>
        </p:txBody>
      </p:sp>
      <p:sp>
        <p:nvSpPr>
          <p:cNvPr id="10" name="Text 7"/>
          <p:cNvSpPr/>
          <p:nvPr/>
        </p:nvSpPr>
        <p:spPr>
          <a:xfrm>
            <a:off x="7406640" y="4370832"/>
            <a:ext cx="4370832" cy="1554480"/>
          </a:xfrm>
          <a:prstGeom prst="rect">
            <a:avLst/>
          </a:prstGeom>
          <a:noFill/>
          <a:ln/>
        </p:spPr>
        <p:txBody>
          <a:bodyPr wrap="square" lIns="0" tIns="0" rIns="0" bIns="0" rtlCol="0" anchor="t"/>
          <a:lstStyle/>
          <a:p>
            <a:pPr indent="0" marL="0">
              <a:lnSpc>
                <a:spcPct val="125000"/>
              </a:lnSpc>
              <a:buNone/>
            </a:pPr>
            <a:r>
              <a:rPr lang="en-US" sz="860" b="1" dirty="0">
                <a:solidFill>
                  <a:srgbClr val="FFFFFF"/>
                </a:solidFill>
                <a:latin typeface="Meiryo UI" pitchFamily="34" charset="0"/>
                <a:ea typeface="Meiryo UI" pitchFamily="34" charset="-122"/>
                <a:cs typeface="Meiryo UI" pitchFamily="34" charset="-120"/>
              </a:rPr>
              <a:t>(a) 過去検討3案件の再見積もり(①②後仕様+賃上げ後投資基準)をクイックウィン候補としてWBSに追加するか
</a:t>
            </a:r>
            <a:pPr indent="0" marL="0">
              <a:lnSpc>
                <a:spcPct val="125000"/>
              </a:lnSpc>
              <a:buNone/>
            </a:pPr>
            <a:r>
              <a:rPr lang="en-US" sz="860" b="1" dirty="0">
                <a:solidFill>
                  <a:srgbClr val="FFFFFF"/>
                </a:solidFill>
                <a:latin typeface="Meiryo UI" pitchFamily="34" charset="0"/>
                <a:ea typeface="Meiryo UI" pitchFamily="34" charset="-122"/>
                <a:cs typeface="Meiryo UI" pitchFamily="34" charset="-120"/>
              </a:rPr>
              <a:t>(b) 検査15項目×品質実績突合の担当と期限(品質保証+工場QA、26/10目安)
</a:t>
            </a:r>
            <a:pPr indent="0" marL="0">
              <a:lnSpc>
                <a:spcPct val="125000"/>
              </a:lnSpc>
              <a:buNone/>
            </a:pPr>
            <a:r>
              <a:rPr lang="en-US" sz="860" b="1" dirty="0">
                <a:solidFill>
                  <a:srgbClr val="FFFFFF"/>
                </a:solidFill>
                <a:latin typeface="Meiryo UI" pitchFamily="34" charset="0"/>
                <a:ea typeface="Meiryo UI" pitchFamily="34" charset="-122"/>
                <a:cs typeface="Meiryo UI" pitchFamily="34" charset="-120"/>
              </a:rPr>
              <a:t>(c) 投資基準の前提更新をSCM戦略部に依頼するか</a:t>
            </a:r>
            <a:endParaRPr lang="en-US" sz="860" dirty="0"/>
          </a:p>
        </p:txBody>
      </p:sp>
      <p:sp>
        <p:nvSpPr>
          <p:cNvPr id="11" name="Text 8"/>
          <p:cNvSpPr/>
          <p:nvPr/>
        </p:nvSpPr>
        <p:spPr>
          <a:xfrm>
            <a:off x="274320" y="6172200"/>
            <a:ext cx="11640312" cy="219456"/>
          </a:xfrm>
          <a:prstGeom prst="rect">
            <a:avLst/>
          </a:prstGeom>
          <a:noFill/>
          <a:ln/>
        </p:spPr>
        <p:txBody>
          <a:bodyPr wrap="square" lIns="0" tIns="0" rIns="0" bIns="0" rtlCol="0" anchor="ctr"/>
          <a:lstStyle/>
          <a:p>
            <a:pPr indent="0" marL="0">
              <a:buNone/>
            </a:pPr>
            <a:r>
              <a:rPr lang="en-US" sz="680" dirty="0">
                <a:solidFill>
                  <a:srgbClr val="595959"/>
                </a:solidFill>
                <a:latin typeface="Meiryo UI" pitchFamily="34" charset="0"/>
                <a:ea typeface="Meiryo UI" pitchFamily="34" charset="-122"/>
                <a:cs typeface="Meiryo UI" pitchFamily="34" charset="-120"/>
              </a:rPr>
              <a:t>出典: 明工・生技G資料(2026/8/27)・BPR資料 ※①②の候補は仮説であり、採否は工場・品質保証との共同検証で確定する(議論の上でタブーな内容はない前提)</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2026-08-28T01:38:46Z</dcterms:created>
  <dcterms:modified xsi:type="dcterms:W3CDTF">2026-08-28T01:38:46Z</dcterms:modified>
</cp:coreProperties>
</file>